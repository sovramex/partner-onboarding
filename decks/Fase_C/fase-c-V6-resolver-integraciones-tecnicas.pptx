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10287000" cx="18288000"/>
  <p:notesSz cx="6858000" cy="9144000"/>
  <p:embeddedFontLst>
    <p:embeddedFont>
      <p:font typeface="Inter"/>
      <p:regular r:id="rId13"/>
      <p:bold r:id="rId14"/>
      <p:italic r:id="rId15"/>
      <p:boldItalic r:id="rId16"/>
    </p:embeddedFont>
    <p:embeddedFont>
      <p:font typeface="Inter ExtraBold"/>
      <p:bold r:id="rId17"/>
      <p:boldItalic r:id="rId1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Inter-regular.fntdata"/><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italic.fntdata"/><Relationship Id="rId14" Type="http://schemas.openxmlformats.org/officeDocument/2006/relationships/font" Target="fonts/Inter-bold.fntdata"/><Relationship Id="rId17" Type="http://schemas.openxmlformats.org/officeDocument/2006/relationships/font" Target="fonts/InterExtraBold-bold.fntdata"/><Relationship Id="rId16" Type="http://schemas.openxmlformats.org/officeDocument/2006/relationships/font" Target="fonts/Inter-boldItalic.fntdata"/><Relationship Id="rId5" Type="http://schemas.openxmlformats.org/officeDocument/2006/relationships/notesMaster" Target="notesMasters/notesMaster1.xml"/><Relationship Id="rId6" Type="http://schemas.openxmlformats.org/officeDocument/2006/relationships/slide" Target="slides/slide1.xml"/><Relationship Id="rId18" Type="http://schemas.openxmlformats.org/officeDocument/2006/relationships/font" Target="fonts/InterExtraBold-bold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9.6s · 24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Mientras el equipo funcional modela los tramites, el equipo tecnico trabaja en las integraciones. Son tres y se trabajan en paralelo, no en secuencia.</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24.8s · 62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primera y mas critica es el sistema de autenticacion del gobierno. Lo que en planes y reuniones tecnicas se nombra como IDP. Sin esto, el ciudadano no puede iniciar sesion, y sin login no hay tramite que arranque. Por eso es prioridad uno. La integracion tiene que estar funcionando en ambiente de pruebas antes de que termine la fase, ojala antes.</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5" name="Google Shape;105;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21.2s · 53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segunda son los pagos, si el tramite cobra una tasa. Esto suma alrededor de dos semanas al cronograma, asi que si ya sabias desde Fase B que iban a haber pagos, la integracion tendria que estar arrancada. Si te toma por sorpresa en Fase C, vas a tener que correr el lanzamiento.</a:t>
            </a:r>
            <a:endParaRPr/>
          </a:p>
        </p:txBody>
      </p:sp>
      <p:sp>
        <p:nvSpPr>
          <p:cNvPr id="106" name="Google Shape;106;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22.8s · 57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tercera son las consultas a bases de datos externas del gobierno. Son las que permiten que el formulario valide datos en linea: que un numero de documento exista, que una patente este registrada, que un domicilio este dentro del partido. No todos los tramites las necesitan, pero los que si dependen de respuestas rapidas y confiables.</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2" name="Google Shape;132;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22.8s · 57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Las tres integraciones tienen un punto de coincidencia: hay que probar conectividad y velocidad de respuesta antes del testing de punta a punta. Si la integracion funciona pero tarda quince segundos, el ciudadano la va a leer como un error y va a abandonar el tramite. Los tiempos de respuesta importan tanto como la integracion en si.</a:t>
            </a:r>
            <a:endParaRPr/>
          </a:p>
        </p:txBody>
      </p:sp>
      <p:sp>
        <p:nvSpPr>
          <p:cNvPr id="133" name="Google Shape;133;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25.2s · 63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Documenta cada integracion a medida que la cierras. A que servicio se conecta, que datos le pide, que datos devuelve, que pasa si el servicio del gobierno no responde. Esa documentacion se la vas a entregar al equipo del gobierno en Fase E, y va a ser su unica defensa cuando algo deje de funcionar y tu ya no estes en el proyecto.</a:t>
            </a:r>
            <a:endParaRPr/>
          </a:p>
        </p:txBody>
      </p:sp>
      <p:sp>
        <p:nvSpPr>
          <p:cNvPr id="148" name="Google Shape;14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12.8s · 32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Las integraciones no son un anexo de Fase C. Son lo que diferencia un tramite digital de un formulario online. Si dejas las integraciones para el final, no te alcanza el tiempo.</a:t>
            </a:r>
            <a:endParaRPr/>
          </a:p>
        </p:txBody>
      </p:sp>
      <p:sp>
        <p:nvSpPr>
          <p:cNvPr id="161" name="Google Shape;161;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EA580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EA580C"/>
                </a:solidFill>
                <a:latin typeface="Inter"/>
                <a:ea typeface="Inter"/>
                <a:cs typeface="Inter"/>
                <a:sym typeface="Inter"/>
              </a:rPr>
              <a:t>FASE C</a:t>
            </a:r>
            <a:endParaRPr/>
          </a:p>
        </p:txBody>
      </p:sp>
      <p:sp>
        <p:nvSpPr>
          <p:cNvPr id="87" name="Google Shape;87;p13"/>
          <p:cNvSpPr txBox="1"/>
          <p:nvPr/>
        </p:nvSpPr>
        <p:spPr>
          <a:xfrm>
            <a:off x="1371600" y="3840480"/>
            <a:ext cx="15544800" cy="2586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Resolver integraciones</a:t>
            </a:r>
            <a:endParaRPr/>
          </a:p>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t</a:t>
            </a:r>
            <a:r>
              <a:rPr b="1" lang="en-US" sz="8000">
                <a:solidFill>
                  <a:srgbClr val="0A0915"/>
                </a:solidFill>
                <a:latin typeface="Inter"/>
                <a:ea typeface="Inter"/>
                <a:cs typeface="Inter"/>
                <a:sym typeface="Inter"/>
              </a:rPr>
              <a:t>é</a:t>
            </a:r>
            <a:r>
              <a:rPr b="1" i="0" lang="en-US" sz="8000" u="none" cap="none" strike="noStrike">
                <a:solidFill>
                  <a:srgbClr val="0A0915"/>
                </a:solidFill>
                <a:latin typeface="Inter"/>
                <a:ea typeface="Inter"/>
                <a:cs typeface="Inter"/>
                <a:sym typeface="Inter"/>
              </a:rPr>
              <a:t>cnicas</a:t>
            </a:r>
            <a:endParaRPr/>
          </a:p>
        </p:txBody>
      </p:sp>
      <p:sp>
        <p:nvSpPr>
          <p:cNvPr id="88" name="Google Shape;88;p13"/>
          <p:cNvSpPr txBox="1"/>
          <p:nvPr/>
        </p:nvSpPr>
        <p:spPr>
          <a:xfrm>
            <a:off x="1371600" y="65179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Tres integraciones, en paralelo, no en secuencia.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3" name="Shape 93"/>
        <p:cNvGrpSpPr/>
        <p:nvPr/>
      </p:nvGrpSpPr>
      <p:grpSpPr>
        <a:xfrm>
          <a:off x="0" y="0"/>
          <a:ext cx="0" cy="0"/>
          <a:chOff x="0" y="0"/>
          <a:chExt cx="0" cy="0"/>
        </a:xfrm>
      </p:grpSpPr>
      <p:sp>
        <p:nvSpPr>
          <p:cNvPr id="94" name="Google Shape;94;p14"/>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95" name="Google Shape;95;p14"/>
          <p:cNvGrpSpPr/>
          <p:nvPr/>
        </p:nvGrpSpPr>
        <p:grpSpPr>
          <a:xfrm>
            <a:off x="1371600" y="2286000"/>
            <a:ext cx="1143000" cy="1213104"/>
            <a:chOff x="1371600" y="2286000"/>
            <a:chExt cx="1143000" cy="1213104"/>
          </a:xfrm>
        </p:grpSpPr>
        <p:sp>
          <p:nvSpPr>
            <p:cNvPr id="96" name="Google Shape;96;p14"/>
            <p:cNvSpPr/>
            <p:nvPr/>
          </p:nvSpPr>
          <p:spPr>
            <a:xfrm>
              <a:off x="1371600" y="2286000"/>
              <a:ext cx="1143000" cy="1143000"/>
            </a:xfrm>
            <a:prstGeom prst="roundRect">
              <a:avLst>
                <a:gd fmla="val 50000" name="adj"/>
              </a:avLst>
            </a:prstGeom>
            <a:solidFill>
              <a:srgbClr val="FFF7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7" name="Google Shape;97;p14"/>
            <p:cNvSpPr txBox="1"/>
            <p:nvPr/>
          </p:nvSpPr>
          <p:spPr>
            <a:xfrm>
              <a:off x="1371600" y="2356104"/>
              <a:ext cx="1143000" cy="1143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grpSp>
      <p:sp>
        <p:nvSpPr>
          <p:cNvPr id="98" name="Google Shape;98;p14"/>
          <p:cNvSpPr txBox="1"/>
          <p:nvPr/>
        </p:nvSpPr>
        <p:spPr>
          <a:xfrm>
            <a:off x="1371600" y="3619500"/>
            <a:ext cx="7620000" cy="277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1800">
                <a:solidFill>
                  <a:srgbClr val="EA580C"/>
                </a:solidFill>
                <a:latin typeface="Inter"/>
                <a:ea typeface="Inter"/>
                <a:cs typeface="Inter"/>
                <a:sym typeface="Inter"/>
              </a:rPr>
              <a:t>Prioridad uno</a:t>
            </a:r>
            <a:endParaRPr b="1" sz="1800">
              <a:solidFill>
                <a:srgbClr val="EA580C"/>
              </a:solidFill>
              <a:latin typeface="Inter"/>
              <a:ea typeface="Inter"/>
              <a:cs typeface="Inter"/>
              <a:sym typeface="Inter"/>
            </a:endParaRPr>
          </a:p>
        </p:txBody>
      </p:sp>
      <p:sp>
        <p:nvSpPr>
          <p:cNvPr id="99" name="Google Shape;99;p14"/>
          <p:cNvSpPr txBox="1"/>
          <p:nvPr/>
        </p:nvSpPr>
        <p:spPr>
          <a:xfrm>
            <a:off x="1371600" y="4095750"/>
            <a:ext cx="9525000" cy="1822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5920">
                <a:solidFill>
                  <a:srgbClr val="0A0915"/>
                </a:solidFill>
                <a:latin typeface="Inter ExtraBold"/>
                <a:ea typeface="Inter ExtraBold"/>
                <a:cs typeface="Inter ExtraBold"/>
                <a:sym typeface="Inter ExtraBold"/>
              </a:rPr>
              <a:t>Sistema de autenticación del gobierno (IDP)</a:t>
            </a:r>
            <a:endParaRPr b="0" sz="5920">
              <a:solidFill>
                <a:srgbClr val="0A0915"/>
              </a:solidFill>
              <a:latin typeface="Inter ExtraBold"/>
              <a:ea typeface="Inter ExtraBold"/>
              <a:cs typeface="Inter ExtraBold"/>
              <a:sym typeface="Inter ExtraBold"/>
            </a:endParaRPr>
          </a:p>
        </p:txBody>
      </p:sp>
      <p:sp>
        <p:nvSpPr>
          <p:cNvPr id="100" name="Google Shape;100;p14"/>
          <p:cNvSpPr/>
          <p:nvPr/>
        </p:nvSpPr>
        <p:spPr>
          <a:xfrm>
            <a:off x="11430000" y="2286000"/>
            <a:ext cx="5486400" cy="5715000"/>
          </a:xfrm>
          <a:prstGeom prst="roundRect">
            <a:avLst>
              <a:gd fmla="val 4166"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1" name="Google Shape;101;p14"/>
          <p:cNvSpPr txBox="1"/>
          <p:nvPr/>
        </p:nvSpPr>
        <p:spPr>
          <a:xfrm>
            <a:off x="11811000" y="2667000"/>
            <a:ext cx="4724400" cy="37941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Impacto Crítico</a:t>
            </a:r>
            <a:endParaRPr b="1" sz="2400">
              <a:solidFill>
                <a:srgbClr val="0A0915"/>
              </a:solidFill>
              <a:latin typeface="Inter"/>
              <a:ea typeface="Inter"/>
              <a:cs typeface="Inter"/>
              <a:sym typeface="Inter"/>
            </a:endParaRPr>
          </a:p>
          <a:p>
            <a:pPr indent="0" lvl="0" marL="0" rtl="0" algn="l">
              <a:spcBef>
                <a:spcPts val="3000"/>
              </a:spcBef>
              <a:spcAft>
                <a:spcPts val="0"/>
              </a:spcAft>
              <a:buNone/>
            </a:pPr>
            <a:r>
              <a:rPr b="0" lang="en-US" sz="2000">
                <a:solidFill>
                  <a:srgbClr val="334155"/>
                </a:solidFill>
                <a:latin typeface="Inter"/>
                <a:ea typeface="Inter"/>
                <a:cs typeface="Inter"/>
                <a:sym typeface="Inter"/>
              </a:rPr>
              <a:t>Sin esto, el ciudadano </a:t>
            </a:r>
            <a:r>
              <a:rPr b="1" lang="en-US" sz="2000">
                <a:solidFill>
                  <a:srgbClr val="EA580C"/>
                </a:solidFill>
                <a:latin typeface="Inter"/>
                <a:ea typeface="Inter"/>
                <a:cs typeface="Inter"/>
                <a:sym typeface="Inter"/>
              </a:rPr>
              <a:t>no puede iniciar sesión</a:t>
            </a:r>
            <a:r>
              <a:rPr b="0" lang="en-US" sz="2000">
                <a:solidFill>
                  <a:srgbClr val="334155"/>
                </a:solidFill>
                <a:latin typeface="Inter"/>
                <a:ea typeface="Inter"/>
                <a:cs typeface="Inter"/>
                <a:sym typeface="Inter"/>
              </a:rPr>
              <a:t>. Sin login no hay trámite que arranque.</a:t>
            </a:r>
            <a:endParaRPr b="0" sz="2000">
              <a:solidFill>
                <a:srgbClr val="334155"/>
              </a:solidFill>
              <a:latin typeface="Inter"/>
              <a:ea typeface="Inter"/>
              <a:cs typeface="Inter"/>
              <a:sym typeface="Inter"/>
            </a:endParaRPr>
          </a:p>
          <a:p>
            <a:pPr indent="0" lvl="0" marL="0" rtl="0" algn="l">
              <a:spcBef>
                <a:spcPts val="2250"/>
              </a:spcBef>
              <a:spcAft>
                <a:spcPts val="0"/>
              </a:spcAft>
              <a:buNone/>
            </a:pPr>
            <a:r>
              <a:rPr b="0" lang="en-US" sz="2000">
                <a:solidFill>
                  <a:srgbClr val="334155"/>
                </a:solidFill>
                <a:latin typeface="Inter"/>
                <a:ea typeface="Inter"/>
                <a:cs typeface="Inter"/>
                <a:sym typeface="Inter"/>
              </a:rPr>
              <a:t>La integración tiene que estar funcionando en </a:t>
            </a:r>
            <a:r>
              <a:rPr b="1" lang="en-US" sz="2000">
                <a:solidFill>
                  <a:srgbClr val="334155"/>
                </a:solidFill>
                <a:latin typeface="Inter"/>
                <a:ea typeface="Inter"/>
                <a:cs typeface="Inter"/>
                <a:sym typeface="Inter"/>
              </a:rPr>
              <a:t>ambiente de pruebas</a:t>
            </a:r>
            <a:r>
              <a:rPr b="0" lang="en-US" sz="2000">
                <a:solidFill>
                  <a:srgbClr val="334155"/>
                </a:solidFill>
                <a:latin typeface="Inter"/>
                <a:ea typeface="Inter"/>
                <a:cs typeface="Inter"/>
                <a:sym typeface="Inter"/>
              </a:rPr>
              <a:t> antes de que termine la fase.</a:t>
            </a:r>
            <a:endParaRPr b="0" sz="2000">
              <a:solidFill>
                <a:srgbClr val="334155"/>
              </a:solidFill>
              <a:latin typeface="Inter"/>
              <a:ea typeface="Inter"/>
              <a:cs typeface="Inter"/>
              <a:sym typeface="Inter"/>
            </a:endParaRPr>
          </a:p>
          <a:p>
            <a:pPr indent="0" lvl="0" marL="0" rtl="0" algn="l">
              <a:spcBef>
                <a:spcPts val="2250"/>
              </a:spcBef>
              <a:spcAft>
                <a:spcPts val="0"/>
              </a:spcAft>
              <a:buNone/>
            </a:pPr>
            <a:r>
              <a:rPr b="0" i="1" lang="en-US" sz="2000">
                <a:solidFill>
                  <a:srgbClr val="64748B"/>
                </a:solidFill>
                <a:latin typeface="Inter"/>
                <a:ea typeface="Inter"/>
                <a:cs typeface="Inter"/>
                <a:sym typeface="Inter"/>
              </a:rPr>
              <a:t>Meta ideal: Funcionando antes de lo previsto.</a:t>
            </a:r>
            <a:endParaRPr b="0" i="1" sz="2000">
              <a:solidFill>
                <a:srgbClr val="64748B"/>
              </a:solidFill>
              <a:latin typeface="Inter"/>
              <a:ea typeface="Inter"/>
              <a:cs typeface="Inter"/>
              <a:sym typeface="Inter"/>
            </a:endParaRPr>
          </a:p>
        </p:txBody>
      </p:sp>
      <p:sp>
        <p:nvSpPr>
          <p:cNvPr id="102" name="Google Shape;102;p14"/>
          <p:cNvSpPr txBox="1"/>
          <p:nvPr/>
        </p:nvSpPr>
        <p:spPr>
          <a:xfrm>
            <a:off x="1371600" y="762000"/>
            <a:ext cx="1905000" cy="381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EA580C"/>
                </a:solidFill>
                <a:latin typeface="Inter"/>
                <a:ea typeface="Inter"/>
                <a:cs typeface="Inter"/>
                <a:sym typeface="Inter"/>
              </a:rPr>
              <a:t>FASE C</a:t>
            </a:r>
            <a:endParaRPr b="1" sz="1800">
              <a:solidFill>
                <a:srgbClr val="EA580C"/>
              </a:solidFill>
              <a:latin typeface="Inter"/>
              <a:ea typeface="Inter"/>
              <a:cs typeface="Inter"/>
              <a:sym typeface="Inte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5"/>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09" name="Google Shape;109;p15"/>
          <p:cNvGrpSpPr/>
          <p:nvPr/>
        </p:nvGrpSpPr>
        <p:grpSpPr>
          <a:xfrm>
            <a:off x="1371600" y="2286000"/>
            <a:ext cx="1143000" cy="1213104"/>
            <a:chOff x="1371600" y="2286000"/>
            <a:chExt cx="1143000" cy="1213104"/>
          </a:xfrm>
        </p:grpSpPr>
        <p:sp>
          <p:nvSpPr>
            <p:cNvPr id="110" name="Google Shape;110;p15"/>
            <p:cNvSpPr/>
            <p:nvPr/>
          </p:nvSpPr>
          <p:spPr>
            <a:xfrm>
              <a:off x="1371600" y="2286000"/>
              <a:ext cx="1143000" cy="1143000"/>
            </a:xfrm>
            <a:prstGeom prst="roundRect">
              <a:avLst>
                <a:gd fmla="val 50000" name="adj"/>
              </a:avLst>
            </a:prstGeom>
            <a:solidFill>
              <a:srgbClr val="FFF7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1" name="Google Shape;111;p15"/>
            <p:cNvSpPr txBox="1"/>
            <p:nvPr/>
          </p:nvSpPr>
          <p:spPr>
            <a:xfrm>
              <a:off x="1371600" y="2356104"/>
              <a:ext cx="1143000" cy="1143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grpSp>
      <p:sp>
        <p:nvSpPr>
          <p:cNvPr id="112" name="Google Shape;112;p15"/>
          <p:cNvSpPr txBox="1"/>
          <p:nvPr/>
        </p:nvSpPr>
        <p:spPr>
          <a:xfrm>
            <a:off x="1371600" y="762000"/>
            <a:ext cx="19050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EA580C"/>
                </a:solidFill>
                <a:latin typeface="Inter"/>
                <a:ea typeface="Inter"/>
                <a:cs typeface="Inter"/>
                <a:sym typeface="Inter"/>
              </a:rPr>
              <a:t>FASE C</a:t>
            </a:r>
            <a:endParaRPr b="1" sz="1800">
              <a:solidFill>
                <a:srgbClr val="EA580C"/>
              </a:solidFill>
              <a:latin typeface="Inter"/>
              <a:ea typeface="Inter"/>
              <a:cs typeface="Inter"/>
              <a:sym typeface="Inter"/>
            </a:endParaRPr>
          </a:p>
        </p:txBody>
      </p:sp>
      <p:sp>
        <p:nvSpPr>
          <p:cNvPr id="113" name="Google Shape;113;p15"/>
          <p:cNvSpPr txBox="1"/>
          <p:nvPr/>
        </p:nvSpPr>
        <p:spPr>
          <a:xfrm>
            <a:off x="1371600" y="3619500"/>
            <a:ext cx="7620000" cy="277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800">
                <a:solidFill>
                  <a:srgbClr val="EA580C"/>
                </a:solidFill>
                <a:latin typeface="Inter"/>
                <a:ea typeface="Inter"/>
                <a:cs typeface="Inter"/>
                <a:sym typeface="Inter"/>
              </a:rPr>
              <a:t>Prioridad dos</a:t>
            </a:r>
            <a:endParaRPr b="1" i="0" sz="1800">
              <a:solidFill>
                <a:srgbClr val="EA580C"/>
              </a:solidFill>
              <a:latin typeface="Inter"/>
              <a:ea typeface="Inter"/>
              <a:cs typeface="Inter"/>
              <a:sym typeface="Inter"/>
            </a:endParaRPr>
          </a:p>
        </p:txBody>
      </p:sp>
      <p:sp>
        <p:nvSpPr>
          <p:cNvPr id="114" name="Google Shape;114;p15"/>
          <p:cNvSpPr txBox="1"/>
          <p:nvPr/>
        </p:nvSpPr>
        <p:spPr>
          <a:xfrm>
            <a:off x="1371600" y="4095750"/>
            <a:ext cx="9525000" cy="1816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5900">
                <a:solidFill>
                  <a:srgbClr val="0A0915"/>
                </a:solidFill>
                <a:latin typeface="Inter ExtraBold"/>
                <a:ea typeface="Inter ExtraBold"/>
                <a:cs typeface="Inter ExtraBold"/>
                <a:sym typeface="Inter ExtraBold"/>
              </a:rPr>
              <a:t>Pagos, si el trámite cobra una tasa</a:t>
            </a:r>
            <a:endParaRPr b="0" i="0" sz="5900">
              <a:solidFill>
                <a:srgbClr val="0A0915"/>
              </a:solidFill>
              <a:latin typeface="Inter ExtraBold"/>
              <a:ea typeface="Inter ExtraBold"/>
              <a:cs typeface="Inter ExtraBold"/>
              <a:sym typeface="Inter ExtraBold"/>
            </a:endParaRPr>
          </a:p>
        </p:txBody>
      </p:sp>
      <p:sp>
        <p:nvSpPr>
          <p:cNvPr id="115" name="Google Shape;115;p15"/>
          <p:cNvSpPr/>
          <p:nvPr/>
        </p:nvSpPr>
        <p:spPr>
          <a:xfrm>
            <a:off x="11430000" y="2286000"/>
            <a:ext cx="5486400" cy="5715000"/>
          </a:xfrm>
          <a:prstGeom prst="roundRect">
            <a:avLst>
              <a:gd fmla="val 4166"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6" name="Google Shape;116;p15"/>
          <p:cNvSpPr txBox="1"/>
          <p:nvPr/>
        </p:nvSpPr>
        <p:spPr>
          <a:xfrm>
            <a:off x="11811000" y="2667000"/>
            <a:ext cx="4724400" cy="44868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2400">
                <a:solidFill>
                  <a:srgbClr val="0A0915"/>
                </a:solidFill>
                <a:latin typeface="Inter"/>
                <a:ea typeface="Inter"/>
                <a:cs typeface="Inter"/>
                <a:sym typeface="Inter"/>
              </a:rPr>
              <a:t>Riesgo de Cronograma</a:t>
            </a:r>
            <a:endParaRPr b="1" i="0" sz="2400">
              <a:solidFill>
                <a:srgbClr val="0A0915"/>
              </a:solidFill>
              <a:latin typeface="Inter"/>
              <a:ea typeface="Inter"/>
              <a:cs typeface="Inter"/>
              <a:sym typeface="Inter"/>
            </a:endParaRPr>
          </a:p>
          <a:p>
            <a:pPr indent="0" lvl="0" marL="0" rtl="0" algn="l">
              <a:spcBef>
                <a:spcPts val="3000"/>
              </a:spcBef>
              <a:spcAft>
                <a:spcPts val="0"/>
              </a:spcAft>
              <a:buNone/>
            </a:pPr>
            <a:r>
              <a:rPr b="0" i="0" lang="en-US" sz="2000">
                <a:solidFill>
                  <a:srgbClr val="334155"/>
                </a:solidFill>
                <a:latin typeface="Inter"/>
                <a:ea typeface="Inter"/>
                <a:cs typeface="Inter"/>
                <a:sym typeface="Inter"/>
              </a:rPr>
              <a:t>Suma alrededor de </a:t>
            </a:r>
            <a:r>
              <a:rPr b="1" i="0" lang="en-US" sz="2000">
                <a:solidFill>
                  <a:srgbClr val="EA580C"/>
                </a:solidFill>
                <a:latin typeface="Inter"/>
                <a:ea typeface="Inter"/>
                <a:cs typeface="Inter"/>
                <a:sym typeface="Inter"/>
              </a:rPr>
              <a:t>dos semanas</a:t>
            </a:r>
            <a:r>
              <a:rPr b="0" i="0" lang="en-US" sz="2000">
                <a:solidFill>
                  <a:srgbClr val="334155"/>
                </a:solidFill>
                <a:latin typeface="Inter"/>
                <a:ea typeface="Inter"/>
                <a:cs typeface="Inter"/>
                <a:sym typeface="Inter"/>
              </a:rPr>
              <a:t> al cronograma general del proyecto.</a:t>
            </a:r>
            <a:endParaRPr b="0" i="0" sz="2000">
              <a:solidFill>
                <a:srgbClr val="334155"/>
              </a:solidFill>
              <a:latin typeface="Inter"/>
              <a:ea typeface="Inter"/>
              <a:cs typeface="Inter"/>
              <a:sym typeface="Inter"/>
            </a:endParaRPr>
          </a:p>
          <a:p>
            <a:pPr indent="0" lvl="0" marL="0" rtl="0" algn="l">
              <a:spcBef>
                <a:spcPts val="2250"/>
              </a:spcBef>
              <a:spcAft>
                <a:spcPts val="0"/>
              </a:spcAft>
              <a:buNone/>
            </a:pPr>
            <a:r>
              <a:rPr b="0" i="0" lang="en-US" sz="2000">
                <a:solidFill>
                  <a:srgbClr val="334155"/>
                </a:solidFill>
                <a:latin typeface="Inter"/>
                <a:ea typeface="Inter"/>
                <a:cs typeface="Inter"/>
                <a:sym typeface="Inter"/>
              </a:rPr>
              <a:t>Si ya sabías desde Fase B, la integración tendría que estar </a:t>
            </a:r>
            <a:r>
              <a:rPr b="1" i="0" lang="en-US" sz="2000">
                <a:solidFill>
                  <a:srgbClr val="334155"/>
                </a:solidFill>
                <a:latin typeface="Inter"/>
                <a:ea typeface="Inter"/>
                <a:cs typeface="Inter"/>
                <a:sym typeface="Inter"/>
              </a:rPr>
              <a:t>arrancada</a:t>
            </a:r>
            <a:r>
              <a:rPr b="0" i="0" lang="en-US" sz="2000">
                <a:solidFill>
                  <a:srgbClr val="334155"/>
                </a:solidFill>
                <a:latin typeface="Inter"/>
                <a:ea typeface="Inter"/>
                <a:cs typeface="Inter"/>
                <a:sym typeface="Inter"/>
              </a:rPr>
              <a:t>.</a:t>
            </a:r>
            <a:endParaRPr b="0" i="0" sz="2000">
              <a:solidFill>
                <a:srgbClr val="334155"/>
              </a:solidFill>
              <a:latin typeface="Inter"/>
              <a:ea typeface="Inter"/>
              <a:cs typeface="Inter"/>
              <a:sym typeface="Inter"/>
            </a:endParaRPr>
          </a:p>
          <a:p>
            <a:pPr indent="0" lvl="0" marL="0" rtl="0" algn="l">
              <a:spcBef>
                <a:spcPts val="2250"/>
              </a:spcBef>
              <a:spcAft>
                <a:spcPts val="0"/>
              </a:spcAft>
              <a:buNone/>
            </a:pPr>
            <a:r>
              <a:rPr b="0" i="0" lang="en-US" sz="2000">
                <a:solidFill>
                  <a:srgbClr val="334155"/>
                </a:solidFill>
                <a:latin typeface="Inter"/>
                <a:ea typeface="Inter"/>
                <a:cs typeface="Inter"/>
                <a:sym typeface="Inter"/>
              </a:rPr>
              <a:t>Si te toma por sorpresa en Fase C, vas a tener que </a:t>
            </a:r>
            <a:r>
              <a:rPr b="1" i="0" lang="en-US" sz="2000">
                <a:solidFill>
                  <a:srgbClr val="334155"/>
                </a:solidFill>
                <a:latin typeface="Inter"/>
                <a:ea typeface="Inter"/>
                <a:cs typeface="Inter"/>
                <a:sym typeface="Inter"/>
              </a:rPr>
              <a:t>correr el lanzamiento</a:t>
            </a:r>
            <a:r>
              <a:rPr b="0" i="0" lang="en-US" sz="2000">
                <a:solidFill>
                  <a:srgbClr val="334155"/>
                </a:solidFill>
                <a:latin typeface="Inter"/>
                <a:ea typeface="Inter"/>
                <a:cs typeface="Inter"/>
                <a:sym typeface="Inter"/>
              </a:rPr>
              <a:t>.</a:t>
            </a:r>
            <a:endParaRPr b="0" i="0" sz="2000">
              <a:solidFill>
                <a:srgbClr val="334155"/>
              </a:solidFill>
              <a:latin typeface="Inter"/>
              <a:ea typeface="Inter"/>
              <a:cs typeface="Inter"/>
              <a:sym typeface="Inter"/>
            </a:endParaRPr>
          </a:p>
          <a:p>
            <a:pPr indent="0" lvl="0" marL="0" rtl="0" algn="l">
              <a:spcBef>
                <a:spcPts val="3000"/>
              </a:spcBef>
              <a:spcAft>
                <a:spcPts val="0"/>
              </a:spcAft>
              <a:buNone/>
            </a:pPr>
            <a:r>
              <a:rPr b="0" i="1" lang="en-US" sz="2000">
                <a:solidFill>
                  <a:srgbClr val="64748B"/>
                </a:solidFill>
                <a:latin typeface="Inter"/>
                <a:ea typeface="Inter"/>
                <a:cs typeface="Inter"/>
                <a:sym typeface="Inter"/>
              </a:rPr>
              <a:t>Recomendación: Validar la necesidad de pagos lo antes posible.</a:t>
            </a:r>
            <a:endParaRPr b="0" i="1" sz="2000">
              <a:solidFill>
                <a:srgbClr val="64748B"/>
              </a:solidFill>
              <a:latin typeface="Inter"/>
              <a:ea typeface="Inter"/>
              <a:cs typeface="Inter"/>
              <a:sym typeface="Inte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16"/>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3" name="Google Shape;123;p16"/>
          <p:cNvSpPr txBox="1"/>
          <p:nvPr/>
        </p:nvSpPr>
        <p:spPr>
          <a:xfrm>
            <a:off x="1371600" y="762000"/>
            <a:ext cx="1905000" cy="381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EA580C"/>
                </a:solidFill>
                <a:latin typeface="Inter"/>
                <a:ea typeface="Inter"/>
                <a:cs typeface="Inter"/>
                <a:sym typeface="Inter"/>
              </a:rPr>
              <a:t>FASE C</a:t>
            </a:r>
            <a:endParaRPr b="1" sz="1800">
              <a:solidFill>
                <a:srgbClr val="EA580C"/>
              </a:solidFill>
              <a:latin typeface="Inter"/>
              <a:ea typeface="Inter"/>
              <a:cs typeface="Inter"/>
              <a:sym typeface="Inter"/>
            </a:endParaRPr>
          </a:p>
        </p:txBody>
      </p:sp>
      <p:grpSp>
        <p:nvGrpSpPr>
          <p:cNvPr id="124" name="Google Shape;124;p16"/>
          <p:cNvGrpSpPr/>
          <p:nvPr/>
        </p:nvGrpSpPr>
        <p:grpSpPr>
          <a:xfrm>
            <a:off x="1371600" y="2286000"/>
            <a:ext cx="1143000" cy="1213104"/>
            <a:chOff x="1371600" y="2286000"/>
            <a:chExt cx="1143000" cy="1213104"/>
          </a:xfrm>
        </p:grpSpPr>
        <p:sp>
          <p:nvSpPr>
            <p:cNvPr id="125" name="Google Shape;125;p16"/>
            <p:cNvSpPr/>
            <p:nvPr/>
          </p:nvSpPr>
          <p:spPr>
            <a:xfrm>
              <a:off x="1371600" y="2286000"/>
              <a:ext cx="1143000" cy="1143000"/>
            </a:xfrm>
            <a:prstGeom prst="roundRect">
              <a:avLst>
                <a:gd fmla="val 50000" name="adj"/>
              </a:avLst>
            </a:prstGeom>
            <a:solidFill>
              <a:srgbClr val="FFF7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6" name="Google Shape;126;p16"/>
            <p:cNvSpPr txBox="1"/>
            <p:nvPr/>
          </p:nvSpPr>
          <p:spPr>
            <a:xfrm>
              <a:off x="1371600" y="2356104"/>
              <a:ext cx="1143000" cy="1143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grpSp>
      <p:sp>
        <p:nvSpPr>
          <p:cNvPr id="127" name="Google Shape;127;p16"/>
          <p:cNvSpPr txBox="1"/>
          <p:nvPr/>
        </p:nvSpPr>
        <p:spPr>
          <a:xfrm>
            <a:off x="1371600" y="3619500"/>
            <a:ext cx="9525000" cy="2857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US" sz="1800">
                <a:solidFill>
                  <a:srgbClr val="EA580C"/>
                </a:solidFill>
                <a:latin typeface="Inter"/>
                <a:ea typeface="Inter"/>
                <a:cs typeface="Inter"/>
                <a:sym typeface="Inter"/>
              </a:rPr>
              <a:t>Prioridad tres</a:t>
            </a:r>
            <a:endParaRPr b="1" sz="1800">
              <a:solidFill>
                <a:srgbClr val="EA580C"/>
              </a:solidFill>
              <a:latin typeface="Inter"/>
              <a:ea typeface="Inter"/>
              <a:cs typeface="Inter"/>
              <a:sym typeface="Inter"/>
            </a:endParaRPr>
          </a:p>
          <a:p>
            <a:pPr indent="0" lvl="0" marL="0" rtl="0" algn="l">
              <a:spcBef>
                <a:spcPts val="1500"/>
              </a:spcBef>
              <a:spcAft>
                <a:spcPts val="0"/>
              </a:spcAft>
              <a:buNone/>
            </a:pPr>
            <a:r>
              <a:rPr b="0" lang="en-US" sz="5900">
                <a:solidFill>
                  <a:srgbClr val="0A0915"/>
                </a:solidFill>
                <a:latin typeface="Inter ExtraBold"/>
                <a:ea typeface="Inter ExtraBold"/>
                <a:cs typeface="Inter ExtraBold"/>
                <a:sym typeface="Inter ExtraBold"/>
              </a:rPr>
              <a:t>Consultas a bases de datos externas</a:t>
            </a:r>
            <a:endParaRPr b="0" sz="5900">
              <a:solidFill>
                <a:srgbClr val="0A0915"/>
              </a:solidFill>
              <a:latin typeface="Inter ExtraBold"/>
              <a:ea typeface="Inter ExtraBold"/>
              <a:cs typeface="Inter ExtraBold"/>
              <a:sym typeface="Inter ExtraBold"/>
            </a:endParaRPr>
          </a:p>
        </p:txBody>
      </p:sp>
      <p:sp>
        <p:nvSpPr>
          <p:cNvPr id="128" name="Google Shape;128;p16"/>
          <p:cNvSpPr/>
          <p:nvPr/>
        </p:nvSpPr>
        <p:spPr>
          <a:xfrm>
            <a:off x="11430000" y="2286000"/>
            <a:ext cx="5486400" cy="5715000"/>
          </a:xfrm>
          <a:prstGeom prst="roundRect">
            <a:avLst>
              <a:gd fmla="val 4166"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9" name="Google Shape;129;p16"/>
          <p:cNvSpPr txBox="1"/>
          <p:nvPr/>
        </p:nvSpPr>
        <p:spPr>
          <a:xfrm>
            <a:off x="11811000" y="2667000"/>
            <a:ext cx="4724400" cy="4953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Validación en Línea</a:t>
            </a:r>
            <a:endParaRPr b="1" sz="2400">
              <a:solidFill>
                <a:srgbClr val="0A0915"/>
              </a:solidFill>
              <a:latin typeface="Inter"/>
              <a:ea typeface="Inter"/>
              <a:cs typeface="Inter"/>
              <a:sym typeface="Inter"/>
            </a:endParaRPr>
          </a:p>
          <a:p>
            <a:pPr indent="0" lvl="0" marL="0" rtl="0" algn="l">
              <a:spcBef>
                <a:spcPts val="3000"/>
              </a:spcBef>
              <a:spcAft>
                <a:spcPts val="0"/>
              </a:spcAft>
              <a:buNone/>
            </a:pPr>
            <a:r>
              <a:rPr b="0" lang="en-US" sz="2000">
                <a:solidFill>
                  <a:srgbClr val="334155"/>
                </a:solidFill>
                <a:latin typeface="Inter"/>
                <a:ea typeface="Inter"/>
                <a:cs typeface="Inter"/>
                <a:sym typeface="Inter"/>
              </a:rPr>
              <a:t>Permiten que el formulario valide datos: existencia de documentos, registro de patentes o domicilios dentro del partido.</a:t>
            </a:r>
            <a:endParaRPr b="0" sz="2000">
              <a:solidFill>
                <a:srgbClr val="334155"/>
              </a:solidFill>
              <a:latin typeface="Inter"/>
              <a:ea typeface="Inter"/>
              <a:cs typeface="Inter"/>
              <a:sym typeface="Inter"/>
            </a:endParaRPr>
          </a:p>
          <a:p>
            <a:pPr indent="0" lvl="0" marL="0" rtl="0" algn="l">
              <a:spcBef>
                <a:spcPts val="2250"/>
              </a:spcBef>
              <a:spcAft>
                <a:spcPts val="0"/>
              </a:spcAft>
              <a:buNone/>
            </a:pPr>
            <a:r>
              <a:rPr b="0" lang="en-US" sz="2000">
                <a:solidFill>
                  <a:srgbClr val="334155"/>
                </a:solidFill>
                <a:latin typeface="Inter"/>
                <a:ea typeface="Inter"/>
                <a:cs typeface="Inter"/>
                <a:sym typeface="Inter"/>
              </a:rPr>
              <a:t>No todos los trámites las requieren, pero los que sí, </a:t>
            </a:r>
            <a:r>
              <a:rPr b="1" lang="en-US" sz="2000">
                <a:solidFill>
                  <a:srgbClr val="EA580C"/>
                </a:solidFill>
                <a:latin typeface="Inter"/>
                <a:ea typeface="Inter"/>
                <a:cs typeface="Inter"/>
                <a:sym typeface="Inter"/>
              </a:rPr>
              <a:t>dependen de respuestas rápidas</a:t>
            </a:r>
            <a:r>
              <a:rPr b="0" lang="en-US" sz="2000">
                <a:solidFill>
                  <a:srgbClr val="334155"/>
                </a:solidFill>
                <a:latin typeface="Inter"/>
                <a:ea typeface="Inter"/>
                <a:cs typeface="Inter"/>
                <a:sym typeface="Inter"/>
              </a:rPr>
              <a:t>.</a:t>
            </a:r>
            <a:endParaRPr b="0" sz="2000">
              <a:solidFill>
                <a:srgbClr val="334155"/>
              </a:solidFill>
              <a:latin typeface="Inter"/>
              <a:ea typeface="Inter"/>
              <a:cs typeface="Inter"/>
              <a:sym typeface="Inter"/>
            </a:endParaRPr>
          </a:p>
          <a:p>
            <a:pPr indent="0" lvl="0" marL="0" rtl="0" algn="l">
              <a:spcBef>
                <a:spcPts val="2250"/>
              </a:spcBef>
              <a:spcAft>
                <a:spcPts val="0"/>
              </a:spcAft>
              <a:buNone/>
            </a:pPr>
            <a:r>
              <a:rPr b="0" i="1" lang="en-US" sz="2000">
                <a:solidFill>
                  <a:srgbClr val="64748B"/>
                </a:solidFill>
                <a:latin typeface="Inter"/>
                <a:ea typeface="Inter"/>
                <a:cs typeface="Inter"/>
                <a:sym typeface="Inter"/>
              </a:rPr>
              <a:t>La confiabilidad del dato es la base de la eficiencia.</a:t>
            </a:r>
            <a:endParaRPr b="0" i="1" sz="2000">
              <a:solidFill>
                <a:srgbClr val="64748B"/>
              </a:solidFill>
              <a:latin typeface="Inter"/>
              <a:ea typeface="Inter"/>
              <a:cs typeface="Inter"/>
              <a:sym typeface="Inte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7"/>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6" name="Google Shape;136;p17"/>
          <p:cNvSpPr txBox="1"/>
          <p:nvPr/>
        </p:nvSpPr>
        <p:spPr>
          <a:xfrm>
            <a:off x="1371600" y="762000"/>
            <a:ext cx="19050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EA580C"/>
                </a:solidFill>
                <a:latin typeface="Inter"/>
                <a:ea typeface="Inter"/>
                <a:cs typeface="Inter"/>
                <a:sym typeface="Inter"/>
              </a:rPr>
              <a:t>FASE C</a:t>
            </a:r>
            <a:endParaRPr b="1" sz="1800">
              <a:solidFill>
                <a:srgbClr val="EA580C"/>
              </a:solidFill>
              <a:latin typeface="Inter"/>
              <a:ea typeface="Inter"/>
              <a:cs typeface="Inter"/>
              <a:sym typeface="Inter"/>
            </a:endParaRPr>
          </a:p>
        </p:txBody>
      </p:sp>
      <p:grpSp>
        <p:nvGrpSpPr>
          <p:cNvPr id="137" name="Google Shape;137;p17"/>
          <p:cNvGrpSpPr/>
          <p:nvPr/>
        </p:nvGrpSpPr>
        <p:grpSpPr>
          <a:xfrm>
            <a:off x="1371600" y="2286000"/>
            <a:ext cx="15544800" cy="5715000"/>
            <a:chOff x="1371600" y="2286000"/>
            <a:chExt cx="15544800" cy="5715000"/>
          </a:xfrm>
        </p:grpSpPr>
        <p:sp>
          <p:nvSpPr>
            <p:cNvPr id="138" name="Google Shape;138;p17"/>
            <p:cNvSpPr/>
            <p:nvPr/>
          </p:nvSpPr>
          <p:spPr>
            <a:xfrm>
              <a:off x="1371600" y="2286000"/>
              <a:ext cx="15544800" cy="5715000"/>
            </a:xfrm>
            <a:prstGeom prst="roundRect">
              <a:avLst>
                <a:gd fmla="val 4000"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39" name="Google Shape;139;p17"/>
            <p:cNvGrpSpPr/>
            <p:nvPr/>
          </p:nvGrpSpPr>
          <p:grpSpPr>
            <a:xfrm>
              <a:off x="1943100" y="2857500"/>
              <a:ext cx="1143000" cy="1213104"/>
              <a:chOff x="1943100" y="2857500"/>
              <a:chExt cx="1143000" cy="1213104"/>
            </a:xfrm>
          </p:grpSpPr>
          <p:sp>
            <p:nvSpPr>
              <p:cNvPr id="140" name="Google Shape;140;p17"/>
              <p:cNvSpPr/>
              <p:nvPr/>
            </p:nvSpPr>
            <p:spPr>
              <a:xfrm>
                <a:off x="1943100" y="2857500"/>
                <a:ext cx="1143000" cy="1143000"/>
              </a:xfrm>
              <a:prstGeom prst="ellipse">
                <a:avLst/>
              </a:prstGeom>
              <a:solidFill>
                <a:srgbClr val="FFF7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1" name="Google Shape;141;p17"/>
              <p:cNvSpPr txBox="1"/>
              <p:nvPr/>
            </p:nvSpPr>
            <p:spPr>
              <a:xfrm>
                <a:off x="1943100" y="2927604"/>
                <a:ext cx="1143000" cy="1143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grpSp>
        <p:sp>
          <p:nvSpPr>
            <p:cNvPr id="142" name="Google Shape;142;p17"/>
            <p:cNvSpPr txBox="1"/>
            <p:nvPr/>
          </p:nvSpPr>
          <p:spPr>
            <a:xfrm>
              <a:off x="3886200" y="2857500"/>
              <a:ext cx="11430000" cy="1143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000">
                  <a:solidFill>
                    <a:srgbClr val="EA580C"/>
                  </a:solidFill>
                  <a:latin typeface="Inter"/>
                  <a:ea typeface="Inter"/>
                  <a:cs typeface="Inter"/>
                  <a:sym typeface="Inter"/>
                </a:rPr>
                <a:t>El punto que se olvida</a:t>
              </a:r>
              <a:endParaRPr b="1" sz="2000">
                <a:solidFill>
                  <a:srgbClr val="EA580C"/>
                </a:solidFill>
                <a:latin typeface="Inter"/>
                <a:ea typeface="Inter"/>
                <a:cs typeface="Inter"/>
                <a:sym typeface="Inter"/>
              </a:endParaRPr>
            </a:p>
          </p:txBody>
        </p:sp>
        <p:sp>
          <p:nvSpPr>
            <p:cNvPr id="143" name="Google Shape;143;p17"/>
            <p:cNvSpPr txBox="1"/>
            <p:nvPr/>
          </p:nvSpPr>
          <p:spPr>
            <a:xfrm>
              <a:off x="1943100" y="4191000"/>
              <a:ext cx="14401800" cy="1524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4800">
                  <a:solidFill>
                    <a:srgbClr val="0A0915"/>
                  </a:solidFill>
                  <a:latin typeface="Inter ExtraBold"/>
                  <a:ea typeface="Inter ExtraBold"/>
                  <a:cs typeface="Inter ExtraBold"/>
                  <a:sym typeface="Inter ExtraBold"/>
                </a:rPr>
                <a:t>La velocidad importa tanto como la integración misma</a:t>
              </a:r>
              <a:endParaRPr b="0" sz="4800">
                <a:solidFill>
                  <a:srgbClr val="0A0915"/>
                </a:solidFill>
                <a:latin typeface="Inter ExtraBold"/>
                <a:ea typeface="Inter ExtraBold"/>
                <a:cs typeface="Inter ExtraBold"/>
                <a:sym typeface="Inter ExtraBold"/>
              </a:endParaRPr>
            </a:p>
          </p:txBody>
        </p:sp>
        <p:sp>
          <p:nvSpPr>
            <p:cNvPr id="144" name="Google Shape;144;p17"/>
            <p:cNvSpPr txBox="1"/>
            <p:nvPr/>
          </p:nvSpPr>
          <p:spPr>
            <a:xfrm>
              <a:off x="1943100" y="5905500"/>
              <a:ext cx="14401800" cy="1714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200">
                  <a:solidFill>
                    <a:srgbClr val="334155"/>
                  </a:solidFill>
                  <a:latin typeface="Inter"/>
                  <a:ea typeface="Inter"/>
                  <a:cs typeface="Inter"/>
                  <a:sym typeface="Inter"/>
                </a:rPr>
                <a:t>Las integraciones se prueban en conectividad y velocidad antes del testing general.</a:t>
              </a:r>
              <a:endParaRPr b="0" sz="2200">
                <a:solidFill>
                  <a:srgbClr val="334155"/>
                </a:solidFill>
                <a:latin typeface="Inter"/>
                <a:ea typeface="Inter"/>
                <a:cs typeface="Inter"/>
                <a:sym typeface="Inter"/>
              </a:endParaRPr>
            </a:p>
            <a:p>
              <a:pPr indent="0" lvl="0" marL="0" rtl="0" algn="l">
                <a:spcBef>
                  <a:spcPts val="1500"/>
                </a:spcBef>
                <a:spcAft>
                  <a:spcPts val="0"/>
                </a:spcAft>
                <a:buNone/>
              </a:pPr>
              <a:r>
                <a:rPr b="1" lang="en-US" sz="2200">
                  <a:solidFill>
                    <a:srgbClr val="EA580C"/>
                  </a:solidFill>
                  <a:latin typeface="Inter"/>
                  <a:ea typeface="Inter"/>
                  <a:cs typeface="Inter"/>
                  <a:sym typeface="Inter"/>
                </a:rPr>
                <a:t>Riesgo de abandono:</a:t>
              </a:r>
              <a:r>
                <a:rPr b="0" lang="en-US" sz="2200">
                  <a:solidFill>
                    <a:srgbClr val="334155"/>
                  </a:solidFill>
                  <a:latin typeface="Inter"/>
                  <a:ea typeface="Inter"/>
                  <a:cs typeface="Inter"/>
                  <a:sym typeface="Inter"/>
                </a:rPr>
                <a:t> Si una integración tarda 15 segundos, el ciudadano la interpreta como un error y abandona el trámite.</a:t>
              </a:r>
              <a:endParaRPr b="0" sz="2200">
                <a:solidFill>
                  <a:srgbClr val="334155"/>
                </a:solidFill>
                <a:latin typeface="Inter"/>
                <a:ea typeface="Inter"/>
                <a:cs typeface="Inter"/>
                <a:sym typeface="Inte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18"/>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1" name="Google Shape;151;p18"/>
          <p:cNvSpPr txBox="1"/>
          <p:nvPr/>
        </p:nvSpPr>
        <p:spPr>
          <a:xfrm>
            <a:off x="1371600" y="762000"/>
            <a:ext cx="1905000" cy="381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EA580C"/>
                </a:solidFill>
                <a:latin typeface="Inter"/>
                <a:ea typeface="Inter"/>
                <a:cs typeface="Inter"/>
                <a:sym typeface="Inter"/>
              </a:rPr>
              <a:t>FASE E</a:t>
            </a:r>
            <a:endParaRPr b="1" sz="1800">
              <a:solidFill>
                <a:srgbClr val="EA580C"/>
              </a:solidFill>
              <a:latin typeface="Inter"/>
              <a:ea typeface="Inter"/>
              <a:cs typeface="Inter"/>
              <a:sym typeface="Inter"/>
            </a:endParaRPr>
          </a:p>
        </p:txBody>
      </p:sp>
      <p:sp>
        <p:nvSpPr>
          <p:cNvPr id="152" name="Google Shape;152;p18"/>
          <p:cNvSpPr txBox="1"/>
          <p:nvPr/>
        </p:nvSpPr>
        <p:spPr>
          <a:xfrm>
            <a:off x="1371600" y="1524000"/>
            <a:ext cx="9525000" cy="1905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lang="en-US" sz="4800">
                <a:solidFill>
                  <a:srgbClr val="0A0915"/>
                </a:solidFill>
                <a:latin typeface="Inter ExtraBold"/>
                <a:ea typeface="Inter ExtraBold"/>
                <a:cs typeface="Inter ExtraBold"/>
                <a:sym typeface="Inter ExtraBold"/>
              </a:rPr>
              <a:t>Documenta cada integración a medida que la cerras.</a:t>
            </a:r>
            <a:endParaRPr b="0" sz="4800">
              <a:solidFill>
                <a:srgbClr val="0A0915"/>
              </a:solidFill>
              <a:latin typeface="Inter ExtraBold"/>
              <a:ea typeface="Inter ExtraBold"/>
              <a:cs typeface="Inter ExtraBold"/>
              <a:sym typeface="Inter ExtraBold"/>
            </a:endParaRPr>
          </a:p>
        </p:txBody>
      </p:sp>
      <p:sp>
        <p:nvSpPr>
          <p:cNvPr id="153" name="Google Shape;153;p18"/>
          <p:cNvSpPr/>
          <p:nvPr/>
        </p:nvSpPr>
        <p:spPr>
          <a:xfrm>
            <a:off x="11430000" y="2286000"/>
            <a:ext cx="5486400" cy="5715000"/>
          </a:xfrm>
          <a:prstGeom prst="roundRect">
            <a:avLst>
              <a:gd fmla="val 4166"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4" name="Google Shape;154;p18"/>
          <p:cNvSpPr txBox="1"/>
          <p:nvPr/>
        </p:nvSpPr>
        <p:spPr>
          <a:xfrm>
            <a:off x="11811000" y="2667000"/>
            <a:ext cx="4724400" cy="4953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Checklist de Integración</a:t>
            </a:r>
            <a:endParaRPr b="1" sz="2400">
              <a:solidFill>
                <a:srgbClr val="0A0915"/>
              </a:solidFill>
              <a:latin typeface="Inter"/>
              <a:ea typeface="Inter"/>
              <a:cs typeface="Inter"/>
              <a:sym typeface="Inter"/>
            </a:endParaRPr>
          </a:p>
          <a:p>
            <a:pPr indent="0" lvl="0" marL="0" rtl="0" algn="l">
              <a:spcBef>
                <a:spcPts val="2500"/>
              </a:spcBef>
              <a:spcAft>
                <a:spcPts val="0"/>
              </a:spcAft>
              <a:buNone/>
            </a:pPr>
            <a:r>
              <a:rPr b="0" lang="en-US" sz="2000">
                <a:solidFill>
                  <a:srgbClr val="EA580C"/>
                </a:solidFill>
                <a:latin typeface="Material Icons"/>
                <a:ea typeface="Material Icons"/>
                <a:cs typeface="Material Icons"/>
                <a:sym typeface="Material Icons"/>
              </a:rPr>
              <a:t></a:t>
            </a:r>
            <a:r>
              <a:rPr b="0" lang="en-US" sz="2000">
                <a:solidFill>
                  <a:srgbClr val="0A0915"/>
                </a:solidFill>
                <a:latin typeface="Inter"/>
                <a:ea typeface="Inter"/>
                <a:cs typeface="Inter"/>
                <a:sym typeface="Inter"/>
              </a:rPr>
              <a:t>A qué servicio se conecta.</a:t>
            </a:r>
            <a:endParaRPr b="0" sz="2000">
              <a:solidFill>
                <a:srgbClr val="0A0915"/>
              </a:solidFill>
              <a:latin typeface="Inter"/>
              <a:ea typeface="Inter"/>
              <a:cs typeface="Inter"/>
              <a:sym typeface="Inter"/>
            </a:endParaRPr>
          </a:p>
          <a:p>
            <a:pPr indent="0" lvl="0" marL="0" rtl="0" algn="l">
              <a:spcBef>
                <a:spcPts val="2000"/>
              </a:spcBef>
              <a:spcAft>
                <a:spcPts val="0"/>
              </a:spcAft>
              <a:buNone/>
            </a:pPr>
            <a:r>
              <a:rPr b="0" lang="en-US" sz="2000">
                <a:solidFill>
                  <a:srgbClr val="EA580C"/>
                </a:solidFill>
                <a:latin typeface="Material Icons"/>
                <a:ea typeface="Material Icons"/>
                <a:cs typeface="Material Icons"/>
                <a:sym typeface="Material Icons"/>
              </a:rPr>
              <a:t></a:t>
            </a:r>
            <a:r>
              <a:rPr b="0" lang="en-US" sz="2000">
                <a:solidFill>
                  <a:srgbClr val="0A0915"/>
                </a:solidFill>
                <a:latin typeface="Inter"/>
                <a:ea typeface="Inter"/>
                <a:cs typeface="Inter"/>
                <a:sym typeface="Inter"/>
              </a:rPr>
              <a:t>Qué datos le pide.</a:t>
            </a:r>
            <a:endParaRPr b="0" sz="2000">
              <a:solidFill>
                <a:srgbClr val="0A0915"/>
              </a:solidFill>
              <a:latin typeface="Inter"/>
              <a:ea typeface="Inter"/>
              <a:cs typeface="Inter"/>
              <a:sym typeface="Inter"/>
            </a:endParaRPr>
          </a:p>
          <a:p>
            <a:pPr indent="0" lvl="0" marL="0" rtl="0" algn="l">
              <a:spcBef>
                <a:spcPts val="2000"/>
              </a:spcBef>
              <a:spcAft>
                <a:spcPts val="0"/>
              </a:spcAft>
              <a:buNone/>
            </a:pPr>
            <a:r>
              <a:rPr b="0" lang="en-US" sz="2000">
                <a:solidFill>
                  <a:srgbClr val="EA580C"/>
                </a:solidFill>
                <a:latin typeface="Material Icons"/>
                <a:ea typeface="Material Icons"/>
                <a:cs typeface="Material Icons"/>
                <a:sym typeface="Material Icons"/>
              </a:rPr>
              <a:t></a:t>
            </a:r>
            <a:r>
              <a:rPr b="0" lang="en-US" sz="2000">
                <a:solidFill>
                  <a:srgbClr val="0A0915"/>
                </a:solidFill>
                <a:latin typeface="Inter"/>
                <a:ea typeface="Inter"/>
                <a:cs typeface="Inter"/>
                <a:sym typeface="Inter"/>
              </a:rPr>
              <a:t>Qué datos devuelve.</a:t>
            </a:r>
            <a:endParaRPr b="0" sz="2000">
              <a:solidFill>
                <a:srgbClr val="0A0915"/>
              </a:solidFill>
              <a:latin typeface="Inter"/>
              <a:ea typeface="Inter"/>
              <a:cs typeface="Inter"/>
              <a:sym typeface="Inter"/>
            </a:endParaRPr>
          </a:p>
          <a:p>
            <a:pPr indent="0" lvl="0" marL="0" rtl="0" algn="l">
              <a:spcBef>
                <a:spcPts val="2000"/>
              </a:spcBef>
              <a:spcAft>
                <a:spcPts val="2000"/>
              </a:spcAft>
              <a:buNone/>
            </a:pPr>
            <a:r>
              <a:rPr b="0" lang="en-US" sz="2000">
                <a:solidFill>
                  <a:srgbClr val="EA580C"/>
                </a:solidFill>
                <a:latin typeface="Material Icons"/>
                <a:ea typeface="Material Icons"/>
                <a:cs typeface="Material Icons"/>
                <a:sym typeface="Material Icons"/>
              </a:rPr>
              <a:t></a:t>
            </a:r>
            <a:r>
              <a:rPr b="0" lang="en-US" sz="2000">
                <a:solidFill>
                  <a:srgbClr val="0A0915"/>
                </a:solidFill>
                <a:latin typeface="Inter"/>
                <a:ea typeface="Inter"/>
                <a:cs typeface="Inter"/>
                <a:sym typeface="Inter"/>
              </a:rPr>
              <a:t>Manejo de errores: si el servicio no responde.</a:t>
            </a:r>
            <a:endParaRPr b="0" sz="2000">
              <a:solidFill>
                <a:srgbClr val="0A0915"/>
              </a:solidFill>
              <a:latin typeface="Inter"/>
              <a:ea typeface="Inter"/>
              <a:cs typeface="Inter"/>
              <a:sym typeface="Inter"/>
            </a:endParaRPr>
          </a:p>
        </p:txBody>
      </p:sp>
      <p:sp>
        <p:nvSpPr>
          <p:cNvPr id="155" name="Google Shape;155;p18"/>
          <p:cNvSpPr txBox="1"/>
          <p:nvPr/>
        </p:nvSpPr>
        <p:spPr>
          <a:xfrm>
            <a:off x="1371600" y="6191250"/>
            <a:ext cx="8572500" cy="1905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lang="en-US" sz="2400">
                <a:solidFill>
                  <a:srgbClr val="334155"/>
                </a:solidFill>
                <a:latin typeface="Inter"/>
                <a:ea typeface="Inter"/>
                <a:cs typeface="Inter"/>
                <a:sym typeface="Inter"/>
              </a:rPr>
              <a:t>Esta documentación se entrega en </a:t>
            </a:r>
            <a:r>
              <a:rPr b="1" lang="en-US" sz="2400">
                <a:solidFill>
                  <a:srgbClr val="EA580C"/>
                </a:solidFill>
                <a:latin typeface="Inter"/>
                <a:ea typeface="Inter"/>
                <a:cs typeface="Inter"/>
                <a:sym typeface="Inter"/>
              </a:rPr>
              <a:t>Fase E</a:t>
            </a:r>
            <a:r>
              <a:rPr b="0" lang="en-US" sz="2400">
                <a:solidFill>
                  <a:srgbClr val="334155"/>
                </a:solidFill>
                <a:latin typeface="Inter"/>
                <a:ea typeface="Inter"/>
                <a:cs typeface="Inter"/>
                <a:sym typeface="Inter"/>
              </a:rPr>
              <a:t>.</a:t>
            </a:r>
            <a:endParaRPr b="0" sz="2400">
              <a:solidFill>
                <a:srgbClr val="334155"/>
              </a:solidFill>
              <a:latin typeface="Inter"/>
              <a:ea typeface="Inter"/>
              <a:cs typeface="Inter"/>
              <a:sym typeface="Inter"/>
            </a:endParaRPr>
          </a:p>
          <a:p>
            <a:pPr indent="0" lvl="0" marL="0" rtl="0" algn="l">
              <a:spcBef>
                <a:spcPts val="2000"/>
              </a:spcBef>
              <a:spcAft>
                <a:spcPts val="0"/>
              </a:spcAft>
              <a:buNone/>
            </a:pPr>
            <a:r>
              <a:rPr b="0" i="1" lang="en-US" sz="2400">
                <a:solidFill>
                  <a:srgbClr val="64748B"/>
                </a:solidFill>
                <a:latin typeface="Inter"/>
                <a:ea typeface="Inter"/>
                <a:cs typeface="Inter"/>
                <a:sym typeface="Inter"/>
              </a:rPr>
              <a:t>Es la única defensa del gobierno cuando algo falla.</a:t>
            </a:r>
            <a:endParaRPr b="0" i="1" sz="2400">
              <a:solidFill>
                <a:srgbClr val="64748B"/>
              </a:solidFill>
              <a:latin typeface="Inter"/>
              <a:ea typeface="Inter"/>
              <a:cs typeface="Inter"/>
              <a:sym typeface="Inter"/>
            </a:endParaRPr>
          </a:p>
        </p:txBody>
      </p:sp>
      <p:sp>
        <p:nvSpPr>
          <p:cNvPr id="156" name="Google Shape;156;p18"/>
          <p:cNvSpPr/>
          <p:nvPr/>
        </p:nvSpPr>
        <p:spPr>
          <a:xfrm>
            <a:off x="1371600" y="3429000"/>
            <a:ext cx="1143000" cy="1143000"/>
          </a:xfrm>
          <a:prstGeom prst="ellipse">
            <a:avLst/>
          </a:prstGeom>
          <a:solidFill>
            <a:srgbClr val="FFF7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7" name="Google Shape;157;p18"/>
          <p:cNvSpPr txBox="1"/>
          <p:nvPr/>
        </p:nvSpPr>
        <p:spPr>
          <a:xfrm>
            <a:off x="1371600" y="3499104"/>
            <a:ext cx="1143000" cy="1143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0" lang="en-US" sz="4800">
                <a:solidFill>
                  <a:srgbClr val="EA580C"/>
                </a:solidFill>
                <a:latin typeface="Material Icons"/>
                <a:ea typeface="Material Icons"/>
                <a:cs typeface="Material Icons"/>
                <a:sym typeface="Material Icons"/>
              </a:rPr>
              <a:t></a:t>
            </a:r>
            <a:endParaRPr b="0" sz="4800">
              <a:solidFill>
                <a:srgbClr val="EA580C"/>
              </a:solidFill>
              <a:latin typeface="Material Icons"/>
              <a:ea typeface="Material Icons"/>
              <a:cs typeface="Material Icons"/>
              <a:sym typeface="Material Icons"/>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19"/>
          <p:cNvSpPr/>
          <p:nvPr/>
        </p:nvSpPr>
        <p:spPr>
          <a:xfrm>
            <a:off x="0" y="0"/>
            <a:ext cx="18288000" cy="10287000"/>
          </a:xfrm>
          <a:prstGeom prst="rect">
            <a:avLst/>
          </a:prstGeom>
          <a:solidFill>
            <a:srgbClr val="EA580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 name="Google Shape;164;p19"/>
          <p:cNvSpPr txBox="1"/>
          <p:nvPr/>
        </p:nvSpPr>
        <p:spPr>
          <a:xfrm>
            <a:off x="1371600" y="3200400"/>
            <a:ext cx="15544800" cy="6465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Las integraciones no son un anexo de Fase C</a:t>
            </a:r>
            <a:endParaRPr/>
          </a:p>
        </p:txBody>
      </p:sp>
      <p:sp>
        <p:nvSpPr>
          <p:cNvPr id="165" name="Google Shape;165;p19"/>
          <p:cNvSpPr txBox="1"/>
          <p:nvPr/>
        </p:nvSpPr>
        <p:spPr>
          <a:xfrm>
            <a:off x="1371600" y="3882905"/>
            <a:ext cx="15544800" cy="25212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Son lo que diferencia un </a:t>
            </a:r>
            <a:r>
              <a:rPr b="1" lang="en-US" sz="7800">
                <a:solidFill>
                  <a:srgbClr val="FFFFFF"/>
                </a:solidFill>
                <a:latin typeface="Inter"/>
                <a:ea typeface="Inter"/>
                <a:cs typeface="Inter"/>
                <a:sym typeface="Inter"/>
              </a:rPr>
              <a:t>trámite</a:t>
            </a:r>
            <a:r>
              <a:rPr b="1" i="0" lang="en-US" sz="7800" u="none" cap="none" strike="noStrike">
                <a:solidFill>
                  <a:srgbClr val="FFFFFF"/>
                </a:solidFill>
                <a:latin typeface="Inter"/>
                <a:ea typeface="Inter"/>
                <a:cs typeface="Inter"/>
                <a:sym typeface="Inter"/>
              </a:rPr>
              <a:t> digital</a:t>
            </a:r>
            <a:endParaRPr/>
          </a:p>
        </p:txBody>
      </p:sp>
      <p:sp>
        <p:nvSpPr>
          <p:cNvPr id="166" name="Google Shape;166;p19"/>
          <p:cNvSpPr txBox="1"/>
          <p:nvPr/>
        </p:nvSpPr>
        <p:spPr>
          <a:xfrm>
            <a:off x="1371600" y="6613275"/>
            <a:ext cx="15544800" cy="4617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de un formulario online.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