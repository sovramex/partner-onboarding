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9.6s · 24 palabras]</a:t>
            </a:r>
          </a:p>
          <a:p/>
          <a:p>
            <a:r>
              <a:t>Mientras el equipo funcional modela los tramites, el equipo tecnico trabaja en las integraciones. Son tres y se trabajan en paralelo, no en secuencia.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24.8s · 62 palabras]</a:t>
            </a:r>
          </a:p>
          <a:p/>
          <a:p>
            <a:r>
              <a:t>La primera y mas critica es el sistema de autenticacion del gobierno. Lo que en planes y reuniones tecnicas se nombra como IDP. Sin esto, el ciudadano no puede iniciar sesion, y sin login no hay tramite que arranque. Por eso es prioridad uno. La integracion tiene que estar funcionando en ambiente de pruebas antes de que termine la fase, ojala antes.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21.2s · 53 palabras]</a:t>
            </a:r>
          </a:p>
          <a:p/>
          <a:p>
            <a:r>
              <a:t>La segunda son los pagos, si el tramite cobra una tasa. Esto suma alrededor de dos semanas al cronograma, asi que si ya sabias desde Fase B que iban a haber pagos, la integracion tendria que estar arrancada. Si te toma por sorpresa en Fase C, vas a tener que correr el lanzamiento.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22.8s · 57 palabras]</a:t>
            </a:r>
          </a:p>
          <a:p/>
          <a:p>
            <a:r>
              <a:t>La tercera son las consultas a bases de datos externas del gobierno. Son las que permiten que el formulario valide datos en linea: que un numero de documento exista, que una patente este registrada, que un domicilio este dentro del partido. No todos los tramites las necesitan, pero los que si dependen de respuestas rapidas y confiables.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22.8s · 57 palabras]</a:t>
            </a:r>
          </a:p>
          <a:p/>
          <a:p>
            <a:r>
              <a:t>Las tres integraciones tienen un punto de coincidencia: hay que probar conectividad y velocidad de respuesta antes del testing de punta a punta. Si la integracion funciona pero tarda quince segundos, el ciudadano la va a leer como un error y va a abandonar el tramite. Los tiempos de respuesta importan tanto como la integracion en si.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25.2s · 63 palabras]</a:t>
            </a:r>
          </a:p>
          <a:p/>
          <a:p>
            <a:r>
              <a:t>Documenta cada integracion a medida que la cierras. A que servicio se conecta, que datos le pide, que datos devuelve, que pasa si el servicio del gobierno no responde. Esa documentacion se la vas a entregar al equipo del gobierno en Fase E, y va a ser su unica defensa cuando algo deje de funcionar y tu ya no estes en el proyecto.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[Duración estimada: 12.8s · 32 palabras]</a:t>
            </a:r>
          </a:p>
          <a:p/>
          <a:p>
            <a:r>
              <a:t>Las integraciones no son un anexo de Fase C. Son lo que diferencia un tramite digital de un formulario online. Si dejas las integraciones para el final, no te alcanza el tiempo.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2286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548640"/>
          </a:xfrm>
          <a:prstGeom prst="rect">
            <a:avLst/>
          </a:prstGeom>
          <a:noFill/>
        </p:spPr>
        <p:txBody>
          <a:bodyPr wrap="square" anchor="t" lIns="0" rIns="0" tIns="0" bIns="0">
            <a:spAutoFit/>
          </a:bodyPr>
          <a:lstStyle/>
          <a:p>
            <a:pPr algn="l">
              <a:lnSpc>
                <a:spcPct val="115000"/>
              </a:lnSpc>
            </a:pPr>
            <a:r>
              <a:rPr sz="1800" b="1" i="0">
                <a:solidFill>
                  <a:srgbClr val="EA580C"/>
                </a:solidFill>
                <a:latin typeface="Figtree"/>
              </a:rPr>
              <a:t>FASE C</a:t>
            </a:r>
          </a:p>
        </p:txBody>
      </p:sp>
      <p:sp>
        <p:nvSpPr>
          <p:cNvPr id="4" name="TextBox 3"/>
          <p:cNvSpPr txBox="1"/>
          <p:nvPr/>
        </p:nvSpPr>
        <p:spPr>
          <a:xfrm>
            <a:off x="1371600" y="3840480"/>
            <a:ext cx="15544800" cy="3657600"/>
          </a:xfrm>
          <a:prstGeom prst="rect">
            <a:avLst/>
          </a:prstGeom>
          <a:noFill/>
        </p:spPr>
        <p:txBody>
          <a:bodyPr wrap="square" anchor="t" lIns="0" rIns="0" tIns="0" bIns="0">
            <a:spAutoFit/>
          </a:bodyPr>
          <a:lstStyle/>
          <a:p>
            <a:pPr algn="l">
              <a:lnSpc>
                <a:spcPct val="110000"/>
              </a:lnSpc>
            </a:pPr>
            <a:r>
              <a:rPr sz="8000" b="1" i="0">
                <a:solidFill>
                  <a:srgbClr val="0A0915"/>
                </a:solidFill>
                <a:latin typeface="Plus Jakarta Sans"/>
              </a:rPr>
              <a:t>Resolver integraciones</a:t>
            </a:r>
          </a:p>
          <a:p>
            <a:pPr algn="l">
              <a:lnSpc>
                <a:spcPct val="110000"/>
              </a:lnSpc>
            </a:pPr>
            <a:r>
              <a:rPr sz="8000" b="1" i="0">
                <a:solidFill>
                  <a:srgbClr val="0A0915"/>
                </a:solidFill>
                <a:latin typeface="Plus Jakarta Sans"/>
              </a:rPr>
              <a:t>tecnicas.</a:t>
            </a:r>
          </a:p>
        </p:txBody>
      </p:sp>
      <p:sp>
        <p:nvSpPr>
          <p:cNvPr id="5" name="TextBox 4"/>
          <p:cNvSpPr txBox="1"/>
          <p:nvPr/>
        </p:nvSpPr>
        <p:spPr>
          <a:xfrm>
            <a:off x="1371600" y="7772400"/>
            <a:ext cx="15544800" cy="1371600"/>
          </a:xfrm>
          <a:prstGeom prst="rect">
            <a:avLst/>
          </a:prstGeom>
          <a:noFill/>
        </p:spPr>
        <p:txBody>
          <a:bodyPr wrap="square" anchor="t" lIns="0" rIns="0" tIns="0" bIns="0">
            <a:spAutoFit/>
          </a:bodyPr>
          <a:lstStyle/>
          <a:p>
            <a:pPr algn="l">
              <a:lnSpc>
                <a:spcPct val="130000"/>
              </a:lnSpc>
            </a:pPr>
            <a:r>
              <a:rPr sz="2200" b="0" i="0">
                <a:solidFill>
                  <a:srgbClr val="888888"/>
                </a:solidFill>
                <a:latin typeface="Figtree"/>
              </a:rPr>
              <a:t>Tres integraciones, en paralelo, no en secuencia.</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EA580C"/>
                </a:solidFill>
                <a:latin typeface="Figtree"/>
              </a:rPr>
              <a:t>Prioridad uno</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Sistema de autenticacion del gobierno (IDP).</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Sin esto, el ciudadano no puede iniciar sesion. Sin login no hay tramite que arranque. La integracion tiene que estar funcionando en ambiente de pruebas antes de que termine la fase, ojala antes.</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EA580C"/>
                </a:solidFill>
                <a:latin typeface="Figtree"/>
              </a:rPr>
              <a:t>Prioridad dos</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Pagos, si el tramite cobra una tasa.</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Suma alrededor de dos semanas al cronograma. Si ya sabias desde Fase B que iban a haber pagos, la integracion tendria que estar arrancada. Si te toma por sorpresa en Fase C, vas a tener que correr el lanzamiento.</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EA580C"/>
                </a:solidFill>
                <a:latin typeface="Figtree"/>
              </a:rPr>
              <a:t>Prioridad tres</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Consultas a bases de datos externas.</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Permiten que el formulario valide datos en linea: que un documento exista, que una patente este registrada, que un domicilio este dentro del partido. No todos los tramites las necesitan, pero los que si dependen de respuestas rapidas y confiables.</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2286000"/>
            <a:ext cx="15544800" cy="548640"/>
          </a:xfrm>
          <a:prstGeom prst="rect">
            <a:avLst/>
          </a:prstGeom>
          <a:noFill/>
        </p:spPr>
        <p:txBody>
          <a:bodyPr wrap="square" anchor="t" lIns="0" rIns="0" tIns="0" bIns="0">
            <a:spAutoFit/>
          </a:bodyPr>
          <a:lstStyle/>
          <a:p>
            <a:pPr algn="ctr">
              <a:lnSpc>
                <a:spcPct val="115000"/>
              </a:lnSpc>
            </a:pPr>
            <a:r>
              <a:rPr sz="2000" b="1" i="0">
                <a:solidFill>
                  <a:srgbClr val="EA580C"/>
                </a:solidFill>
                <a:latin typeface="Figtree"/>
              </a:rPr>
              <a:t>El punto que se olvida</a:t>
            </a:r>
          </a:p>
        </p:txBody>
      </p:sp>
      <p:sp>
        <p:nvSpPr>
          <p:cNvPr id="3" name="TextBox 2"/>
          <p:cNvSpPr txBox="1"/>
          <p:nvPr/>
        </p:nvSpPr>
        <p:spPr>
          <a:xfrm>
            <a:off x="1371600" y="3200400"/>
            <a:ext cx="15544800" cy="2743200"/>
          </a:xfrm>
          <a:prstGeom prst="rect">
            <a:avLst/>
          </a:prstGeom>
          <a:noFill/>
        </p:spPr>
        <p:txBody>
          <a:bodyPr wrap="square" anchor="t" lIns="0" rIns="0" tIns="0" bIns="0">
            <a:spAutoFit/>
          </a:bodyPr>
          <a:lstStyle/>
          <a:p>
            <a:pPr algn="ctr">
              <a:lnSpc>
                <a:spcPct val="115000"/>
              </a:lnSpc>
            </a:pPr>
            <a:r>
              <a:rPr sz="5600" b="1" i="0">
                <a:solidFill>
                  <a:srgbClr val="0A0915"/>
                </a:solidFill>
                <a:latin typeface="Plus Jakarta Sans"/>
              </a:rPr>
              <a:t>Velocidad de respuesta importa tanto como la integracion en si.</a:t>
            </a:r>
          </a:p>
        </p:txBody>
      </p:sp>
      <p:sp>
        <p:nvSpPr>
          <p:cNvPr id="4" name="TextBox 3"/>
          <p:cNvSpPr txBox="1"/>
          <p:nvPr/>
        </p:nvSpPr>
        <p:spPr>
          <a:xfrm>
            <a:off x="1828800" y="6858000"/>
            <a:ext cx="14630400" cy="2286000"/>
          </a:xfrm>
          <a:prstGeom prst="rect">
            <a:avLst/>
          </a:prstGeom>
          <a:noFill/>
        </p:spPr>
        <p:txBody>
          <a:bodyPr wrap="square" anchor="t" lIns="0" rIns="0" tIns="0" bIns="0">
            <a:spAutoFit/>
          </a:bodyPr>
          <a:lstStyle/>
          <a:p>
            <a:pPr algn="ctr">
              <a:lnSpc>
                <a:spcPct val="140000"/>
              </a:lnSpc>
            </a:pPr>
            <a:r>
              <a:rPr sz="2400" b="0" i="0">
                <a:solidFill>
                  <a:srgbClr val="0A0915"/>
                </a:solidFill>
                <a:latin typeface="Figtree"/>
              </a:rPr>
              <a:t>Las tres integraciones se prueban en conectividad y velocidad antes del testing de punta a punta. Si una integracion funciona pero tarda quince segundos, el ciudadano la va a leer como un error y va a abandonar el tramite.</a:t>
            </a:r>
          </a:p>
        </p:txBody>
      </p:sp>
      <p:sp>
        <p:nvSpPr>
          <p:cNvPr id="5" name="TextBox 4"/>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371600"/>
            <a:ext cx="15544800" cy="1828800"/>
          </a:xfrm>
          <a:prstGeom prst="rect">
            <a:avLst/>
          </a:prstGeom>
          <a:noFill/>
        </p:spPr>
        <p:txBody>
          <a:bodyPr wrap="square" anchor="t" lIns="0" rIns="0" tIns="0" bIns="0">
            <a:spAutoFit/>
          </a:bodyPr>
          <a:lstStyle/>
          <a:p>
            <a:pPr algn="l">
              <a:lnSpc>
                <a:spcPct val="115000"/>
              </a:lnSpc>
            </a:pPr>
            <a:r>
              <a:rPr sz="4200" b="1" i="0">
                <a:solidFill>
                  <a:srgbClr val="0A0915"/>
                </a:solidFill>
                <a:latin typeface="Plus Jakarta Sans"/>
              </a:rPr>
              <a:t>Documenta cada integracion a medida que la cerras.</a:t>
            </a:r>
          </a:p>
        </p:txBody>
      </p:sp>
      <p:sp>
        <p:nvSpPr>
          <p:cNvPr id="3" name="Rounded Rectangle 2"/>
          <p:cNvSpPr/>
          <p:nvPr/>
        </p:nvSpPr>
        <p:spPr>
          <a:xfrm>
            <a:off x="1371600" y="388620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65760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A que servicio se conecta.</a:t>
            </a:r>
          </a:p>
        </p:txBody>
      </p:sp>
      <p:sp>
        <p:nvSpPr>
          <p:cNvPr id="5" name="Rounded Rectangle 4"/>
          <p:cNvSpPr/>
          <p:nvPr/>
        </p:nvSpPr>
        <p:spPr>
          <a:xfrm>
            <a:off x="1371600" y="470916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0" y="448056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Que datos le pide.</a:t>
            </a:r>
          </a:p>
        </p:txBody>
      </p:sp>
      <p:sp>
        <p:nvSpPr>
          <p:cNvPr id="7" name="Rounded Rectangle 6"/>
          <p:cNvSpPr/>
          <p:nvPr/>
        </p:nvSpPr>
        <p:spPr>
          <a:xfrm>
            <a:off x="1371600" y="553212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28800" y="530352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Que datos devuelve.</a:t>
            </a:r>
          </a:p>
        </p:txBody>
      </p:sp>
      <p:sp>
        <p:nvSpPr>
          <p:cNvPr id="9" name="Rounded Rectangle 8"/>
          <p:cNvSpPr/>
          <p:nvPr/>
        </p:nvSpPr>
        <p:spPr>
          <a:xfrm>
            <a:off x="1371600" y="635508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28800" y="612648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Que pasa si el servicio del gobierno no responde.</a:t>
            </a:r>
          </a:p>
        </p:txBody>
      </p:sp>
      <p:sp>
        <p:nvSpPr>
          <p:cNvPr id="11" name="Rounded Rectangle 10"/>
          <p:cNvSpPr/>
          <p:nvPr/>
        </p:nvSpPr>
        <p:spPr>
          <a:xfrm>
            <a:off x="1371600" y="7178040"/>
            <a:ext cx="228600" cy="228600"/>
          </a:xfrm>
          <a:prstGeom prst="round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828800" y="6949440"/>
            <a:ext cx="15087600" cy="731520"/>
          </a:xfrm>
          <a:prstGeom prst="rect">
            <a:avLst/>
          </a:prstGeom>
          <a:noFill/>
        </p:spPr>
        <p:txBody>
          <a:bodyPr wrap="square" anchor="t" lIns="0" rIns="0" tIns="0" bIns="0">
            <a:spAutoFit/>
          </a:bodyPr>
          <a:lstStyle/>
          <a:p>
            <a:pPr algn="l">
              <a:lnSpc>
                <a:spcPct val="130000"/>
              </a:lnSpc>
            </a:pPr>
            <a:r>
              <a:rPr sz="2200" b="0" i="0">
                <a:solidFill>
                  <a:srgbClr val="0A0915"/>
                </a:solidFill>
                <a:latin typeface="Figtree"/>
              </a:rPr>
              <a:t>Esta documentacion se entrega en Fase E y es la unica defensa del gobierno cuando algo falla.</a:t>
            </a:r>
          </a:p>
        </p:txBody>
      </p:sp>
      <p:sp>
        <p:nvSpPr>
          <p:cNvPr id="13" name="TextBox 12"/>
          <p:cNvSpPr txBox="1"/>
          <p:nvPr/>
        </p:nvSpPr>
        <p:spPr>
          <a:xfrm>
            <a:off x="13716000" y="9829800"/>
            <a:ext cx="4389120" cy="365760"/>
          </a:xfrm>
          <a:prstGeom prst="rect">
            <a:avLst/>
          </a:prstGeom>
          <a:noFill/>
        </p:spPr>
        <p:txBody>
          <a:bodyPr wrap="none">
            <a:spAutoFit/>
          </a:bodyPr>
          <a:lstStyle/>
          <a:p>
            <a:pPr algn="r"/>
            <a:r>
              <a:rPr sz="1000">
                <a:solidFill>
                  <a:srgbClr val="888888"/>
                </a:solidFill>
                <a:latin typeface="Figtree"/>
              </a:rPr>
              <a:t>Sovra Partners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3200400"/>
            <a:ext cx="15544800" cy="1371600"/>
          </a:xfrm>
          <a:prstGeom prst="rect">
            <a:avLst/>
          </a:prstGeom>
          <a:noFill/>
        </p:spPr>
        <p:txBody>
          <a:bodyPr wrap="square" anchor="t" lIns="0" rIns="0" tIns="0" bIns="0">
            <a:spAutoFit/>
          </a:bodyPr>
          <a:lstStyle/>
          <a:p>
            <a:pPr algn="ctr">
              <a:lnSpc>
                <a:spcPct val="115000"/>
              </a:lnSpc>
            </a:pPr>
            <a:r>
              <a:rPr sz="4200" b="0" i="0">
                <a:solidFill>
                  <a:srgbClr val="FFFFFF"/>
                </a:solidFill>
                <a:latin typeface="Plus Jakarta Sans"/>
              </a:rPr>
              <a:t>Las integraciones no son un anexo de Fase C.</a:t>
            </a:r>
          </a:p>
        </p:txBody>
      </p:sp>
      <p:sp>
        <p:nvSpPr>
          <p:cNvPr id="4" name="TextBox 3"/>
          <p:cNvSpPr txBox="1"/>
          <p:nvPr/>
        </p:nvSpPr>
        <p:spPr>
          <a:xfrm>
            <a:off x="1371600" y="4754880"/>
            <a:ext cx="15544800" cy="2286000"/>
          </a:xfrm>
          <a:prstGeom prst="rect">
            <a:avLst/>
          </a:prstGeom>
          <a:noFill/>
        </p:spPr>
        <p:txBody>
          <a:bodyPr wrap="square" anchor="t" lIns="0" rIns="0" tIns="0" bIns="0">
            <a:spAutoFit/>
          </a:bodyPr>
          <a:lstStyle/>
          <a:p>
            <a:pPr algn="ctr">
              <a:lnSpc>
                <a:spcPct val="110000"/>
              </a:lnSpc>
            </a:pPr>
            <a:r>
              <a:rPr sz="7800" b="1" i="0">
                <a:solidFill>
                  <a:srgbClr val="FFFFFF"/>
                </a:solidFill>
                <a:latin typeface="Plus Jakarta Sans"/>
              </a:rPr>
              <a:t>Son lo que diferencia un tramite digital</a:t>
            </a:r>
          </a:p>
        </p:txBody>
      </p:sp>
      <p:sp>
        <p:nvSpPr>
          <p:cNvPr id="5" name="TextBox 4"/>
          <p:cNvSpPr txBox="1"/>
          <p:nvPr/>
        </p:nvSpPr>
        <p:spPr>
          <a:xfrm>
            <a:off x="1371600" y="7315200"/>
            <a:ext cx="15544800" cy="1097280"/>
          </a:xfrm>
          <a:prstGeom prst="rect">
            <a:avLst/>
          </a:prstGeom>
          <a:noFill/>
        </p:spPr>
        <p:txBody>
          <a:bodyPr wrap="square" anchor="t" lIns="0" rIns="0" tIns="0" bIns="0">
            <a:spAutoFit/>
          </a:bodyPr>
          <a:lstStyle/>
          <a:p>
            <a:pPr algn="ctr">
              <a:lnSpc>
                <a:spcPct val="115000"/>
              </a:lnSpc>
            </a:pPr>
            <a:r>
              <a:rPr sz="3000" b="0" i="0">
                <a:solidFill>
                  <a:srgbClr val="FFFFFF"/>
                </a:solidFill>
                <a:latin typeface="Plus Jakarta Sans"/>
              </a:rPr>
              <a:t>de un formulario online.</a:t>
            </a:r>
          </a:p>
        </p:txBody>
      </p:sp>
      <p:sp>
        <p:nvSpPr>
          <p:cNvPr id="6" name="TextBox 5"/>
          <p:cNvSpPr txBox="1"/>
          <p:nvPr/>
        </p:nvSpPr>
        <p:spPr>
          <a:xfrm>
            <a:off x="13716000" y="9829800"/>
            <a:ext cx="4389120" cy="365760"/>
          </a:xfrm>
          <a:prstGeom prst="rect">
            <a:avLst/>
          </a:prstGeom>
          <a:noFill/>
        </p:spPr>
        <p:txBody>
          <a:bodyPr wrap="none">
            <a:spAutoFit/>
          </a:bodyPr>
          <a:lstStyle/>
          <a:p>
            <a:pPr algn="r"/>
            <a:r>
              <a:rPr sz="1000">
                <a:solidFill>
                  <a:srgbClr val="CCE5FF"/>
                </a:solidFill>
                <a:latin typeface="Figtree"/>
              </a:rPr>
              <a:t>Sovra Partners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