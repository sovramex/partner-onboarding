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Int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15.2s · 38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Llegaste a la fase donde el tramite deja de ser una conversacion y pasa a ser una pantalla. En Fase B trabajaste con el gobierno para priorizar tramites, definir integraciones y dejar al equipo capacitado. Ahora toca digitalizar.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14.8s · 37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Fase C son las semanas 6 a 8. Hay un solo criterio para saber si esta lista: si un ciudadano puede completar el tramite sin ayuda extra, esta listo. Si necesita que alguien le explique, todavia no.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10.8s · 27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criterio unico de Fase C es ese. Si el ciudadano puede completar el tramite sin ayuda, esta listo. Si necesita que alguien le explique, todavia no.</a:t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25.6s · 64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la practica vas a hacer tres cosas en paralelo. Vas a modelar cada tramite priorizado en la plataforma. Vas a poner a punto las integraciones tecnicas, sobre todo el sistema de autenticacion del gobierno. Y vas a probar todo de punta a punta, desde el ciudadano que entra a la guia publica hasta el operador que cierra la solicitud y emite el documento.</a:t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24.4s · 61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Mientras dura la fase, tres roles cargan el peso. El especialista funcional del partner lidera el modelado, porque conoce la plataforma a fondo. El tecnico se ocupa de las integraciones. Y las areas duenas de cada tramite validan que lo que se modelo refleja como se hace de verdad. Sin esas areas, no hay validacion. Sin validacion, no hay Fase D.</a:t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21.2s · 53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Una cosa mas antes de arrancar. Fase C es densa. Vas a tocar formulario, etapas, documento de salida, ficha publica, catalogos, imagen institucional y dominio. Todo al mismo tiempo, todo con plazo de tres semanas. Por eso esta fase pide ritmo de iteracion corto: modelar, mostrar al area duena, ajustar, mostrar otra vez.</a:t>
            </a:r>
            <a:endParaRPr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6.4s · 16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Fase B fue acordar que se digitaliza, Fase C es hacerlo realidad en la plataforma.</a:t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FASE 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3840480"/>
            <a:ext cx="15544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Abrir la Fase C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5163400"/>
            <a:ext cx="1554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El tramite deja de ser una conversacion y pasa a ser una pantalla.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71600" y="1143000"/>
            <a:ext cx="15544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DONDE ESTÁS PARADO</a:t>
            </a:r>
            <a:endParaRPr b="1" sz="180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371600" y="1714500"/>
            <a:ext cx="15544800" cy="98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Semanas 6 a 8: digitalizar lo priorizado</a:t>
            </a:r>
            <a:endParaRPr b="1" sz="64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7" name="Google Shape;97;p14"/>
          <p:cNvGrpSpPr/>
          <p:nvPr/>
        </p:nvGrpSpPr>
        <p:grpSpPr>
          <a:xfrm>
            <a:off x="1371600" y="4191000"/>
            <a:ext cx="15544800" cy="3810000"/>
            <a:chOff x="1371600" y="4191000"/>
            <a:chExt cx="15544800" cy="3810000"/>
          </a:xfrm>
        </p:grpSpPr>
        <p:sp>
          <p:nvSpPr>
            <p:cNvPr id="98" name="Google Shape;98;p14"/>
            <p:cNvSpPr/>
            <p:nvPr/>
          </p:nvSpPr>
          <p:spPr>
            <a:xfrm>
              <a:off x="1371600" y="4191000"/>
              <a:ext cx="15544800" cy="3810000"/>
            </a:xfrm>
            <a:prstGeom prst="roundRect">
              <a:avLst>
                <a:gd fmla="val 10000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2324100" y="4667250"/>
              <a:ext cx="136398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59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En </a:t>
              </a:r>
              <a:r>
                <a:rPr b="1" lang="en-US" sz="2590">
                  <a:solidFill>
                    <a:srgbClr val="EA580C"/>
                  </a:solidFill>
                  <a:latin typeface="Inter"/>
                  <a:ea typeface="Inter"/>
                  <a:cs typeface="Inter"/>
                  <a:sym typeface="Inter"/>
                </a:rPr>
                <a:t>Fase B</a:t>
              </a:r>
              <a:r>
                <a:rPr b="0" lang="en-US" sz="259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trabajaste con el gobierno para:</a:t>
              </a:r>
              <a:endParaRPr b="0" sz="259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93065" lvl="0" marL="457200" rtl="0" algn="l">
                <a:spcBef>
                  <a:spcPts val="2250"/>
                </a:spcBef>
                <a:spcAft>
                  <a:spcPts val="0"/>
                </a:spcAft>
                <a:buClr>
                  <a:srgbClr val="0A0915"/>
                </a:buClr>
                <a:buSzPts val="2590"/>
                <a:buFont typeface="Inter"/>
                <a:buChar char="●"/>
              </a:pPr>
              <a:r>
                <a:rPr b="0" lang="en-US" sz="259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Priorizar trámites clave.</a:t>
              </a:r>
              <a:endParaRPr b="0" sz="259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9306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0A0915"/>
                </a:buClr>
                <a:buSzPts val="2590"/>
                <a:buFont typeface="Inter"/>
                <a:buChar char="●"/>
              </a:pPr>
              <a:r>
                <a:rPr b="0" lang="en-US" sz="259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Definir integraciones estratégicas.</a:t>
              </a:r>
              <a:endParaRPr b="0" sz="259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9306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0A0915"/>
                </a:buClr>
                <a:buSzPts val="2590"/>
                <a:buFont typeface="Inter"/>
                <a:buChar char="●"/>
              </a:pPr>
              <a:r>
                <a:rPr b="0" lang="en-US" sz="259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Capacitar al equipo de implementación.</a:t>
              </a:r>
              <a:endParaRPr b="0" sz="259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en-US" sz="259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Ahora es el momento de </a:t>
              </a:r>
              <a:r>
                <a:rPr b="1" lang="en-US" sz="2590">
                  <a:solidFill>
                    <a:srgbClr val="EA580C"/>
                  </a:solidFill>
                  <a:latin typeface="Inter"/>
                  <a:ea typeface="Inter"/>
                  <a:cs typeface="Inter"/>
                  <a:sym typeface="Inter"/>
                </a:rPr>
                <a:t>digitalizar</a:t>
              </a:r>
              <a:r>
                <a:rPr b="1" lang="en-US" sz="259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1" sz="259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15"/>
          <p:cNvGrpSpPr/>
          <p:nvPr/>
        </p:nvGrpSpPr>
        <p:grpSpPr>
          <a:xfrm>
            <a:off x="8572500" y="1524000"/>
            <a:ext cx="1143000" cy="1259840"/>
            <a:chOff x="8572500" y="1524000"/>
            <a:chExt cx="1143000" cy="1259840"/>
          </a:xfrm>
        </p:grpSpPr>
        <p:sp>
          <p:nvSpPr>
            <p:cNvPr id="107" name="Google Shape;107;p15"/>
            <p:cNvSpPr/>
            <p:nvPr/>
          </p:nvSpPr>
          <p:spPr>
            <a:xfrm>
              <a:off x="8572500" y="1524000"/>
              <a:ext cx="1143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8572500" y="164084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400">
                  <a:solidFill>
                    <a:srgbClr val="EA58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</a:t>
              </a:r>
              <a:endParaRPr sz="7400">
                <a:solidFill>
                  <a:srgbClr val="EA58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09" name="Google Shape;109;p15"/>
          <p:cNvSpPr txBox="1"/>
          <p:nvPr/>
        </p:nvSpPr>
        <p:spPr>
          <a:xfrm>
            <a:off x="1371600" y="2857500"/>
            <a:ext cx="155448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EL CRITERIO ÚNICO</a:t>
            </a:r>
            <a:endParaRPr b="1" i="0" sz="220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2476500" y="3429000"/>
            <a:ext cx="13335000" cy="182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2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Si el ciudadano puede completarlo sin ayuda, </a:t>
            </a:r>
            <a:r>
              <a:rPr b="1" i="0" lang="en-US" sz="592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está listo.</a:t>
            </a:r>
            <a:endParaRPr b="1" i="0" sz="592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371600" y="5905500"/>
            <a:ext cx="15544800" cy="19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371600" y="6477000"/>
            <a:ext cx="15544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Si necesita que alguien le explique, todavía no.</a:t>
            </a:r>
            <a:endParaRPr b="0" i="0" sz="28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371600" y="952500"/>
            <a:ext cx="155448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Tres cosas en paralelo</a:t>
            </a:r>
            <a:endParaRPr b="1" sz="54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1143000" y="3048000"/>
            <a:ext cx="4953000" cy="49530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1143000" y="3048000"/>
            <a:ext cx="4953000" cy="1143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143000" y="3499104"/>
            <a:ext cx="495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EA580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</a:t>
            </a:r>
            <a:endParaRPr sz="4800">
              <a:solidFill>
                <a:srgbClr val="EA580C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1524000" y="4381500"/>
            <a:ext cx="4191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Modelar</a:t>
            </a:r>
            <a:endParaRPr b="1" sz="320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619250" y="5334000"/>
            <a:ext cx="40005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Cada trámite priorizado se modela de forma integral dentro de la plataforma.</a:t>
            </a:r>
            <a:endParaRPr b="0" sz="18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667500" y="3048000"/>
            <a:ext cx="4953000" cy="49530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6667500" y="3048000"/>
            <a:ext cx="4953000" cy="1143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667500" y="3499104"/>
            <a:ext cx="495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EA580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</a:t>
            </a:r>
            <a:endParaRPr sz="4800">
              <a:solidFill>
                <a:srgbClr val="EA580C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7048500" y="4381500"/>
            <a:ext cx="4191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Integrar</a:t>
            </a:r>
            <a:endParaRPr b="1" sz="320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7143750" y="5334000"/>
            <a:ext cx="40005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Conexión técnica estratégica, centrada en el sistema de autenticación del gobierno.</a:t>
            </a:r>
            <a:endParaRPr b="0" sz="18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12192000" y="3048000"/>
            <a:ext cx="4953000" cy="49530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12192000" y="3048000"/>
            <a:ext cx="4953000" cy="1143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2192000" y="3499104"/>
            <a:ext cx="495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EA580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</a:t>
            </a:r>
            <a:endParaRPr sz="4800">
              <a:solidFill>
                <a:srgbClr val="EA580C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2573000" y="4381500"/>
            <a:ext cx="4191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Probar</a:t>
            </a:r>
            <a:endParaRPr b="1" sz="320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2668250" y="5334000"/>
            <a:ext cx="40005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Validación de flujo completo, desde la guía pública hasta la generación del documento final.</a:t>
            </a:r>
            <a:endParaRPr b="0" sz="18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371600" y="762000"/>
            <a:ext cx="155448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Tres roles cargan el peso</a:t>
            </a:r>
            <a:endParaRPr b="1" sz="54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1371600" y="1809750"/>
            <a:ext cx="155448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Sin las áreas dueñas no hay validación. Sin validación no hay Fase D.</a:t>
            </a:r>
            <a:endParaRPr b="0" sz="22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1143000" y="3048000"/>
            <a:ext cx="4953000" cy="55245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1143000" y="3048000"/>
            <a:ext cx="4953000" cy="1143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143000" y="3565779"/>
            <a:ext cx="495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00">
                <a:solidFill>
                  <a:srgbClr val="EA580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</a:t>
            </a:r>
            <a:endParaRPr b="0" sz="4800">
              <a:solidFill>
                <a:srgbClr val="EA580C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524000" y="4381500"/>
            <a:ext cx="41910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Especialista funcional del partner</a:t>
            </a:r>
            <a:endParaRPr b="1" sz="280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619250" y="5715000"/>
            <a:ext cx="4000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Lidera el modelado. Conoce la plataforma a fondo.</a:t>
            </a:r>
            <a:endParaRPr b="0" sz="18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667500" y="3048000"/>
            <a:ext cx="4953000" cy="55245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667500" y="3048000"/>
            <a:ext cx="4953000" cy="1143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667500" y="3565779"/>
            <a:ext cx="495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00">
                <a:solidFill>
                  <a:srgbClr val="EA580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</a:t>
            </a:r>
            <a:endParaRPr b="0" sz="4800">
              <a:solidFill>
                <a:srgbClr val="EA580C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7048500" y="4381500"/>
            <a:ext cx="4191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Técnico del partner</a:t>
            </a:r>
            <a:endParaRPr b="1" sz="280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7143750" y="5715000"/>
            <a:ext cx="4000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 ocupa de las integraciones.</a:t>
            </a:r>
            <a:endParaRPr b="0" sz="18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12192000" y="3048000"/>
            <a:ext cx="4953000" cy="55245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12192000" y="3048000"/>
            <a:ext cx="4953000" cy="1143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2192000" y="3565779"/>
            <a:ext cx="495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00">
                <a:solidFill>
                  <a:srgbClr val="EA580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</a:t>
            </a:r>
            <a:endParaRPr b="0" sz="4800">
              <a:solidFill>
                <a:srgbClr val="EA580C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12573000" y="4381500"/>
            <a:ext cx="41910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Áreas dueñas del gobierno</a:t>
            </a:r>
            <a:endParaRPr b="1" sz="280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12668250" y="5715000"/>
            <a:ext cx="4000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Validan que lo modelado refleja cómo se hace de verdad.</a:t>
            </a:r>
            <a:endParaRPr b="0" sz="18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18"/>
          <p:cNvGrpSpPr/>
          <p:nvPr/>
        </p:nvGrpSpPr>
        <p:grpSpPr>
          <a:xfrm>
            <a:off x="1371600" y="762000"/>
            <a:ext cx="15544800" cy="1428750"/>
            <a:chOff x="1371600" y="762000"/>
            <a:chExt cx="15544800" cy="1428750"/>
          </a:xfrm>
        </p:grpSpPr>
        <p:sp>
          <p:nvSpPr>
            <p:cNvPr id="165" name="Google Shape;165;p18"/>
            <p:cNvSpPr txBox="1"/>
            <p:nvPr/>
          </p:nvSpPr>
          <p:spPr>
            <a:xfrm>
              <a:off x="1371600" y="762000"/>
              <a:ext cx="15544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EA580C"/>
                  </a:solidFill>
                  <a:latin typeface="Inter"/>
                  <a:ea typeface="Inter"/>
                  <a:cs typeface="Inter"/>
                  <a:sym typeface="Inter"/>
                </a:rPr>
                <a:t>Una cosa más antes de arrancar</a:t>
              </a:r>
              <a:endParaRPr b="1" sz="220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1371600" y="1238250"/>
              <a:ext cx="15544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92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Fase C es densa</a:t>
              </a:r>
              <a:endParaRPr b="1" sz="592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7" name="Google Shape;167;p18"/>
          <p:cNvGrpSpPr/>
          <p:nvPr/>
        </p:nvGrpSpPr>
        <p:grpSpPr>
          <a:xfrm>
            <a:off x="1371600" y="2667000"/>
            <a:ext cx="15544800" cy="3619500"/>
            <a:chOff x="1371600" y="2667000"/>
            <a:chExt cx="15544800" cy="3619500"/>
          </a:xfrm>
        </p:grpSpPr>
        <p:sp>
          <p:nvSpPr>
            <p:cNvPr id="168" name="Google Shape;168;p18"/>
            <p:cNvSpPr/>
            <p:nvPr/>
          </p:nvSpPr>
          <p:spPr>
            <a:xfrm>
              <a:off x="1371600" y="2667000"/>
              <a:ext cx="15544800" cy="36195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1371600" y="2667000"/>
              <a:ext cx="15544800" cy="11430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1752600" y="3048000"/>
              <a:ext cx="147828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Formulario, etapas, documento de salida, ficha pública, catálogos, imagen institucional y dominio.</a:t>
              </a:r>
              <a:endParaRPr b="0" sz="2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Todo al mismo tiempo, todo con plazo de tres semanas.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1" name="Google Shape;171;p18"/>
          <p:cNvGrpSpPr/>
          <p:nvPr/>
        </p:nvGrpSpPr>
        <p:grpSpPr>
          <a:xfrm>
            <a:off x="1371600" y="6667500"/>
            <a:ext cx="15544800" cy="2286000"/>
            <a:chOff x="1371600" y="6667500"/>
            <a:chExt cx="15544800" cy="2286000"/>
          </a:xfrm>
        </p:grpSpPr>
        <p:sp>
          <p:nvSpPr>
            <p:cNvPr id="172" name="Google Shape;172;p18"/>
            <p:cNvSpPr txBox="1"/>
            <p:nvPr/>
          </p:nvSpPr>
          <p:spPr>
            <a:xfrm>
              <a:off x="1371600" y="6667500"/>
              <a:ext cx="1554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RITMO DE ITERACIÓN CORTO</a:t>
              </a:r>
              <a:endParaRPr b="1" sz="2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73" name="Google Shape;173;p18"/>
            <p:cNvGrpSpPr/>
            <p:nvPr/>
          </p:nvGrpSpPr>
          <p:grpSpPr>
            <a:xfrm>
              <a:off x="1371600" y="7429500"/>
              <a:ext cx="14973450" cy="1524000"/>
              <a:chOff x="1371600" y="7429500"/>
              <a:chExt cx="14973450" cy="1524000"/>
            </a:xfrm>
          </p:grpSpPr>
          <p:grpSp>
            <p:nvGrpSpPr>
              <p:cNvPr id="174" name="Google Shape;174;p18"/>
              <p:cNvGrpSpPr/>
              <p:nvPr/>
            </p:nvGrpSpPr>
            <p:grpSpPr>
              <a:xfrm>
                <a:off x="1371600" y="7429500"/>
                <a:ext cx="3600600" cy="1524000"/>
                <a:chOff x="1371600" y="7429500"/>
                <a:chExt cx="3600600" cy="1524000"/>
              </a:xfrm>
            </p:grpSpPr>
            <p:sp>
              <p:nvSpPr>
                <p:cNvPr id="175" name="Google Shape;175;p18"/>
                <p:cNvSpPr/>
                <p:nvPr/>
              </p:nvSpPr>
              <p:spPr>
                <a:xfrm>
                  <a:off x="1371600" y="7429500"/>
                  <a:ext cx="3600600" cy="1524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9FAF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" name="Google Shape;176;p18"/>
                <p:cNvSpPr txBox="1"/>
                <p:nvPr/>
              </p:nvSpPr>
              <p:spPr>
                <a:xfrm>
                  <a:off x="1371600" y="7429500"/>
                  <a:ext cx="3600600" cy="15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EA580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1</a:t>
                  </a:r>
                  <a:endParaRPr b="1" sz="1400">
                    <a:solidFill>
                      <a:srgbClr val="EA580C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0A0915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Modelar</a:t>
                  </a:r>
                  <a:endParaRPr b="1" sz="18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77" name="Google Shape;177;p18"/>
              <p:cNvGrpSpPr/>
              <p:nvPr/>
            </p:nvGrpSpPr>
            <p:grpSpPr>
              <a:xfrm>
                <a:off x="5162550" y="7429500"/>
                <a:ext cx="3600600" cy="1524000"/>
                <a:chOff x="5162550" y="7429500"/>
                <a:chExt cx="3600600" cy="1524000"/>
              </a:xfrm>
            </p:grpSpPr>
            <p:sp>
              <p:nvSpPr>
                <p:cNvPr id="178" name="Google Shape;178;p18"/>
                <p:cNvSpPr/>
                <p:nvPr/>
              </p:nvSpPr>
              <p:spPr>
                <a:xfrm>
                  <a:off x="5162550" y="7429500"/>
                  <a:ext cx="3600600" cy="1524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9FAF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" name="Google Shape;179;p18"/>
                <p:cNvSpPr txBox="1"/>
                <p:nvPr/>
              </p:nvSpPr>
              <p:spPr>
                <a:xfrm>
                  <a:off x="5162550" y="7429500"/>
                  <a:ext cx="3600600" cy="15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EA580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2</a:t>
                  </a:r>
                  <a:endParaRPr b="1" sz="1400">
                    <a:solidFill>
                      <a:srgbClr val="EA580C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0A0915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Mostrar al área dueña</a:t>
                  </a:r>
                  <a:endParaRPr b="1" sz="18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80" name="Google Shape;180;p18"/>
              <p:cNvGrpSpPr/>
              <p:nvPr/>
            </p:nvGrpSpPr>
            <p:grpSpPr>
              <a:xfrm>
                <a:off x="8953500" y="7429500"/>
                <a:ext cx="3600600" cy="1524000"/>
                <a:chOff x="8953500" y="7429500"/>
                <a:chExt cx="3600600" cy="1524000"/>
              </a:xfrm>
            </p:grpSpPr>
            <p:sp>
              <p:nvSpPr>
                <p:cNvPr id="181" name="Google Shape;181;p18"/>
                <p:cNvSpPr/>
                <p:nvPr/>
              </p:nvSpPr>
              <p:spPr>
                <a:xfrm>
                  <a:off x="8953500" y="7429500"/>
                  <a:ext cx="3600600" cy="1524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9FAF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" name="Google Shape;182;p18"/>
                <p:cNvSpPr txBox="1"/>
                <p:nvPr/>
              </p:nvSpPr>
              <p:spPr>
                <a:xfrm>
                  <a:off x="8953500" y="7429500"/>
                  <a:ext cx="3600600" cy="15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EA580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3</a:t>
                  </a:r>
                  <a:endParaRPr b="1" sz="1400">
                    <a:solidFill>
                      <a:srgbClr val="EA580C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0A0915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Ajustar</a:t>
                  </a:r>
                  <a:endParaRPr b="1" sz="18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83" name="Google Shape;183;p18"/>
              <p:cNvGrpSpPr/>
              <p:nvPr/>
            </p:nvGrpSpPr>
            <p:grpSpPr>
              <a:xfrm>
                <a:off x="12744450" y="7429500"/>
                <a:ext cx="3600600" cy="1524000"/>
                <a:chOff x="12744450" y="7429500"/>
                <a:chExt cx="3600600" cy="1524000"/>
              </a:xfrm>
            </p:grpSpPr>
            <p:sp>
              <p:nvSpPr>
                <p:cNvPr id="184" name="Google Shape;184;p18"/>
                <p:cNvSpPr/>
                <p:nvPr/>
              </p:nvSpPr>
              <p:spPr>
                <a:xfrm>
                  <a:off x="12744450" y="7429500"/>
                  <a:ext cx="3600600" cy="1524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9FAF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" name="Google Shape;185;p18"/>
                <p:cNvSpPr txBox="1"/>
                <p:nvPr/>
              </p:nvSpPr>
              <p:spPr>
                <a:xfrm>
                  <a:off x="12744450" y="7429500"/>
                  <a:ext cx="3600600" cy="15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EA580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4</a:t>
                  </a:r>
                  <a:endParaRPr b="1" sz="1400">
                    <a:solidFill>
                      <a:srgbClr val="EA580C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0A0915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Mostrar otra vez</a:t>
                  </a:r>
                  <a:endParaRPr b="1" sz="18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 Fase B fue acordar que se digitaliza,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C es hacerlo realidad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la plataforma.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