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10287000" cx="18288000"/>
  <p:notesSz cx="6858000" cy="9144000"/>
  <p:embeddedFontLst>
    <p:embeddedFont>
      <p:font typeface="Inter"/>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Inter-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italic.fntdata"/><Relationship Id="rId14" Type="http://schemas.openxmlformats.org/officeDocument/2006/relationships/font" Target="fonts/Inter-bold.fntdata"/><Relationship Id="rId16" Type="http://schemas.openxmlformats.org/officeDocument/2006/relationships/font" Target="fonts/Inter-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15.6s · 39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El error mas caro que puedes cometer en Fase C es modelar tu solo y entregar el tramite terminado. Funciona la primera vez. Despues el gobierno te necesita para cada cambio, y tu salida del proyecto se vuelve imposible.</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20.0s · 50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regla es simple. Modelas junto con el equipo del gobierno, no para ellos. El partner ensena, el gobierno ejecuta. Tu trabajo es guiar a la persona que va a quedar a cargo, mostrarle como se configura cada parte y por que se decide de una forma o de otra.</a:t>
            </a:r>
            <a:endParaRPr/>
          </a:p>
        </p:txBody>
      </p:sp>
      <p:sp>
        <p:nvSpPr>
          <p:cNvPr id="92" name="Google Shape;92;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20.4s · 51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Esto cambia la dinamica de las reuniones. En vez de presentarles un tramite ya modelado, te sientas con quien va a operarlo y configuran juntos. Esa persona, normalmente un especialista funcional del lado del gobierno, deberia terminar Fase C pudiendo modelar un tramite nuevo sin que tu estes en la sala.</a:t>
            </a:r>
            <a:endParaRPr/>
          </a:p>
        </p:txBody>
      </p:sp>
      <p:sp>
        <p:nvSpPr>
          <p:cNvPr id="111" name="Google Shape;111;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6" name="Google Shape;126;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26.0s · 65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Hay una decision que aparece seguido. Que haces cuando el area duena rechaza el modelado. La respuesta del manual es clara. Pides una reunion con el operador real, no con su jefe. El jefe te dice como le gustaria que fuera el tramite. El operador te dice como se hace de verdad, con todas las excepciones, atajos y pasos que el manual oficial no documenta.</a:t>
            </a:r>
            <a:endParaRPr/>
          </a:p>
        </p:txBody>
      </p:sp>
      <p:sp>
        <p:nvSpPr>
          <p:cNvPr id="127" name="Google Shape;127;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5.6s · 14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Treinta minutos con el operador real valen mas que tres reuniones con la jefatura.</a:t>
            </a:r>
            <a:endParaRPr/>
          </a:p>
        </p:txBody>
      </p:sp>
      <p:sp>
        <p:nvSpPr>
          <p:cNvPr id="148" name="Google Shape;148;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30.0s · 75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La otra trampa habitual es modelar sin validar. Modelas el tramite completo, lo dejas listo y recien ahi lo mostras. Cuando el area duena ve el resultado, descubres que media docena de cosas no funcionan como hacen ellos. Tienes que rehacer trabajo de una semana. La alternativa cuesta menos. Modelas un pedazo, lo muestras, lo ajustas. Modelas el siguiente pedazo, lo muestras, lo ajustas. Pierdes algunas horas de reunion y ahorras varios dias de reproceso.</a:t>
            </a:r>
            <a:endParaRPr/>
          </a:p>
        </p:txBody>
      </p:sp>
      <p:sp>
        <p:nvSpPr>
          <p:cNvPr id="164" name="Google Shape;164;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7" name="Google Shape;187;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[Duración estimada: 8.0s · 20 palabras]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Si terminas Fase C y el gobierno depende de ti para tocar un tramite, no terminaste tu trabajo. Lo postergaste.</a:t>
            </a:r>
            <a:endParaRPr/>
          </a:p>
        </p:txBody>
      </p:sp>
      <p:sp>
        <p:nvSpPr>
          <p:cNvPr id="188" name="Google Shape;188;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3"/>
          <p:cNvSpPr/>
          <p:nvPr/>
        </p:nvSpPr>
        <p:spPr>
          <a:xfrm>
            <a:off x="0" y="0"/>
            <a:ext cx="18288000" cy="228600"/>
          </a:xfrm>
          <a:prstGeom prst="rect">
            <a:avLst/>
          </a:prstGeom>
          <a:solidFill>
            <a:srgbClr val="EA580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3"/>
          <p:cNvSpPr txBox="1"/>
          <p:nvPr/>
        </p:nvSpPr>
        <p:spPr>
          <a:xfrm>
            <a:off x="1371600" y="3200400"/>
            <a:ext cx="15544800" cy="54864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1" i="0" lang="en-US" sz="1800" u="none" cap="none" strike="noStrike">
                <a:solidFill>
                  <a:srgbClr val="EA580C"/>
                </a:solidFill>
                <a:latin typeface="Inter"/>
                <a:ea typeface="Inter"/>
                <a:cs typeface="Inter"/>
                <a:sym typeface="Inter"/>
              </a:rPr>
              <a:t>FASE C</a:t>
            </a:r>
            <a:endParaRPr/>
          </a:p>
        </p:txBody>
      </p:sp>
      <p:sp>
        <p:nvSpPr>
          <p:cNvPr id="87" name="Google Shape;87;p13"/>
          <p:cNvSpPr txBox="1"/>
          <p:nvPr/>
        </p:nvSpPr>
        <p:spPr>
          <a:xfrm>
            <a:off x="1371600" y="3840480"/>
            <a:ext cx="15544800" cy="25860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Modelar con el gobierno,</a:t>
            </a:r>
            <a:endParaRPr/>
          </a:p>
          <a:p>
            <a:pPr indent="0" lvl="0" marL="0" marR="0" rtl="0" algn="l">
              <a:lnSpc>
                <a:spcPct val="110000"/>
              </a:lnSpc>
              <a:spcBef>
                <a:spcPts val="0"/>
              </a:spcBef>
              <a:spcAft>
                <a:spcPts val="0"/>
              </a:spcAft>
              <a:buNone/>
            </a:pPr>
            <a:r>
              <a:rPr b="1" i="0" lang="en-US" sz="8000" u="none" cap="none" strike="noStrike">
                <a:solidFill>
                  <a:srgbClr val="0A0915"/>
                </a:solidFill>
                <a:latin typeface="Inter"/>
                <a:ea typeface="Inter"/>
                <a:cs typeface="Inter"/>
                <a:sym typeface="Inter"/>
              </a:rPr>
              <a:t>no por ellos</a:t>
            </a:r>
            <a:endParaRPr/>
          </a:p>
        </p:txBody>
      </p:sp>
      <p:sp>
        <p:nvSpPr>
          <p:cNvPr id="88" name="Google Shape;88;p13"/>
          <p:cNvSpPr txBox="1"/>
          <p:nvPr/>
        </p:nvSpPr>
        <p:spPr>
          <a:xfrm>
            <a:off x="1371600" y="6517900"/>
            <a:ext cx="15544800" cy="3387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2200" u="none" cap="none" strike="noStrike">
                <a:solidFill>
                  <a:srgbClr val="888888"/>
                </a:solidFill>
                <a:latin typeface="Inter"/>
                <a:ea typeface="Inter"/>
                <a:cs typeface="Inter"/>
                <a:sym typeface="Inter"/>
              </a:rPr>
              <a:t>Funciona la primera vez. Despues tu salida del proyecto se vuelve imposible.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 name="Shape 93"/>
        <p:cNvGrpSpPr/>
        <p:nvPr/>
      </p:nvGrpSpPr>
      <p:grpSpPr>
        <a:xfrm>
          <a:off x="0" y="0"/>
          <a:ext cx="0" cy="0"/>
          <a:chOff x="0" y="0"/>
          <a:chExt cx="0" cy="0"/>
        </a:xfrm>
      </p:grpSpPr>
      <p:sp>
        <p:nvSpPr>
          <p:cNvPr id="94" name="Google Shape;94;p14"/>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95" name="Google Shape;95;p14"/>
          <p:cNvGrpSpPr/>
          <p:nvPr/>
        </p:nvGrpSpPr>
        <p:grpSpPr>
          <a:xfrm>
            <a:off x="1371600" y="762000"/>
            <a:ext cx="15544800" cy="1714500"/>
            <a:chOff x="1371600" y="762000"/>
            <a:chExt cx="15544800" cy="1714500"/>
          </a:xfrm>
        </p:grpSpPr>
        <p:sp>
          <p:nvSpPr>
            <p:cNvPr id="96" name="Google Shape;96;p14"/>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A580C"/>
                  </a:solidFill>
                  <a:latin typeface="Inter"/>
                  <a:ea typeface="Inter"/>
                  <a:cs typeface="Inter"/>
                  <a:sym typeface="Inter"/>
                </a:rPr>
                <a:t>La regla</a:t>
              </a:r>
              <a:endParaRPr b="1" sz="1800">
                <a:solidFill>
                  <a:srgbClr val="EA580C"/>
                </a:solidFill>
                <a:latin typeface="Inter"/>
                <a:ea typeface="Inter"/>
                <a:cs typeface="Inter"/>
                <a:sym typeface="Inter"/>
              </a:endParaRPr>
            </a:p>
          </p:txBody>
        </p:sp>
        <p:sp>
          <p:nvSpPr>
            <p:cNvPr id="97" name="Google Shape;97;p14"/>
            <p:cNvSpPr txBox="1"/>
            <p:nvPr/>
          </p:nvSpPr>
          <p:spPr>
            <a:xfrm>
              <a:off x="1371600" y="1333500"/>
              <a:ext cx="15544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El partner enseña, el gobierno ejecuta</a:t>
              </a:r>
              <a:endParaRPr b="1" sz="5600">
                <a:solidFill>
                  <a:srgbClr val="0A0915"/>
                </a:solidFill>
                <a:latin typeface="Inter"/>
                <a:ea typeface="Inter"/>
                <a:cs typeface="Inter"/>
                <a:sym typeface="Inter"/>
              </a:endParaRPr>
            </a:p>
          </p:txBody>
        </p:sp>
      </p:grpSp>
      <p:grpSp>
        <p:nvGrpSpPr>
          <p:cNvPr id="98" name="Google Shape;98;p14"/>
          <p:cNvGrpSpPr/>
          <p:nvPr/>
        </p:nvGrpSpPr>
        <p:grpSpPr>
          <a:xfrm>
            <a:off x="1371600" y="3048000"/>
            <a:ext cx="15544800" cy="4000500"/>
            <a:chOff x="1371600" y="3048000"/>
            <a:chExt cx="15544800" cy="4000500"/>
          </a:xfrm>
        </p:grpSpPr>
        <p:sp>
          <p:nvSpPr>
            <p:cNvPr id="99" name="Google Shape;99;p14"/>
            <p:cNvSpPr/>
            <p:nvPr/>
          </p:nvSpPr>
          <p:spPr>
            <a:xfrm>
              <a:off x="1371600" y="3048000"/>
              <a:ext cx="15544800" cy="4000500"/>
            </a:xfrm>
            <a:prstGeom prst="roundRect">
              <a:avLst>
                <a:gd fmla="val 9523"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4"/>
            <p:cNvSpPr txBox="1"/>
            <p:nvPr/>
          </p:nvSpPr>
          <p:spPr>
            <a:xfrm>
              <a:off x="2095500" y="3048000"/>
              <a:ext cx="14097000" cy="400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EA580C"/>
                  </a:solidFill>
                  <a:latin typeface="Inter"/>
                  <a:ea typeface="Inter"/>
                  <a:cs typeface="Inter"/>
                  <a:sym typeface="Inter"/>
                </a:rPr>
                <a:t>Modelas junto con el equipo del gobierno, no para ellos</a:t>
              </a:r>
              <a:endParaRPr b="1" sz="3200">
                <a:solidFill>
                  <a:srgbClr val="EA580C"/>
                </a:solidFill>
                <a:latin typeface="Inter"/>
                <a:ea typeface="Inter"/>
                <a:cs typeface="Inter"/>
                <a:sym typeface="Inter"/>
              </a:endParaRPr>
            </a:p>
            <a:p>
              <a:pPr indent="0" lvl="0" marL="0" rtl="0" algn="l">
                <a:spcBef>
                  <a:spcPts val="2250"/>
                </a:spcBef>
                <a:spcAft>
                  <a:spcPts val="0"/>
                </a:spcAft>
                <a:buNone/>
              </a:pPr>
              <a:r>
                <a:rPr b="0" lang="en-US" sz="2400">
                  <a:solidFill>
                    <a:srgbClr val="475569"/>
                  </a:solidFill>
                  <a:latin typeface="Inter"/>
                  <a:ea typeface="Inter"/>
                  <a:cs typeface="Inter"/>
                  <a:sym typeface="Inter"/>
                </a:rPr>
                <a:t>Tu trabajo es guiar a la persona que va a quedar a cargo, mostrarle cómo se configura cada parte y por qué se decide de una forma o de otra.</a:t>
              </a:r>
              <a:endParaRPr b="0" sz="2400">
                <a:solidFill>
                  <a:srgbClr val="475569"/>
                </a:solidFill>
                <a:latin typeface="Inter"/>
                <a:ea typeface="Inter"/>
                <a:cs typeface="Inter"/>
                <a:sym typeface="Inter"/>
              </a:endParaRPr>
            </a:p>
          </p:txBody>
        </p:sp>
      </p:grpSp>
      <p:grpSp>
        <p:nvGrpSpPr>
          <p:cNvPr id="101" name="Google Shape;101;p14"/>
          <p:cNvGrpSpPr/>
          <p:nvPr/>
        </p:nvGrpSpPr>
        <p:grpSpPr>
          <a:xfrm>
            <a:off x="1333500" y="7524750"/>
            <a:ext cx="15430500" cy="1143000"/>
            <a:chOff x="1333500" y="7524750"/>
            <a:chExt cx="15430500" cy="1143000"/>
          </a:xfrm>
        </p:grpSpPr>
        <p:sp>
          <p:nvSpPr>
            <p:cNvPr id="102" name="Google Shape;102;p14"/>
            <p:cNvSpPr/>
            <p:nvPr/>
          </p:nvSpPr>
          <p:spPr>
            <a:xfrm>
              <a:off x="1333500" y="7524750"/>
              <a:ext cx="1143000" cy="1143000"/>
            </a:xfrm>
            <a:prstGeom prst="ellipse">
              <a:avLst/>
            </a:prstGeom>
            <a:solidFill>
              <a:srgbClr val="EA580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3" name="Google Shape;103;p14"/>
            <p:cNvSpPr txBox="1"/>
            <p:nvPr/>
          </p:nvSpPr>
          <p:spPr>
            <a:xfrm>
              <a:off x="1619250" y="78630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EA580C"/>
                  </a:solidFill>
                  <a:latin typeface="Material Icons"/>
                  <a:ea typeface="Material Icons"/>
                  <a:cs typeface="Material Icons"/>
                  <a:sym typeface="Material Icons"/>
                </a:rPr>
                <a:t></a:t>
              </a:r>
              <a:endParaRPr sz="3600">
                <a:solidFill>
                  <a:srgbClr val="EA580C"/>
                </a:solidFill>
                <a:latin typeface="Material Icons"/>
                <a:ea typeface="Material Icons"/>
                <a:cs typeface="Material Icons"/>
                <a:sym typeface="Material Icons"/>
              </a:endParaRPr>
            </a:p>
          </p:txBody>
        </p:sp>
        <p:sp>
          <p:nvSpPr>
            <p:cNvPr id="104" name="Google Shape;104;p14"/>
            <p:cNvSpPr txBox="1"/>
            <p:nvPr/>
          </p:nvSpPr>
          <p:spPr>
            <a:xfrm>
              <a:off x="2667000" y="7715250"/>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A0915"/>
                  </a:solidFill>
                  <a:latin typeface="Inter"/>
                  <a:ea typeface="Inter"/>
                  <a:cs typeface="Inter"/>
                  <a:sym typeface="Inter"/>
                </a:rPr>
                <a:t>Partner</a:t>
              </a:r>
              <a:endParaRPr b="1" sz="1800">
                <a:solidFill>
                  <a:srgbClr val="0A0915"/>
                </a:solidFill>
                <a:latin typeface="Inter"/>
                <a:ea typeface="Inter"/>
                <a:cs typeface="Inter"/>
                <a:sym typeface="Inter"/>
              </a:endParaRPr>
            </a:p>
            <a:p>
              <a:pPr indent="0" lvl="0" marL="0" rtl="0" algn="l">
                <a:spcBef>
                  <a:spcPts val="0"/>
                </a:spcBef>
                <a:spcAft>
                  <a:spcPts val="0"/>
                </a:spcAft>
                <a:buNone/>
              </a:pPr>
              <a:r>
                <a:rPr lang="en-US" sz="1400">
                  <a:solidFill>
                    <a:srgbClr val="64748B"/>
                  </a:solidFill>
                  <a:latin typeface="Inter"/>
                  <a:ea typeface="Inter"/>
                  <a:cs typeface="Inter"/>
                  <a:sym typeface="Inter"/>
                </a:rPr>
                <a:t>Guía y transfiere conocimiento</a:t>
              </a:r>
              <a:endParaRPr sz="1400">
                <a:solidFill>
                  <a:srgbClr val="64748B"/>
                </a:solidFill>
                <a:latin typeface="Inter"/>
                <a:ea typeface="Inter"/>
                <a:cs typeface="Inter"/>
                <a:sym typeface="Inter"/>
              </a:endParaRPr>
            </a:p>
          </p:txBody>
        </p:sp>
        <p:sp>
          <p:nvSpPr>
            <p:cNvPr id="105" name="Google Shape;105;p14"/>
            <p:cNvSpPr/>
            <p:nvPr/>
          </p:nvSpPr>
          <p:spPr>
            <a:xfrm>
              <a:off x="10668000" y="7524750"/>
              <a:ext cx="1143000" cy="1143000"/>
            </a:xfrm>
            <a:prstGeom prst="ellipse">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4"/>
            <p:cNvSpPr txBox="1"/>
            <p:nvPr/>
          </p:nvSpPr>
          <p:spPr>
            <a:xfrm>
              <a:off x="10953750" y="78630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10B981"/>
                  </a:solidFill>
                  <a:latin typeface="Material Icons"/>
                  <a:ea typeface="Material Icons"/>
                  <a:cs typeface="Material Icons"/>
                  <a:sym typeface="Material Icons"/>
                </a:rPr>
                <a:t></a:t>
              </a:r>
              <a:endParaRPr sz="3600">
                <a:solidFill>
                  <a:srgbClr val="10B981"/>
                </a:solidFill>
                <a:latin typeface="Material Icons"/>
                <a:ea typeface="Material Icons"/>
                <a:cs typeface="Material Icons"/>
                <a:sym typeface="Material Icons"/>
              </a:endParaRPr>
            </a:p>
          </p:txBody>
        </p:sp>
        <p:sp>
          <p:nvSpPr>
            <p:cNvPr id="107" name="Google Shape;107;p14"/>
            <p:cNvSpPr txBox="1"/>
            <p:nvPr/>
          </p:nvSpPr>
          <p:spPr>
            <a:xfrm>
              <a:off x="12001500" y="7715250"/>
              <a:ext cx="47625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A0915"/>
                  </a:solidFill>
                  <a:latin typeface="Inter"/>
                  <a:ea typeface="Inter"/>
                  <a:cs typeface="Inter"/>
                  <a:sym typeface="Inter"/>
                </a:rPr>
                <a:t>Gobierno</a:t>
              </a:r>
              <a:endParaRPr b="1" sz="1800">
                <a:solidFill>
                  <a:srgbClr val="0A0915"/>
                </a:solidFill>
                <a:latin typeface="Inter"/>
                <a:ea typeface="Inter"/>
                <a:cs typeface="Inter"/>
                <a:sym typeface="Inter"/>
              </a:endParaRPr>
            </a:p>
            <a:p>
              <a:pPr indent="0" lvl="0" marL="0" rtl="0" algn="l">
                <a:spcBef>
                  <a:spcPts val="0"/>
                </a:spcBef>
                <a:spcAft>
                  <a:spcPts val="0"/>
                </a:spcAft>
                <a:buNone/>
              </a:pPr>
              <a:r>
                <a:rPr lang="en-US" sz="1400">
                  <a:solidFill>
                    <a:srgbClr val="64748B"/>
                  </a:solidFill>
                  <a:latin typeface="Inter"/>
                  <a:ea typeface="Inter"/>
                  <a:cs typeface="Inter"/>
                  <a:sym typeface="Inter"/>
                </a:rPr>
                <a:t>Ejecuta y opera la solución</a:t>
              </a:r>
              <a:endParaRPr sz="1400">
                <a:solidFill>
                  <a:srgbClr val="64748B"/>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5"/>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14" name="Google Shape;114;p15"/>
          <p:cNvGrpSpPr/>
          <p:nvPr/>
        </p:nvGrpSpPr>
        <p:grpSpPr>
          <a:xfrm>
            <a:off x="1371600" y="762000"/>
            <a:ext cx="15544800" cy="1714500"/>
            <a:chOff x="1371600" y="762000"/>
            <a:chExt cx="15544800" cy="1714500"/>
          </a:xfrm>
        </p:grpSpPr>
        <p:sp>
          <p:nvSpPr>
            <p:cNvPr id="115" name="Google Shape;115;p15"/>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A580C"/>
                  </a:solidFill>
                  <a:latin typeface="Inter"/>
                  <a:ea typeface="Inter"/>
                  <a:cs typeface="Inter"/>
                  <a:sym typeface="Inter"/>
                </a:rPr>
                <a:t>Lo que cambia</a:t>
              </a:r>
              <a:endParaRPr b="1" sz="1800">
                <a:solidFill>
                  <a:srgbClr val="EA580C"/>
                </a:solidFill>
                <a:latin typeface="Inter"/>
                <a:ea typeface="Inter"/>
                <a:cs typeface="Inter"/>
                <a:sym typeface="Inter"/>
              </a:endParaRPr>
            </a:p>
          </p:txBody>
        </p:sp>
        <p:sp>
          <p:nvSpPr>
            <p:cNvPr id="116" name="Google Shape;116;p15"/>
            <p:cNvSpPr txBox="1"/>
            <p:nvPr/>
          </p:nvSpPr>
          <p:spPr>
            <a:xfrm>
              <a:off x="1371600" y="1333500"/>
              <a:ext cx="15544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Co-creación en tiempo real</a:t>
              </a:r>
              <a:endParaRPr b="1" sz="5600">
                <a:solidFill>
                  <a:srgbClr val="0A0915"/>
                </a:solidFill>
                <a:latin typeface="Inter"/>
                <a:ea typeface="Inter"/>
                <a:cs typeface="Inter"/>
                <a:sym typeface="Inter"/>
              </a:endParaRPr>
            </a:p>
          </p:txBody>
        </p:sp>
      </p:grpSp>
      <p:grpSp>
        <p:nvGrpSpPr>
          <p:cNvPr id="117" name="Google Shape;117;p15"/>
          <p:cNvGrpSpPr/>
          <p:nvPr/>
        </p:nvGrpSpPr>
        <p:grpSpPr>
          <a:xfrm>
            <a:off x="1371600" y="3048000"/>
            <a:ext cx="15544800" cy="4000500"/>
            <a:chOff x="1371600" y="3048000"/>
            <a:chExt cx="15544800" cy="4000500"/>
          </a:xfrm>
        </p:grpSpPr>
        <p:sp>
          <p:nvSpPr>
            <p:cNvPr id="118" name="Google Shape;118;p15"/>
            <p:cNvSpPr/>
            <p:nvPr/>
          </p:nvSpPr>
          <p:spPr>
            <a:xfrm>
              <a:off x="1371600" y="3048000"/>
              <a:ext cx="15544800" cy="4000500"/>
            </a:xfrm>
            <a:prstGeom prst="roundRect">
              <a:avLst>
                <a:gd fmla="val 9523"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9" name="Google Shape;119;p15"/>
            <p:cNvSpPr txBox="1"/>
            <p:nvPr/>
          </p:nvSpPr>
          <p:spPr>
            <a:xfrm>
              <a:off x="2095500" y="3048000"/>
              <a:ext cx="14097000" cy="400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3200">
                  <a:solidFill>
                    <a:srgbClr val="EA580C"/>
                  </a:solidFill>
                  <a:latin typeface="Inter"/>
                  <a:ea typeface="Inter"/>
                  <a:cs typeface="Inter"/>
                  <a:sym typeface="Inter"/>
                </a:rPr>
                <a:t>Te sientas con quien va a operarlo y configuran juntos</a:t>
              </a:r>
              <a:endParaRPr b="1" sz="3200">
                <a:solidFill>
                  <a:srgbClr val="EA580C"/>
                </a:solidFill>
                <a:latin typeface="Inter"/>
                <a:ea typeface="Inter"/>
                <a:cs typeface="Inter"/>
                <a:sym typeface="Inter"/>
              </a:endParaRPr>
            </a:p>
            <a:p>
              <a:pPr indent="0" lvl="0" marL="0" rtl="0" algn="l">
                <a:spcBef>
                  <a:spcPts val="2250"/>
                </a:spcBef>
                <a:spcAft>
                  <a:spcPts val="0"/>
                </a:spcAft>
                <a:buNone/>
              </a:pPr>
              <a:r>
                <a:rPr b="0" lang="en-US" sz="2400">
                  <a:solidFill>
                    <a:srgbClr val="475569"/>
                  </a:solidFill>
                  <a:latin typeface="Inter"/>
                  <a:ea typeface="Inter"/>
                  <a:cs typeface="Inter"/>
                  <a:sym typeface="Inter"/>
                </a:rPr>
                <a:t>Esa persona, normalmente un especialista funcional del lado del gobierno, debería terminar </a:t>
              </a:r>
              <a:r>
                <a:rPr b="1" lang="en-US" sz="2400">
                  <a:solidFill>
                    <a:srgbClr val="0A0915"/>
                  </a:solidFill>
                  <a:latin typeface="Inter"/>
                  <a:ea typeface="Inter"/>
                  <a:cs typeface="Inter"/>
                  <a:sym typeface="Inter"/>
                </a:rPr>
                <a:t>Fase C</a:t>
              </a:r>
              <a:r>
                <a:rPr b="0" lang="en-US" sz="2400">
                  <a:solidFill>
                    <a:srgbClr val="475569"/>
                  </a:solidFill>
                  <a:latin typeface="Inter"/>
                  <a:ea typeface="Inter"/>
                  <a:cs typeface="Inter"/>
                  <a:sym typeface="Inter"/>
                </a:rPr>
                <a:t> pudiendo modelar un trámite nuevo de forma autónoma.</a:t>
              </a:r>
              <a:endParaRPr b="0" sz="2400">
                <a:solidFill>
                  <a:srgbClr val="475569"/>
                </a:solidFill>
                <a:latin typeface="Inter"/>
                <a:ea typeface="Inter"/>
                <a:cs typeface="Inter"/>
                <a:sym typeface="Inter"/>
              </a:endParaRPr>
            </a:p>
          </p:txBody>
        </p:sp>
      </p:grpSp>
      <p:grpSp>
        <p:nvGrpSpPr>
          <p:cNvPr id="120" name="Google Shape;120;p15"/>
          <p:cNvGrpSpPr/>
          <p:nvPr/>
        </p:nvGrpSpPr>
        <p:grpSpPr>
          <a:xfrm>
            <a:off x="1371600" y="7524750"/>
            <a:ext cx="14668500" cy="1143000"/>
            <a:chOff x="1371600" y="7524750"/>
            <a:chExt cx="14668500" cy="1143000"/>
          </a:xfrm>
        </p:grpSpPr>
        <p:sp>
          <p:nvSpPr>
            <p:cNvPr id="121" name="Google Shape;121;p15"/>
            <p:cNvSpPr/>
            <p:nvPr/>
          </p:nvSpPr>
          <p:spPr>
            <a:xfrm>
              <a:off x="1371600" y="7524750"/>
              <a:ext cx="1143000" cy="1143000"/>
            </a:xfrm>
            <a:prstGeom prst="ellipse">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5"/>
            <p:cNvSpPr txBox="1"/>
            <p:nvPr/>
          </p:nvSpPr>
          <p:spPr>
            <a:xfrm>
              <a:off x="1657350" y="78630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10B981"/>
                  </a:solidFill>
                  <a:latin typeface="Material Icons"/>
                  <a:ea typeface="Material Icons"/>
                  <a:cs typeface="Material Icons"/>
                  <a:sym typeface="Material Icons"/>
                </a:rPr>
                <a:t></a:t>
              </a:r>
              <a:endParaRPr sz="3600">
                <a:solidFill>
                  <a:srgbClr val="10B981"/>
                </a:solidFill>
                <a:latin typeface="Material Icons"/>
                <a:ea typeface="Material Icons"/>
                <a:cs typeface="Material Icons"/>
                <a:sym typeface="Material Icons"/>
              </a:endParaRPr>
            </a:p>
          </p:txBody>
        </p:sp>
        <p:sp>
          <p:nvSpPr>
            <p:cNvPr id="123" name="Google Shape;123;p15"/>
            <p:cNvSpPr txBox="1"/>
            <p:nvPr/>
          </p:nvSpPr>
          <p:spPr>
            <a:xfrm>
              <a:off x="2705100" y="7715250"/>
              <a:ext cx="13335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A0915"/>
                  </a:solidFill>
                  <a:latin typeface="Inter"/>
                  <a:ea typeface="Inter"/>
                  <a:cs typeface="Inter"/>
                  <a:sym typeface="Inter"/>
                </a:rPr>
                <a:t>El objetivo final</a:t>
              </a:r>
              <a:endParaRPr b="1" sz="1800">
                <a:solidFill>
                  <a:srgbClr val="0A0915"/>
                </a:solidFill>
                <a:latin typeface="Inter"/>
                <a:ea typeface="Inter"/>
                <a:cs typeface="Inter"/>
                <a:sym typeface="Inter"/>
              </a:endParaRPr>
            </a:p>
            <a:p>
              <a:pPr indent="0" lvl="0" marL="0" rtl="0" algn="l">
                <a:spcBef>
                  <a:spcPts val="0"/>
                </a:spcBef>
                <a:spcAft>
                  <a:spcPts val="0"/>
                </a:spcAft>
                <a:buNone/>
              </a:pPr>
              <a:r>
                <a:rPr b="0" lang="en-US" sz="1400">
                  <a:solidFill>
                    <a:srgbClr val="64748B"/>
                  </a:solidFill>
                  <a:latin typeface="Inter"/>
                  <a:ea typeface="Inter"/>
                  <a:cs typeface="Inter"/>
                  <a:sym typeface="Inter"/>
                </a:rPr>
                <a:t>Transferencia de capacidades real: modelar sin que tú estés en la sala.</a:t>
              </a:r>
              <a:endParaRPr b="0" sz="1400">
                <a:solidFill>
                  <a:srgbClr val="64748B"/>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6"/>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30" name="Google Shape;130;p16"/>
          <p:cNvGrpSpPr/>
          <p:nvPr/>
        </p:nvGrpSpPr>
        <p:grpSpPr>
          <a:xfrm>
            <a:off x="1371600" y="762000"/>
            <a:ext cx="15544800" cy="1714500"/>
            <a:chOff x="1371600" y="762000"/>
            <a:chExt cx="15544800" cy="1714500"/>
          </a:xfrm>
        </p:grpSpPr>
        <p:sp>
          <p:nvSpPr>
            <p:cNvPr id="131" name="Google Shape;131;p16"/>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A580C"/>
                  </a:solidFill>
                  <a:latin typeface="Inter"/>
                  <a:ea typeface="Inter"/>
                  <a:cs typeface="Inter"/>
                  <a:sym typeface="Inter"/>
                </a:rPr>
                <a:t>Validación de Modelado</a:t>
              </a:r>
              <a:endParaRPr b="1" sz="1800">
                <a:solidFill>
                  <a:srgbClr val="EA580C"/>
                </a:solidFill>
                <a:latin typeface="Inter"/>
                <a:ea typeface="Inter"/>
                <a:cs typeface="Inter"/>
                <a:sym typeface="Inter"/>
              </a:endParaRPr>
            </a:p>
          </p:txBody>
        </p:sp>
        <p:sp>
          <p:nvSpPr>
            <p:cNvPr id="132" name="Google Shape;132;p16"/>
            <p:cNvSpPr txBox="1"/>
            <p:nvPr/>
          </p:nvSpPr>
          <p:spPr>
            <a:xfrm>
              <a:off x="1371600" y="1333500"/>
              <a:ext cx="15544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¿Con quién te sientas a validar?</a:t>
              </a:r>
              <a:endParaRPr b="1" sz="5600">
                <a:solidFill>
                  <a:srgbClr val="0A0915"/>
                </a:solidFill>
                <a:latin typeface="Inter"/>
                <a:ea typeface="Inter"/>
                <a:cs typeface="Inter"/>
                <a:sym typeface="Inter"/>
              </a:endParaRPr>
            </a:p>
          </p:txBody>
        </p:sp>
      </p:grpSp>
      <p:sp>
        <p:nvSpPr>
          <p:cNvPr id="133" name="Google Shape;133;p16"/>
          <p:cNvSpPr/>
          <p:nvPr/>
        </p:nvSpPr>
        <p:spPr>
          <a:xfrm>
            <a:off x="1371600" y="3048000"/>
            <a:ext cx="7429500" cy="4572000"/>
          </a:xfrm>
          <a:prstGeom prst="roundRect">
            <a:avLst>
              <a:gd fmla="val 8333" name="adj"/>
            </a:avLst>
          </a:prstGeom>
          <a:solidFill>
            <a:srgbClr val="FFFFFF"/>
          </a:solidFill>
          <a:ln cap="flat" cmpd="sng" w="19050">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txBox="1"/>
          <p:nvPr/>
        </p:nvSpPr>
        <p:spPr>
          <a:xfrm>
            <a:off x="1847850" y="3524250"/>
            <a:ext cx="7620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4800">
                <a:solidFill>
                  <a:srgbClr val="DC2626"/>
                </a:solidFill>
                <a:latin typeface="Inter"/>
                <a:ea typeface="Inter"/>
                <a:cs typeface="Inter"/>
                <a:sym typeface="Inter"/>
              </a:rPr>
              <a:t>✗</a:t>
            </a:r>
            <a:endParaRPr b="1" sz="4800">
              <a:solidFill>
                <a:srgbClr val="DC2626"/>
              </a:solidFill>
              <a:latin typeface="Inter"/>
              <a:ea typeface="Inter"/>
              <a:cs typeface="Inter"/>
              <a:sym typeface="Inter"/>
            </a:endParaRPr>
          </a:p>
        </p:txBody>
      </p:sp>
      <p:sp>
        <p:nvSpPr>
          <p:cNvPr id="135" name="Google Shape;135;p16"/>
          <p:cNvSpPr txBox="1"/>
          <p:nvPr/>
        </p:nvSpPr>
        <p:spPr>
          <a:xfrm>
            <a:off x="1847850" y="4381500"/>
            <a:ext cx="64770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Con el jefe</a:t>
            </a:r>
            <a:endParaRPr b="1" sz="3200">
              <a:solidFill>
                <a:srgbClr val="0A0915"/>
              </a:solidFill>
              <a:latin typeface="Inter"/>
              <a:ea typeface="Inter"/>
              <a:cs typeface="Inter"/>
              <a:sym typeface="Inter"/>
            </a:endParaRPr>
          </a:p>
        </p:txBody>
      </p:sp>
      <p:sp>
        <p:nvSpPr>
          <p:cNvPr id="136" name="Google Shape;136;p16"/>
          <p:cNvSpPr txBox="1"/>
          <p:nvPr/>
        </p:nvSpPr>
        <p:spPr>
          <a:xfrm>
            <a:off x="1847850" y="5048250"/>
            <a:ext cx="6477000" cy="677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200">
                <a:solidFill>
                  <a:srgbClr val="64748B"/>
                </a:solidFill>
                <a:latin typeface="Inter"/>
                <a:ea typeface="Inter"/>
                <a:cs typeface="Inter"/>
                <a:sym typeface="Inter"/>
              </a:rPr>
              <a:t>Te dice cómo </a:t>
            </a:r>
            <a:r>
              <a:rPr b="1" lang="en-US" sz="2200">
                <a:solidFill>
                  <a:srgbClr val="475569"/>
                </a:solidFill>
                <a:latin typeface="Inter"/>
                <a:ea typeface="Inter"/>
                <a:cs typeface="Inter"/>
                <a:sym typeface="Inter"/>
              </a:rPr>
              <a:t>le gustaría</a:t>
            </a:r>
            <a:r>
              <a:rPr b="0" lang="en-US" sz="2200">
                <a:solidFill>
                  <a:srgbClr val="64748B"/>
                </a:solidFill>
                <a:latin typeface="Inter"/>
                <a:ea typeface="Inter"/>
                <a:cs typeface="Inter"/>
                <a:sym typeface="Inter"/>
              </a:rPr>
              <a:t> que fuera el trámite, basándose en la teoría o el deber ser.</a:t>
            </a:r>
            <a:endParaRPr b="0" sz="2200">
              <a:solidFill>
                <a:srgbClr val="64748B"/>
              </a:solidFill>
              <a:latin typeface="Inter"/>
              <a:ea typeface="Inter"/>
              <a:cs typeface="Inter"/>
              <a:sym typeface="Inter"/>
            </a:endParaRPr>
          </a:p>
        </p:txBody>
      </p:sp>
      <p:sp>
        <p:nvSpPr>
          <p:cNvPr id="137" name="Google Shape;137;p16"/>
          <p:cNvSpPr/>
          <p:nvPr/>
        </p:nvSpPr>
        <p:spPr>
          <a:xfrm>
            <a:off x="9486900" y="3048000"/>
            <a:ext cx="7429500" cy="4572000"/>
          </a:xfrm>
          <a:prstGeom prst="roundRect">
            <a:avLst>
              <a:gd fmla="val 8333" name="adj"/>
            </a:avLst>
          </a:prstGeom>
          <a:solidFill>
            <a:srgbClr val="F0FDF4"/>
          </a:solidFill>
          <a:ln cap="flat" cmpd="sng" w="19050">
            <a:solidFill>
              <a:srgbClr val="10B981"/>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8" name="Google Shape;138;p16"/>
          <p:cNvSpPr txBox="1"/>
          <p:nvPr/>
        </p:nvSpPr>
        <p:spPr>
          <a:xfrm>
            <a:off x="9963150" y="3524250"/>
            <a:ext cx="762000" cy="7389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4800">
                <a:solidFill>
                  <a:srgbClr val="10B981"/>
                </a:solidFill>
                <a:latin typeface="Inter"/>
                <a:ea typeface="Inter"/>
                <a:cs typeface="Inter"/>
                <a:sym typeface="Inter"/>
              </a:rPr>
              <a:t>✓</a:t>
            </a:r>
            <a:endParaRPr b="1" sz="4800">
              <a:solidFill>
                <a:srgbClr val="10B981"/>
              </a:solidFill>
              <a:latin typeface="Inter"/>
              <a:ea typeface="Inter"/>
              <a:cs typeface="Inter"/>
              <a:sym typeface="Inter"/>
            </a:endParaRPr>
          </a:p>
        </p:txBody>
      </p:sp>
      <p:sp>
        <p:nvSpPr>
          <p:cNvPr id="139" name="Google Shape;139;p16"/>
          <p:cNvSpPr txBox="1"/>
          <p:nvPr/>
        </p:nvSpPr>
        <p:spPr>
          <a:xfrm>
            <a:off x="9963150" y="4381500"/>
            <a:ext cx="6477000" cy="4926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3200">
                <a:solidFill>
                  <a:srgbClr val="0A0915"/>
                </a:solidFill>
                <a:latin typeface="Inter"/>
                <a:ea typeface="Inter"/>
                <a:cs typeface="Inter"/>
                <a:sym typeface="Inter"/>
              </a:rPr>
              <a:t>Con el operador real</a:t>
            </a:r>
            <a:endParaRPr b="1" sz="3200">
              <a:solidFill>
                <a:srgbClr val="0A0915"/>
              </a:solidFill>
              <a:latin typeface="Inter"/>
              <a:ea typeface="Inter"/>
              <a:cs typeface="Inter"/>
              <a:sym typeface="Inter"/>
            </a:endParaRPr>
          </a:p>
        </p:txBody>
      </p:sp>
      <p:sp>
        <p:nvSpPr>
          <p:cNvPr id="140" name="Google Shape;140;p16"/>
          <p:cNvSpPr txBox="1"/>
          <p:nvPr/>
        </p:nvSpPr>
        <p:spPr>
          <a:xfrm>
            <a:off x="9963150" y="5048250"/>
            <a:ext cx="6477000" cy="6774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200">
                <a:solidFill>
                  <a:srgbClr val="475569"/>
                </a:solidFill>
                <a:latin typeface="Inter"/>
                <a:ea typeface="Inter"/>
                <a:cs typeface="Inter"/>
                <a:sym typeface="Inter"/>
              </a:rPr>
              <a:t>Te dice cómo se hace </a:t>
            </a:r>
            <a:r>
              <a:rPr b="1" lang="en-US" sz="2200">
                <a:solidFill>
                  <a:srgbClr val="059669"/>
                </a:solidFill>
                <a:latin typeface="Inter"/>
                <a:ea typeface="Inter"/>
                <a:cs typeface="Inter"/>
                <a:sym typeface="Inter"/>
              </a:rPr>
              <a:t>de verdad</a:t>
            </a:r>
            <a:r>
              <a:rPr b="0" lang="en-US" sz="2200">
                <a:solidFill>
                  <a:srgbClr val="475569"/>
                </a:solidFill>
                <a:latin typeface="Inter"/>
                <a:ea typeface="Inter"/>
                <a:cs typeface="Inter"/>
                <a:sym typeface="Inter"/>
              </a:rPr>
              <a:t>: excepciones, atajos y pasos que el manual no documenta.</a:t>
            </a:r>
            <a:endParaRPr b="0" sz="2200">
              <a:solidFill>
                <a:srgbClr val="475569"/>
              </a:solidFill>
              <a:latin typeface="Inter"/>
              <a:ea typeface="Inter"/>
              <a:cs typeface="Inter"/>
              <a:sym typeface="Inter"/>
            </a:endParaRPr>
          </a:p>
        </p:txBody>
      </p:sp>
      <p:grpSp>
        <p:nvGrpSpPr>
          <p:cNvPr id="141" name="Google Shape;141;p16"/>
          <p:cNvGrpSpPr/>
          <p:nvPr/>
        </p:nvGrpSpPr>
        <p:grpSpPr>
          <a:xfrm>
            <a:off x="1371600" y="8001000"/>
            <a:ext cx="14668500" cy="1143000"/>
            <a:chOff x="1371600" y="8001000"/>
            <a:chExt cx="14668500" cy="1143000"/>
          </a:xfrm>
        </p:grpSpPr>
        <p:sp>
          <p:nvSpPr>
            <p:cNvPr id="142" name="Google Shape;142;p16"/>
            <p:cNvSpPr/>
            <p:nvPr/>
          </p:nvSpPr>
          <p:spPr>
            <a:xfrm>
              <a:off x="1371600" y="8001000"/>
              <a:ext cx="1143000" cy="1143000"/>
            </a:xfrm>
            <a:prstGeom prst="ellipse">
              <a:avLst/>
            </a:prstGeom>
            <a:solidFill>
              <a:srgbClr val="EA580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3" name="Google Shape;143;p16"/>
            <p:cNvSpPr txBox="1"/>
            <p:nvPr/>
          </p:nvSpPr>
          <p:spPr>
            <a:xfrm>
              <a:off x="1657350" y="8386953"/>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EA580C"/>
                  </a:solidFill>
                  <a:latin typeface="Material Icons"/>
                  <a:ea typeface="Material Icons"/>
                  <a:cs typeface="Material Icons"/>
                  <a:sym typeface="Material Icons"/>
                </a:rPr>
                <a:t></a:t>
              </a:r>
              <a:endParaRPr sz="3600">
                <a:solidFill>
                  <a:srgbClr val="EA580C"/>
                </a:solidFill>
                <a:latin typeface="Material Icons"/>
                <a:ea typeface="Material Icons"/>
                <a:cs typeface="Material Icons"/>
                <a:sym typeface="Material Icons"/>
              </a:endParaRPr>
            </a:p>
          </p:txBody>
        </p:sp>
        <p:sp>
          <p:nvSpPr>
            <p:cNvPr id="144" name="Google Shape;144;p16"/>
            <p:cNvSpPr txBox="1"/>
            <p:nvPr/>
          </p:nvSpPr>
          <p:spPr>
            <a:xfrm>
              <a:off x="2705100" y="8191500"/>
              <a:ext cx="13335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A0915"/>
                  </a:solidFill>
                  <a:latin typeface="Inter"/>
                  <a:ea typeface="Inter"/>
                  <a:cs typeface="Inter"/>
                  <a:sym typeface="Inter"/>
                </a:rPr>
                <a:t>Insight Clave</a:t>
              </a:r>
              <a:endParaRPr b="1" sz="1800">
                <a:solidFill>
                  <a:srgbClr val="0A0915"/>
                </a:solidFill>
                <a:latin typeface="Inter"/>
                <a:ea typeface="Inter"/>
                <a:cs typeface="Inter"/>
                <a:sym typeface="Inter"/>
              </a:endParaRPr>
            </a:p>
            <a:p>
              <a:pPr indent="0" lvl="0" marL="0" rtl="0" algn="l">
                <a:spcBef>
                  <a:spcPts val="0"/>
                </a:spcBef>
                <a:spcAft>
                  <a:spcPts val="0"/>
                </a:spcAft>
                <a:buNone/>
              </a:pPr>
              <a:r>
                <a:rPr b="0" lang="en-US" sz="1400">
                  <a:solidFill>
                    <a:srgbClr val="64748B"/>
                  </a:solidFill>
                  <a:latin typeface="Inter"/>
                  <a:ea typeface="Inter"/>
                  <a:cs typeface="Inter"/>
                  <a:sym typeface="Inter"/>
                </a:rPr>
                <a:t>Si el área dueña rechaza el modelado, el error suele estar en no haber consultado a quien opera el proceso día a día.</a:t>
              </a:r>
              <a:endParaRPr b="0" sz="1400">
                <a:solidFill>
                  <a:srgbClr val="64748B"/>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7"/>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51" name="Google Shape;151;p17"/>
          <p:cNvGrpSpPr/>
          <p:nvPr/>
        </p:nvGrpSpPr>
        <p:grpSpPr>
          <a:xfrm>
            <a:off x="1371600" y="762000"/>
            <a:ext cx="15544800" cy="1714500"/>
            <a:chOff x="1371600" y="762000"/>
            <a:chExt cx="15544800" cy="1714500"/>
          </a:xfrm>
        </p:grpSpPr>
        <p:sp>
          <p:nvSpPr>
            <p:cNvPr id="152" name="Google Shape;152;p17"/>
            <p:cNvSpPr txBox="1"/>
            <p:nvPr/>
          </p:nvSpPr>
          <p:spPr>
            <a:xfrm>
              <a:off x="1371600" y="762000"/>
              <a:ext cx="15544800" cy="571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EA580C"/>
                  </a:solidFill>
                  <a:latin typeface="Inter"/>
                  <a:ea typeface="Inter"/>
                  <a:cs typeface="Inter"/>
                  <a:sym typeface="Inter"/>
                </a:rPr>
                <a:t>La cuenta</a:t>
              </a:r>
              <a:endParaRPr b="1" sz="1800">
                <a:solidFill>
                  <a:srgbClr val="EA580C"/>
                </a:solidFill>
                <a:latin typeface="Inter"/>
                <a:ea typeface="Inter"/>
                <a:cs typeface="Inter"/>
                <a:sym typeface="Inter"/>
              </a:endParaRPr>
            </a:p>
          </p:txBody>
        </p:sp>
        <p:sp>
          <p:nvSpPr>
            <p:cNvPr id="153" name="Google Shape;153;p17"/>
            <p:cNvSpPr txBox="1"/>
            <p:nvPr/>
          </p:nvSpPr>
          <p:spPr>
            <a:xfrm>
              <a:off x="1371600" y="1333500"/>
              <a:ext cx="155448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La eficiencia del operador</a:t>
              </a:r>
              <a:endParaRPr b="1" sz="5600">
                <a:solidFill>
                  <a:srgbClr val="0A0915"/>
                </a:solidFill>
                <a:latin typeface="Inter"/>
                <a:ea typeface="Inter"/>
                <a:cs typeface="Inter"/>
                <a:sym typeface="Inter"/>
              </a:endParaRPr>
            </a:p>
          </p:txBody>
        </p:sp>
      </p:grpSp>
      <p:grpSp>
        <p:nvGrpSpPr>
          <p:cNvPr id="154" name="Google Shape;154;p17"/>
          <p:cNvGrpSpPr/>
          <p:nvPr/>
        </p:nvGrpSpPr>
        <p:grpSpPr>
          <a:xfrm>
            <a:off x="1371600" y="3048000"/>
            <a:ext cx="15544800" cy="3810000"/>
            <a:chOff x="1371600" y="3048000"/>
            <a:chExt cx="15544800" cy="3810000"/>
          </a:xfrm>
        </p:grpSpPr>
        <p:sp>
          <p:nvSpPr>
            <p:cNvPr id="155" name="Google Shape;155;p17"/>
            <p:cNvSpPr/>
            <p:nvPr/>
          </p:nvSpPr>
          <p:spPr>
            <a:xfrm>
              <a:off x="1371600" y="3048000"/>
              <a:ext cx="15544800" cy="3810000"/>
            </a:xfrm>
            <a:prstGeom prst="roundRect">
              <a:avLst>
                <a:gd fmla="val 10000" name="adj"/>
              </a:avLst>
            </a:prstGeom>
            <a:solidFill>
              <a:srgbClr val="FFFFFF"/>
            </a:solidFill>
            <a:ln cap="flat" cmpd="sng" w="19050">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7"/>
            <p:cNvSpPr txBox="1"/>
            <p:nvPr/>
          </p:nvSpPr>
          <p:spPr>
            <a:xfrm>
              <a:off x="2095500" y="3048000"/>
              <a:ext cx="14097000" cy="3810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4200">
                  <a:solidFill>
                    <a:srgbClr val="EA580C"/>
                  </a:solidFill>
                  <a:latin typeface="Inter"/>
                  <a:ea typeface="Inter"/>
                  <a:cs typeface="Inter"/>
                  <a:sym typeface="Inter"/>
                </a:rPr>
                <a:t>30 minutos</a:t>
              </a:r>
              <a:endParaRPr b="1" sz="4200">
                <a:solidFill>
                  <a:srgbClr val="EA580C"/>
                </a:solidFill>
                <a:latin typeface="Inter"/>
                <a:ea typeface="Inter"/>
                <a:cs typeface="Inter"/>
                <a:sym typeface="Inter"/>
              </a:endParaRPr>
            </a:p>
            <a:p>
              <a:pPr indent="0" lvl="0" marL="0" rtl="0" algn="ctr">
                <a:spcBef>
                  <a:spcPts val="0"/>
                </a:spcBef>
                <a:spcAft>
                  <a:spcPts val="0"/>
                </a:spcAft>
                <a:buNone/>
              </a:pPr>
              <a:r>
                <a:rPr b="0" lang="en-US" sz="2800">
                  <a:solidFill>
                    <a:srgbClr val="475569"/>
                  </a:solidFill>
                  <a:latin typeface="Inter"/>
                  <a:ea typeface="Inter"/>
                  <a:cs typeface="Inter"/>
                  <a:sym typeface="Inter"/>
                </a:rPr>
                <a:t>con el operador real</a:t>
              </a:r>
              <a:endParaRPr b="0" sz="2800">
                <a:solidFill>
                  <a:srgbClr val="475569"/>
                </a:solidFill>
                <a:latin typeface="Inter"/>
                <a:ea typeface="Inter"/>
                <a:cs typeface="Inter"/>
                <a:sym typeface="Inter"/>
              </a:endParaRPr>
            </a:p>
            <a:p>
              <a:pPr indent="0" lvl="0" marL="0" rtl="0" algn="ctr">
                <a:spcBef>
                  <a:spcPts val="1500"/>
                </a:spcBef>
                <a:spcAft>
                  <a:spcPts val="0"/>
                </a:spcAft>
                <a:buNone/>
              </a:pPr>
              <a:r>
                <a:rPr b="1" lang="en-US" sz="2400">
                  <a:solidFill>
                    <a:srgbClr val="94A3B8"/>
                  </a:solidFill>
                  <a:latin typeface="Inter"/>
                  <a:ea typeface="Inter"/>
                  <a:cs typeface="Inter"/>
                  <a:sym typeface="Inter"/>
                </a:rPr>
                <a:t>&gt;</a:t>
              </a:r>
              <a:endParaRPr b="1" sz="2400">
                <a:solidFill>
                  <a:srgbClr val="94A3B8"/>
                </a:solidFill>
                <a:latin typeface="Inter"/>
                <a:ea typeface="Inter"/>
                <a:cs typeface="Inter"/>
                <a:sym typeface="Inter"/>
              </a:endParaRPr>
            </a:p>
            <a:p>
              <a:pPr indent="0" lvl="0" marL="0" rtl="0" algn="ctr">
                <a:spcBef>
                  <a:spcPts val="1500"/>
                </a:spcBef>
                <a:spcAft>
                  <a:spcPts val="0"/>
                </a:spcAft>
                <a:buNone/>
              </a:pPr>
              <a:r>
                <a:rPr b="1" lang="en-US" sz="4200">
                  <a:solidFill>
                    <a:srgbClr val="0A0915"/>
                  </a:solidFill>
                  <a:latin typeface="Inter"/>
                  <a:ea typeface="Inter"/>
                  <a:cs typeface="Inter"/>
                  <a:sym typeface="Inter"/>
                </a:rPr>
                <a:t>3 reuniones</a:t>
              </a:r>
              <a:endParaRPr b="1" sz="4200">
                <a:solidFill>
                  <a:srgbClr val="0A0915"/>
                </a:solidFill>
                <a:latin typeface="Inter"/>
                <a:ea typeface="Inter"/>
                <a:cs typeface="Inter"/>
                <a:sym typeface="Inter"/>
              </a:endParaRPr>
            </a:p>
            <a:p>
              <a:pPr indent="0" lvl="0" marL="0" rtl="0" algn="ctr">
                <a:spcBef>
                  <a:spcPts val="0"/>
                </a:spcBef>
                <a:spcAft>
                  <a:spcPts val="0"/>
                </a:spcAft>
                <a:buNone/>
              </a:pPr>
              <a:r>
                <a:rPr b="0" lang="en-US" sz="2800">
                  <a:solidFill>
                    <a:srgbClr val="475569"/>
                  </a:solidFill>
                  <a:latin typeface="Inter"/>
                  <a:ea typeface="Inter"/>
                  <a:cs typeface="Inter"/>
                  <a:sym typeface="Inter"/>
                </a:rPr>
                <a:t>con la jefatura</a:t>
              </a:r>
              <a:endParaRPr b="0" sz="2800">
                <a:solidFill>
                  <a:srgbClr val="475569"/>
                </a:solidFill>
                <a:latin typeface="Inter"/>
                <a:ea typeface="Inter"/>
                <a:cs typeface="Inter"/>
                <a:sym typeface="Inter"/>
              </a:endParaRPr>
            </a:p>
          </p:txBody>
        </p:sp>
      </p:grpSp>
      <p:grpSp>
        <p:nvGrpSpPr>
          <p:cNvPr id="157" name="Google Shape;157;p17"/>
          <p:cNvGrpSpPr/>
          <p:nvPr/>
        </p:nvGrpSpPr>
        <p:grpSpPr>
          <a:xfrm>
            <a:off x="1371600" y="7524750"/>
            <a:ext cx="14668500" cy="1143000"/>
            <a:chOff x="1371600" y="7524750"/>
            <a:chExt cx="14668500" cy="1143000"/>
          </a:xfrm>
        </p:grpSpPr>
        <p:sp>
          <p:nvSpPr>
            <p:cNvPr id="158" name="Google Shape;158;p17"/>
            <p:cNvSpPr/>
            <p:nvPr/>
          </p:nvSpPr>
          <p:spPr>
            <a:xfrm>
              <a:off x="1371600" y="7524750"/>
              <a:ext cx="1143000" cy="1143000"/>
            </a:xfrm>
            <a:prstGeom prst="ellipse">
              <a:avLst/>
            </a:prstGeom>
            <a:solidFill>
              <a:srgbClr val="EA580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txBox="1"/>
            <p:nvPr/>
          </p:nvSpPr>
          <p:spPr>
            <a:xfrm>
              <a:off x="1657350" y="78630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EA580C"/>
                  </a:solidFill>
                  <a:latin typeface="Material Icons"/>
                  <a:ea typeface="Material Icons"/>
                  <a:cs typeface="Material Icons"/>
                  <a:sym typeface="Material Icons"/>
                </a:rPr>
                <a:t></a:t>
              </a:r>
              <a:endParaRPr sz="3600">
                <a:solidFill>
                  <a:srgbClr val="EA580C"/>
                </a:solidFill>
                <a:latin typeface="Material Icons"/>
                <a:ea typeface="Material Icons"/>
                <a:cs typeface="Material Icons"/>
                <a:sym typeface="Material Icons"/>
              </a:endParaRPr>
            </a:p>
          </p:txBody>
        </p:sp>
        <p:sp>
          <p:nvSpPr>
            <p:cNvPr id="160" name="Google Shape;160;p17"/>
            <p:cNvSpPr txBox="1"/>
            <p:nvPr/>
          </p:nvSpPr>
          <p:spPr>
            <a:xfrm>
              <a:off x="2705100" y="7715250"/>
              <a:ext cx="13335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A0915"/>
                  </a:solidFill>
                  <a:latin typeface="Inter"/>
                  <a:ea typeface="Inter"/>
                  <a:cs typeface="Inter"/>
                  <a:sym typeface="Inter"/>
                </a:rPr>
                <a:t>Valor del tiempo de campo</a:t>
              </a:r>
              <a:endParaRPr b="1" sz="1800">
                <a:solidFill>
                  <a:srgbClr val="0A0915"/>
                </a:solidFill>
                <a:latin typeface="Inter"/>
                <a:ea typeface="Inter"/>
                <a:cs typeface="Inter"/>
                <a:sym typeface="Inter"/>
              </a:endParaRPr>
            </a:p>
            <a:p>
              <a:pPr indent="0" lvl="0" marL="0" rtl="0" algn="l">
                <a:spcBef>
                  <a:spcPts val="0"/>
                </a:spcBef>
                <a:spcAft>
                  <a:spcPts val="0"/>
                </a:spcAft>
                <a:buNone/>
              </a:pPr>
              <a:r>
                <a:rPr b="0" lang="en-US" sz="1400">
                  <a:solidFill>
                    <a:srgbClr val="64748B"/>
                  </a:solidFill>
                  <a:latin typeface="Inter"/>
                  <a:ea typeface="Inter"/>
                  <a:cs typeface="Inter"/>
                  <a:sym typeface="Inter"/>
                </a:rPr>
                <a:t>La realidad operativa supera cualquier manual o directiva teórica.</a:t>
              </a:r>
              <a:endParaRPr b="0" sz="1400">
                <a:solidFill>
                  <a:srgbClr val="64748B"/>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18"/>
          <p:cNvPicPr preferRelativeResize="0"/>
          <p:nvPr/>
        </p:nvPicPr>
        <p:blipFill rotWithShape="1">
          <a:blip r:embed="rId3">
            <a:alphaModFix/>
          </a:blip>
          <a:srcRect b="0" l="0" r="0" t="0"/>
          <a:stretch/>
        </p:blipFill>
        <p:spPr>
          <a:xfrm>
            <a:off x="0" y="228600"/>
            <a:ext cx="9144000" cy="4914900"/>
          </a:xfrm>
          <a:prstGeom prst="rect">
            <a:avLst/>
          </a:prstGeom>
          <a:noFill/>
          <a:ln>
            <a:noFill/>
          </a:ln>
        </p:spPr>
      </p:pic>
      <p:sp>
        <p:nvSpPr>
          <p:cNvPr id="167" name="Google Shape;167;p18"/>
          <p:cNvSpPr/>
          <p:nvPr/>
        </p:nvSpPr>
        <p:spPr>
          <a:xfrm>
            <a:off x="0" y="0"/>
            <a:ext cx="18288000" cy="228600"/>
          </a:xfrm>
          <a:prstGeom prst="rect">
            <a:avLst/>
          </a:prstGeom>
          <a:solidFill>
            <a:srgbClr val="EA580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8"/>
          <p:cNvSpPr txBox="1"/>
          <p:nvPr/>
        </p:nvSpPr>
        <p:spPr>
          <a:xfrm>
            <a:off x="1371600" y="952500"/>
            <a:ext cx="15544800" cy="8619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1" lang="en-US" sz="5600">
                <a:solidFill>
                  <a:srgbClr val="0A0915"/>
                </a:solidFill>
                <a:latin typeface="Inter"/>
                <a:ea typeface="Inter"/>
                <a:cs typeface="Inter"/>
                <a:sym typeface="Inter"/>
              </a:rPr>
              <a:t>Modelar sin validar vs. Iterar de a pedazos</a:t>
            </a:r>
            <a:endParaRPr b="1" sz="5600">
              <a:solidFill>
                <a:srgbClr val="0A0915"/>
              </a:solidFill>
              <a:latin typeface="Inter"/>
              <a:ea typeface="Inter"/>
              <a:cs typeface="Inter"/>
              <a:sym typeface="Inter"/>
            </a:endParaRPr>
          </a:p>
        </p:txBody>
      </p:sp>
      <p:sp>
        <p:nvSpPr>
          <p:cNvPr id="169" name="Google Shape;169;p18"/>
          <p:cNvSpPr/>
          <p:nvPr/>
        </p:nvSpPr>
        <p:spPr>
          <a:xfrm>
            <a:off x="1371600" y="2857500"/>
            <a:ext cx="7429500" cy="4762500"/>
          </a:xfrm>
          <a:prstGeom prst="roundRect">
            <a:avLst>
              <a:gd fmla="val 8000" name="adj"/>
            </a:avLst>
          </a:prstGeom>
          <a:solidFill>
            <a:srgbClr val="F8F9FA"/>
          </a:solidFill>
          <a:ln cap="flat" cmpd="sng" w="19050">
            <a:solidFill>
              <a:srgbClr val="E2E8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0" name="Google Shape;170;p18"/>
          <p:cNvGrpSpPr/>
          <p:nvPr/>
        </p:nvGrpSpPr>
        <p:grpSpPr>
          <a:xfrm>
            <a:off x="1657350" y="3143250"/>
            <a:ext cx="762000" cy="762000"/>
            <a:chOff x="1657350" y="3143250"/>
            <a:chExt cx="762000" cy="762000"/>
          </a:xfrm>
        </p:grpSpPr>
        <p:sp>
          <p:nvSpPr>
            <p:cNvPr id="171" name="Google Shape;171;p18"/>
            <p:cNvSpPr/>
            <p:nvPr/>
          </p:nvSpPr>
          <p:spPr>
            <a:xfrm>
              <a:off x="1657350" y="3143250"/>
              <a:ext cx="762000" cy="762000"/>
            </a:xfrm>
            <a:prstGeom prst="ellipse">
              <a:avLst/>
            </a:prstGeom>
            <a:solidFill>
              <a:srgbClr val="DC2626">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8"/>
            <p:cNvSpPr txBox="1"/>
            <p:nvPr/>
          </p:nvSpPr>
          <p:spPr>
            <a:xfrm>
              <a:off x="1752600" y="32910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DC2626"/>
                  </a:solidFill>
                  <a:latin typeface="Material Icons"/>
                  <a:ea typeface="Material Icons"/>
                  <a:cs typeface="Material Icons"/>
                  <a:sym typeface="Material Icons"/>
                </a:rPr>
                <a:t></a:t>
              </a:r>
              <a:endParaRPr sz="3600">
                <a:solidFill>
                  <a:srgbClr val="DC2626"/>
                </a:solidFill>
                <a:latin typeface="Material Icons"/>
                <a:ea typeface="Material Icons"/>
                <a:cs typeface="Material Icons"/>
                <a:sym typeface="Material Icons"/>
              </a:endParaRPr>
            </a:p>
          </p:txBody>
        </p:sp>
      </p:grpSp>
      <p:sp>
        <p:nvSpPr>
          <p:cNvPr id="173" name="Google Shape;173;p18"/>
          <p:cNvSpPr txBox="1"/>
          <p:nvPr/>
        </p:nvSpPr>
        <p:spPr>
          <a:xfrm>
            <a:off x="1847850" y="4191000"/>
            <a:ext cx="6477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400">
                <a:solidFill>
                  <a:srgbClr val="EA580C"/>
                </a:solidFill>
                <a:latin typeface="Inter"/>
                <a:ea typeface="Inter"/>
                <a:cs typeface="Inter"/>
                <a:sym typeface="Inter"/>
              </a:rPr>
              <a:t>Modelar todo y mostrar al final</a:t>
            </a:r>
            <a:endParaRPr b="1" sz="2400">
              <a:solidFill>
                <a:srgbClr val="EA580C"/>
              </a:solidFill>
              <a:latin typeface="Inter"/>
              <a:ea typeface="Inter"/>
              <a:cs typeface="Inter"/>
              <a:sym typeface="Inter"/>
            </a:endParaRPr>
          </a:p>
        </p:txBody>
      </p:sp>
      <p:sp>
        <p:nvSpPr>
          <p:cNvPr id="174" name="Google Shape;174;p18"/>
          <p:cNvSpPr txBox="1"/>
          <p:nvPr/>
        </p:nvSpPr>
        <p:spPr>
          <a:xfrm>
            <a:off x="1847850" y="4953000"/>
            <a:ext cx="6477000" cy="1160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200">
                <a:solidFill>
                  <a:srgbClr val="475569"/>
                </a:solidFill>
                <a:latin typeface="Inter"/>
                <a:ea typeface="Inter"/>
                <a:cs typeface="Inter"/>
                <a:sym typeface="Inter"/>
              </a:rPr>
              <a:t>Cuando el área lo ve, media docena de cosas no funcionan como hacen ellos.</a:t>
            </a:r>
            <a:endParaRPr b="0" sz="2200">
              <a:solidFill>
                <a:srgbClr val="475569"/>
              </a:solidFill>
              <a:latin typeface="Inter"/>
              <a:ea typeface="Inter"/>
              <a:cs typeface="Inter"/>
              <a:sym typeface="Inter"/>
            </a:endParaRPr>
          </a:p>
          <a:p>
            <a:pPr indent="0" lvl="0" marL="0" rtl="0" algn="l">
              <a:spcBef>
                <a:spcPts val="1125"/>
              </a:spcBef>
              <a:spcAft>
                <a:spcPts val="0"/>
              </a:spcAft>
              <a:buNone/>
            </a:pPr>
            <a:r>
              <a:rPr b="1" lang="en-US" sz="2200">
                <a:solidFill>
                  <a:srgbClr val="0A0915"/>
                </a:solidFill>
                <a:latin typeface="Inter"/>
                <a:ea typeface="Inter"/>
                <a:cs typeface="Inter"/>
                <a:sym typeface="Inter"/>
              </a:rPr>
              <a:t>Rehaces una semana de trabajo.</a:t>
            </a:r>
            <a:endParaRPr b="1" sz="2200">
              <a:solidFill>
                <a:srgbClr val="0A0915"/>
              </a:solidFill>
              <a:latin typeface="Inter"/>
              <a:ea typeface="Inter"/>
              <a:cs typeface="Inter"/>
              <a:sym typeface="Inter"/>
            </a:endParaRPr>
          </a:p>
        </p:txBody>
      </p:sp>
      <p:sp>
        <p:nvSpPr>
          <p:cNvPr id="175" name="Google Shape;175;p18"/>
          <p:cNvSpPr/>
          <p:nvPr/>
        </p:nvSpPr>
        <p:spPr>
          <a:xfrm>
            <a:off x="9486900" y="2857500"/>
            <a:ext cx="7429500" cy="4762500"/>
          </a:xfrm>
          <a:prstGeom prst="roundRect">
            <a:avLst>
              <a:gd fmla="val 8000" name="adj"/>
            </a:avLst>
          </a:prstGeom>
          <a:solidFill>
            <a:srgbClr val="FFF7ED"/>
          </a:solidFill>
          <a:ln cap="flat" cmpd="sng" w="19050">
            <a:solidFill>
              <a:srgbClr val="EA580C"/>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76" name="Google Shape;176;p18"/>
          <p:cNvGrpSpPr/>
          <p:nvPr/>
        </p:nvGrpSpPr>
        <p:grpSpPr>
          <a:xfrm>
            <a:off x="9772650" y="3143250"/>
            <a:ext cx="762000" cy="762000"/>
            <a:chOff x="9772650" y="3143250"/>
            <a:chExt cx="762000" cy="762000"/>
          </a:xfrm>
        </p:grpSpPr>
        <p:sp>
          <p:nvSpPr>
            <p:cNvPr id="177" name="Google Shape;177;p18"/>
            <p:cNvSpPr/>
            <p:nvPr/>
          </p:nvSpPr>
          <p:spPr>
            <a:xfrm>
              <a:off x="9772650" y="3143250"/>
              <a:ext cx="762000" cy="762000"/>
            </a:xfrm>
            <a:prstGeom prst="ellipse">
              <a:avLst/>
            </a:prstGeom>
            <a:solidFill>
              <a:srgbClr val="EA580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8" name="Google Shape;178;p18"/>
            <p:cNvSpPr txBox="1"/>
            <p:nvPr/>
          </p:nvSpPr>
          <p:spPr>
            <a:xfrm>
              <a:off x="9867900" y="329107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EA580C"/>
                  </a:solidFill>
                  <a:latin typeface="Material Icons"/>
                  <a:ea typeface="Material Icons"/>
                  <a:cs typeface="Material Icons"/>
                  <a:sym typeface="Material Icons"/>
                </a:rPr>
                <a:t></a:t>
              </a:r>
              <a:endParaRPr sz="3600">
                <a:solidFill>
                  <a:srgbClr val="EA580C"/>
                </a:solidFill>
                <a:latin typeface="Material Icons"/>
                <a:ea typeface="Material Icons"/>
                <a:cs typeface="Material Icons"/>
                <a:sym typeface="Material Icons"/>
              </a:endParaRPr>
            </a:p>
          </p:txBody>
        </p:sp>
      </p:grpSp>
      <p:sp>
        <p:nvSpPr>
          <p:cNvPr id="179" name="Google Shape;179;p18"/>
          <p:cNvSpPr txBox="1"/>
          <p:nvPr/>
        </p:nvSpPr>
        <p:spPr>
          <a:xfrm>
            <a:off x="9963150" y="4191000"/>
            <a:ext cx="6477000" cy="369300"/>
          </a:xfrm>
          <a:prstGeom prst="rect">
            <a:avLst/>
          </a:prstGeom>
          <a:solidFill>
            <a:srgbClr val="000000">
              <a:alpha val="0"/>
            </a:srgbClr>
          </a:solidFill>
          <a:ln>
            <a:noFill/>
          </a:ln>
        </p:spPr>
        <p:txBody>
          <a:bodyPr anchorCtr="0" anchor="ctr" bIns="0" lIns="0" spcFirstLastPara="1" rIns="0" wrap="square" tIns="0">
            <a:spAutoFit/>
          </a:bodyPr>
          <a:lstStyle/>
          <a:p>
            <a:pPr indent="0" lvl="0" marL="0" rtl="0" algn="l">
              <a:spcBef>
                <a:spcPts val="0"/>
              </a:spcBef>
              <a:spcAft>
                <a:spcPts val="0"/>
              </a:spcAft>
              <a:buNone/>
            </a:pPr>
            <a:r>
              <a:rPr b="1" lang="en-US" sz="2400">
                <a:solidFill>
                  <a:srgbClr val="EA580C"/>
                </a:solidFill>
                <a:latin typeface="Inter"/>
                <a:ea typeface="Inter"/>
                <a:cs typeface="Inter"/>
                <a:sym typeface="Inter"/>
              </a:rPr>
              <a:t>Modelar un pedazo, mostrar, ajustar</a:t>
            </a:r>
            <a:endParaRPr b="1" sz="2400">
              <a:solidFill>
                <a:srgbClr val="EA580C"/>
              </a:solidFill>
              <a:latin typeface="Inter"/>
              <a:ea typeface="Inter"/>
              <a:cs typeface="Inter"/>
              <a:sym typeface="Inter"/>
            </a:endParaRPr>
          </a:p>
        </p:txBody>
      </p:sp>
      <p:sp>
        <p:nvSpPr>
          <p:cNvPr id="180" name="Google Shape;180;p18"/>
          <p:cNvSpPr txBox="1"/>
          <p:nvPr/>
        </p:nvSpPr>
        <p:spPr>
          <a:xfrm>
            <a:off x="9963150" y="4953000"/>
            <a:ext cx="6477000" cy="11601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b="0" lang="en-US" sz="2200">
                <a:solidFill>
                  <a:srgbClr val="475569"/>
                </a:solidFill>
                <a:latin typeface="Inter"/>
                <a:ea typeface="Inter"/>
                <a:cs typeface="Inter"/>
                <a:sym typeface="Inter"/>
              </a:rPr>
              <a:t>Pierdes algunas horas de reunión y ahorras varios días de reproceso.</a:t>
            </a:r>
            <a:endParaRPr b="0" sz="2200">
              <a:solidFill>
                <a:srgbClr val="475569"/>
              </a:solidFill>
              <a:latin typeface="Inter"/>
              <a:ea typeface="Inter"/>
              <a:cs typeface="Inter"/>
              <a:sym typeface="Inter"/>
            </a:endParaRPr>
          </a:p>
          <a:p>
            <a:pPr indent="0" lvl="0" marL="0" rtl="0" algn="l">
              <a:spcBef>
                <a:spcPts val="1125"/>
              </a:spcBef>
              <a:spcAft>
                <a:spcPts val="0"/>
              </a:spcAft>
              <a:buNone/>
            </a:pPr>
            <a:r>
              <a:rPr b="1" lang="en-US" sz="2200">
                <a:solidFill>
                  <a:srgbClr val="0A0915"/>
                </a:solidFill>
                <a:latin typeface="Inter"/>
                <a:ea typeface="Inter"/>
                <a:cs typeface="Inter"/>
                <a:sym typeface="Inter"/>
              </a:rPr>
              <a:t>Ganas en agilidad y precisión.</a:t>
            </a:r>
            <a:endParaRPr b="1" sz="2200">
              <a:solidFill>
                <a:srgbClr val="0A0915"/>
              </a:solidFill>
              <a:latin typeface="Inter"/>
              <a:ea typeface="Inter"/>
              <a:cs typeface="Inter"/>
              <a:sym typeface="Inter"/>
            </a:endParaRPr>
          </a:p>
        </p:txBody>
      </p:sp>
      <p:grpSp>
        <p:nvGrpSpPr>
          <p:cNvPr id="181" name="Google Shape;181;p18"/>
          <p:cNvGrpSpPr/>
          <p:nvPr/>
        </p:nvGrpSpPr>
        <p:grpSpPr>
          <a:xfrm>
            <a:off x="1371600" y="8001000"/>
            <a:ext cx="14668500" cy="1143000"/>
            <a:chOff x="1371600" y="8001000"/>
            <a:chExt cx="14668500" cy="1143000"/>
          </a:xfrm>
        </p:grpSpPr>
        <p:sp>
          <p:nvSpPr>
            <p:cNvPr id="182" name="Google Shape;182;p18"/>
            <p:cNvSpPr/>
            <p:nvPr/>
          </p:nvSpPr>
          <p:spPr>
            <a:xfrm>
              <a:off x="1371600" y="8001000"/>
              <a:ext cx="1143000" cy="1143000"/>
            </a:xfrm>
            <a:prstGeom prst="ellipse">
              <a:avLst/>
            </a:prstGeom>
            <a:solidFill>
              <a:srgbClr val="EA580C">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8"/>
            <p:cNvSpPr txBox="1"/>
            <p:nvPr/>
          </p:nvSpPr>
          <p:spPr>
            <a:xfrm>
              <a:off x="1657350" y="8339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US" sz="3600">
                  <a:solidFill>
                    <a:srgbClr val="EA580C"/>
                  </a:solidFill>
                  <a:latin typeface="Material Icons"/>
                  <a:ea typeface="Material Icons"/>
                  <a:cs typeface="Material Icons"/>
                  <a:sym typeface="Material Icons"/>
                </a:rPr>
                <a:t></a:t>
              </a:r>
              <a:endParaRPr sz="3600">
                <a:solidFill>
                  <a:srgbClr val="EA580C"/>
                </a:solidFill>
                <a:latin typeface="Material Icons"/>
                <a:ea typeface="Material Icons"/>
                <a:cs typeface="Material Icons"/>
                <a:sym typeface="Material Icons"/>
              </a:endParaRPr>
            </a:p>
          </p:txBody>
        </p:sp>
        <p:sp>
          <p:nvSpPr>
            <p:cNvPr id="184" name="Google Shape;184;p18"/>
            <p:cNvSpPr txBox="1"/>
            <p:nvPr/>
          </p:nvSpPr>
          <p:spPr>
            <a:xfrm>
              <a:off x="2705100" y="8191500"/>
              <a:ext cx="13335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800">
                  <a:solidFill>
                    <a:srgbClr val="0A0915"/>
                  </a:solidFill>
                  <a:latin typeface="Inter"/>
                  <a:ea typeface="Inter"/>
                  <a:cs typeface="Inter"/>
                  <a:sym typeface="Inter"/>
                </a:rPr>
                <a:t>Eficiencia Operativa</a:t>
              </a:r>
              <a:endParaRPr b="1" sz="1800">
                <a:solidFill>
                  <a:srgbClr val="0A0915"/>
                </a:solidFill>
                <a:latin typeface="Inter"/>
                <a:ea typeface="Inter"/>
                <a:cs typeface="Inter"/>
                <a:sym typeface="Inter"/>
              </a:endParaRPr>
            </a:p>
            <a:p>
              <a:pPr indent="0" lvl="0" marL="0" rtl="0" algn="l">
                <a:spcBef>
                  <a:spcPts val="0"/>
                </a:spcBef>
                <a:spcAft>
                  <a:spcPts val="0"/>
                </a:spcAft>
                <a:buNone/>
              </a:pPr>
              <a:r>
                <a:rPr b="0" lang="en-US" sz="1400">
                  <a:solidFill>
                    <a:srgbClr val="64748B"/>
                  </a:solidFill>
                  <a:latin typeface="Inter"/>
                  <a:ea typeface="Inter"/>
                  <a:cs typeface="Inter"/>
                  <a:sym typeface="Inter"/>
                </a:rPr>
                <a:t>Iterar reduce drásticamente el riesgo de rechazo y optimiza el uso de recursos técnicos y funcionales.</a:t>
              </a:r>
              <a:endParaRPr b="0" sz="1400">
                <a:solidFill>
                  <a:srgbClr val="64748B"/>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9"/>
          <p:cNvSpPr/>
          <p:nvPr/>
        </p:nvSpPr>
        <p:spPr>
          <a:xfrm>
            <a:off x="0" y="0"/>
            <a:ext cx="18288000" cy="10287000"/>
          </a:xfrm>
          <a:prstGeom prst="rect">
            <a:avLst/>
          </a:prstGeom>
          <a:solidFill>
            <a:srgbClr val="EA580C"/>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91" name="Google Shape;191;p19"/>
          <p:cNvSpPr txBox="1"/>
          <p:nvPr/>
        </p:nvSpPr>
        <p:spPr>
          <a:xfrm>
            <a:off x="1371600" y="3200400"/>
            <a:ext cx="15544800" cy="137160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4200" u="none" cap="none" strike="noStrike">
                <a:solidFill>
                  <a:srgbClr val="FFFFFF"/>
                </a:solidFill>
                <a:latin typeface="Inter"/>
                <a:ea typeface="Inter"/>
                <a:cs typeface="Inter"/>
                <a:sym typeface="Inter"/>
              </a:rPr>
              <a:t>Si terminas Fase C y el gobierno depende de ti</a:t>
            </a:r>
            <a:endParaRPr/>
          </a:p>
        </p:txBody>
      </p:sp>
      <p:sp>
        <p:nvSpPr>
          <p:cNvPr id="192" name="Google Shape;192;p19"/>
          <p:cNvSpPr txBox="1"/>
          <p:nvPr/>
        </p:nvSpPr>
        <p:spPr>
          <a:xfrm>
            <a:off x="1371600" y="4754880"/>
            <a:ext cx="15544800" cy="2286000"/>
          </a:xfrm>
          <a:prstGeom prst="rect">
            <a:avLst/>
          </a:prstGeom>
          <a:noFill/>
          <a:ln>
            <a:noFill/>
          </a:ln>
        </p:spPr>
        <p:txBody>
          <a:bodyPr anchorCtr="0" anchor="t" bIns="0" lIns="0" spcFirstLastPara="1" rIns="0" wrap="square" tIns="0">
            <a:spAutoFit/>
          </a:bodyPr>
          <a:lstStyle/>
          <a:p>
            <a:pPr indent="0" lvl="0" marL="0" marR="0" rtl="0" algn="ctr">
              <a:lnSpc>
                <a:spcPct val="110000"/>
              </a:lnSpc>
              <a:spcBef>
                <a:spcPts val="0"/>
              </a:spcBef>
              <a:spcAft>
                <a:spcPts val="0"/>
              </a:spcAft>
              <a:buNone/>
            </a:pPr>
            <a:r>
              <a:rPr b="1" i="0" lang="en-US" sz="7800" u="none" cap="none" strike="noStrike">
                <a:solidFill>
                  <a:srgbClr val="FFFFFF"/>
                </a:solidFill>
                <a:latin typeface="Inter"/>
                <a:ea typeface="Inter"/>
                <a:cs typeface="Inter"/>
                <a:sym typeface="Inter"/>
              </a:rPr>
              <a:t>para tocar un tramite,</a:t>
            </a:r>
            <a:endParaRPr/>
          </a:p>
        </p:txBody>
      </p:sp>
      <p:sp>
        <p:nvSpPr>
          <p:cNvPr id="193" name="Google Shape;193;p19"/>
          <p:cNvSpPr txBox="1"/>
          <p:nvPr/>
        </p:nvSpPr>
        <p:spPr>
          <a:xfrm>
            <a:off x="1371600" y="7315200"/>
            <a:ext cx="15544800" cy="1097280"/>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None/>
            </a:pPr>
            <a:r>
              <a:rPr b="0" i="0" lang="en-US" sz="3000" u="none" cap="none" strike="noStrike">
                <a:solidFill>
                  <a:srgbClr val="FFFFFF"/>
                </a:solidFill>
                <a:latin typeface="Inter"/>
                <a:ea typeface="Inter"/>
                <a:cs typeface="Inter"/>
                <a:sym typeface="Inter"/>
              </a:rPr>
              <a:t>no terminaste tu trabajo. Lo postergaste.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