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15.6s · 39 palabras]</a:t>
            </a:r>
          </a:p>
          <a:p/>
          <a:p>
            <a:r>
              <a:t>El error mas caro que puedes cometer en Fase C es modelar tu solo y entregar el tramite terminado. Funciona la primera vez. Despues el gobierno te necesita para cada cambio, y tu salida del proyecto se vuelve imposible.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20.0s · 50 palabras]</a:t>
            </a:r>
          </a:p>
          <a:p/>
          <a:p>
            <a:r>
              <a:t>La regla es simple. Modelas junto con el equipo del gobierno, no para ellos. El partner ensena, el gobierno ejecuta. Tu trabajo es guiar a la persona que va a quedar a cargo, mostrarle como se configura cada parte y por que se decide de una forma o de otra.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20.4s · 51 palabras]</a:t>
            </a:r>
          </a:p>
          <a:p/>
          <a:p>
            <a:r>
              <a:t>Esto cambia la dinamica de las reuniones. En vez de presentarles un tramite ya modelado, te sientas con quien va a operarlo y configuran juntos. Esa persona, normalmente un especialista funcional del lado del gobierno, deberia terminar Fase C pudiendo modelar un tramite nuevo sin que tu estes en la sala.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26.0s · 65 palabras]</a:t>
            </a:r>
          </a:p>
          <a:p/>
          <a:p>
            <a:r>
              <a:t>Hay una decision que aparece seguido. Que haces cuando el area duena rechaza el modelado. La respuesta del manual es clara. Pides una reunion con el operador real, no con su jefe. El jefe te dice como le gustaria que fuera el tramite. El operador te dice como se hace de verdad, con todas las excepciones, atajos y pasos que el manual oficial no documenta.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5.6s · 14 palabras]</a:t>
            </a:r>
          </a:p>
          <a:p/>
          <a:p>
            <a:r>
              <a:t>Treinta minutos con el operador real valen mas que tres reuniones con la jefatura.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30.0s · 75 palabras]</a:t>
            </a:r>
          </a:p>
          <a:p/>
          <a:p>
            <a:r>
              <a:t>La otra trampa habitual es modelar sin validar. Modelas el tramite completo, lo dejas listo y recien ahi lo mostras. Cuando el area duena ve el resultado, descubres que media docena de cosas no funcionan como hacen ellos. Tienes que rehacer trabajo de una semana. La alternativa cuesta menos. Modelas un pedazo, lo muestras, lo ajustas. Modelas el siguiente pedazo, lo muestras, lo ajustas. Pierdes algunas horas de reunion y ahorras varios dias de reproceso.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8.0s · 20 palabras]</a:t>
            </a:r>
          </a:p>
          <a:p/>
          <a:p>
            <a:r>
              <a:t>Si terminas Fase C y el gobierno depende de ti para tocar un tramite, no terminaste tu trabajo. Lo postergaste.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228600"/>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3200400"/>
            <a:ext cx="15544800" cy="548640"/>
          </a:xfrm>
          <a:prstGeom prst="rect">
            <a:avLst/>
          </a:prstGeom>
          <a:noFill/>
        </p:spPr>
        <p:txBody>
          <a:bodyPr wrap="square" anchor="t" lIns="0" rIns="0" tIns="0" bIns="0">
            <a:spAutoFit/>
          </a:bodyPr>
          <a:lstStyle/>
          <a:p>
            <a:pPr algn="l">
              <a:lnSpc>
                <a:spcPct val="115000"/>
              </a:lnSpc>
            </a:pPr>
            <a:r>
              <a:rPr sz="1800" b="1" i="0">
                <a:solidFill>
                  <a:srgbClr val="EA580C"/>
                </a:solidFill>
                <a:latin typeface="Figtree"/>
              </a:rPr>
              <a:t>FASE C</a:t>
            </a:r>
          </a:p>
        </p:txBody>
      </p:sp>
      <p:sp>
        <p:nvSpPr>
          <p:cNvPr id="4" name="TextBox 3"/>
          <p:cNvSpPr txBox="1"/>
          <p:nvPr/>
        </p:nvSpPr>
        <p:spPr>
          <a:xfrm>
            <a:off x="1371600" y="3840480"/>
            <a:ext cx="15544800" cy="3657600"/>
          </a:xfrm>
          <a:prstGeom prst="rect">
            <a:avLst/>
          </a:prstGeom>
          <a:noFill/>
        </p:spPr>
        <p:txBody>
          <a:bodyPr wrap="square" anchor="t" lIns="0" rIns="0" tIns="0" bIns="0">
            <a:spAutoFit/>
          </a:bodyPr>
          <a:lstStyle/>
          <a:p>
            <a:pPr algn="l">
              <a:lnSpc>
                <a:spcPct val="110000"/>
              </a:lnSpc>
            </a:pPr>
            <a:r>
              <a:rPr sz="8000" b="1" i="0">
                <a:solidFill>
                  <a:srgbClr val="0A0915"/>
                </a:solidFill>
                <a:latin typeface="Plus Jakarta Sans"/>
              </a:rPr>
              <a:t>Modelar con el gobierno,</a:t>
            </a:r>
          </a:p>
          <a:p>
            <a:pPr algn="l">
              <a:lnSpc>
                <a:spcPct val="110000"/>
              </a:lnSpc>
            </a:pPr>
            <a:r>
              <a:rPr sz="8000" b="1" i="0">
                <a:solidFill>
                  <a:srgbClr val="0A0915"/>
                </a:solidFill>
                <a:latin typeface="Plus Jakarta Sans"/>
              </a:rPr>
              <a:t>no por ellos.</a:t>
            </a:r>
          </a:p>
        </p:txBody>
      </p:sp>
      <p:sp>
        <p:nvSpPr>
          <p:cNvPr id="5" name="TextBox 4"/>
          <p:cNvSpPr txBox="1"/>
          <p:nvPr/>
        </p:nvSpPr>
        <p:spPr>
          <a:xfrm>
            <a:off x="1371600" y="7772400"/>
            <a:ext cx="15544800" cy="1371600"/>
          </a:xfrm>
          <a:prstGeom prst="rect">
            <a:avLst/>
          </a:prstGeom>
          <a:noFill/>
        </p:spPr>
        <p:txBody>
          <a:bodyPr wrap="square" anchor="t" lIns="0" rIns="0" tIns="0" bIns="0">
            <a:spAutoFit/>
          </a:bodyPr>
          <a:lstStyle/>
          <a:p>
            <a:pPr algn="l">
              <a:lnSpc>
                <a:spcPct val="130000"/>
              </a:lnSpc>
            </a:pPr>
            <a:r>
              <a:rPr sz="2200" b="0" i="0">
                <a:solidFill>
                  <a:srgbClr val="888888"/>
                </a:solidFill>
                <a:latin typeface="Figtree"/>
              </a:rPr>
              <a:t>Funciona la primera vez. Despues tu salida del proyecto se vuelve imposible.</a:t>
            </a:r>
          </a:p>
        </p:txBody>
      </p:sp>
      <p:sp>
        <p:nvSpPr>
          <p:cNvPr id="6" name="TextBox 5"/>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2286000"/>
            <a:ext cx="15544800" cy="548640"/>
          </a:xfrm>
          <a:prstGeom prst="rect">
            <a:avLst/>
          </a:prstGeom>
          <a:noFill/>
        </p:spPr>
        <p:txBody>
          <a:bodyPr wrap="square" anchor="t" lIns="0" rIns="0" tIns="0" bIns="0">
            <a:spAutoFit/>
          </a:bodyPr>
          <a:lstStyle/>
          <a:p>
            <a:pPr algn="ctr">
              <a:lnSpc>
                <a:spcPct val="115000"/>
              </a:lnSpc>
            </a:pPr>
            <a:r>
              <a:rPr sz="2000" b="1" i="0">
                <a:solidFill>
                  <a:srgbClr val="EA580C"/>
                </a:solidFill>
                <a:latin typeface="Figtree"/>
              </a:rPr>
              <a:t>La regla</a:t>
            </a:r>
          </a:p>
        </p:txBody>
      </p:sp>
      <p:sp>
        <p:nvSpPr>
          <p:cNvPr id="3" name="TextBox 2"/>
          <p:cNvSpPr txBox="1"/>
          <p:nvPr/>
        </p:nvSpPr>
        <p:spPr>
          <a:xfrm>
            <a:off x="1371600" y="3200400"/>
            <a:ext cx="15544800" cy="2743200"/>
          </a:xfrm>
          <a:prstGeom prst="rect">
            <a:avLst/>
          </a:prstGeom>
          <a:noFill/>
        </p:spPr>
        <p:txBody>
          <a:bodyPr wrap="square" anchor="t" lIns="0" rIns="0" tIns="0" bIns="0">
            <a:spAutoFit/>
          </a:bodyPr>
          <a:lstStyle/>
          <a:p>
            <a:pPr algn="ctr">
              <a:lnSpc>
                <a:spcPct val="115000"/>
              </a:lnSpc>
            </a:pPr>
            <a:r>
              <a:rPr sz="5600" b="1" i="0">
                <a:solidFill>
                  <a:srgbClr val="0A0915"/>
                </a:solidFill>
                <a:latin typeface="Plus Jakarta Sans"/>
              </a:rPr>
              <a:t>El partner ensena, el gobierno ejecuta.</a:t>
            </a:r>
          </a:p>
        </p:txBody>
      </p:sp>
      <p:sp>
        <p:nvSpPr>
          <p:cNvPr id="4" name="TextBox 3"/>
          <p:cNvSpPr txBox="1"/>
          <p:nvPr/>
        </p:nvSpPr>
        <p:spPr>
          <a:xfrm>
            <a:off x="1828800" y="6858000"/>
            <a:ext cx="14630400" cy="2286000"/>
          </a:xfrm>
          <a:prstGeom prst="rect">
            <a:avLst/>
          </a:prstGeom>
          <a:noFill/>
        </p:spPr>
        <p:txBody>
          <a:bodyPr wrap="square" anchor="t" lIns="0" rIns="0" tIns="0" bIns="0">
            <a:spAutoFit/>
          </a:bodyPr>
          <a:lstStyle/>
          <a:p>
            <a:pPr algn="ctr">
              <a:lnSpc>
                <a:spcPct val="140000"/>
              </a:lnSpc>
            </a:pPr>
            <a:r>
              <a:rPr sz="2400" b="0" i="0">
                <a:solidFill>
                  <a:srgbClr val="0A0915"/>
                </a:solidFill>
                <a:latin typeface="Figtree"/>
              </a:rPr>
              <a:t>Modelas junto con el equipo del gobierno, no para ellos. Tu trabajo es guiar a la persona que va a quedar a cargo, mostrarle como se configura cada parte y por que se decide de una forma o de otra.</a:t>
            </a:r>
          </a:p>
        </p:txBody>
      </p:sp>
      <p:sp>
        <p:nvSpPr>
          <p:cNvPr id="5" name="TextBox 4"/>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2286000"/>
            <a:ext cx="15544800" cy="548640"/>
          </a:xfrm>
          <a:prstGeom prst="rect">
            <a:avLst/>
          </a:prstGeom>
          <a:noFill/>
        </p:spPr>
        <p:txBody>
          <a:bodyPr wrap="square" anchor="t" lIns="0" rIns="0" tIns="0" bIns="0">
            <a:spAutoFit/>
          </a:bodyPr>
          <a:lstStyle/>
          <a:p>
            <a:pPr algn="ctr">
              <a:lnSpc>
                <a:spcPct val="115000"/>
              </a:lnSpc>
            </a:pPr>
            <a:r>
              <a:rPr sz="2000" b="1" i="0">
                <a:solidFill>
                  <a:srgbClr val="EA580C"/>
                </a:solidFill>
                <a:latin typeface="Figtree"/>
              </a:rPr>
              <a:t>Lo que cambia</a:t>
            </a:r>
          </a:p>
        </p:txBody>
      </p:sp>
      <p:sp>
        <p:nvSpPr>
          <p:cNvPr id="3" name="TextBox 2"/>
          <p:cNvSpPr txBox="1"/>
          <p:nvPr/>
        </p:nvSpPr>
        <p:spPr>
          <a:xfrm>
            <a:off x="1371600" y="3200400"/>
            <a:ext cx="15544800" cy="2743200"/>
          </a:xfrm>
          <a:prstGeom prst="rect">
            <a:avLst/>
          </a:prstGeom>
          <a:noFill/>
        </p:spPr>
        <p:txBody>
          <a:bodyPr wrap="square" anchor="t" lIns="0" rIns="0" tIns="0" bIns="0">
            <a:spAutoFit/>
          </a:bodyPr>
          <a:lstStyle/>
          <a:p>
            <a:pPr algn="ctr">
              <a:lnSpc>
                <a:spcPct val="115000"/>
              </a:lnSpc>
            </a:pPr>
            <a:r>
              <a:rPr sz="5600" b="1" i="0">
                <a:solidFill>
                  <a:srgbClr val="0A0915"/>
                </a:solidFill>
                <a:latin typeface="Plus Jakarta Sans"/>
              </a:rPr>
              <a:t>Te sientas con quien va a operarlo y configuran juntos.</a:t>
            </a:r>
          </a:p>
        </p:txBody>
      </p:sp>
      <p:sp>
        <p:nvSpPr>
          <p:cNvPr id="4" name="TextBox 3"/>
          <p:cNvSpPr txBox="1"/>
          <p:nvPr/>
        </p:nvSpPr>
        <p:spPr>
          <a:xfrm>
            <a:off x="1828800" y="6858000"/>
            <a:ext cx="14630400" cy="2286000"/>
          </a:xfrm>
          <a:prstGeom prst="rect">
            <a:avLst/>
          </a:prstGeom>
          <a:noFill/>
        </p:spPr>
        <p:txBody>
          <a:bodyPr wrap="square" anchor="t" lIns="0" rIns="0" tIns="0" bIns="0">
            <a:spAutoFit/>
          </a:bodyPr>
          <a:lstStyle/>
          <a:p>
            <a:pPr algn="ctr">
              <a:lnSpc>
                <a:spcPct val="140000"/>
              </a:lnSpc>
            </a:pPr>
            <a:r>
              <a:rPr sz="2400" b="0" i="0">
                <a:solidFill>
                  <a:srgbClr val="0A0915"/>
                </a:solidFill>
                <a:latin typeface="Figtree"/>
              </a:rPr>
              <a:t>Esa persona, normalmente un especialista funcional del lado del gobierno, deberia terminar Fase C pudiendo modelar un tramite nuevo sin que tu estes en la sala.</a:t>
            </a:r>
          </a:p>
        </p:txBody>
      </p:sp>
      <p:sp>
        <p:nvSpPr>
          <p:cNvPr id="5" name="TextBox 4"/>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1371600"/>
            <a:ext cx="15544800" cy="2286000"/>
          </a:xfrm>
          <a:prstGeom prst="rect">
            <a:avLst/>
          </a:prstGeom>
          <a:noFill/>
        </p:spPr>
        <p:txBody>
          <a:bodyPr wrap="square" anchor="t" lIns="0" rIns="0" tIns="0" bIns="0">
            <a:spAutoFit/>
          </a:bodyPr>
          <a:lstStyle/>
          <a:p>
            <a:pPr algn="ctr">
              <a:lnSpc>
                <a:spcPct val="110000"/>
              </a:lnSpc>
            </a:pPr>
            <a:r>
              <a:rPr sz="4600" b="1" i="0">
                <a:solidFill>
                  <a:srgbClr val="0A0915"/>
                </a:solidFill>
                <a:latin typeface="Plus Jakarta Sans"/>
              </a:rPr>
              <a:t>Si el area duena rechaza el modelado,</a:t>
            </a:r>
          </a:p>
          <a:p>
            <a:pPr algn="ctr">
              <a:lnSpc>
                <a:spcPct val="110000"/>
              </a:lnSpc>
            </a:pPr>
            <a:r>
              <a:rPr sz="4600" b="1" i="0">
                <a:solidFill>
                  <a:srgbClr val="0A0915"/>
                </a:solidFill>
                <a:latin typeface="Plus Jakarta Sans"/>
              </a:rPr>
              <a:t>?con quien te sentas?</a:t>
            </a:r>
          </a:p>
        </p:txBody>
      </p:sp>
      <p:sp>
        <p:nvSpPr>
          <p:cNvPr id="3" name="Rounded Rectangle 2"/>
          <p:cNvSpPr/>
          <p:nvPr/>
        </p:nvSpPr>
        <p:spPr>
          <a:xfrm>
            <a:off x="1828800" y="4754880"/>
            <a:ext cx="6400800" cy="4114800"/>
          </a:xfrm>
          <a:prstGeom prst="roundRect">
            <a:avLst/>
          </a:prstGeom>
          <a:solidFill>
            <a:srgbClr val="FEF2F2"/>
          </a:solidFill>
          <a:ln w="12700">
            <a:solidFill>
              <a:srgbClr val="FE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0" y="5120640"/>
            <a:ext cx="914400" cy="1097280"/>
          </a:xfrm>
          <a:prstGeom prst="rect">
            <a:avLst/>
          </a:prstGeom>
          <a:noFill/>
        </p:spPr>
        <p:txBody>
          <a:bodyPr wrap="square" anchor="t" lIns="0" rIns="0" tIns="0" bIns="0">
            <a:spAutoFit/>
          </a:bodyPr>
          <a:lstStyle/>
          <a:p>
            <a:pPr algn="l">
              <a:lnSpc>
                <a:spcPct val="115000"/>
              </a:lnSpc>
            </a:pPr>
            <a:r>
              <a:rPr sz="3600" b="1" i="0">
                <a:solidFill>
                  <a:srgbClr val="DC2626"/>
                </a:solidFill>
                <a:latin typeface="Plus Jakarta Sans"/>
              </a:rPr>
              <a:t>✗</a:t>
            </a:r>
          </a:p>
        </p:txBody>
      </p:sp>
      <p:sp>
        <p:nvSpPr>
          <p:cNvPr id="5" name="TextBox 4"/>
          <p:cNvSpPr txBox="1"/>
          <p:nvPr/>
        </p:nvSpPr>
        <p:spPr>
          <a:xfrm>
            <a:off x="2286000" y="6217920"/>
            <a:ext cx="5486400" cy="1371600"/>
          </a:xfrm>
          <a:prstGeom prst="rect">
            <a:avLst/>
          </a:prstGeom>
          <a:noFill/>
        </p:spPr>
        <p:txBody>
          <a:bodyPr wrap="square" anchor="t" lIns="0" rIns="0" tIns="0" bIns="0">
            <a:spAutoFit/>
          </a:bodyPr>
          <a:lstStyle/>
          <a:p>
            <a:pPr algn="l">
              <a:lnSpc>
                <a:spcPct val="115000"/>
              </a:lnSpc>
            </a:pPr>
            <a:r>
              <a:rPr sz="3000" b="1" i="0">
                <a:solidFill>
                  <a:srgbClr val="0A0915"/>
                </a:solidFill>
                <a:latin typeface="Plus Jakarta Sans"/>
              </a:rPr>
              <a:t>Con el jefe.</a:t>
            </a:r>
          </a:p>
        </p:txBody>
      </p:sp>
      <p:sp>
        <p:nvSpPr>
          <p:cNvPr id="6" name="TextBox 5"/>
          <p:cNvSpPr txBox="1"/>
          <p:nvPr/>
        </p:nvSpPr>
        <p:spPr>
          <a:xfrm>
            <a:off x="2286000" y="7315200"/>
            <a:ext cx="5486400" cy="1371600"/>
          </a:xfrm>
          <a:prstGeom prst="rect">
            <a:avLst/>
          </a:prstGeom>
          <a:noFill/>
        </p:spPr>
        <p:txBody>
          <a:bodyPr wrap="square" anchor="t" lIns="0" rIns="0" tIns="0" bIns="0">
            <a:spAutoFit/>
          </a:bodyPr>
          <a:lstStyle/>
          <a:p>
            <a:pPr algn="l">
              <a:lnSpc>
                <a:spcPct val="140000"/>
              </a:lnSpc>
            </a:pPr>
            <a:r>
              <a:rPr sz="1800" b="0" i="0">
                <a:solidFill>
                  <a:srgbClr val="888888"/>
                </a:solidFill>
                <a:latin typeface="Figtree"/>
              </a:rPr>
              <a:t>Te dice como le gustaria que fuera el tramite.</a:t>
            </a:r>
          </a:p>
        </p:txBody>
      </p:sp>
      <p:sp>
        <p:nvSpPr>
          <p:cNvPr id="7" name="Rounded Rectangle 6"/>
          <p:cNvSpPr/>
          <p:nvPr/>
        </p:nvSpPr>
        <p:spPr>
          <a:xfrm>
            <a:off x="10058400" y="4754880"/>
            <a:ext cx="6400800" cy="4114800"/>
          </a:xfrm>
          <a:prstGeom prst="round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0" y="5120640"/>
            <a:ext cx="914400" cy="1097280"/>
          </a:xfrm>
          <a:prstGeom prst="rect">
            <a:avLst/>
          </a:prstGeom>
          <a:noFill/>
        </p:spPr>
        <p:txBody>
          <a:bodyPr wrap="square" anchor="t" lIns="0" rIns="0" tIns="0" bIns="0">
            <a:spAutoFit/>
          </a:bodyPr>
          <a:lstStyle/>
          <a:p>
            <a:pPr algn="l">
              <a:lnSpc>
                <a:spcPct val="115000"/>
              </a:lnSpc>
            </a:pPr>
            <a:r>
              <a:rPr sz="3600" b="1" i="0">
                <a:solidFill>
                  <a:srgbClr val="10B981"/>
                </a:solidFill>
                <a:latin typeface="Plus Jakarta Sans"/>
              </a:rPr>
              <a:t>✓</a:t>
            </a:r>
          </a:p>
        </p:txBody>
      </p:sp>
      <p:sp>
        <p:nvSpPr>
          <p:cNvPr id="9" name="TextBox 8"/>
          <p:cNvSpPr txBox="1"/>
          <p:nvPr/>
        </p:nvSpPr>
        <p:spPr>
          <a:xfrm>
            <a:off x="10515600" y="6217920"/>
            <a:ext cx="5486400" cy="1371600"/>
          </a:xfrm>
          <a:prstGeom prst="rect">
            <a:avLst/>
          </a:prstGeom>
          <a:noFill/>
        </p:spPr>
        <p:txBody>
          <a:bodyPr wrap="square" anchor="t" lIns="0" rIns="0" tIns="0" bIns="0">
            <a:spAutoFit/>
          </a:bodyPr>
          <a:lstStyle/>
          <a:p>
            <a:pPr algn="l">
              <a:lnSpc>
                <a:spcPct val="115000"/>
              </a:lnSpc>
            </a:pPr>
            <a:r>
              <a:rPr sz="3000" b="1" i="0">
                <a:solidFill>
                  <a:srgbClr val="0A0915"/>
                </a:solidFill>
                <a:latin typeface="Plus Jakarta Sans"/>
              </a:rPr>
              <a:t>Con el operador real.</a:t>
            </a:r>
          </a:p>
        </p:txBody>
      </p:sp>
      <p:sp>
        <p:nvSpPr>
          <p:cNvPr id="10" name="TextBox 9"/>
          <p:cNvSpPr txBox="1"/>
          <p:nvPr/>
        </p:nvSpPr>
        <p:spPr>
          <a:xfrm>
            <a:off x="10515600" y="7315200"/>
            <a:ext cx="5486400" cy="1371600"/>
          </a:xfrm>
          <a:prstGeom prst="rect">
            <a:avLst/>
          </a:prstGeom>
          <a:noFill/>
        </p:spPr>
        <p:txBody>
          <a:bodyPr wrap="square" anchor="t" lIns="0" rIns="0" tIns="0" bIns="0">
            <a:spAutoFit/>
          </a:bodyPr>
          <a:lstStyle/>
          <a:p>
            <a:pPr algn="l">
              <a:lnSpc>
                <a:spcPct val="140000"/>
              </a:lnSpc>
            </a:pPr>
            <a:r>
              <a:rPr sz="1800" b="0" i="0">
                <a:solidFill>
                  <a:srgbClr val="888888"/>
                </a:solidFill>
                <a:latin typeface="Figtree"/>
              </a:rPr>
              <a:t>Te dice como se hace de verdad, con todas las excepciones, atajos y pasos que el manual no documenta.</a:t>
            </a:r>
          </a:p>
        </p:txBody>
      </p:sp>
      <p:sp>
        <p:nvSpPr>
          <p:cNvPr id="11" name="TextBox 10"/>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2286000"/>
            <a:ext cx="15544800" cy="548640"/>
          </a:xfrm>
          <a:prstGeom prst="rect">
            <a:avLst/>
          </a:prstGeom>
          <a:noFill/>
        </p:spPr>
        <p:txBody>
          <a:bodyPr wrap="square" anchor="t" lIns="0" rIns="0" tIns="0" bIns="0">
            <a:spAutoFit/>
          </a:bodyPr>
          <a:lstStyle/>
          <a:p>
            <a:pPr algn="ctr">
              <a:lnSpc>
                <a:spcPct val="115000"/>
              </a:lnSpc>
            </a:pPr>
            <a:r>
              <a:rPr sz="2000" b="1" i="0">
                <a:solidFill>
                  <a:srgbClr val="EA580C"/>
                </a:solidFill>
                <a:latin typeface="Figtree"/>
              </a:rPr>
              <a:t>La cuenta</a:t>
            </a:r>
          </a:p>
        </p:txBody>
      </p:sp>
      <p:sp>
        <p:nvSpPr>
          <p:cNvPr id="3" name="TextBox 2"/>
          <p:cNvSpPr txBox="1"/>
          <p:nvPr/>
        </p:nvSpPr>
        <p:spPr>
          <a:xfrm>
            <a:off x="1371600" y="3200400"/>
            <a:ext cx="15544800" cy="2743200"/>
          </a:xfrm>
          <a:prstGeom prst="rect">
            <a:avLst/>
          </a:prstGeom>
          <a:noFill/>
        </p:spPr>
        <p:txBody>
          <a:bodyPr wrap="square" anchor="t" lIns="0" rIns="0" tIns="0" bIns="0">
            <a:spAutoFit/>
          </a:bodyPr>
          <a:lstStyle/>
          <a:p>
            <a:pPr algn="ctr">
              <a:lnSpc>
                <a:spcPct val="115000"/>
              </a:lnSpc>
            </a:pPr>
            <a:r>
              <a:rPr sz="5600" b="1" i="0">
                <a:solidFill>
                  <a:srgbClr val="0A0915"/>
                </a:solidFill>
                <a:latin typeface="Plus Jakarta Sans"/>
              </a:rPr>
              <a:t>30 minutos con el operador real</a:t>
            </a:r>
          </a:p>
          <a:p>
            <a:pPr algn="ctr">
              <a:lnSpc>
                <a:spcPct val="115000"/>
              </a:lnSpc>
            </a:pPr>
            <a:r>
              <a:rPr sz="5600" b="1" i="0">
                <a:solidFill>
                  <a:srgbClr val="0A0915"/>
                </a:solidFill>
                <a:latin typeface="Plus Jakarta Sans"/>
              </a:rPr>
              <a:t>valen mas que tres reuniones con la jefatura.</a:t>
            </a:r>
          </a:p>
        </p:txBody>
      </p:sp>
      <p:sp>
        <p:nvSpPr>
          <p:cNvPr id="4" name="TextBox 3"/>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1371600"/>
            <a:ext cx="15544800" cy="2286000"/>
          </a:xfrm>
          <a:prstGeom prst="rect">
            <a:avLst/>
          </a:prstGeom>
          <a:noFill/>
        </p:spPr>
        <p:txBody>
          <a:bodyPr wrap="square" anchor="t" lIns="0" rIns="0" tIns="0" bIns="0">
            <a:spAutoFit/>
          </a:bodyPr>
          <a:lstStyle/>
          <a:p>
            <a:pPr algn="ctr">
              <a:lnSpc>
                <a:spcPct val="115000"/>
              </a:lnSpc>
            </a:pPr>
            <a:r>
              <a:rPr sz="4400" b="1" i="0">
                <a:solidFill>
                  <a:srgbClr val="0A0915"/>
                </a:solidFill>
                <a:latin typeface="Plus Jakarta Sans"/>
              </a:rPr>
              <a:t>Modelar sin validar vs. iterar de a pedazos.</a:t>
            </a:r>
          </a:p>
        </p:txBody>
      </p:sp>
      <p:sp>
        <p:nvSpPr>
          <p:cNvPr id="3" name="Rounded Rectangle 2"/>
          <p:cNvSpPr/>
          <p:nvPr/>
        </p:nvSpPr>
        <p:spPr>
          <a:xfrm>
            <a:off x="1828800" y="4572000"/>
            <a:ext cx="6400800" cy="4114800"/>
          </a:xfrm>
          <a:prstGeom prst="round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0" y="5029200"/>
            <a:ext cx="5486400" cy="731520"/>
          </a:xfrm>
          <a:prstGeom prst="rect">
            <a:avLst/>
          </a:prstGeom>
          <a:noFill/>
        </p:spPr>
        <p:txBody>
          <a:bodyPr wrap="square" anchor="t" lIns="0" rIns="0" tIns="0" bIns="0">
            <a:spAutoFit/>
          </a:bodyPr>
          <a:lstStyle/>
          <a:p>
            <a:pPr algn="l">
              <a:lnSpc>
                <a:spcPct val="115000"/>
              </a:lnSpc>
            </a:pPr>
            <a:r>
              <a:rPr sz="1800" b="1" i="0">
                <a:solidFill>
                  <a:srgbClr val="888888"/>
                </a:solidFill>
                <a:latin typeface="Figtree"/>
              </a:rPr>
              <a:t>Modelar todo y mostrar al final</a:t>
            </a:r>
          </a:p>
        </p:txBody>
      </p:sp>
      <p:sp>
        <p:nvSpPr>
          <p:cNvPr id="5" name="TextBox 4"/>
          <p:cNvSpPr txBox="1"/>
          <p:nvPr/>
        </p:nvSpPr>
        <p:spPr>
          <a:xfrm>
            <a:off x="2286000" y="6035040"/>
            <a:ext cx="5486400" cy="2286000"/>
          </a:xfrm>
          <a:prstGeom prst="rect">
            <a:avLst/>
          </a:prstGeom>
          <a:noFill/>
        </p:spPr>
        <p:txBody>
          <a:bodyPr wrap="square" anchor="t" lIns="0" rIns="0" tIns="0" bIns="0">
            <a:spAutoFit/>
          </a:bodyPr>
          <a:lstStyle/>
          <a:p>
            <a:pPr algn="l">
              <a:lnSpc>
                <a:spcPct val="130000"/>
              </a:lnSpc>
            </a:pPr>
            <a:r>
              <a:rPr sz="2800" b="0" i="0">
                <a:solidFill>
                  <a:srgbClr val="0A0915"/>
                </a:solidFill>
                <a:latin typeface="Plus Jakarta Sans"/>
              </a:rPr>
              <a:t>Cuando el area lo ve, media docena de cosas no funcionan como hacen ellos. Rehaces una semana de trabajo.</a:t>
            </a:r>
          </a:p>
        </p:txBody>
      </p:sp>
      <p:sp>
        <p:nvSpPr>
          <p:cNvPr id="6" name="Rounded Rectangle 5"/>
          <p:cNvSpPr/>
          <p:nvPr/>
        </p:nvSpPr>
        <p:spPr>
          <a:xfrm>
            <a:off x="10058400" y="4572000"/>
            <a:ext cx="6400800" cy="4114800"/>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0" y="5029200"/>
            <a:ext cx="5486400" cy="731520"/>
          </a:xfrm>
          <a:prstGeom prst="rect">
            <a:avLst/>
          </a:prstGeom>
          <a:noFill/>
        </p:spPr>
        <p:txBody>
          <a:bodyPr wrap="square" anchor="t" lIns="0" rIns="0" tIns="0" bIns="0">
            <a:spAutoFit/>
          </a:bodyPr>
          <a:lstStyle/>
          <a:p>
            <a:pPr algn="l">
              <a:lnSpc>
                <a:spcPct val="115000"/>
              </a:lnSpc>
            </a:pPr>
            <a:r>
              <a:rPr sz="1800" b="1" i="0">
                <a:solidFill>
                  <a:srgbClr val="FFFFFF"/>
                </a:solidFill>
                <a:latin typeface="Figtree"/>
              </a:rPr>
              <a:t>Modelar un pedazo, mostrar, ajustar</a:t>
            </a:r>
          </a:p>
        </p:txBody>
      </p:sp>
      <p:sp>
        <p:nvSpPr>
          <p:cNvPr id="8" name="TextBox 7"/>
          <p:cNvSpPr txBox="1"/>
          <p:nvPr/>
        </p:nvSpPr>
        <p:spPr>
          <a:xfrm>
            <a:off x="10515600" y="6035040"/>
            <a:ext cx="5486400" cy="2286000"/>
          </a:xfrm>
          <a:prstGeom prst="rect">
            <a:avLst/>
          </a:prstGeom>
          <a:noFill/>
        </p:spPr>
        <p:txBody>
          <a:bodyPr wrap="square" anchor="t" lIns="0" rIns="0" tIns="0" bIns="0">
            <a:spAutoFit/>
          </a:bodyPr>
          <a:lstStyle/>
          <a:p>
            <a:pPr algn="l">
              <a:lnSpc>
                <a:spcPct val="130000"/>
              </a:lnSpc>
            </a:pPr>
            <a:r>
              <a:rPr sz="2800" b="0" i="0">
                <a:solidFill>
                  <a:srgbClr val="FFFFFF"/>
                </a:solidFill>
                <a:latin typeface="Plus Jakarta Sans"/>
              </a:rPr>
              <a:t>Pierdes algunas horas de reunion y ahorras varios dias de reproceso.</a:t>
            </a:r>
          </a:p>
        </p:txBody>
      </p:sp>
      <p:sp>
        <p:nvSpPr>
          <p:cNvPr id="9" name="TextBox 8"/>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3200400"/>
            <a:ext cx="15544800" cy="1371600"/>
          </a:xfrm>
          <a:prstGeom prst="rect">
            <a:avLst/>
          </a:prstGeom>
          <a:noFill/>
        </p:spPr>
        <p:txBody>
          <a:bodyPr wrap="square" anchor="t" lIns="0" rIns="0" tIns="0" bIns="0">
            <a:spAutoFit/>
          </a:bodyPr>
          <a:lstStyle/>
          <a:p>
            <a:pPr algn="ctr">
              <a:lnSpc>
                <a:spcPct val="115000"/>
              </a:lnSpc>
            </a:pPr>
            <a:r>
              <a:rPr sz="4200" b="0" i="0">
                <a:solidFill>
                  <a:srgbClr val="FFFFFF"/>
                </a:solidFill>
                <a:latin typeface="Plus Jakarta Sans"/>
              </a:rPr>
              <a:t>Si terminas Fase C y el gobierno depende de ti</a:t>
            </a:r>
          </a:p>
        </p:txBody>
      </p:sp>
      <p:sp>
        <p:nvSpPr>
          <p:cNvPr id="4" name="TextBox 3"/>
          <p:cNvSpPr txBox="1"/>
          <p:nvPr/>
        </p:nvSpPr>
        <p:spPr>
          <a:xfrm>
            <a:off x="1371600" y="4754880"/>
            <a:ext cx="15544800" cy="2286000"/>
          </a:xfrm>
          <a:prstGeom prst="rect">
            <a:avLst/>
          </a:prstGeom>
          <a:noFill/>
        </p:spPr>
        <p:txBody>
          <a:bodyPr wrap="square" anchor="t" lIns="0" rIns="0" tIns="0" bIns="0">
            <a:spAutoFit/>
          </a:bodyPr>
          <a:lstStyle/>
          <a:p>
            <a:pPr algn="ctr">
              <a:lnSpc>
                <a:spcPct val="110000"/>
              </a:lnSpc>
            </a:pPr>
            <a:r>
              <a:rPr sz="7800" b="1" i="0">
                <a:solidFill>
                  <a:srgbClr val="FFFFFF"/>
                </a:solidFill>
                <a:latin typeface="Plus Jakarta Sans"/>
              </a:rPr>
              <a:t>para tocar un tramite,</a:t>
            </a:r>
          </a:p>
        </p:txBody>
      </p:sp>
      <p:sp>
        <p:nvSpPr>
          <p:cNvPr id="5" name="TextBox 4"/>
          <p:cNvSpPr txBox="1"/>
          <p:nvPr/>
        </p:nvSpPr>
        <p:spPr>
          <a:xfrm>
            <a:off x="1371600" y="7315200"/>
            <a:ext cx="15544800" cy="1097280"/>
          </a:xfrm>
          <a:prstGeom prst="rect">
            <a:avLst/>
          </a:prstGeom>
          <a:noFill/>
        </p:spPr>
        <p:txBody>
          <a:bodyPr wrap="square" anchor="t" lIns="0" rIns="0" tIns="0" bIns="0">
            <a:spAutoFit/>
          </a:bodyPr>
          <a:lstStyle/>
          <a:p>
            <a:pPr algn="ctr">
              <a:lnSpc>
                <a:spcPct val="115000"/>
              </a:lnSpc>
            </a:pPr>
            <a:r>
              <a:rPr sz="3000" b="0" i="0">
                <a:solidFill>
                  <a:srgbClr val="FFFFFF"/>
                </a:solidFill>
                <a:latin typeface="Plus Jakarta Sans"/>
              </a:rPr>
              <a:t>no terminaste tu trabajo. Lo postergaste.</a:t>
            </a:r>
          </a:p>
        </p:txBody>
      </p:sp>
      <p:sp>
        <p:nvSpPr>
          <p:cNvPr id="6" name="TextBox 5"/>
          <p:cNvSpPr txBox="1"/>
          <p:nvPr/>
        </p:nvSpPr>
        <p:spPr>
          <a:xfrm>
            <a:off x="13716000" y="9829800"/>
            <a:ext cx="4389120" cy="365760"/>
          </a:xfrm>
          <a:prstGeom prst="rect">
            <a:avLst/>
          </a:prstGeom>
          <a:noFill/>
        </p:spPr>
        <p:txBody>
          <a:bodyPr wrap="none">
            <a:spAutoFit/>
          </a:bodyPr>
          <a:lstStyle/>
          <a:p>
            <a:pPr algn="r"/>
            <a:r>
              <a:rPr sz="1000">
                <a:solidFill>
                  <a:srgbClr val="CCE5FF"/>
                </a:solidFill>
                <a:latin typeface="Figtree"/>
              </a:rPr>
              <a:t>Sovra Partners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