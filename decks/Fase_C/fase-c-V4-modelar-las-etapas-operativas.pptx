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10287000" cx="18288000"/>
  <p:notesSz cx="6858000" cy="9144000"/>
  <p:embeddedFontLst>
    <p:embeddedFont>
      <p:font typeface="Inter SemiBold"/>
      <p:regular r:id="rId13"/>
      <p:bold r:id="rId14"/>
      <p:italic r:id="rId15"/>
      <p:boldItalic r:id="rId16"/>
    </p:embeddedFont>
    <p:embeddedFont>
      <p:font typeface="Inter"/>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Inter-boldItalic.fnt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InterSemiBold-regular.fntdata"/><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SemiBold-italic.fntdata"/><Relationship Id="rId14" Type="http://schemas.openxmlformats.org/officeDocument/2006/relationships/font" Target="fonts/InterSemiBold-bold.fntdata"/><Relationship Id="rId17" Type="http://schemas.openxmlformats.org/officeDocument/2006/relationships/font" Target="fonts/Inter-regular.fntdata"/><Relationship Id="rId16" Type="http://schemas.openxmlformats.org/officeDocument/2006/relationships/font" Target="fonts/InterSemiBold-boldItalic.fntdata"/><Relationship Id="rId5" Type="http://schemas.openxmlformats.org/officeDocument/2006/relationships/notesMaster" Target="notesMasters/notesMaster1.xml"/><Relationship Id="rId19" Type="http://schemas.openxmlformats.org/officeDocument/2006/relationships/font" Target="fonts/Inter-italic.fntdata"/><Relationship Id="rId6" Type="http://schemas.openxmlformats.org/officeDocument/2006/relationships/slide" Target="slides/slide1.xml"/><Relationship Id="rId18" Type="http://schemas.openxmlformats.org/officeDocument/2006/relationships/font" Target="fonts/Inter-bold.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8.8s · 22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Una vez que el ciudadano envia el formulario, la solicitud entra al flujo interno del gobierno. Ese flujo se modela como etapas.</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14.0s · 35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Cada etapa es un paso por el que pasa el expediente antes de resolverse: revision documental, pago si corresponde, cita presencial si hace falta, inspeccion de campo, firma de un responsable, emision del documento final.</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2" name="Google Shape;122;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21.6s · 54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Modelar las etapas es donde se hace visible como trabaja el gobierno de verdad. En el manual oficial probablemente diga que el tramite tiene tres pasos. Cuando te sientas con el area duena, descubres que en realidad pasa por cinco escritorios distintos. El modelo tiene que reflejar el flujo real, no el flujo ideal.</a:t>
            </a:r>
            <a:endParaRPr/>
          </a:p>
        </p:txBody>
      </p:sp>
      <p:sp>
        <p:nvSpPr>
          <p:cNvPr id="123" name="Google Shape;123;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2" name="Google Shape;142;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29.2s · 73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Hay una decision que aparece todo el tiempo. Conviene una etapa simple o conviene partirla en subetapas. El criterio es practico. Si puedes dibujar el flujo como una linea recta, donde el expediente pasa de una mano a la siguiente sin bifurcaciones, te alcanza con etapas simples. Si dos areas trabajan en paralelo sobre la misma solicitud, o si un area tiene que dividir el trabajo entre varias personas internas, ahi necesitas subetapas.</a:t>
            </a:r>
            <a:endParaRPr/>
          </a:p>
        </p:txBody>
      </p:sp>
      <p:sp>
        <p:nvSpPr>
          <p:cNvPr id="143" name="Google Shape;143;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25.2s · 63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Hay piezas opcionales que se conectan al flujo segun el tramite. Si el tramite cobra una tasa, una de las etapas es el pago, y eso te lleva al modulo de pagos. Si el ciudadano tiene que ir presencialmente a una oficina, se modela como una cita. Si un inspector tiene que ir al domicilio o al comercio, se modela como una inspeccion.</a:t>
            </a:r>
            <a:endParaRPr/>
          </a:p>
        </p:txBody>
      </p:sp>
      <p:sp>
        <p:nvSpPr>
          <p:cNvPr id="165" name="Google Shape;165;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21.6s · 54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Una recomendacion que vale para todos los tramites complejos. Modela primero el camino feliz, donde el ciudadano cumple todo y el expediente avanza sin problemas. Despues agrega los caminos de excepcion, donde falta un documento, el pago no se acredito o la inspeccion observo algo. Si modelas todo junto desde el principio, te empantanas.</a:t>
            </a:r>
            <a:endParaRPr/>
          </a:p>
        </p:txBody>
      </p:sp>
      <p:sp>
        <p:nvSpPr>
          <p:cNvPr id="193" name="Google Shape;193;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4" name="Google Shape;214;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11.6s · 29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Las etapas se modelan mirando como se trabaja, no como se deberia trabajar. La plataforma puede despues ayudar a mejorar el proceso, pero primero tiene que reflejar la realidad.</a:t>
            </a:r>
            <a:endParaRPr/>
          </a:p>
        </p:txBody>
      </p:sp>
      <p:sp>
        <p:nvSpPr>
          <p:cNvPr id="215" name="Google Shape;215;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p:nvPr/>
        </p:nvSpPr>
        <p:spPr>
          <a:xfrm>
            <a:off x="0" y="0"/>
            <a:ext cx="18288000" cy="228600"/>
          </a:xfrm>
          <a:prstGeom prst="rect">
            <a:avLst/>
          </a:prstGeom>
          <a:solidFill>
            <a:srgbClr val="EA580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1371600" y="3200400"/>
            <a:ext cx="15544800"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EA580C"/>
                </a:solidFill>
                <a:latin typeface="Inter"/>
                <a:ea typeface="Inter"/>
                <a:cs typeface="Inter"/>
                <a:sym typeface="Inter"/>
              </a:rPr>
              <a:t>FASE C</a:t>
            </a:r>
            <a:endParaRPr/>
          </a:p>
        </p:txBody>
      </p:sp>
      <p:sp>
        <p:nvSpPr>
          <p:cNvPr id="87" name="Google Shape;87;p13"/>
          <p:cNvSpPr txBox="1"/>
          <p:nvPr/>
        </p:nvSpPr>
        <p:spPr>
          <a:xfrm>
            <a:off x="1371600" y="3840480"/>
            <a:ext cx="15544800" cy="2586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Modelar las etapas</a:t>
            </a:r>
            <a:endParaRPr/>
          </a:p>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operativas</a:t>
            </a:r>
            <a:endParaRPr/>
          </a:p>
        </p:txBody>
      </p:sp>
      <p:sp>
        <p:nvSpPr>
          <p:cNvPr id="88" name="Google Shape;88;p13"/>
          <p:cNvSpPr txBox="1"/>
          <p:nvPr/>
        </p:nvSpPr>
        <p:spPr>
          <a:xfrm>
            <a:off x="1371600" y="6517900"/>
            <a:ext cx="15544800" cy="338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2200" u="none" cap="none" strike="noStrike">
                <a:solidFill>
                  <a:srgbClr val="888888"/>
                </a:solidFill>
                <a:latin typeface="Inter"/>
                <a:ea typeface="Inter"/>
                <a:cs typeface="Inter"/>
                <a:sym typeface="Inter"/>
              </a:rPr>
              <a:t>El flujo interno del gobierno una vez que el ciudadano </a:t>
            </a:r>
            <a:r>
              <a:rPr lang="en-US" sz="2200">
                <a:solidFill>
                  <a:srgbClr val="888888"/>
                </a:solidFill>
                <a:latin typeface="Inter"/>
                <a:ea typeface="Inter"/>
                <a:cs typeface="Inter"/>
                <a:sym typeface="Inter"/>
              </a:rPr>
              <a:t>envía</a:t>
            </a:r>
            <a:r>
              <a:rPr b="0" i="0" lang="en-US" sz="2200" u="none" cap="none" strike="noStrike">
                <a:solidFill>
                  <a:srgbClr val="888888"/>
                </a:solidFill>
                <a:latin typeface="Inter"/>
                <a:ea typeface="Inter"/>
                <a:cs typeface="Inter"/>
                <a:sym typeface="Inter"/>
              </a:rPr>
              <a:t> el formulario.</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3" name="Shape 93"/>
        <p:cNvGrpSpPr/>
        <p:nvPr/>
      </p:nvGrpSpPr>
      <p:grpSpPr>
        <a:xfrm>
          <a:off x="0" y="0"/>
          <a:ext cx="0" cy="0"/>
          <a:chOff x="0" y="0"/>
          <a:chExt cx="0" cy="0"/>
        </a:xfrm>
      </p:grpSpPr>
      <p:sp>
        <p:nvSpPr>
          <p:cNvPr id="94" name="Google Shape;94;p14"/>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 name="Google Shape;95;p14"/>
          <p:cNvSpPr txBox="1"/>
          <p:nvPr/>
        </p:nvSpPr>
        <p:spPr>
          <a:xfrm>
            <a:off x="1371600" y="952500"/>
            <a:ext cx="15544800" cy="7389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4800">
                <a:solidFill>
                  <a:srgbClr val="0A0915"/>
                </a:solidFill>
                <a:latin typeface="Inter"/>
                <a:ea typeface="Inter"/>
                <a:cs typeface="Inter"/>
                <a:sym typeface="Inter"/>
              </a:rPr>
              <a:t>Una etapa es un paso por el que pasa el expediente</a:t>
            </a:r>
            <a:endParaRPr b="1" sz="4800">
              <a:solidFill>
                <a:srgbClr val="0A0915"/>
              </a:solidFill>
              <a:latin typeface="Inter"/>
              <a:ea typeface="Inter"/>
              <a:cs typeface="Inter"/>
              <a:sym typeface="Inter"/>
            </a:endParaRPr>
          </a:p>
        </p:txBody>
      </p:sp>
      <p:grpSp>
        <p:nvGrpSpPr>
          <p:cNvPr id="96" name="Google Shape;96;p14"/>
          <p:cNvGrpSpPr/>
          <p:nvPr/>
        </p:nvGrpSpPr>
        <p:grpSpPr>
          <a:xfrm>
            <a:off x="1371600" y="2667000"/>
            <a:ext cx="2476500" cy="3333900"/>
            <a:chOff x="1371600" y="2667000"/>
            <a:chExt cx="2476500" cy="3333900"/>
          </a:xfrm>
        </p:grpSpPr>
        <p:sp>
          <p:nvSpPr>
            <p:cNvPr id="97" name="Google Shape;97;p14"/>
            <p:cNvSpPr/>
            <p:nvPr/>
          </p:nvSpPr>
          <p:spPr>
            <a:xfrm>
              <a:off x="1371600" y="2667000"/>
              <a:ext cx="2476500" cy="3333900"/>
            </a:xfrm>
            <a:prstGeom prst="roundRect">
              <a:avLst>
                <a:gd fmla="val 15384"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8" name="Google Shape;98;p14"/>
            <p:cNvSpPr/>
            <p:nvPr/>
          </p:nvSpPr>
          <p:spPr>
            <a:xfrm>
              <a:off x="1371600" y="2667000"/>
              <a:ext cx="2476500" cy="762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9" name="Google Shape;99;p14"/>
            <p:cNvSpPr txBox="1"/>
            <p:nvPr/>
          </p:nvSpPr>
          <p:spPr>
            <a:xfrm>
              <a:off x="1371600" y="2952750"/>
              <a:ext cx="2476500" cy="2762400"/>
            </a:xfrm>
            <a:prstGeom prst="rect">
              <a:avLst/>
            </a:prstGeom>
            <a:noFill/>
            <a:ln>
              <a:noFill/>
            </a:ln>
          </p:spPr>
          <p:txBody>
            <a:bodyPr anchorCtr="0" anchor="ctr" bIns="190500" lIns="190500" spcFirstLastPara="1" rIns="190500" wrap="square" tIns="190500">
              <a:noAutofit/>
            </a:bodyPr>
            <a:lstStyle/>
            <a:p>
              <a:pPr indent="0" lvl="0" marL="0" rtl="0" algn="ctr">
                <a:spcBef>
                  <a:spcPts val="0"/>
                </a:spcBef>
                <a:spcAft>
                  <a:spcPts val="0"/>
                </a:spcAft>
                <a:buNone/>
              </a:pPr>
              <a:r>
                <a:rPr b="1" lang="en-US" sz="3200">
                  <a:solidFill>
                    <a:srgbClr val="EA580C"/>
                  </a:solidFill>
                  <a:latin typeface="Inter"/>
                  <a:ea typeface="Inter"/>
                  <a:cs typeface="Inter"/>
                  <a:sym typeface="Inter"/>
                </a:rPr>
                <a:t>01</a:t>
              </a:r>
              <a:endParaRPr b="1" sz="3200">
                <a:solidFill>
                  <a:srgbClr val="EA580C"/>
                </a:solidFill>
                <a:latin typeface="Inter"/>
                <a:ea typeface="Inter"/>
                <a:cs typeface="Inter"/>
                <a:sym typeface="Inter"/>
              </a:endParaRPr>
            </a:p>
            <a:p>
              <a:pPr indent="0" lvl="0" marL="0" rtl="0" algn="ctr">
                <a:spcBef>
                  <a:spcPts val="1500"/>
                </a:spcBef>
                <a:spcAft>
                  <a:spcPts val="0"/>
                </a:spcAft>
                <a:buNone/>
              </a:pPr>
              <a:r>
                <a:rPr b="0" lang="en-US" sz="2000">
                  <a:solidFill>
                    <a:srgbClr val="0A0915"/>
                  </a:solidFill>
                  <a:latin typeface="Inter SemiBold"/>
                  <a:ea typeface="Inter SemiBold"/>
                  <a:cs typeface="Inter SemiBold"/>
                  <a:sym typeface="Inter SemiBold"/>
                </a:rPr>
                <a:t>Revisión documental</a:t>
              </a:r>
              <a:endParaRPr b="0" sz="2000">
                <a:solidFill>
                  <a:srgbClr val="0A0915"/>
                </a:solidFill>
                <a:latin typeface="Inter SemiBold"/>
                <a:ea typeface="Inter SemiBold"/>
                <a:cs typeface="Inter SemiBold"/>
                <a:sym typeface="Inter SemiBold"/>
              </a:endParaRPr>
            </a:p>
          </p:txBody>
        </p:sp>
      </p:grpSp>
      <p:grpSp>
        <p:nvGrpSpPr>
          <p:cNvPr id="100" name="Google Shape;100;p14"/>
          <p:cNvGrpSpPr/>
          <p:nvPr/>
        </p:nvGrpSpPr>
        <p:grpSpPr>
          <a:xfrm>
            <a:off x="3981450" y="2667000"/>
            <a:ext cx="2476500" cy="3333900"/>
            <a:chOff x="3981450" y="2667000"/>
            <a:chExt cx="2476500" cy="3333900"/>
          </a:xfrm>
        </p:grpSpPr>
        <p:sp>
          <p:nvSpPr>
            <p:cNvPr id="101" name="Google Shape;101;p14"/>
            <p:cNvSpPr/>
            <p:nvPr/>
          </p:nvSpPr>
          <p:spPr>
            <a:xfrm>
              <a:off x="3981450" y="2667000"/>
              <a:ext cx="2476500" cy="3333900"/>
            </a:xfrm>
            <a:prstGeom prst="roundRect">
              <a:avLst>
                <a:gd fmla="val 15384"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2" name="Google Shape;102;p14"/>
            <p:cNvSpPr/>
            <p:nvPr/>
          </p:nvSpPr>
          <p:spPr>
            <a:xfrm>
              <a:off x="3981450" y="2667000"/>
              <a:ext cx="2476500" cy="762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3" name="Google Shape;103;p14"/>
            <p:cNvSpPr txBox="1"/>
            <p:nvPr/>
          </p:nvSpPr>
          <p:spPr>
            <a:xfrm>
              <a:off x="3981450" y="2952750"/>
              <a:ext cx="2476500" cy="2762400"/>
            </a:xfrm>
            <a:prstGeom prst="rect">
              <a:avLst/>
            </a:prstGeom>
            <a:noFill/>
            <a:ln>
              <a:noFill/>
            </a:ln>
          </p:spPr>
          <p:txBody>
            <a:bodyPr anchorCtr="0" anchor="ctr" bIns="190500" lIns="190500" spcFirstLastPara="1" rIns="190500" wrap="square" tIns="190500">
              <a:noAutofit/>
            </a:bodyPr>
            <a:lstStyle/>
            <a:p>
              <a:pPr indent="0" lvl="0" marL="0" rtl="0" algn="ctr">
                <a:spcBef>
                  <a:spcPts val="0"/>
                </a:spcBef>
                <a:spcAft>
                  <a:spcPts val="0"/>
                </a:spcAft>
                <a:buNone/>
              </a:pPr>
              <a:r>
                <a:rPr b="1" lang="en-US" sz="3200">
                  <a:solidFill>
                    <a:srgbClr val="EA580C"/>
                  </a:solidFill>
                  <a:latin typeface="Inter"/>
                  <a:ea typeface="Inter"/>
                  <a:cs typeface="Inter"/>
                  <a:sym typeface="Inter"/>
                </a:rPr>
                <a:t>02</a:t>
              </a:r>
              <a:endParaRPr b="1" sz="3200">
                <a:solidFill>
                  <a:srgbClr val="EA580C"/>
                </a:solidFill>
                <a:latin typeface="Inter"/>
                <a:ea typeface="Inter"/>
                <a:cs typeface="Inter"/>
                <a:sym typeface="Inter"/>
              </a:endParaRPr>
            </a:p>
            <a:p>
              <a:pPr indent="0" lvl="0" marL="0" rtl="0" algn="ctr">
                <a:spcBef>
                  <a:spcPts val="1500"/>
                </a:spcBef>
                <a:spcAft>
                  <a:spcPts val="0"/>
                </a:spcAft>
                <a:buNone/>
              </a:pPr>
              <a:r>
                <a:rPr b="0" lang="en-US" sz="2000">
                  <a:solidFill>
                    <a:srgbClr val="0A0915"/>
                  </a:solidFill>
                  <a:latin typeface="Inter SemiBold"/>
                  <a:ea typeface="Inter SemiBold"/>
                  <a:cs typeface="Inter SemiBold"/>
                  <a:sym typeface="Inter SemiBold"/>
                </a:rPr>
                <a:t>Pago, si corresponde</a:t>
              </a:r>
              <a:endParaRPr b="0" sz="2000">
                <a:solidFill>
                  <a:srgbClr val="0A0915"/>
                </a:solidFill>
                <a:latin typeface="Inter SemiBold"/>
                <a:ea typeface="Inter SemiBold"/>
                <a:cs typeface="Inter SemiBold"/>
                <a:sym typeface="Inter SemiBold"/>
              </a:endParaRPr>
            </a:p>
          </p:txBody>
        </p:sp>
      </p:grpSp>
      <p:grpSp>
        <p:nvGrpSpPr>
          <p:cNvPr id="104" name="Google Shape;104;p14"/>
          <p:cNvGrpSpPr/>
          <p:nvPr/>
        </p:nvGrpSpPr>
        <p:grpSpPr>
          <a:xfrm>
            <a:off x="6591300" y="2667000"/>
            <a:ext cx="2476500" cy="3333900"/>
            <a:chOff x="6591300" y="2667000"/>
            <a:chExt cx="2476500" cy="3333900"/>
          </a:xfrm>
        </p:grpSpPr>
        <p:sp>
          <p:nvSpPr>
            <p:cNvPr id="105" name="Google Shape;105;p14"/>
            <p:cNvSpPr/>
            <p:nvPr/>
          </p:nvSpPr>
          <p:spPr>
            <a:xfrm>
              <a:off x="6591300" y="2667000"/>
              <a:ext cx="2476500" cy="3333900"/>
            </a:xfrm>
            <a:prstGeom prst="roundRect">
              <a:avLst>
                <a:gd fmla="val 15384"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6" name="Google Shape;106;p14"/>
            <p:cNvSpPr/>
            <p:nvPr/>
          </p:nvSpPr>
          <p:spPr>
            <a:xfrm>
              <a:off x="6591300" y="2667000"/>
              <a:ext cx="2476500" cy="762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7" name="Google Shape;107;p14"/>
            <p:cNvSpPr txBox="1"/>
            <p:nvPr/>
          </p:nvSpPr>
          <p:spPr>
            <a:xfrm>
              <a:off x="6591300" y="2952750"/>
              <a:ext cx="2476500" cy="2762400"/>
            </a:xfrm>
            <a:prstGeom prst="rect">
              <a:avLst/>
            </a:prstGeom>
            <a:noFill/>
            <a:ln>
              <a:noFill/>
            </a:ln>
          </p:spPr>
          <p:txBody>
            <a:bodyPr anchorCtr="0" anchor="ctr" bIns="190500" lIns="190500" spcFirstLastPara="1" rIns="190500" wrap="square" tIns="190500">
              <a:noAutofit/>
            </a:bodyPr>
            <a:lstStyle/>
            <a:p>
              <a:pPr indent="0" lvl="0" marL="0" rtl="0" algn="ctr">
                <a:spcBef>
                  <a:spcPts val="0"/>
                </a:spcBef>
                <a:spcAft>
                  <a:spcPts val="0"/>
                </a:spcAft>
                <a:buNone/>
              </a:pPr>
              <a:r>
                <a:rPr b="1" lang="en-US" sz="3200">
                  <a:solidFill>
                    <a:srgbClr val="EA580C"/>
                  </a:solidFill>
                  <a:latin typeface="Inter"/>
                  <a:ea typeface="Inter"/>
                  <a:cs typeface="Inter"/>
                  <a:sym typeface="Inter"/>
                </a:rPr>
                <a:t>03</a:t>
              </a:r>
              <a:endParaRPr b="1" sz="3200">
                <a:solidFill>
                  <a:srgbClr val="EA580C"/>
                </a:solidFill>
                <a:latin typeface="Inter"/>
                <a:ea typeface="Inter"/>
                <a:cs typeface="Inter"/>
                <a:sym typeface="Inter"/>
              </a:endParaRPr>
            </a:p>
            <a:p>
              <a:pPr indent="0" lvl="0" marL="0" rtl="0" algn="ctr">
                <a:spcBef>
                  <a:spcPts val="1500"/>
                </a:spcBef>
                <a:spcAft>
                  <a:spcPts val="0"/>
                </a:spcAft>
                <a:buNone/>
              </a:pPr>
              <a:r>
                <a:rPr b="0" lang="en-US" sz="2000">
                  <a:solidFill>
                    <a:srgbClr val="0A0915"/>
                  </a:solidFill>
                  <a:latin typeface="Inter SemiBold"/>
                  <a:ea typeface="Inter SemiBold"/>
                  <a:cs typeface="Inter SemiBold"/>
                  <a:sym typeface="Inter SemiBold"/>
                </a:rPr>
                <a:t>Cita presencial</a:t>
              </a:r>
              <a:endParaRPr b="0" sz="2000">
                <a:solidFill>
                  <a:srgbClr val="0A0915"/>
                </a:solidFill>
                <a:latin typeface="Inter SemiBold"/>
                <a:ea typeface="Inter SemiBold"/>
                <a:cs typeface="Inter SemiBold"/>
                <a:sym typeface="Inter SemiBold"/>
              </a:endParaRPr>
            </a:p>
          </p:txBody>
        </p:sp>
      </p:grpSp>
      <p:grpSp>
        <p:nvGrpSpPr>
          <p:cNvPr id="108" name="Google Shape;108;p14"/>
          <p:cNvGrpSpPr/>
          <p:nvPr/>
        </p:nvGrpSpPr>
        <p:grpSpPr>
          <a:xfrm>
            <a:off x="9201150" y="2667000"/>
            <a:ext cx="2476500" cy="3333900"/>
            <a:chOff x="9201150" y="2667000"/>
            <a:chExt cx="2476500" cy="3333900"/>
          </a:xfrm>
        </p:grpSpPr>
        <p:sp>
          <p:nvSpPr>
            <p:cNvPr id="109" name="Google Shape;109;p14"/>
            <p:cNvSpPr/>
            <p:nvPr/>
          </p:nvSpPr>
          <p:spPr>
            <a:xfrm>
              <a:off x="9201150" y="2667000"/>
              <a:ext cx="2476500" cy="3333900"/>
            </a:xfrm>
            <a:prstGeom prst="roundRect">
              <a:avLst>
                <a:gd fmla="val 15384"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0" name="Google Shape;110;p14"/>
            <p:cNvSpPr/>
            <p:nvPr/>
          </p:nvSpPr>
          <p:spPr>
            <a:xfrm>
              <a:off x="9201150" y="2667000"/>
              <a:ext cx="2476500" cy="762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1" name="Google Shape;111;p14"/>
            <p:cNvSpPr txBox="1"/>
            <p:nvPr/>
          </p:nvSpPr>
          <p:spPr>
            <a:xfrm>
              <a:off x="9201150" y="2952750"/>
              <a:ext cx="2476500" cy="2762400"/>
            </a:xfrm>
            <a:prstGeom prst="rect">
              <a:avLst/>
            </a:prstGeom>
            <a:noFill/>
            <a:ln>
              <a:noFill/>
            </a:ln>
          </p:spPr>
          <p:txBody>
            <a:bodyPr anchorCtr="0" anchor="ctr" bIns="190500" lIns="190500" spcFirstLastPara="1" rIns="190500" wrap="square" tIns="190500">
              <a:noAutofit/>
            </a:bodyPr>
            <a:lstStyle/>
            <a:p>
              <a:pPr indent="0" lvl="0" marL="0" rtl="0" algn="ctr">
                <a:spcBef>
                  <a:spcPts val="0"/>
                </a:spcBef>
                <a:spcAft>
                  <a:spcPts val="0"/>
                </a:spcAft>
                <a:buNone/>
              </a:pPr>
              <a:r>
                <a:rPr b="1" lang="en-US" sz="3200">
                  <a:solidFill>
                    <a:srgbClr val="EA580C"/>
                  </a:solidFill>
                  <a:latin typeface="Inter"/>
                  <a:ea typeface="Inter"/>
                  <a:cs typeface="Inter"/>
                  <a:sym typeface="Inter"/>
                </a:rPr>
                <a:t>04</a:t>
              </a:r>
              <a:endParaRPr b="1" sz="3200">
                <a:solidFill>
                  <a:srgbClr val="EA580C"/>
                </a:solidFill>
                <a:latin typeface="Inter"/>
                <a:ea typeface="Inter"/>
                <a:cs typeface="Inter"/>
                <a:sym typeface="Inter"/>
              </a:endParaRPr>
            </a:p>
            <a:p>
              <a:pPr indent="0" lvl="0" marL="0" rtl="0" algn="ctr">
                <a:spcBef>
                  <a:spcPts val="1500"/>
                </a:spcBef>
                <a:spcAft>
                  <a:spcPts val="0"/>
                </a:spcAft>
                <a:buNone/>
              </a:pPr>
              <a:r>
                <a:rPr b="0" lang="en-US" sz="2000">
                  <a:solidFill>
                    <a:srgbClr val="0A0915"/>
                  </a:solidFill>
                  <a:latin typeface="Inter SemiBold"/>
                  <a:ea typeface="Inter SemiBold"/>
                  <a:cs typeface="Inter SemiBold"/>
                  <a:sym typeface="Inter SemiBold"/>
                </a:rPr>
                <a:t>Inspección de campo</a:t>
              </a:r>
              <a:endParaRPr b="0" sz="2000">
                <a:solidFill>
                  <a:srgbClr val="0A0915"/>
                </a:solidFill>
                <a:latin typeface="Inter SemiBold"/>
                <a:ea typeface="Inter SemiBold"/>
                <a:cs typeface="Inter SemiBold"/>
                <a:sym typeface="Inter SemiBold"/>
              </a:endParaRPr>
            </a:p>
          </p:txBody>
        </p:sp>
      </p:grpSp>
      <p:grpSp>
        <p:nvGrpSpPr>
          <p:cNvPr id="112" name="Google Shape;112;p14"/>
          <p:cNvGrpSpPr/>
          <p:nvPr/>
        </p:nvGrpSpPr>
        <p:grpSpPr>
          <a:xfrm>
            <a:off x="11811000" y="2667000"/>
            <a:ext cx="2476500" cy="3333900"/>
            <a:chOff x="11811000" y="2667000"/>
            <a:chExt cx="2476500" cy="3333900"/>
          </a:xfrm>
        </p:grpSpPr>
        <p:sp>
          <p:nvSpPr>
            <p:cNvPr id="113" name="Google Shape;113;p14"/>
            <p:cNvSpPr/>
            <p:nvPr/>
          </p:nvSpPr>
          <p:spPr>
            <a:xfrm>
              <a:off x="11811000" y="2667000"/>
              <a:ext cx="2476500" cy="3333900"/>
            </a:xfrm>
            <a:prstGeom prst="roundRect">
              <a:avLst>
                <a:gd fmla="val 15384"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4" name="Google Shape;114;p14"/>
            <p:cNvSpPr/>
            <p:nvPr/>
          </p:nvSpPr>
          <p:spPr>
            <a:xfrm>
              <a:off x="11811000" y="2667000"/>
              <a:ext cx="2476500" cy="762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5" name="Google Shape;115;p14"/>
            <p:cNvSpPr txBox="1"/>
            <p:nvPr/>
          </p:nvSpPr>
          <p:spPr>
            <a:xfrm>
              <a:off x="11811000" y="2952750"/>
              <a:ext cx="2476500" cy="2762400"/>
            </a:xfrm>
            <a:prstGeom prst="rect">
              <a:avLst/>
            </a:prstGeom>
            <a:noFill/>
            <a:ln>
              <a:noFill/>
            </a:ln>
          </p:spPr>
          <p:txBody>
            <a:bodyPr anchorCtr="0" anchor="ctr" bIns="190500" lIns="190500" spcFirstLastPara="1" rIns="190500" wrap="square" tIns="190500">
              <a:noAutofit/>
            </a:bodyPr>
            <a:lstStyle/>
            <a:p>
              <a:pPr indent="0" lvl="0" marL="0" rtl="0" algn="ctr">
                <a:spcBef>
                  <a:spcPts val="0"/>
                </a:spcBef>
                <a:spcAft>
                  <a:spcPts val="0"/>
                </a:spcAft>
                <a:buNone/>
              </a:pPr>
              <a:r>
                <a:rPr b="1" lang="en-US" sz="3200">
                  <a:solidFill>
                    <a:srgbClr val="EA580C"/>
                  </a:solidFill>
                  <a:latin typeface="Inter"/>
                  <a:ea typeface="Inter"/>
                  <a:cs typeface="Inter"/>
                  <a:sym typeface="Inter"/>
                </a:rPr>
                <a:t>05</a:t>
              </a:r>
              <a:endParaRPr b="1" sz="3200">
                <a:solidFill>
                  <a:srgbClr val="EA580C"/>
                </a:solidFill>
                <a:latin typeface="Inter"/>
                <a:ea typeface="Inter"/>
                <a:cs typeface="Inter"/>
                <a:sym typeface="Inter"/>
              </a:endParaRPr>
            </a:p>
            <a:p>
              <a:pPr indent="0" lvl="0" marL="0" rtl="0" algn="ctr">
                <a:spcBef>
                  <a:spcPts val="1500"/>
                </a:spcBef>
                <a:spcAft>
                  <a:spcPts val="0"/>
                </a:spcAft>
                <a:buNone/>
              </a:pPr>
              <a:r>
                <a:rPr b="0" lang="en-US" sz="2000">
                  <a:solidFill>
                    <a:srgbClr val="0A0915"/>
                  </a:solidFill>
                  <a:latin typeface="Inter SemiBold"/>
                  <a:ea typeface="Inter SemiBold"/>
                  <a:cs typeface="Inter SemiBold"/>
                  <a:sym typeface="Inter SemiBold"/>
                </a:rPr>
                <a:t>Firma responsable</a:t>
              </a:r>
              <a:endParaRPr b="0" sz="2000">
                <a:solidFill>
                  <a:srgbClr val="0A0915"/>
                </a:solidFill>
                <a:latin typeface="Inter SemiBold"/>
                <a:ea typeface="Inter SemiBold"/>
                <a:cs typeface="Inter SemiBold"/>
                <a:sym typeface="Inter SemiBold"/>
              </a:endParaRPr>
            </a:p>
          </p:txBody>
        </p:sp>
      </p:grpSp>
      <p:grpSp>
        <p:nvGrpSpPr>
          <p:cNvPr id="116" name="Google Shape;116;p14"/>
          <p:cNvGrpSpPr/>
          <p:nvPr/>
        </p:nvGrpSpPr>
        <p:grpSpPr>
          <a:xfrm>
            <a:off x="14420850" y="2667000"/>
            <a:ext cx="2476500" cy="3333900"/>
            <a:chOff x="14420850" y="2667000"/>
            <a:chExt cx="2476500" cy="3333900"/>
          </a:xfrm>
        </p:grpSpPr>
        <p:sp>
          <p:nvSpPr>
            <p:cNvPr id="117" name="Google Shape;117;p14"/>
            <p:cNvSpPr/>
            <p:nvPr/>
          </p:nvSpPr>
          <p:spPr>
            <a:xfrm>
              <a:off x="14420850" y="2667000"/>
              <a:ext cx="2476500" cy="3333900"/>
            </a:xfrm>
            <a:prstGeom prst="roundRect">
              <a:avLst>
                <a:gd fmla="val 15384" name="adj"/>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8" name="Google Shape;118;p14"/>
            <p:cNvSpPr txBox="1"/>
            <p:nvPr/>
          </p:nvSpPr>
          <p:spPr>
            <a:xfrm>
              <a:off x="14420850" y="2667000"/>
              <a:ext cx="2476500" cy="3333900"/>
            </a:xfrm>
            <a:prstGeom prst="rect">
              <a:avLst/>
            </a:prstGeom>
            <a:noFill/>
            <a:ln>
              <a:noFill/>
            </a:ln>
          </p:spPr>
          <p:txBody>
            <a:bodyPr anchorCtr="0" anchor="ctr" bIns="190500" lIns="190500" spcFirstLastPara="1" rIns="190500" wrap="square" tIns="190500">
              <a:noAutofit/>
            </a:bodyPr>
            <a:lstStyle/>
            <a:p>
              <a:pPr indent="0" lvl="0" marL="0" rtl="0" algn="ctr">
                <a:spcBef>
                  <a:spcPts val="0"/>
                </a:spcBef>
                <a:spcAft>
                  <a:spcPts val="0"/>
                </a:spcAft>
                <a:buNone/>
              </a:pPr>
              <a:r>
                <a:rPr b="1" lang="en-US" sz="3200">
                  <a:solidFill>
                    <a:srgbClr val="FFFFFF"/>
                  </a:solidFill>
                  <a:latin typeface="Inter"/>
                  <a:ea typeface="Inter"/>
                  <a:cs typeface="Inter"/>
                  <a:sym typeface="Inter"/>
                </a:rPr>
                <a:t>06</a:t>
              </a:r>
              <a:endParaRPr b="1" sz="3200">
                <a:solidFill>
                  <a:srgbClr val="FFFFFF"/>
                </a:solidFill>
                <a:latin typeface="Inter"/>
                <a:ea typeface="Inter"/>
                <a:cs typeface="Inter"/>
                <a:sym typeface="Inter"/>
              </a:endParaRPr>
            </a:p>
            <a:p>
              <a:pPr indent="0" lvl="0" marL="0" rtl="0" algn="ctr">
                <a:spcBef>
                  <a:spcPts val="1500"/>
                </a:spcBef>
                <a:spcAft>
                  <a:spcPts val="0"/>
                </a:spcAft>
                <a:buNone/>
              </a:pPr>
              <a:r>
                <a:rPr b="1" lang="en-US" sz="2000">
                  <a:solidFill>
                    <a:srgbClr val="FFFFFF"/>
                  </a:solidFill>
                  <a:latin typeface="Inter"/>
                  <a:ea typeface="Inter"/>
                  <a:cs typeface="Inter"/>
                  <a:sym typeface="Inter"/>
                </a:rPr>
                <a:t>Emisión de documento final</a:t>
              </a:r>
              <a:endParaRPr b="1" sz="2000">
                <a:solidFill>
                  <a:srgbClr val="FFFFFF"/>
                </a:solidFill>
                <a:latin typeface="Inter"/>
                <a:ea typeface="Inter"/>
                <a:cs typeface="Inter"/>
                <a:sym typeface="Inter"/>
              </a:endParaRPr>
            </a:p>
          </p:txBody>
        </p:sp>
      </p:grpSp>
      <p:sp>
        <p:nvSpPr>
          <p:cNvPr id="119" name="Google Shape;119;p14"/>
          <p:cNvSpPr txBox="1"/>
          <p:nvPr/>
        </p:nvSpPr>
        <p:spPr>
          <a:xfrm>
            <a:off x="1371600" y="6667500"/>
            <a:ext cx="155448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1600">
                <a:solidFill>
                  <a:srgbClr val="888888"/>
                </a:solidFill>
                <a:latin typeface="Inter"/>
                <a:ea typeface="Inter"/>
                <a:cs typeface="Inter"/>
                <a:sym typeface="Inter"/>
              </a:rPr>
              <a:t>Cada etapa representa un hito crítico en el flujo operativo del expediente.</a:t>
            </a:r>
            <a:endParaRPr sz="1600">
              <a:solidFill>
                <a:srgbClr val="888888"/>
              </a:solidFill>
              <a:latin typeface="Inter"/>
              <a:ea typeface="Inter"/>
              <a:cs typeface="Inter"/>
              <a:sym typeface="Inte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4" name="Shape 124"/>
        <p:cNvGrpSpPr/>
        <p:nvPr/>
      </p:nvGrpSpPr>
      <p:grpSpPr>
        <a:xfrm>
          <a:off x="0" y="0"/>
          <a:ext cx="0" cy="0"/>
          <a:chOff x="0" y="0"/>
          <a:chExt cx="0" cy="0"/>
        </a:xfrm>
      </p:grpSpPr>
      <p:sp>
        <p:nvSpPr>
          <p:cNvPr id="125" name="Google Shape;125;p15"/>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6" name="Google Shape;126;p15"/>
          <p:cNvSpPr txBox="1"/>
          <p:nvPr/>
        </p:nvSpPr>
        <p:spPr>
          <a:xfrm>
            <a:off x="1371600" y="762000"/>
            <a:ext cx="15544800" cy="831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5400">
                <a:solidFill>
                  <a:srgbClr val="0A0915"/>
                </a:solidFill>
                <a:latin typeface="Inter"/>
                <a:ea typeface="Inter"/>
                <a:cs typeface="Inter"/>
                <a:sym typeface="Inter"/>
              </a:rPr>
              <a:t>Modelar el flujo real, no el flujo ideal</a:t>
            </a:r>
            <a:endParaRPr b="1" sz="5400">
              <a:solidFill>
                <a:srgbClr val="0A0915"/>
              </a:solidFill>
              <a:latin typeface="Inter"/>
              <a:ea typeface="Inter"/>
              <a:cs typeface="Inter"/>
              <a:sym typeface="Inter"/>
            </a:endParaRPr>
          </a:p>
        </p:txBody>
      </p:sp>
      <p:grpSp>
        <p:nvGrpSpPr>
          <p:cNvPr id="127" name="Google Shape;127;p15"/>
          <p:cNvGrpSpPr/>
          <p:nvPr/>
        </p:nvGrpSpPr>
        <p:grpSpPr>
          <a:xfrm>
            <a:off x="1809750" y="3048000"/>
            <a:ext cx="6667500" cy="4659630"/>
            <a:chOff x="1809750" y="3048000"/>
            <a:chExt cx="6667500" cy="4659630"/>
          </a:xfrm>
        </p:grpSpPr>
        <p:sp>
          <p:nvSpPr>
            <p:cNvPr id="128" name="Google Shape;128;p15"/>
            <p:cNvSpPr/>
            <p:nvPr/>
          </p:nvSpPr>
          <p:spPr>
            <a:xfrm>
              <a:off x="1809750" y="3048000"/>
              <a:ext cx="6667500" cy="4286400"/>
            </a:xfrm>
            <a:prstGeom prst="roundRect">
              <a:avLst>
                <a:gd fmla="val 8888" name="adj"/>
              </a:avLst>
            </a:prstGeom>
            <a:solidFill>
              <a:srgbClr val="F8F9FA"/>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9" name="Google Shape;129;p15"/>
            <p:cNvSpPr/>
            <p:nvPr/>
          </p:nvSpPr>
          <p:spPr>
            <a:xfrm>
              <a:off x="1809750" y="3048000"/>
              <a:ext cx="6667500" cy="114300"/>
            </a:xfrm>
            <a:prstGeom prst="roundRect">
              <a:avLst>
                <a:gd fmla="val 50000" name="adj"/>
              </a:avLst>
            </a:prstGeom>
            <a:solidFill>
              <a:srgbClr val="D1D5D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0" name="Google Shape;130;p15"/>
            <p:cNvSpPr txBox="1"/>
            <p:nvPr/>
          </p:nvSpPr>
          <p:spPr>
            <a:xfrm>
              <a:off x="2286000" y="3524250"/>
              <a:ext cx="5715000" cy="571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400">
                  <a:solidFill>
                    <a:srgbClr val="888888"/>
                  </a:solidFill>
                  <a:latin typeface="Inter"/>
                  <a:ea typeface="Inter"/>
                  <a:cs typeface="Inter"/>
                  <a:sym typeface="Inter"/>
                </a:rPr>
                <a:t>Manual oficial</a:t>
              </a:r>
              <a:endParaRPr b="1" sz="2400">
                <a:solidFill>
                  <a:srgbClr val="888888"/>
                </a:solidFill>
                <a:latin typeface="Inter"/>
                <a:ea typeface="Inter"/>
                <a:cs typeface="Inter"/>
                <a:sym typeface="Inter"/>
              </a:endParaRPr>
            </a:p>
          </p:txBody>
        </p:sp>
        <p:sp>
          <p:nvSpPr>
            <p:cNvPr id="131" name="Google Shape;131;p15"/>
            <p:cNvSpPr txBox="1"/>
            <p:nvPr/>
          </p:nvSpPr>
          <p:spPr>
            <a:xfrm>
              <a:off x="2286000" y="4286250"/>
              <a:ext cx="5715000" cy="2381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3200">
                  <a:solidFill>
                    <a:srgbClr val="0A0915"/>
                  </a:solidFill>
                  <a:latin typeface="Inter"/>
                  <a:ea typeface="Inter"/>
                  <a:cs typeface="Inter"/>
                  <a:sym typeface="Inter"/>
                </a:rPr>
                <a:t>Dic</a:t>
              </a:r>
              <a:r>
                <a:rPr lang="en-US" sz="3200">
                  <a:solidFill>
                    <a:srgbClr val="0A0915"/>
                  </a:solidFill>
                  <a:latin typeface="Inter"/>
                  <a:ea typeface="Inter"/>
                  <a:cs typeface="Inter"/>
                  <a:sym typeface="Inter"/>
                </a:rPr>
                <a:t>e</a:t>
              </a:r>
              <a:r>
                <a:rPr b="0" lang="en-US" sz="3200">
                  <a:solidFill>
                    <a:srgbClr val="0A0915"/>
                  </a:solidFill>
                  <a:latin typeface="Inter"/>
                  <a:ea typeface="Inter"/>
                  <a:cs typeface="Inter"/>
                  <a:sym typeface="Inter"/>
                </a:rPr>
                <a:t> que el trámite tiene </a:t>
              </a:r>
              <a:r>
                <a:rPr b="1" lang="en-US" sz="3200">
                  <a:solidFill>
                    <a:srgbClr val="4B5563"/>
                  </a:solidFill>
                  <a:latin typeface="Inter"/>
                  <a:ea typeface="Inter"/>
                  <a:cs typeface="Inter"/>
                  <a:sym typeface="Inter"/>
                </a:rPr>
                <a:t>tres pasos.</a:t>
              </a:r>
              <a:endParaRPr b="0" sz="3200">
                <a:solidFill>
                  <a:srgbClr val="0A0915"/>
                </a:solidFill>
                <a:latin typeface="Inter"/>
                <a:ea typeface="Inter"/>
                <a:cs typeface="Inter"/>
                <a:sym typeface="Inter"/>
              </a:endParaRPr>
            </a:p>
          </p:txBody>
        </p:sp>
        <p:sp>
          <p:nvSpPr>
            <p:cNvPr id="132" name="Google Shape;132;p15"/>
            <p:cNvSpPr txBox="1"/>
            <p:nvPr/>
          </p:nvSpPr>
          <p:spPr>
            <a:xfrm>
              <a:off x="2286000" y="6755130"/>
              <a:ext cx="9525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6000">
                  <a:solidFill>
                    <a:srgbClr val="D1D5DB"/>
                  </a:solidFill>
                  <a:latin typeface="Material Icons"/>
                  <a:ea typeface="Material Icons"/>
                  <a:cs typeface="Material Icons"/>
                  <a:sym typeface="Material Icons"/>
                </a:rPr>
                <a:t>dscr</a:t>
              </a:r>
              <a:endParaRPr sz="6000">
                <a:solidFill>
                  <a:srgbClr val="D1D5DB"/>
                </a:solidFill>
                <a:latin typeface="Material Icons"/>
                <a:ea typeface="Material Icons"/>
                <a:cs typeface="Material Icons"/>
                <a:sym typeface="Material Icons"/>
              </a:endParaRPr>
            </a:p>
          </p:txBody>
        </p:sp>
      </p:grpSp>
      <p:grpSp>
        <p:nvGrpSpPr>
          <p:cNvPr id="133" name="Google Shape;133;p15"/>
          <p:cNvGrpSpPr/>
          <p:nvPr/>
        </p:nvGrpSpPr>
        <p:grpSpPr>
          <a:xfrm>
            <a:off x="9810750" y="3048000"/>
            <a:ext cx="6667500" cy="4659630"/>
            <a:chOff x="9810750" y="3048000"/>
            <a:chExt cx="6667500" cy="4659630"/>
          </a:xfrm>
        </p:grpSpPr>
        <p:sp>
          <p:nvSpPr>
            <p:cNvPr id="134" name="Google Shape;134;p15"/>
            <p:cNvSpPr/>
            <p:nvPr/>
          </p:nvSpPr>
          <p:spPr>
            <a:xfrm>
              <a:off x="9810750" y="3048000"/>
              <a:ext cx="6667500" cy="4286400"/>
            </a:xfrm>
            <a:prstGeom prst="roundRect">
              <a:avLst>
                <a:gd fmla="val 8888" name="adj"/>
              </a:avLst>
            </a:prstGeom>
            <a:solidFill>
              <a:srgbClr val="FFF7ED"/>
            </a:solidFill>
            <a:ln cap="flat" cmpd="sng" w="19050">
              <a:solidFill>
                <a:srgbClr val="FED7A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5" name="Google Shape;135;p15"/>
            <p:cNvSpPr/>
            <p:nvPr/>
          </p:nvSpPr>
          <p:spPr>
            <a:xfrm>
              <a:off x="9810750" y="3048000"/>
              <a:ext cx="6667500" cy="114300"/>
            </a:xfrm>
            <a:prstGeom prst="roundRect">
              <a:avLst>
                <a:gd fmla="val 50000" name="adj"/>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6" name="Google Shape;136;p15"/>
            <p:cNvSpPr txBox="1"/>
            <p:nvPr/>
          </p:nvSpPr>
          <p:spPr>
            <a:xfrm>
              <a:off x="10287000" y="3524250"/>
              <a:ext cx="5715000" cy="571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400">
                  <a:solidFill>
                    <a:srgbClr val="EA580C"/>
                  </a:solidFill>
                  <a:latin typeface="Inter"/>
                  <a:ea typeface="Inter"/>
                  <a:cs typeface="Inter"/>
                  <a:sym typeface="Inter"/>
                </a:rPr>
                <a:t>Realidad</a:t>
              </a:r>
              <a:endParaRPr b="1" sz="2400">
                <a:solidFill>
                  <a:srgbClr val="EA580C"/>
                </a:solidFill>
                <a:latin typeface="Inter"/>
                <a:ea typeface="Inter"/>
                <a:cs typeface="Inter"/>
                <a:sym typeface="Inter"/>
              </a:endParaRPr>
            </a:p>
          </p:txBody>
        </p:sp>
        <p:sp>
          <p:nvSpPr>
            <p:cNvPr id="137" name="Google Shape;137;p15"/>
            <p:cNvSpPr txBox="1"/>
            <p:nvPr/>
          </p:nvSpPr>
          <p:spPr>
            <a:xfrm>
              <a:off x="10287000" y="4286250"/>
              <a:ext cx="5715000" cy="2381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3200">
                  <a:solidFill>
                    <a:srgbClr val="0A0915"/>
                  </a:solidFill>
                  <a:latin typeface="Inter"/>
                  <a:ea typeface="Inter"/>
                  <a:cs typeface="Inter"/>
                  <a:sym typeface="Inter"/>
                </a:rPr>
                <a:t>Cuando te sentás con el área dueña, descubrís que pasa por </a:t>
              </a:r>
              <a:r>
                <a:rPr b="1" lang="en-US" sz="3200">
                  <a:solidFill>
                    <a:srgbClr val="EA580C"/>
                  </a:solidFill>
                  <a:latin typeface="Inter"/>
                  <a:ea typeface="Inter"/>
                  <a:cs typeface="Inter"/>
                  <a:sym typeface="Inter"/>
                </a:rPr>
                <a:t>cinco escritorios distintos.</a:t>
              </a:r>
              <a:endParaRPr b="0" sz="3200">
                <a:solidFill>
                  <a:srgbClr val="0A0915"/>
                </a:solidFill>
                <a:latin typeface="Inter"/>
                <a:ea typeface="Inter"/>
                <a:cs typeface="Inter"/>
                <a:sym typeface="Inter"/>
              </a:endParaRPr>
            </a:p>
          </p:txBody>
        </p:sp>
        <p:sp>
          <p:nvSpPr>
            <p:cNvPr id="138" name="Google Shape;138;p15"/>
            <p:cNvSpPr txBox="1"/>
            <p:nvPr/>
          </p:nvSpPr>
          <p:spPr>
            <a:xfrm>
              <a:off x="10287000" y="6755130"/>
              <a:ext cx="9525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6000">
                  <a:solidFill>
                    <a:srgbClr val="EA580C"/>
                  </a:solidFill>
                  <a:latin typeface="Material Icons"/>
                  <a:ea typeface="Material Icons"/>
                  <a:cs typeface="Material Icons"/>
                  <a:sym typeface="Material Icons"/>
                </a:rPr>
                <a:t>grups</a:t>
              </a:r>
              <a:endParaRPr sz="6000">
                <a:solidFill>
                  <a:srgbClr val="EA580C"/>
                </a:solidFill>
                <a:latin typeface="Material Icons"/>
                <a:ea typeface="Material Icons"/>
                <a:cs typeface="Material Icons"/>
                <a:sym typeface="Material Icons"/>
              </a:endParaRPr>
            </a:p>
          </p:txBody>
        </p:sp>
      </p:grpSp>
      <p:sp>
        <p:nvSpPr>
          <p:cNvPr id="139" name="Google Shape;139;p15"/>
          <p:cNvSpPr txBox="1"/>
          <p:nvPr/>
        </p:nvSpPr>
        <p:spPr>
          <a:xfrm>
            <a:off x="1371600" y="8096250"/>
            <a:ext cx="155448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2000">
                <a:solidFill>
                  <a:srgbClr val="888888"/>
                </a:solidFill>
                <a:latin typeface="Inter"/>
                <a:ea typeface="Inter"/>
                <a:cs typeface="Inter"/>
                <a:sym typeface="Inter"/>
              </a:rPr>
              <a:t>El éxito de la digitalización depende de entender lo que pasa "por detrás" del mostrador.</a:t>
            </a:r>
            <a:endParaRPr b="0" sz="2000">
              <a:solidFill>
                <a:srgbClr val="888888"/>
              </a:solidFill>
              <a:latin typeface="Inter"/>
              <a:ea typeface="Inter"/>
              <a:cs typeface="Inter"/>
              <a:sym typeface="Inte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44" name="Shape 144"/>
        <p:cNvGrpSpPr/>
        <p:nvPr/>
      </p:nvGrpSpPr>
      <p:grpSpPr>
        <a:xfrm>
          <a:off x="0" y="0"/>
          <a:ext cx="0" cy="0"/>
          <a:chOff x="0" y="0"/>
          <a:chExt cx="0" cy="0"/>
        </a:xfrm>
      </p:grpSpPr>
      <p:sp>
        <p:nvSpPr>
          <p:cNvPr id="145" name="Google Shape;145;p16"/>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6" name="Google Shape;146;p16"/>
          <p:cNvSpPr txBox="1"/>
          <p:nvPr/>
        </p:nvSpPr>
        <p:spPr>
          <a:xfrm>
            <a:off x="1371600" y="762000"/>
            <a:ext cx="15544800" cy="831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5400">
                <a:solidFill>
                  <a:srgbClr val="0A0915"/>
                </a:solidFill>
                <a:latin typeface="Inter"/>
                <a:ea typeface="Inter"/>
                <a:cs typeface="Inter"/>
                <a:sym typeface="Inter"/>
              </a:rPr>
              <a:t>¿Etapa simple o subetapas?</a:t>
            </a:r>
            <a:endParaRPr b="1" sz="5400">
              <a:solidFill>
                <a:srgbClr val="0A0915"/>
              </a:solidFill>
              <a:latin typeface="Inter"/>
              <a:ea typeface="Inter"/>
              <a:cs typeface="Inter"/>
              <a:sym typeface="Inter"/>
            </a:endParaRPr>
          </a:p>
        </p:txBody>
      </p:sp>
      <p:grpSp>
        <p:nvGrpSpPr>
          <p:cNvPr id="147" name="Google Shape;147;p16"/>
          <p:cNvGrpSpPr/>
          <p:nvPr/>
        </p:nvGrpSpPr>
        <p:grpSpPr>
          <a:xfrm>
            <a:off x="1809750" y="2667000"/>
            <a:ext cx="6667500" cy="4762500"/>
            <a:chOff x="1809750" y="2667000"/>
            <a:chExt cx="6667500" cy="4762500"/>
          </a:xfrm>
        </p:grpSpPr>
        <p:sp>
          <p:nvSpPr>
            <p:cNvPr id="148" name="Google Shape;148;p16"/>
            <p:cNvSpPr/>
            <p:nvPr/>
          </p:nvSpPr>
          <p:spPr>
            <a:xfrm>
              <a:off x="1809750" y="2667000"/>
              <a:ext cx="6667500" cy="4762500"/>
            </a:xfrm>
            <a:prstGeom prst="roundRect">
              <a:avLst>
                <a:gd fmla="val 8000" name="adj"/>
              </a:avLst>
            </a:prstGeom>
            <a:solidFill>
              <a:srgbClr val="FEF2F2"/>
            </a:solidFill>
            <a:ln cap="flat" cmpd="sng" w="19050">
              <a:solidFill>
                <a:srgbClr val="FEE2E2"/>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9" name="Google Shape;149;p16"/>
            <p:cNvSpPr/>
            <p:nvPr/>
          </p:nvSpPr>
          <p:spPr>
            <a:xfrm>
              <a:off x="1809750" y="2667000"/>
              <a:ext cx="6667500" cy="114300"/>
            </a:xfrm>
            <a:prstGeom prst="roundRect">
              <a:avLst>
                <a:gd fmla="val 50000" name="adj"/>
              </a:avLst>
            </a:prstGeom>
            <a:solidFill>
              <a:srgbClr val="DC262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0" name="Google Shape;150;p16"/>
            <p:cNvSpPr txBox="1"/>
            <p:nvPr/>
          </p:nvSpPr>
          <p:spPr>
            <a:xfrm>
              <a:off x="2286000" y="3048000"/>
              <a:ext cx="9525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4800">
                  <a:solidFill>
                    <a:srgbClr val="DC2626"/>
                  </a:solidFill>
                  <a:latin typeface="Inter"/>
                  <a:ea typeface="Inter"/>
                  <a:cs typeface="Inter"/>
                  <a:sym typeface="Inter"/>
                </a:rPr>
                <a:t>✗</a:t>
              </a:r>
              <a:endParaRPr b="1" sz="4800">
                <a:solidFill>
                  <a:srgbClr val="DC2626"/>
                </a:solidFill>
                <a:latin typeface="Inter"/>
                <a:ea typeface="Inter"/>
                <a:cs typeface="Inter"/>
                <a:sym typeface="Inter"/>
              </a:endParaRPr>
            </a:p>
          </p:txBody>
        </p:sp>
        <p:sp>
          <p:nvSpPr>
            <p:cNvPr id="151" name="Google Shape;151;p16"/>
            <p:cNvSpPr txBox="1"/>
            <p:nvPr/>
          </p:nvSpPr>
          <p:spPr>
            <a:xfrm>
              <a:off x="2286000" y="4000500"/>
              <a:ext cx="5715000" cy="762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3200">
                  <a:solidFill>
                    <a:srgbClr val="0A0915"/>
                  </a:solidFill>
                  <a:latin typeface="Inter"/>
                  <a:ea typeface="Inter"/>
                  <a:cs typeface="Inter"/>
                  <a:sym typeface="Inter"/>
                </a:rPr>
                <a:t>Subetapas siempre.</a:t>
              </a:r>
              <a:endParaRPr b="1" sz="3200">
                <a:solidFill>
                  <a:srgbClr val="0A0915"/>
                </a:solidFill>
                <a:latin typeface="Inter"/>
                <a:ea typeface="Inter"/>
                <a:cs typeface="Inter"/>
                <a:sym typeface="Inter"/>
              </a:endParaRPr>
            </a:p>
          </p:txBody>
        </p:sp>
        <p:sp>
          <p:nvSpPr>
            <p:cNvPr id="152" name="Google Shape;152;p16"/>
            <p:cNvSpPr txBox="1"/>
            <p:nvPr/>
          </p:nvSpPr>
          <p:spPr>
            <a:xfrm>
              <a:off x="2286000" y="4953000"/>
              <a:ext cx="5715000" cy="1905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2200">
                  <a:solidFill>
                    <a:srgbClr val="4B5563"/>
                  </a:solidFill>
                  <a:latin typeface="Inter"/>
                  <a:ea typeface="Inter"/>
                  <a:cs typeface="Inter"/>
                  <a:sym typeface="Inter"/>
                </a:rPr>
                <a:t>Te empantanas modelando un flujo que es </a:t>
              </a:r>
              <a:r>
                <a:rPr b="1" lang="en-US" sz="2200">
                  <a:solidFill>
                    <a:srgbClr val="DC2626"/>
                  </a:solidFill>
                  <a:latin typeface="Inter"/>
                  <a:ea typeface="Inter"/>
                  <a:cs typeface="Inter"/>
                  <a:sym typeface="Inter"/>
                </a:rPr>
                <a:t>linea recta</a:t>
              </a:r>
              <a:r>
                <a:rPr b="0" lang="en-US" sz="2200">
                  <a:solidFill>
                    <a:srgbClr val="4B5563"/>
                  </a:solidFill>
                  <a:latin typeface="Inter"/>
                  <a:ea typeface="Inter"/>
                  <a:cs typeface="Inter"/>
                  <a:sym typeface="Inter"/>
                </a:rPr>
                <a:t>.</a:t>
              </a:r>
              <a:endParaRPr b="0" sz="2200">
                <a:solidFill>
                  <a:srgbClr val="4B5563"/>
                </a:solidFill>
                <a:latin typeface="Inter"/>
                <a:ea typeface="Inter"/>
                <a:cs typeface="Inter"/>
                <a:sym typeface="Inter"/>
              </a:endParaRPr>
            </a:p>
          </p:txBody>
        </p:sp>
      </p:grpSp>
      <p:grpSp>
        <p:nvGrpSpPr>
          <p:cNvPr id="153" name="Google Shape;153;p16"/>
          <p:cNvGrpSpPr/>
          <p:nvPr/>
        </p:nvGrpSpPr>
        <p:grpSpPr>
          <a:xfrm>
            <a:off x="9810750" y="2667000"/>
            <a:ext cx="6667500" cy="4762500"/>
            <a:chOff x="9810750" y="2667000"/>
            <a:chExt cx="6667500" cy="4762500"/>
          </a:xfrm>
        </p:grpSpPr>
        <p:sp>
          <p:nvSpPr>
            <p:cNvPr id="154" name="Google Shape;154;p16"/>
            <p:cNvSpPr/>
            <p:nvPr/>
          </p:nvSpPr>
          <p:spPr>
            <a:xfrm>
              <a:off x="9810750" y="2667000"/>
              <a:ext cx="6667500" cy="4762500"/>
            </a:xfrm>
            <a:prstGeom prst="roundRect">
              <a:avLst>
                <a:gd fmla="val 8000" name="adj"/>
              </a:avLst>
            </a:prstGeom>
            <a:solidFill>
              <a:srgbClr val="ECFDF5"/>
            </a:solidFill>
            <a:ln cap="flat" cmpd="sng" w="19050">
              <a:solidFill>
                <a:srgbClr val="D1FAE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5" name="Google Shape;155;p16"/>
            <p:cNvSpPr/>
            <p:nvPr/>
          </p:nvSpPr>
          <p:spPr>
            <a:xfrm>
              <a:off x="9810750" y="2667000"/>
              <a:ext cx="6667500" cy="114300"/>
            </a:xfrm>
            <a:prstGeom prst="roundRect">
              <a:avLst>
                <a:gd fmla="val 50000" name="adj"/>
              </a:avLst>
            </a:prstGeom>
            <a:solidFill>
              <a:srgbClr val="10B981"/>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6" name="Google Shape;156;p16"/>
            <p:cNvSpPr txBox="1"/>
            <p:nvPr/>
          </p:nvSpPr>
          <p:spPr>
            <a:xfrm>
              <a:off x="10287000" y="3048000"/>
              <a:ext cx="9525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4800">
                  <a:solidFill>
                    <a:srgbClr val="10B981"/>
                  </a:solidFill>
                  <a:latin typeface="Inter"/>
                  <a:ea typeface="Inter"/>
                  <a:cs typeface="Inter"/>
                  <a:sym typeface="Inter"/>
                </a:rPr>
                <a:t>✓</a:t>
              </a:r>
              <a:endParaRPr b="1" sz="4800">
                <a:solidFill>
                  <a:srgbClr val="10B981"/>
                </a:solidFill>
                <a:latin typeface="Inter"/>
                <a:ea typeface="Inter"/>
                <a:cs typeface="Inter"/>
                <a:sym typeface="Inter"/>
              </a:endParaRPr>
            </a:p>
          </p:txBody>
        </p:sp>
        <p:sp>
          <p:nvSpPr>
            <p:cNvPr id="157" name="Google Shape;157;p16"/>
            <p:cNvSpPr txBox="1"/>
            <p:nvPr/>
          </p:nvSpPr>
          <p:spPr>
            <a:xfrm>
              <a:off x="10287000" y="4000500"/>
              <a:ext cx="5715000" cy="762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3200">
                  <a:solidFill>
                    <a:srgbClr val="0A0915"/>
                  </a:solidFill>
                  <a:latin typeface="Inter"/>
                  <a:ea typeface="Inter"/>
                  <a:cs typeface="Inter"/>
                  <a:sym typeface="Inter"/>
                </a:rPr>
                <a:t>Etapas si dibujas linea recta.</a:t>
              </a:r>
              <a:endParaRPr b="1" sz="3200">
                <a:solidFill>
                  <a:srgbClr val="0A0915"/>
                </a:solidFill>
                <a:latin typeface="Inter"/>
                <a:ea typeface="Inter"/>
                <a:cs typeface="Inter"/>
                <a:sym typeface="Inter"/>
              </a:endParaRPr>
            </a:p>
          </p:txBody>
        </p:sp>
        <p:sp>
          <p:nvSpPr>
            <p:cNvPr id="158" name="Google Shape;158;p16"/>
            <p:cNvSpPr txBox="1"/>
            <p:nvPr/>
          </p:nvSpPr>
          <p:spPr>
            <a:xfrm>
              <a:off x="10287000" y="4953000"/>
              <a:ext cx="5715000" cy="2095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2000">
                  <a:solidFill>
                    <a:srgbClr val="065F46"/>
                  </a:solidFill>
                  <a:latin typeface="Inter"/>
                  <a:ea typeface="Inter"/>
                  <a:cs typeface="Inter"/>
                  <a:sym typeface="Inter"/>
                </a:rPr>
                <a:t>Subetapas solo si:</a:t>
              </a:r>
              <a:endParaRPr b="0" sz="2000">
                <a:solidFill>
                  <a:srgbClr val="065F46"/>
                </a:solidFill>
                <a:latin typeface="Inter"/>
                <a:ea typeface="Inter"/>
                <a:cs typeface="Inter"/>
                <a:sym typeface="Inter"/>
              </a:endParaRPr>
            </a:p>
            <a:p>
              <a:pPr indent="-355600" lvl="0" marL="457200" rtl="0" algn="l">
                <a:spcBef>
                  <a:spcPts val="750"/>
                </a:spcBef>
                <a:spcAft>
                  <a:spcPts val="0"/>
                </a:spcAft>
                <a:buClr>
                  <a:srgbClr val="065F46"/>
                </a:buClr>
                <a:buSzPts val="2000"/>
                <a:buFont typeface="Inter"/>
                <a:buChar char="●"/>
              </a:pPr>
              <a:r>
                <a:rPr b="0" lang="en-US" sz="2000">
                  <a:solidFill>
                    <a:srgbClr val="065F46"/>
                  </a:solidFill>
                  <a:latin typeface="Inter"/>
                  <a:ea typeface="Inter"/>
                  <a:cs typeface="Inter"/>
                  <a:sym typeface="Inter"/>
                </a:rPr>
                <a:t>Dos áreas trabajan en </a:t>
              </a:r>
              <a:r>
                <a:rPr b="1" lang="en-US" sz="2000">
                  <a:solidFill>
                    <a:srgbClr val="065F46"/>
                  </a:solidFill>
                  <a:latin typeface="Inter"/>
                  <a:ea typeface="Inter"/>
                  <a:cs typeface="Inter"/>
                  <a:sym typeface="Inter"/>
                </a:rPr>
                <a:t>paralelo</a:t>
              </a:r>
              <a:r>
                <a:rPr b="0" lang="en-US" sz="2000">
                  <a:solidFill>
                    <a:srgbClr val="065F46"/>
                  </a:solidFill>
                  <a:latin typeface="Inter"/>
                  <a:ea typeface="Inter"/>
                  <a:cs typeface="Inter"/>
                  <a:sym typeface="Inter"/>
                </a:rPr>
                <a:t>.</a:t>
              </a:r>
              <a:endParaRPr b="0" sz="2000">
                <a:solidFill>
                  <a:srgbClr val="065F46"/>
                </a:solidFill>
                <a:latin typeface="Inter"/>
                <a:ea typeface="Inter"/>
                <a:cs typeface="Inter"/>
                <a:sym typeface="Inter"/>
              </a:endParaRPr>
            </a:p>
            <a:p>
              <a:pPr indent="-355600" lvl="0" marL="457200" rtl="0" algn="l">
                <a:spcBef>
                  <a:spcPts val="750"/>
                </a:spcBef>
                <a:spcAft>
                  <a:spcPts val="0"/>
                </a:spcAft>
                <a:buClr>
                  <a:srgbClr val="065F46"/>
                </a:buClr>
                <a:buSzPts val="2000"/>
                <a:buFont typeface="Inter"/>
                <a:buChar char="●"/>
              </a:pPr>
              <a:r>
                <a:rPr b="0" lang="en-US" sz="2000">
                  <a:solidFill>
                    <a:srgbClr val="065F46"/>
                  </a:solidFill>
                  <a:latin typeface="Inter"/>
                  <a:ea typeface="Inter"/>
                  <a:cs typeface="Inter"/>
                  <a:sym typeface="Inter"/>
                </a:rPr>
                <a:t>Un área divide el trabajo entre </a:t>
              </a:r>
              <a:r>
                <a:rPr b="1" lang="en-US" sz="2000">
                  <a:solidFill>
                    <a:srgbClr val="065F46"/>
                  </a:solidFill>
                  <a:latin typeface="Inter"/>
                  <a:ea typeface="Inter"/>
                  <a:cs typeface="Inter"/>
                  <a:sym typeface="Inter"/>
                </a:rPr>
                <a:t>varias personas</a:t>
              </a:r>
              <a:r>
                <a:rPr b="0" lang="en-US" sz="2000">
                  <a:solidFill>
                    <a:srgbClr val="065F46"/>
                  </a:solidFill>
                  <a:latin typeface="Inter"/>
                  <a:ea typeface="Inter"/>
                  <a:cs typeface="Inter"/>
                  <a:sym typeface="Inter"/>
                </a:rPr>
                <a:t> internas.</a:t>
              </a:r>
              <a:endParaRPr b="0" sz="2000">
                <a:solidFill>
                  <a:srgbClr val="065F46"/>
                </a:solidFill>
                <a:latin typeface="Inter"/>
                <a:ea typeface="Inter"/>
                <a:cs typeface="Inter"/>
                <a:sym typeface="Inter"/>
              </a:endParaRPr>
            </a:p>
          </p:txBody>
        </p:sp>
      </p:grpSp>
      <p:grpSp>
        <p:nvGrpSpPr>
          <p:cNvPr id="159" name="Google Shape;159;p16"/>
          <p:cNvGrpSpPr/>
          <p:nvPr/>
        </p:nvGrpSpPr>
        <p:grpSpPr>
          <a:xfrm>
            <a:off x="1371600" y="8096250"/>
            <a:ext cx="15544800" cy="952500"/>
            <a:chOff x="1371600" y="8096250"/>
            <a:chExt cx="15544800" cy="952500"/>
          </a:xfrm>
        </p:grpSpPr>
        <p:sp>
          <p:nvSpPr>
            <p:cNvPr id="160" name="Google Shape;160;p16"/>
            <p:cNvSpPr/>
            <p:nvPr/>
          </p:nvSpPr>
          <p:spPr>
            <a:xfrm>
              <a:off x="1371600" y="8096250"/>
              <a:ext cx="15544800" cy="952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1" name="Google Shape;161;p16"/>
            <p:cNvSpPr txBox="1"/>
            <p:nvPr/>
          </p:nvSpPr>
          <p:spPr>
            <a:xfrm>
              <a:off x="1371600" y="8096250"/>
              <a:ext cx="155448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2200">
                  <a:solidFill>
                    <a:srgbClr val="888888"/>
                  </a:solidFill>
                  <a:latin typeface="Inter"/>
                  <a:ea typeface="Inter"/>
                  <a:cs typeface="Inter"/>
                  <a:sym typeface="Inter"/>
                </a:rPr>
                <a:t>La simplicidad en el modelado garantiza la claridad operativa del sistema.</a:t>
              </a:r>
              <a:endParaRPr b="0" sz="2200">
                <a:solidFill>
                  <a:srgbClr val="888888"/>
                </a:solidFill>
                <a:latin typeface="Inter"/>
                <a:ea typeface="Inter"/>
                <a:cs typeface="Inter"/>
                <a:sym typeface="Inte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66" name="Shape 166"/>
        <p:cNvGrpSpPr/>
        <p:nvPr/>
      </p:nvGrpSpPr>
      <p:grpSpPr>
        <a:xfrm>
          <a:off x="0" y="0"/>
          <a:ext cx="0" cy="0"/>
          <a:chOff x="0" y="0"/>
          <a:chExt cx="0" cy="0"/>
        </a:xfrm>
      </p:grpSpPr>
      <p:sp>
        <p:nvSpPr>
          <p:cNvPr id="167" name="Google Shape;167;p17"/>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8" name="Google Shape;168;p17"/>
          <p:cNvSpPr txBox="1"/>
          <p:nvPr/>
        </p:nvSpPr>
        <p:spPr>
          <a:xfrm>
            <a:off x="1371600" y="762000"/>
            <a:ext cx="15544800" cy="831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5400">
                <a:solidFill>
                  <a:srgbClr val="0A0915"/>
                </a:solidFill>
                <a:latin typeface="Inter"/>
                <a:ea typeface="Inter"/>
                <a:cs typeface="Inter"/>
                <a:sym typeface="Inter"/>
              </a:rPr>
              <a:t>Piezas opcionales del flujo</a:t>
            </a:r>
            <a:endParaRPr b="1" sz="5400">
              <a:solidFill>
                <a:srgbClr val="0A0915"/>
              </a:solidFill>
              <a:latin typeface="Inter"/>
              <a:ea typeface="Inter"/>
              <a:cs typeface="Inter"/>
              <a:sym typeface="Inter"/>
            </a:endParaRPr>
          </a:p>
        </p:txBody>
      </p:sp>
      <p:grpSp>
        <p:nvGrpSpPr>
          <p:cNvPr id="169" name="Google Shape;169;p17"/>
          <p:cNvGrpSpPr/>
          <p:nvPr/>
        </p:nvGrpSpPr>
        <p:grpSpPr>
          <a:xfrm>
            <a:off x="1143000" y="2667000"/>
            <a:ext cx="4762500" cy="5238900"/>
            <a:chOff x="1143000" y="2667000"/>
            <a:chExt cx="4762500" cy="5238900"/>
          </a:xfrm>
        </p:grpSpPr>
        <p:sp>
          <p:nvSpPr>
            <p:cNvPr id="170" name="Google Shape;170;p17"/>
            <p:cNvSpPr/>
            <p:nvPr/>
          </p:nvSpPr>
          <p:spPr>
            <a:xfrm>
              <a:off x="1143000" y="2667000"/>
              <a:ext cx="4762500" cy="5238900"/>
            </a:xfrm>
            <a:prstGeom prst="roundRect">
              <a:avLst>
                <a:gd fmla="val 8000"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1" name="Google Shape;171;p17"/>
            <p:cNvSpPr/>
            <p:nvPr/>
          </p:nvSpPr>
          <p:spPr>
            <a:xfrm>
              <a:off x="1143000" y="2667000"/>
              <a:ext cx="4762500" cy="114300"/>
            </a:xfrm>
            <a:prstGeom prst="roundRect">
              <a:avLst>
                <a:gd fmla="val 50000" name="adj"/>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2" name="Google Shape;172;p17"/>
            <p:cNvSpPr txBox="1"/>
            <p:nvPr/>
          </p:nvSpPr>
          <p:spPr>
            <a:xfrm>
              <a:off x="1524000" y="3213354"/>
              <a:ext cx="4000500" cy="762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173" name="Google Shape;173;p17"/>
            <p:cNvSpPr txBox="1"/>
            <p:nvPr/>
          </p:nvSpPr>
          <p:spPr>
            <a:xfrm>
              <a:off x="1524000" y="4000500"/>
              <a:ext cx="4000500" cy="571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3200">
                  <a:solidFill>
                    <a:srgbClr val="EA580C"/>
                  </a:solidFill>
                  <a:latin typeface="Inter"/>
                  <a:ea typeface="Inter"/>
                  <a:cs typeface="Inter"/>
                  <a:sym typeface="Inter"/>
                </a:rPr>
                <a:t>Pagos</a:t>
              </a:r>
              <a:endParaRPr b="1" sz="3200">
                <a:solidFill>
                  <a:srgbClr val="EA580C"/>
                </a:solidFill>
                <a:latin typeface="Inter"/>
                <a:ea typeface="Inter"/>
                <a:cs typeface="Inter"/>
                <a:sym typeface="Inter"/>
              </a:endParaRPr>
            </a:p>
          </p:txBody>
        </p:sp>
        <p:sp>
          <p:nvSpPr>
            <p:cNvPr id="174" name="Google Shape;174;p17"/>
            <p:cNvSpPr txBox="1"/>
            <p:nvPr/>
          </p:nvSpPr>
          <p:spPr>
            <a:xfrm>
              <a:off x="1524000" y="4762500"/>
              <a:ext cx="4000500" cy="2667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2000">
                  <a:solidFill>
                    <a:srgbClr val="4B5563"/>
                  </a:solidFill>
                  <a:latin typeface="Inter"/>
                  <a:ea typeface="Inter"/>
                  <a:cs typeface="Inter"/>
                  <a:sym typeface="Inter"/>
                </a:rPr>
                <a:t>Si el trámite cobra una tasa, el pago es una etapa clave que redirige al usuario al </a:t>
              </a:r>
              <a:r>
                <a:rPr b="1" lang="en-US" sz="2000">
                  <a:solidFill>
                    <a:srgbClr val="0A0915"/>
                  </a:solidFill>
                  <a:latin typeface="Inter"/>
                  <a:ea typeface="Inter"/>
                  <a:cs typeface="Inter"/>
                  <a:sym typeface="Inter"/>
                </a:rPr>
                <a:t>módulo de pagos</a:t>
              </a:r>
              <a:r>
                <a:rPr b="0" lang="en-US" sz="2000">
                  <a:solidFill>
                    <a:srgbClr val="4B5563"/>
                  </a:solidFill>
                  <a:latin typeface="Inter"/>
                  <a:ea typeface="Inter"/>
                  <a:cs typeface="Inter"/>
                  <a:sym typeface="Inter"/>
                </a:rPr>
                <a:t> especializado.</a:t>
              </a:r>
              <a:endParaRPr b="0" sz="2000">
                <a:solidFill>
                  <a:srgbClr val="4B5563"/>
                </a:solidFill>
                <a:latin typeface="Inter"/>
                <a:ea typeface="Inter"/>
                <a:cs typeface="Inter"/>
                <a:sym typeface="Inter"/>
              </a:endParaRPr>
            </a:p>
          </p:txBody>
        </p:sp>
      </p:grpSp>
      <p:grpSp>
        <p:nvGrpSpPr>
          <p:cNvPr id="175" name="Google Shape;175;p17"/>
          <p:cNvGrpSpPr/>
          <p:nvPr/>
        </p:nvGrpSpPr>
        <p:grpSpPr>
          <a:xfrm>
            <a:off x="6762750" y="2667000"/>
            <a:ext cx="4762500" cy="5238900"/>
            <a:chOff x="6762750" y="2667000"/>
            <a:chExt cx="4762500" cy="5238900"/>
          </a:xfrm>
        </p:grpSpPr>
        <p:sp>
          <p:nvSpPr>
            <p:cNvPr id="176" name="Google Shape;176;p17"/>
            <p:cNvSpPr/>
            <p:nvPr/>
          </p:nvSpPr>
          <p:spPr>
            <a:xfrm>
              <a:off x="6762750" y="2667000"/>
              <a:ext cx="4762500" cy="5238900"/>
            </a:xfrm>
            <a:prstGeom prst="roundRect">
              <a:avLst>
                <a:gd fmla="val 8000"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7" name="Google Shape;177;p17"/>
            <p:cNvSpPr/>
            <p:nvPr/>
          </p:nvSpPr>
          <p:spPr>
            <a:xfrm>
              <a:off x="6762750" y="2667000"/>
              <a:ext cx="4762500" cy="114300"/>
            </a:xfrm>
            <a:prstGeom prst="roundRect">
              <a:avLst>
                <a:gd fmla="val 50000" name="adj"/>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8" name="Google Shape;178;p17"/>
            <p:cNvSpPr txBox="1"/>
            <p:nvPr/>
          </p:nvSpPr>
          <p:spPr>
            <a:xfrm>
              <a:off x="7143750" y="3213354"/>
              <a:ext cx="4000500" cy="762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179" name="Google Shape;179;p17"/>
            <p:cNvSpPr txBox="1"/>
            <p:nvPr/>
          </p:nvSpPr>
          <p:spPr>
            <a:xfrm>
              <a:off x="7143750" y="4000500"/>
              <a:ext cx="4000500" cy="571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3200">
                  <a:solidFill>
                    <a:srgbClr val="EA580C"/>
                  </a:solidFill>
                  <a:latin typeface="Inter"/>
                  <a:ea typeface="Inter"/>
                  <a:cs typeface="Inter"/>
                  <a:sym typeface="Inter"/>
                </a:rPr>
                <a:t>Citas</a:t>
              </a:r>
              <a:endParaRPr b="1" sz="3200">
                <a:solidFill>
                  <a:srgbClr val="EA580C"/>
                </a:solidFill>
                <a:latin typeface="Inter"/>
                <a:ea typeface="Inter"/>
                <a:cs typeface="Inter"/>
                <a:sym typeface="Inter"/>
              </a:endParaRPr>
            </a:p>
          </p:txBody>
        </p:sp>
        <p:sp>
          <p:nvSpPr>
            <p:cNvPr id="180" name="Google Shape;180;p17"/>
            <p:cNvSpPr txBox="1"/>
            <p:nvPr/>
          </p:nvSpPr>
          <p:spPr>
            <a:xfrm>
              <a:off x="7143750" y="4762500"/>
              <a:ext cx="4000500" cy="2667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2000">
                  <a:solidFill>
                    <a:srgbClr val="4B5563"/>
                  </a:solidFill>
                  <a:latin typeface="Inter"/>
                  <a:ea typeface="Inter"/>
                  <a:cs typeface="Inter"/>
                  <a:sym typeface="Inter"/>
                </a:rPr>
                <a:t>Para gestiones que requieren </a:t>
              </a:r>
              <a:r>
                <a:rPr b="1" lang="en-US" sz="2000">
                  <a:solidFill>
                    <a:srgbClr val="0A0915"/>
                  </a:solidFill>
                  <a:latin typeface="Inter"/>
                  <a:ea typeface="Inter"/>
                  <a:cs typeface="Inter"/>
                  <a:sym typeface="Inter"/>
                </a:rPr>
                <a:t>presencialidad</a:t>
              </a:r>
              <a:r>
                <a:rPr b="0" lang="en-US" sz="2000">
                  <a:solidFill>
                    <a:srgbClr val="4B5563"/>
                  </a:solidFill>
                  <a:latin typeface="Inter"/>
                  <a:ea typeface="Inter"/>
                  <a:cs typeface="Inter"/>
                  <a:sym typeface="Inter"/>
                </a:rPr>
                <a:t>, el flujo se modela integrando una agenda de turnos en la oficina correspondiente.</a:t>
              </a:r>
              <a:endParaRPr b="0" sz="2000">
                <a:solidFill>
                  <a:srgbClr val="4B5563"/>
                </a:solidFill>
                <a:latin typeface="Inter"/>
                <a:ea typeface="Inter"/>
                <a:cs typeface="Inter"/>
                <a:sym typeface="Inter"/>
              </a:endParaRPr>
            </a:p>
          </p:txBody>
        </p:sp>
      </p:grpSp>
      <p:grpSp>
        <p:nvGrpSpPr>
          <p:cNvPr id="181" name="Google Shape;181;p17"/>
          <p:cNvGrpSpPr/>
          <p:nvPr/>
        </p:nvGrpSpPr>
        <p:grpSpPr>
          <a:xfrm>
            <a:off x="12382500" y="2667000"/>
            <a:ext cx="4762500" cy="5238900"/>
            <a:chOff x="12382500" y="2667000"/>
            <a:chExt cx="4762500" cy="5238900"/>
          </a:xfrm>
        </p:grpSpPr>
        <p:sp>
          <p:nvSpPr>
            <p:cNvPr id="182" name="Google Shape;182;p17"/>
            <p:cNvSpPr/>
            <p:nvPr/>
          </p:nvSpPr>
          <p:spPr>
            <a:xfrm>
              <a:off x="12382500" y="2667000"/>
              <a:ext cx="4762500" cy="5238900"/>
            </a:xfrm>
            <a:prstGeom prst="roundRect">
              <a:avLst>
                <a:gd fmla="val 8000"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3" name="Google Shape;183;p17"/>
            <p:cNvSpPr/>
            <p:nvPr/>
          </p:nvSpPr>
          <p:spPr>
            <a:xfrm>
              <a:off x="12382500" y="2667000"/>
              <a:ext cx="4762500" cy="114300"/>
            </a:xfrm>
            <a:prstGeom prst="roundRect">
              <a:avLst>
                <a:gd fmla="val 50000" name="adj"/>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4" name="Google Shape;184;p17"/>
            <p:cNvSpPr txBox="1"/>
            <p:nvPr/>
          </p:nvSpPr>
          <p:spPr>
            <a:xfrm>
              <a:off x="12763500" y="3213354"/>
              <a:ext cx="4000500" cy="762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185" name="Google Shape;185;p17"/>
            <p:cNvSpPr txBox="1"/>
            <p:nvPr/>
          </p:nvSpPr>
          <p:spPr>
            <a:xfrm>
              <a:off x="12763500" y="4000500"/>
              <a:ext cx="4000500" cy="571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3200">
                  <a:solidFill>
                    <a:srgbClr val="EA580C"/>
                  </a:solidFill>
                  <a:latin typeface="Inter"/>
                  <a:ea typeface="Inter"/>
                  <a:cs typeface="Inter"/>
                  <a:sym typeface="Inter"/>
                </a:rPr>
                <a:t>Inspecciones</a:t>
              </a:r>
              <a:endParaRPr b="1" sz="3200">
                <a:solidFill>
                  <a:srgbClr val="EA580C"/>
                </a:solidFill>
                <a:latin typeface="Inter"/>
                <a:ea typeface="Inter"/>
                <a:cs typeface="Inter"/>
                <a:sym typeface="Inter"/>
              </a:endParaRPr>
            </a:p>
          </p:txBody>
        </p:sp>
        <p:sp>
          <p:nvSpPr>
            <p:cNvPr id="186" name="Google Shape;186;p17"/>
            <p:cNvSpPr txBox="1"/>
            <p:nvPr/>
          </p:nvSpPr>
          <p:spPr>
            <a:xfrm>
              <a:off x="12763500" y="4762500"/>
              <a:ext cx="4000500" cy="2667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2000">
                  <a:solidFill>
                    <a:srgbClr val="4B5563"/>
                  </a:solidFill>
                  <a:latin typeface="Inter"/>
                  <a:ea typeface="Inter"/>
                  <a:cs typeface="Inter"/>
                  <a:sym typeface="Inter"/>
                </a:rPr>
                <a:t>Cuando la validación ocurre en el </a:t>
              </a:r>
              <a:r>
                <a:rPr b="1" lang="en-US" sz="2000">
                  <a:solidFill>
                    <a:srgbClr val="0A0915"/>
                  </a:solidFill>
                  <a:latin typeface="Inter"/>
                  <a:ea typeface="Inter"/>
                  <a:cs typeface="Inter"/>
                  <a:sym typeface="Inter"/>
                </a:rPr>
                <a:t>domicilio o comercio</a:t>
              </a:r>
              <a:r>
                <a:rPr b="0" lang="en-US" sz="2000">
                  <a:solidFill>
                    <a:srgbClr val="4B5563"/>
                  </a:solidFill>
                  <a:latin typeface="Inter"/>
                  <a:ea typeface="Inter"/>
                  <a:cs typeface="Inter"/>
                  <a:sym typeface="Inter"/>
                </a:rPr>
                <a:t>, se modela como una etapa de inspección de campo dentro del proceso.</a:t>
              </a:r>
              <a:endParaRPr b="0" sz="2000">
                <a:solidFill>
                  <a:srgbClr val="4B5563"/>
                </a:solidFill>
                <a:latin typeface="Inter"/>
                <a:ea typeface="Inter"/>
                <a:cs typeface="Inter"/>
                <a:sym typeface="Inter"/>
              </a:endParaRPr>
            </a:p>
          </p:txBody>
        </p:sp>
      </p:grpSp>
      <p:grpSp>
        <p:nvGrpSpPr>
          <p:cNvPr id="187" name="Google Shape;187;p17"/>
          <p:cNvGrpSpPr/>
          <p:nvPr/>
        </p:nvGrpSpPr>
        <p:grpSpPr>
          <a:xfrm>
            <a:off x="1371600" y="8382000"/>
            <a:ext cx="15544800" cy="952500"/>
            <a:chOff x="1371600" y="8382000"/>
            <a:chExt cx="15544800" cy="952500"/>
          </a:xfrm>
        </p:grpSpPr>
        <p:sp>
          <p:nvSpPr>
            <p:cNvPr id="188" name="Google Shape;188;p17"/>
            <p:cNvSpPr/>
            <p:nvPr/>
          </p:nvSpPr>
          <p:spPr>
            <a:xfrm>
              <a:off x="1371600" y="8382000"/>
              <a:ext cx="15544800" cy="952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9" name="Google Shape;189;p17"/>
            <p:cNvSpPr txBox="1"/>
            <p:nvPr/>
          </p:nvSpPr>
          <p:spPr>
            <a:xfrm>
              <a:off x="1371600" y="8382000"/>
              <a:ext cx="155448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2000">
                  <a:solidFill>
                    <a:srgbClr val="888888"/>
                  </a:solidFill>
                  <a:latin typeface="Inter"/>
                  <a:ea typeface="Inter"/>
                  <a:cs typeface="Inter"/>
                  <a:sym typeface="Inter"/>
                </a:rPr>
                <a:t>Estas piezas permiten adaptar el flujo digital a la complejidad de cada trámite administrativo.</a:t>
              </a:r>
              <a:endParaRPr b="0" sz="2000">
                <a:solidFill>
                  <a:srgbClr val="888888"/>
                </a:solidFill>
                <a:latin typeface="Inter"/>
                <a:ea typeface="Inter"/>
                <a:cs typeface="Inter"/>
                <a:sym typeface="Inte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18"/>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96" name="Google Shape;196;p18"/>
          <p:cNvGrpSpPr/>
          <p:nvPr/>
        </p:nvGrpSpPr>
        <p:grpSpPr>
          <a:xfrm>
            <a:off x="1371600" y="762000"/>
            <a:ext cx="15544800" cy="1714500"/>
            <a:chOff x="1371600" y="762000"/>
            <a:chExt cx="15544800" cy="1714500"/>
          </a:xfrm>
        </p:grpSpPr>
        <p:sp>
          <p:nvSpPr>
            <p:cNvPr id="197" name="Google Shape;197;p18"/>
            <p:cNvSpPr txBox="1"/>
            <p:nvPr/>
          </p:nvSpPr>
          <p:spPr>
            <a:xfrm>
              <a:off x="1371600" y="762000"/>
              <a:ext cx="15544800" cy="571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1" lang="en-US" sz="2000">
                  <a:solidFill>
                    <a:srgbClr val="EA580C"/>
                  </a:solidFill>
                  <a:latin typeface="Inter"/>
                  <a:ea typeface="Inter"/>
                  <a:cs typeface="Inter"/>
                  <a:sym typeface="Inter"/>
                </a:rPr>
                <a:t>Recomendación para trámites complejos</a:t>
              </a:r>
              <a:endParaRPr b="1" sz="2000">
                <a:solidFill>
                  <a:srgbClr val="EA580C"/>
                </a:solidFill>
                <a:latin typeface="Inter"/>
                <a:ea typeface="Inter"/>
                <a:cs typeface="Inter"/>
                <a:sym typeface="Inter"/>
              </a:endParaRPr>
            </a:p>
          </p:txBody>
        </p:sp>
        <p:sp>
          <p:nvSpPr>
            <p:cNvPr id="198" name="Google Shape;198;p18"/>
            <p:cNvSpPr txBox="1"/>
            <p:nvPr/>
          </p:nvSpPr>
          <p:spPr>
            <a:xfrm>
              <a:off x="1371600" y="1333500"/>
              <a:ext cx="15544800" cy="1143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4995">
                  <a:solidFill>
                    <a:srgbClr val="0A0915"/>
                  </a:solidFill>
                  <a:latin typeface="Inter"/>
                  <a:ea typeface="Inter"/>
                  <a:cs typeface="Inter"/>
                  <a:sym typeface="Inter"/>
                </a:rPr>
                <a:t>Primero el camino feliz. Después las excepciones</a:t>
              </a:r>
              <a:endParaRPr b="1" sz="4995">
                <a:solidFill>
                  <a:srgbClr val="0A0915"/>
                </a:solidFill>
                <a:latin typeface="Inter"/>
                <a:ea typeface="Inter"/>
                <a:cs typeface="Inter"/>
                <a:sym typeface="Inter"/>
              </a:endParaRPr>
            </a:p>
          </p:txBody>
        </p:sp>
      </p:grpSp>
      <p:grpSp>
        <p:nvGrpSpPr>
          <p:cNvPr id="199" name="Google Shape;199;p18"/>
          <p:cNvGrpSpPr/>
          <p:nvPr/>
        </p:nvGrpSpPr>
        <p:grpSpPr>
          <a:xfrm>
            <a:off x="1809750" y="3048000"/>
            <a:ext cx="6667500" cy="4286400"/>
            <a:chOff x="1809750" y="3048000"/>
            <a:chExt cx="6667500" cy="4286400"/>
          </a:xfrm>
        </p:grpSpPr>
        <p:sp>
          <p:nvSpPr>
            <p:cNvPr id="200" name="Google Shape;200;p18"/>
            <p:cNvSpPr/>
            <p:nvPr/>
          </p:nvSpPr>
          <p:spPr>
            <a:xfrm>
              <a:off x="1809750" y="3048000"/>
              <a:ext cx="6667500" cy="4286400"/>
            </a:xfrm>
            <a:prstGeom prst="roundRect">
              <a:avLst>
                <a:gd fmla="val 8888" name="adj"/>
              </a:avLst>
            </a:prstGeom>
            <a:solidFill>
              <a:srgbClr val="ECFDF5"/>
            </a:solidFill>
            <a:ln cap="flat" cmpd="sng" w="19050">
              <a:solidFill>
                <a:srgbClr val="D1FAE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1" name="Google Shape;201;p18"/>
            <p:cNvSpPr/>
            <p:nvPr/>
          </p:nvSpPr>
          <p:spPr>
            <a:xfrm>
              <a:off x="1809750" y="3048000"/>
              <a:ext cx="6667500" cy="114300"/>
            </a:xfrm>
            <a:prstGeom prst="roundRect">
              <a:avLst>
                <a:gd fmla="val 50000" name="adj"/>
              </a:avLst>
            </a:prstGeom>
            <a:solidFill>
              <a:srgbClr val="10B981"/>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2" name="Google Shape;202;p18"/>
            <p:cNvSpPr txBox="1"/>
            <p:nvPr/>
          </p:nvSpPr>
          <p:spPr>
            <a:xfrm>
              <a:off x="2286000" y="3516630"/>
              <a:ext cx="9525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6000">
                  <a:solidFill>
                    <a:srgbClr val="10B981"/>
                  </a:solidFill>
                  <a:latin typeface="Material Icons"/>
                  <a:ea typeface="Material Icons"/>
                  <a:cs typeface="Material Icons"/>
                  <a:sym typeface="Material Icons"/>
                </a:rPr>
                <a:t></a:t>
              </a:r>
              <a:endParaRPr sz="6000">
                <a:solidFill>
                  <a:srgbClr val="10B981"/>
                </a:solidFill>
                <a:latin typeface="Material Icons"/>
                <a:ea typeface="Material Icons"/>
                <a:cs typeface="Material Icons"/>
                <a:sym typeface="Material Icons"/>
              </a:endParaRPr>
            </a:p>
          </p:txBody>
        </p:sp>
        <p:sp>
          <p:nvSpPr>
            <p:cNvPr id="203" name="Google Shape;203;p18"/>
            <p:cNvSpPr txBox="1"/>
            <p:nvPr/>
          </p:nvSpPr>
          <p:spPr>
            <a:xfrm>
              <a:off x="2286000" y="4381500"/>
              <a:ext cx="5715000" cy="571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800">
                  <a:solidFill>
                    <a:srgbClr val="10B981"/>
                  </a:solidFill>
                  <a:latin typeface="Inter"/>
                  <a:ea typeface="Inter"/>
                  <a:cs typeface="Inter"/>
                  <a:sym typeface="Inter"/>
                </a:rPr>
                <a:t>1. El camino feliz</a:t>
              </a:r>
              <a:endParaRPr b="1" sz="2800">
                <a:solidFill>
                  <a:srgbClr val="10B981"/>
                </a:solidFill>
                <a:latin typeface="Inter"/>
                <a:ea typeface="Inter"/>
                <a:cs typeface="Inter"/>
                <a:sym typeface="Inter"/>
              </a:endParaRPr>
            </a:p>
          </p:txBody>
        </p:sp>
        <p:sp>
          <p:nvSpPr>
            <p:cNvPr id="204" name="Google Shape;204;p18"/>
            <p:cNvSpPr txBox="1"/>
            <p:nvPr/>
          </p:nvSpPr>
          <p:spPr>
            <a:xfrm>
              <a:off x="2286000" y="4953000"/>
              <a:ext cx="5715000" cy="1905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2200">
                  <a:solidFill>
                    <a:srgbClr val="065F46"/>
                  </a:solidFill>
                  <a:latin typeface="Inter"/>
                  <a:ea typeface="Inter"/>
                  <a:cs typeface="Inter"/>
                  <a:sym typeface="Inter"/>
                </a:rPr>
                <a:t>Modela primero donde el ciudadano cumple todo y el expediente avanza sin problemas.</a:t>
              </a:r>
              <a:endParaRPr b="0" sz="2200">
                <a:solidFill>
                  <a:srgbClr val="065F46"/>
                </a:solidFill>
                <a:latin typeface="Inter"/>
                <a:ea typeface="Inter"/>
                <a:cs typeface="Inter"/>
                <a:sym typeface="Inter"/>
              </a:endParaRPr>
            </a:p>
          </p:txBody>
        </p:sp>
      </p:grpSp>
      <p:grpSp>
        <p:nvGrpSpPr>
          <p:cNvPr id="205" name="Google Shape;205;p18"/>
          <p:cNvGrpSpPr/>
          <p:nvPr/>
        </p:nvGrpSpPr>
        <p:grpSpPr>
          <a:xfrm>
            <a:off x="9810750" y="3048000"/>
            <a:ext cx="6667500" cy="4286400"/>
            <a:chOff x="9810750" y="3048000"/>
            <a:chExt cx="6667500" cy="4286400"/>
          </a:xfrm>
        </p:grpSpPr>
        <p:sp>
          <p:nvSpPr>
            <p:cNvPr id="206" name="Google Shape;206;p18"/>
            <p:cNvSpPr/>
            <p:nvPr/>
          </p:nvSpPr>
          <p:spPr>
            <a:xfrm>
              <a:off x="9810750" y="3048000"/>
              <a:ext cx="6667500" cy="4286400"/>
            </a:xfrm>
            <a:prstGeom prst="roundRect">
              <a:avLst>
                <a:gd fmla="val 8888" name="adj"/>
              </a:avLst>
            </a:prstGeom>
            <a:solidFill>
              <a:srgbClr val="FFF7ED"/>
            </a:solidFill>
            <a:ln cap="flat" cmpd="sng" w="19050">
              <a:solidFill>
                <a:srgbClr val="FED7A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7" name="Google Shape;207;p18"/>
            <p:cNvSpPr/>
            <p:nvPr/>
          </p:nvSpPr>
          <p:spPr>
            <a:xfrm>
              <a:off x="9810750" y="3048000"/>
              <a:ext cx="6667500" cy="114300"/>
            </a:xfrm>
            <a:prstGeom prst="roundRect">
              <a:avLst>
                <a:gd fmla="val 50000" name="adj"/>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8" name="Google Shape;208;p18"/>
            <p:cNvSpPr txBox="1"/>
            <p:nvPr/>
          </p:nvSpPr>
          <p:spPr>
            <a:xfrm>
              <a:off x="10287000" y="3516630"/>
              <a:ext cx="9525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6000">
                  <a:solidFill>
                    <a:srgbClr val="EA580C"/>
                  </a:solidFill>
                  <a:latin typeface="Material Icons"/>
                  <a:ea typeface="Material Icons"/>
                  <a:cs typeface="Material Icons"/>
                  <a:sym typeface="Material Icons"/>
                </a:rPr>
                <a:t></a:t>
              </a:r>
              <a:endParaRPr sz="6000">
                <a:solidFill>
                  <a:srgbClr val="EA580C"/>
                </a:solidFill>
                <a:latin typeface="Material Icons"/>
                <a:ea typeface="Material Icons"/>
                <a:cs typeface="Material Icons"/>
                <a:sym typeface="Material Icons"/>
              </a:endParaRPr>
            </a:p>
          </p:txBody>
        </p:sp>
        <p:sp>
          <p:nvSpPr>
            <p:cNvPr id="209" name="Google Shape;209;p18"/>
            <p:cNvSpPr txBox="1"/>
            <p:nvPr/>
          </p:nvSpPr>
          <p:spPr>
            <a:xfrm>
              <a:off x="10287000" y="4381500"/>
              <a:ext cx="5715000" cy="571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800">
                  <a:solidFill>
                    <a:srgbClr val="EA580C"/>
                  </a:solidFill>
                  <a:latin typeface="Inter"/>
                  <a:ea typeface="Inter"/>
                  <a:cs typeface="Inter"/>
                  <a:sym typeface="Inter"/>
                </a:rPr>
                <a:t>2. Las excepciones</a:t>
              </a:r>
              <a:endParaRPr b="1" sz="2800">
                <a:solidFill>
                  <a:srgbClr val="EA580C"/>
                </a:solidFill>
                <a:latin typeface="Inter"/>
                <a:ea typeface="Inter"/>
                <a:cs typeface="Inter"/>
                <a:sym typeface="Inter"/>
              </a:endParaRPr>
            </a:p>
          </p:txBody>
        </p:sp>
        <p:sp>
          <p:nvSpPr>
            <p:cNvPr id="210" name="Google Shape;210;p18"/>
            <p:cNvSpPr txBox="1"/>
            <p:nvPr/>
          </p:nvSpPr>
          <p:spPr>
            <a:xfrm>
              <a:off x="10287000" y="4953000"/>
              <a:ext cx="5715000" cy="2095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2000">
                  <a:solidFill>
                    <a:srgbClr val="4B5563"/>
                  </a:solidFill>
                  <a:latin typeface="Inter"/>
                  <a:ea typeface="Inter"/>
                  <a:cs typeface="Inter"/>
                  <a:sym typeface="Inter"/>
                </a:rPr>
                <a:t>Agrega luego los caminos donde:</a:t>
              </a:r>
              <a:endParaRPr b="0" sz="2000">
                <a:solidFill>
                  <a:srgbClr val="4B5563"/>
                </a:solidFill>
                <a:latin typeface="Inter"/>
                <a:ea typeface="Inter"/>
                <a:cs typeface="Inter"/>
                <a:sym typeface="Inter"/>
              </a:endParaRPr>
            </a:p>
            <a:p>
              <a:pPr indent="-355600" lvl="0" marL="457200" rtl="0" algn="l">
                <a:spcBef>
                  <a:spcPts val="750"/>
                </a:spcBef>
                <a:spcAft>
                  <a:spcPts val="0"/>
                </a:spcAft>
                <a:buClr>
                  <a:srgbClr val="4B5563"/>
                </a:buClr>
                <a:buSzPts val="2000"/>
                <a:buFont typeface="Inter"/>
                <a:buChar char="●"/>
              </a:pPr>
              <a:r>
                <a:rPr b="0" lang="en-US" sz="2000">
                  <a:solidFill>
                    <a:srgbClr val="4B5563"/>
                  </a:solidFill>
                  <a:latin typeface="Inter"/>
                  <a:ea typeface="Inter"/>
                  <a:cs typeface="Inter"/>
                  <a:sym typeface="Inter"/>
                </a:rPr>
                <a:t>Falta un documento.</a:t>
              </a:r>
              <a:endParaRPr b="0" sz="2000">
                <a:solidFill>
                  <a:srgbClr val="4B5563"/>
                </a:solidFill>
                <a:latin typeface="Inter"/>
                <a:ea typeface="Inter"/>
                <a:cs typeface="Inter"/>
                <a:sym typeface="Inter"/>
              </a:endParaRPr>
            </a:p>
            <a:p>
              <a:pPr indent="-355600" lvl="0" marL="457200" rtl="0" algn="l">
                <a:spcBef>
                  <a:spcPts val="600"/>
                </a:spcBef>
                <a:spcAft>
                  <a:spcPts val="0"/>
                </a:spcAft>
                <a:buClr>
                  <a:srgbClr val="4B5563"/>
                </a:buClr>
                <a:buSzPts val="2000"/>
                <a:buFont typeface="Inter"/>
                <a:buChar char="●"/>
              </a:pPr>
              <a:r>
                <a:rPr b="0" lang="en-US" sz="2000">
                  <a:solidFill>
                    <a:srgbClr val="4B5563"/>
                  </a:solidFill>
                  <a:latin typeface="Inter"/>
                  <a:ea typeface="Inter"/>
                  <a:cs typeface="Inter"/>
                  <a:sym typeface="Inter"/>
                </a:rPr>
                <a:t>El pago no se acreditó.</a:t>
              </a:r>
              <a:endParaRPr b="0" sz="2000">
                <a:solidFill>
                  <a:srgbClr val="4B5563"/>
                </a:solidFill>
                <a:latin typeface="Inter"/>
                <a:ea typeface="Inter"/>
                <a:cs typeface="Inter"/>
                <a:sym typeface="Inter"/>
              </a:endParaRPr>
            </a:p>
            <a:p>
              <a:pPr indent="-355600" lvl="0" marL="457200" rtl="0" algn="l">
                <a:spcBef>
                  <a:spcPts val="600"/>
                </a:spcBef>
                <a:spcAft>
                  <a:spcPts val="0"/>
                </a:spcAft>
                <a:buClr>
                  <a:srgbClr val="4B5563"/>
                </a:buClr>
                <a:buSzPts val="2000"/>
                <a:buFont typeface="Inter"/>
                <a:buChar char="●"/>
              </a:pPr>
              <a:r>
                <a:rPr b="0" lang="en-US" sz="2000">
                  <a:solidFill>
                    <a:srgbClr val="4B5563"/>
                  </a:solidFill>
                  <a:latin typeface="Inter"/>
                  <a:ea typeface="Inter"/>
                  <a:cs typeface="Inter"/>
                  <a:sym typeface="Inter"/>
                </a:rPr>
                <a:t>La inspección observó algo.</a:t>
              </a:r>
              <a:endParaRPr b="0" sz="2000">
                <a:solidFill>
                  <a:srgbClr val="4B5563"/>
                </a:solidFill>
                <a:latin typeface="Inter"/>
                <a:ea typeface="Inter"/>
                <a:cs typeface="Inter"/>
                <a:sym typeface="Inter"/>
              </a:endParaRPr>
            </a:p>
          </p:txBody>
        </p:sp>
      </p:grpSp>
      <p:sp>
        <p:nvSpPr>
          <p:cNvPr id="211" name="Google Shape;211;p18"/>
          <p:cNvSpPr txBox="1"/>
          <p:nvPr/>
        </p:nvSpPr>
        <p:spPr>
          <a:xfrm>
            <a:off x="1371600" y="8096250"/>
            <a:ext cx="155448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2200">
                <a:solidFill>
                  <a:srgbClr val="888888"/>
                </a:solidFill>
                <a:latin typeface="Inter"/>
                <a:ea typeface="Inter"/>
                <a:cs typeface="Inter"/>
                <a:sym typeface="Inter"/>
              </a:rPr>
              <a:t>Si modelas todo junto desde el principio, te empantanas.</a:t>
            </a:r>
            <a:endParaRPr b="0" sz="2200">
              <a:solidFill>
                <a:srgbClr val="888888"/>
              </a:solidFill>
              <a:latin typeface="Inter"/>
              <a:ea typeface="Inter"/>
              <a:cs typeface="Inter"/>
              <a:sym typeface="Inte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19"/>
          <p:cNvSpPr/>
          <p:nvPr/>
        </p:nvSpPr>
        <p:spPr>
          <a:xfrm>
            <a:off x="0" y="0"/>
            <a:ext cx="18288000" cy="10287000"/>
          </a:xfrm>
          <a:prstGeom prst="rect">
            <a:avLst/>
          </a:prstGeom>
          <a:solidFill>
            <a:srgbClr val="EA580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8" name="Google Shape;218;p19"/>
          <p:cNvSpPr txBox="1"/>
          <p:nvPr/>
        </p:nvSpPr>
        <p:spPr>
          <a:xfrm>
            <a:off x="1371600" y="3200400"/>
            <a:ext cx="15544800" cy="13716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4200" u="none" cap="none" strike="noStrike">
                <a:solidFill>
                  <a:srgbClr val="FFFFFF"/>
                </a:solidFill>
                <a:latin typeface="Inter"/>
                <a:ea typeface="Inter"/>
                <a:cs typeface="Inter"/>
                <a:sym typeface="Inter"/>
              </a:rPr>
              <a:t>Las etapas se modelan mirando como se trabaja,</a:t>
            </a:r>
            <a:endParaRPr/>
          </a:p>
        </p:txBody>
      </p:sp>
      <p:sp>
        <p:nvSpPr>
          <p:cNvPr id="219" name="Google Shape;219;p19"/>
          <p:cNvSpPr txBox="1"/>
          <p:nvPr/>
        </p:nvSpPr>
        <p:spPr>
          <a:xfrm>
            <a:off x="1371600" y="4754880"/>
            <a:ext cx="15544800" cy="1200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7800" u="none" cap="none" strike="noStrike">
                <a:solidFill>
                  <a:srgbClr val="FFFFFF"/>
                </a:solidFill>
                <a:latin typeface="Inter"/>
                <a:ea typeface="Inter"/>
                <a:cs typeface="Inter"/>
                <a:sym typeface="Inter"/>
              </a:rPr>
              <a:t>no como se </a:t>
            </a:r>
            <a:r>
              <a:rPr b="1" lang="en-US" sz="7800">
                <a:solidFill>
                  <a:srgbClr val="FFFFFF"/>
                </a:solidFill>
                <a:latin typeface="Inter"/>
                <a:ea typeface="Inter"/>
                <a:cs typeface="Inter"/>
                <a:sym typeface="Inter"/>
              </a:rPr>
              <a:t>debería</a:t>
            </a:r>
            <a:r>
              <a:rPr b="1" i="0" lang="en-US" sz="7800" u="none" cap="none" strike="noStrike">
                <a:solidFill>
                  <a:srgbClr val="FFFFFF"/>
                </a:solidFill>
                <a:latin typeface="Inter"/>
                <a:ea typeface="Inter"/>
                <a:cs typeface="Inter"/>
                <a:sym typeface="Inter"/>
              </a:rPr>
              <a:t> trabajar</a:t>
            </a:r>
            <a:endParaRPr/>
          </a:p>
        </p:txBody>
      </p:sp>
      <p:sp>
        <p:nvSpPr>
          <p:cNvPr id="220" name="Google Shape;220;p19"/>
          <p:cNvSpPr txBox="1"/>
          <p:nvPr/>
        </p:nvSpPr>
        <p:spPr>
          <a:xfrm>
            <a:off x="1371600" y="7315200"/>
            <a:ext cx="15544800" cy="109728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3000" u="none" cap="none" strike="noStrike">
                <a:solidFill>
                  <a:srgbClr val="FFFFFF"/>
                </a:solidFill>
                <a:latin typeface="Inter"/>
                <a:ea typeface="Inter"/>
                <a:cs typeface="Inter"/>
                <a:sym typeface="Inter"/>
              </a:rPr>
              <a:t>Primero reflejar la realidad. Despues, mejorarla.</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