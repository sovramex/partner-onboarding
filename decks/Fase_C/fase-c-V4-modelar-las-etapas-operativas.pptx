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8.8s · 22 palabras]</a:t>
            </a:r>
          </a:p>
          <a:p/>
          <a:p>
            <a:r>
              <a:t>Una vez que el ciudadano envia el formulario, la solicitud entra al flujo interno del gobierno. Ese flujo se modela como etapas.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14.0s · 35 palabras]</a:t>
            </a:r>
          </a:p>
          <a:p/>
          <a:p>
            <a:r>
              <a:t>Cada etapa es un paso por el que pasa el expediente antes de resolverse: revision documental, pago si corresponde, cita presencial si hace falta, inspeccion de campo, firma de un responsable, emision del documento final.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21.6s · 54 palabras]</a:t>
            </a:r>
          </a:p>
          <a:p/>
          <a:p>
            <a:r>
              <a:t>Modelar las etapas es donde se hace visible como trabaja el gobierno de verdad. En el manual oficial probablemente diga que el tramite tiene tres pasos. Cuando te sientas con el area duena, descubres que en realidad pasa por cinco escritorios distintos. El modelo tiene que reflejar el flujo real, no el flujo ideal.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29.2s · 73 palabras]</a:t>
            </a:r>
          </a:p>
          <a:p/>
          <a:p>
            <a:r>
              <a:t>Hay una decision que aparece todo el tiempo. Conviene una etapa simple o conviene partirla en subetapas. El criterio es practico. Si puedes dibujar el flujo como una linea recta, donde el expediente pasa de una mano a la siguiente sin bifurcaciones, te alcanza con etapas simples. Si dos areas trabajan en paralelo sobre la misma solicitud, o si un area tiene que dividir el trabajo entre varias personas internas, ahi necesitas subetapas.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25.2s · 63 palabras]</a:t>
            </a:r>
          </a:p>
          <a:p/>
          <a:p>
            <a:r>
              <a:t>Hay piezas opcionales que se conectan al flujo segun el tramite. Si el tramite cobra una tasa, una de las etapas es el pago, y eso te lleva al modulo de pagos. Si el ciudadano tiene que ir presencialmente a una oficina, se modela como una cita. Si un inspector tiene que ir al domicilio o al comercio, se modela como una inspeccion.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21.6s · 54 palabras]</a:t>
            </a:r>
          </a:p>
          <a:p/>
          <a:p>
            <a:r>
              <a:t>Una recomendacion que vale para todos los tramites complejos. Modela primero el camino feliz, donde el ciudadano cumple todo y el expediente avanza sin problemas. Despues agrega los caminos de excepcion, donde falta un documento, el pago no se acredito o la inspeccion observo algo. Si modelas todo junto desde el principio, te empantanas.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11.6s · 29 palabras]</a:t>
            </a:r>
          </a:p>
          <a:p/>
          <a:p>
            <a:r>
              <a:t>Las etapas se modelan mirando como se trabaja, no como se deberia trabajar. La plataforma puede despues ayudar a mejorar el proceso, pero primero tiene que reflejar la realidad.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EA580C"/>
                </a:solidFill>
                <a:latin typeface="Figtree"/>
              </a:rPr>
              <a:t>FASE C</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Modelar las etapas</a:t>
            </a:r>
          </a:p>
          <a:p>
            <a:pPr algn="l">
              <a:lnSpc>
                <a:spcPct val="110000"/>
              </a:lnSpc>
            </a:pPr>
            <a:r>
              <a:rPr sz="8000" b="1" i="0">
                <a:solidFill>
                  <a:srgbClr val="0A0915"/>
                </a:solidFill>
                <a:latin typeface="Plus Jakarta Sans"/>
              </a:rPr>
              <a:t>operativas.</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El flujo interno del gobierno una vez que el ciudadano envia el formulario.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Una etapa es un paso por el que pasa el expediente.</a:t>
            </a:r>
          </a:p>
        </p:txBody>
      </p:sp>
      <p:sp>
        <p:nvSpPr>
          <p:cNvPr id="3" name="Rounded Rectangle 2"/>
          <p:cNvSpPr/>
          <p:nvPr/>
        </p:nvSpPr>
        <p:spPr>
          <a:xfrm>
            <a:off x="1371600" y="388620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Revision documental.</a:t>
            </a:r>
          </a:p>
        </p:txBody>
      </p:sp>
      <p:sp>
        <p:nvSpPr>
          <p:cNvPr id="5" name="Rounded Rectangle 4"/>
          <p:cNvSpPr/>
          <p:nvPr/>
        </p:nvSpPr>
        <p:spPr>
          <a:xfrm>
            <a:off x="1371600" y="470916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Pago, si corresponde.</a:t>
            </a:r>
          </a:p>
        </p:txBody>
      </p:sp>
      <p:sp>
        <p:nvSpPr>
          <p:cNvPr id="7" name="Rounded Rectangle 6"/>
          <p:cNvSpPr/>
          <p:nvPr/>
        </p:nvSpPr>
        <p:spPr>
          <a:xfrm>
            <a:off x="1371600" y="553212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Cita presencial, si hace falta.</a:t>
            </a:r>
          </a:p>
        </p:txBody>
      </p:sp>
      <p:sp>
        <p:nvSpPr>
          <p:cNvPr id="9" name="Rounded Rectangle 8"/>
          <p:cNvSpPr/>
          <p:nvPr/>
        </p:nvSpPr>
        <p:spPr>
          <a:xfrm>
            <a:off x="1371600" y="635508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Inspeccion de campo.</a:t>
            </a:r>
          </a:p>
        </p:txBody>
      </p:sp>
      <p:sp>
        <p:nvSpPr>
          <p:cNvPr id="11" name="Rounded Rectangle 10"/>
          <p:cNvSpPr/>
          <p:nvPr/>
        </p:nvSpPr>
        <p:spPr>
          <a:xfrm>
            <a:off x="1371600" y="717804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694944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Firma de un responsable.</a:t>
            </a:r>
          </a:p>
        </p:txBody>
      </p:sp>
      <p:sp>
        <p:nvSpPr>
          <p:cNvPr id="13" name="Rounded Rectangle 12"/>
          <p:cNvSpPr/>
          <p:nvPr/>
        </p:nvSpPr>
        <p:spPr>
          <a:xfrm>
            <a:off x="1371600" y="800100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0" y="77724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Emision del documento final.</a:t>
            </a:r>
          </a:p>
        </p:txBody>
      </p:sp>
      <p:sp>
        <p:nvSpPr>
          <p:cNvPr id="15" name="TextBox 1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2286000"/>
          </a:xfrm>
          <a:prstGeom prst="rect">
            <a:avLst/>
          </a:prstGeom>
          <a:noFill/>
        </p:spPr>
        <p:txBody>
          <a:bodyPr wrap="square" anchor="t" lIns="0" rIns="0" tIns="0" bIns="0">
            <a:spAutoFit/>
          </a:bodyPr>
          <a:lstStyle/>
          <a:p>
            <a:pPr algn="ctr">
              <a:lnSpc>
                <a:spcPct val="115000"/>
              </a:lnSpc>
            </a:pPr>
            <a:r>
              <a:rPr sz="4400" b="1" i="0">
                <a:solidFill>
                  <a:srgbClr val="0A0915"/>
                </a:solidFill>
                <a:latin typeface="Plus Jakarta Sans"/>
              </a:rPr>
              <a:t>Modelar el flujo real,</a:t>
            </a:r>
          </a:p>
          <a:p>
            <a:pPr algn="ctr">
              <a:lnSpc>
                <a:spcPct val="115000"/>
              </a:lnSpc>
            </a:pPr>
            <a:r>
              <a:rPr sz="4400" b="1" i="0">
                <a:solidFill>
                  <a:srgbClr val="0A0915"/>
                </a:solidFill>
                <a:latin typeface="Plus Jakarta Sans"/>
              </a:rPr>
              <a:t>no el flujo ideal.</a:t>
            </a:r>
          </a:p>
        </p:txBody>
      </p:sp>
      <p:sp>
        <p:nvSpPr>
          <p:cNvPr id="3" name="Rounded Rectangle 2"/>
          <p:cNvSpPr/>
          <p:nvPr/>
        </p:nvSpPr>
        <p:spPr>
          <a:xfrm>
            <a:off x="1828800" y="4572000"/>
            <a:ext cx="6400800" cy="411480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5029200"/>
            <a:ext cx="5486400" cy="731520"/>
          </a:xfrm>
          <a:prstGeom prst="rect">
            <a:avLst/>
          </a:prstGeom>
          <a:noFill/>
        </p:spPr>
        <p:txBody>
          <a:bodyPr wrap="square" anchor="t" lIns="0" rIns="0" tIns="0" bIns="0">
            <a:spAutoFit/>
          </a:bodyPr>
          <a:lstStyle/>
          <a:p>
            <a:pPr algn="l">
              <a:lnSpc>
                <a:spcPct val="115000"/>
              </a:lnSpc>
            </a:pPr>
            <a:r>
              <a:rPr sz="1800" b="1" i="0">
                <a:solidFill>
                  <a:srgbClr val="888888"/>
                </a:solidFill>
                <a:latin typeface="Figtree"/>
              </a:rPr>
              <a:t>Manual oficial</a:t>
            </a:r>
          </a:p>
        </p:txBody>
      </p:sp>
      <p:sp>
        <p:nvSpPr>
          <p:cNvPr id="5" name="TextBox 4"/>
          <p:cNvSpPr txBox="1"/>
          <p:nvPr/>
        </p:nvSpPr>
        <p:spPr>
          <a:xfrm>
            <a:off x="2286000" y="6035040"/>
            <a:ext cx="5486400" cy="2286000"/>
          </a:xfrm>
          <a:prstGeom prst="rect">
            <a:avLst/>
          </a:prstGeom>
          <a:noFill/>
        </p:spPr>
        <p:txBody>
          <a:bodyPr wrap="square" anchor="t" lIns="0" rIns="0" tIns="0" bIns="0">
            <a:spAutoFit/>
          </a:bodyPr>
          <a:lstStyle/>
          <a:p>
            <a:pPr algn="l">
              <a:lnSpc>
                <a:spcPct val="130000"/>
              </a:lnSpc>
            </a:pPr>
            <a:r>
              <a:rPr sz="2800" b="0" i="0">
                <a:solidFill>
                  <a:srgbClr val="0A0915"/>
                </a:solidFill>
                <a:latin typeface="Plus Jakarta Sans"/>
              </a:rPr>
              <a:t>Dice que el tramite tiene tres pasos.</a:t>
            </a:r>
          </a:p>
        </p:txBody>
      </p:sp>
      <p:sp>
        <p:nvSpPr>
          <p:cNvPr id="6" name="Rounded Rectangle 5"/>
          <p:cNvSpPr/>
          <p:nvPr/>
        </p:nvSpPr>
        <p:spPr>
          <a:xfrm>
            <a:off x="10058400" y="4572000"/>
            <a:ext cx="6400800" cy="41148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5029200"/>
            <a:ext cx="5486400" cy="731520"/>
          </a:xfrm>
          <a:prstGeom prst="rect">
            <a:avLst/>
          </a:prstGeom>
          <a:noFill/>
        </p:spPr>
        <p:txBody>
          <a:bodyPr wrap="square" anchor="t" lIns="0" rIns="0" tIns="0" bIns="0">
            <a:spAutoFit/>
          </a:bodyPr>
          <a:lstStyle/>
          <a:p>
            <a:pPr algn="l">
              <a:lnSpc>
                <a:spcPct val="115000"/>
              </a:lnSpc>
            </a:pPr>
            <a:r>
              <a:rPr sz="1800" b="1" i="0">
                <a:solidFill>
                  <a:srgbClr val="FFFFFF"/>
                </a:solidFill>
                <a:latin typeface="Figtree"/>
              </a:rPr>
              <a:t>Realidad</a:t>
            </a:r>
          </a:p>
        </p:txBody>
      </p:sp>
      <p:sp>
        <p:nvSpPr>
          <p:cNvPr id="8" name="TextBox 7"/>
          <p:cNvSpPr txBox="1"/>
          <p:nvPr/>
        </p:nvSpPr>
        <p:spPr>
          <a:xfrm>
            <a:off x="10515600" y="6035040"/>
            <a:ext cx="5486400" cy="2286000"/>
          </a:xfrm>
          <a:prstGeom prst="rect">
            <a:avLst/>
          </a:prstGeom>
          <a:noFill/>
        </p:spPr>
        <p:txBody>
          <a:bodyPr wrap="square" anchor="t" lIns="0" rIns="0" tIns="0" bIns="0">
            <a:spAutoFit/>
          </a:bodyPr>
          <a:lstStyle/>
          <a:p>
            <a:pPr algn="l">
              <a:lnSpc>
                <a:spcPct val="130000"/>
              </a:lnSpc>
            </a:pPr>
            <a:r>
              <a:rPr sz="2800" b="0" i="0">
                <a:solidFill>
                  <a:srgbClr val="FFFFFF"/>
                </a:solidFill>
                <a:latin typeface="Plus Jakarta Sans"/>
              </a:rPr>
              <a:t>Cuando te sentas con el area duena, descubris que pasa por cinco escritorios distintos.</a:t>
            </a:r>
          </a:p>
        </p:txBody>
      </p:sp>
      <p:sp>
        <p:nvSpPr>
          <p:cNvPr id="9" name="TextBox 8"/>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2286000"/>
          </a:xfrm>
          <a:prstGeom prst="rect">
            <a:avLst/>
          </a:prstGeom>
          <a:noFill/>
        </p:spPr>
        <p:txBody>
          <a:bodyPr wrap="square" anchor="t" lIns="0" rIns="0" tIns="0" bIns="0">
            <a:spAutoFit/>
          </a:bodyPr>
          <a:lstStyle/>
          <a:p>
            <a:pPr algn="ctr">
              <a:lnSpc>
                <a:spcPct val="110000"/>
              </a:lnSpc>
            </a:pPr>
            <a:r>
              <a:rPr sz="4600" b="1" i="0">
                <a:solidFill>
                  <a:srgbClr val="0A0915"/>
                </a:solidFill>
                <a:latin typeface="Plus Jakarta Sans"/>
              </a:rPr>
              <a:t>?Etapa simple o subetapas?</a:t>
            </a:r>
          </a:p>
        </p:txBody>
      </p:sp>
      <p:sp>
        <p:nvSpPr>
          <p:cNvPr id="3" name="Rounded Rectangle 2"/>
          <p:cNvSpPr/>
          <p:nvPr/>
        </p:nvSpPr>
        <p:spPr>
          <a:xfrm>
            <a:off x="1828800" y="4754880"/>
            <a:ext cx="6400800" cy="4114800"/>
          </a:xfrm>
          <a:prstGeom prst="roundRect">
            <a:avLst/>
          </a:prstGeom>
          <a:solidFill>
            <a:srgbClr val="FEF2F2"/>
          </a:solidFill>
          <a:ln w="1270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5120640"/>
            <a:ext cx="914400" cy="1097280"/>
          </a:xfrm>
          <a:prstGeom prst="rect">
            <a:avLst/>
          </a:prstGeom>
          <a:noFill/>
        </p:spPr>
        <p:txBody>
          <a:bodyPr wrap="square" anchor="t" lIns="0" rIns="0" tIns="0" bIns="0">
            <a:spAutoFit/>
          </a:bodyPr>
          <a:lstStyle/>
          <a:p>
            <a:pPr algn="l">
              <a:lnSpc>
                <a:spcPct val="115000"/>
              </a:lnSpc>
            </a:pPr>
            <a:r>
              <a:rPr sz="3600" b="1" i="0">
                <a:solidFill>
                  <a:srgbClr val="DC2626"/>
                </a:solidFill>
                <a:latin typeface="Plus Jakarta Sans"/>
              </a:rPr>
              <a:t>✗</a:t>
            </a:r>
          </a:p>
        </p:txBody>
      </p:sp>
      <p:sp>
        <p:nvSpPr>
          <p:cNvPr id="5" name="TextBox 4"/>
          <p:cNvSpPr txBox="1"/>
          <p:nvPr/>
        </p:nvSpPr>
        <p:spPr>
          <a:xfrm>
            <a:off x="2286000" y="6217920"/>
            <a:ext cx="5486400" cy="1371600"/>
          </a:xfrm>
          <a:prstGeom prst="rect">
            <a:avLst/>
          </a:prstGeom>
          <a:noFill/>
        </p:spPr>
        <p:txBody>
          <a:bodyPr wrap="square" anchor="t" lIns="0" rIns="0" tIns="0" bIns="0">
            <a:spAutoFit/>
          </a:bodyPr>
          <a:lstStyle/>
          <a:p>
            <a:pPr algn="l">
              <a:lnSpc>
                <a:spcPct val="115000"/>
              </a:lnSpc>
            </a:pPr>
            <a:r>
              <a:rPr sz="3000" b="1" i="0">
                <a:solidFill>
                  <a:srgbClr val="0A0915"/>
                </a:solidFill>
                <a:latin typeface="Plus Jakarta Sans"/>
              </a:rPr>
              <a:t>Subetapas siempre.</a:t>
            </a:r>
          </a:p>
        </p:txBody>
      </p:sp>
      <p:sp>
        <p:nvSpPr>
          <p:cNvPr id="6" name="TextBox 5"/>
          <p:cNvSpPr txBox="1"/>
          <p:nvPr/>
        </p:nvSpPr>
        <p:spPr>
          <a:xfrm>
            <a:off x="2286000" y="7315200"/>
            <a:ext cx="5486400" cy="1371600"/>
          </a:xfrm>
          <a:prstGeom prst="rect">
            <a:avLst/>
          </a:prstGeom>
          <a:noFill/>
        </p:spPr>
        <p:txBody>
          <a:bodyPr wrap="square" anchor="t" lIns="0" rIns="0" tIns="0" bIns="0">
            <a:spAutoFit/>
          </a:bodyPr>
          <a:lstStyle/>
          <a:p>
            <a:pPr algn="l">
              <a:lnSpc>
                <a:spcPct val="140000"/>
              </a:lnSpc>
            </a:pPr>
            <a:r>
              <a:rPr sz="1800" b="0" i="0">
                <a:solidFill>
                  <a:srgbClr val="888888"/>
                </a:solidFill>
                <a:latin typeface="Figtree"/>
              </a:rPr>
              <a:t>Te empantanas modelando un flujo que es linea recta.</a:t>
            </a:r>
          </a:p>
        </p:txBody>
      </p:sp>
      <p:sp>
        <p:nvSpPr>
          <p:cNvPr id="7" name="Rounded Rectangle 6"/>
          <p:cNvSpPr/>
          <p:nvPr/>
        </p:nvSpPr>
        <p:spPr>
          <a:xfrm>
            <a:off x="10058400" y="4754880"/>
            <a:ext cx="6400800" cy="411480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5120640"/>
            <a:ext cx="914400" cy="1097280"/>
          </a:xfrm>
          <a:prstGeom prst="rect">
            <a:avLst/>
          </a:prstGeom>
          <a:noFill/>
        </p:spPr>
        <p:txBody>
          <a:bodyPr wrap="square" anchor="t" lIns="0" rIns="0" tIns="0" bIns="0">
            <a:spAutoFit/>
          </a:bodyPr>
          <a:lstStyle/>
          <a:p>
            <a:pPr algn="l">
              <a:lnSpc>
                <a:spcPct val="115000"/>
              </a:lnSpc>
            </a:pPr>
            <a:r>
              <a:rPr sz="3600" b="1" i="0">
                <a:solidFill>
                  <a:srgbClr val="10B981"/>
                </a:solidFill>
                <a:latin typeface="Plus Jakarta Sans"/>
              </a:rPr>
              <a:t>✓</a:t>
            </a:r>
          </a:p>
        </p:txBody>
      </p:sp>
      <p:sp>
        <p:nvSpPr>
          <p:cNvPr id="9" name="TextBox 8"/>
          <p:cNvSpPr txBox="1"/>
          <p:nvPr/>
        </p:nvSpPr>
        <p:spPr>
          <a:xfrm>
            <a:off x="10515600" y="6217920"/>
            <a:ext cx="5486400" cy="1371600"/>
          </a:xfrm>
          <a:prstGeom prst="rect">
            <a:avLst/>
          </a:prstGeom>
          <a:noFill/>
        </p:spPr>
        <p:txBody>
          <a:bodyPr wrap="square" anchor="t" lIns="0" rIns="0" tIns="0" bIns="0">
            <a:spAutoFit/>
          </a:bodyPr>
          <a:lstStyle/>
          <a:p>
            <a:pPr algn="l">
              <a:lnSpc>
                <a:spcPct val="115000"/>
              </a:lnSpc>
            </a:pPr>
            <a:r>
              <a:rPr sz="3000" b="1" i="0">
                <a:solidFill>
                  <a:srgbClr val="0A0915"/>
                </a:solidFill>
                <a:latin typeface="Plus Jakarta Sans"/>
              </a:rPr>
              <a:t>Etapas si dibujas linea recta.</a:t>
            </a:r>
          </a:p>
        </p:txBody>
      </p:sp>
      <p:sp>
        <p:nvSpPr>
          <p:cNvPr id="10" name="TextBox 9"/>
          <p:cNvSpPr txBox="1"/>
          <p:nvPr/>
        </p:nvSpPr>
        <p:spPr>
          <a:xfrm>
            <a:off x="10515600" y="7315200"/>
            <a:ext cx="5486400" cy="1371600"/>
          </a:xfrm>
          <a:prstGeom prst="rect">
            <a:avLst/>
          </a:prstGeom>
          <a:noFill/>
        </p:spPr>
        <p:txBody>
          <a:bodyPr wrap="square" anchor="t" lIns="0" rIns="0" tIns="0" bIns="0">
            <a:spAutoFit/>
          </a:bodyPr>
          <a:lstStyle/>
          <a:p>
            <a:pPr algn="l">
              <a:lnSpc>
                <a:spcPct val="140000"/>
              </a:lnSpc>
            </a:pPr>
            <a:r>
              <a:rPr sz="1800" b="0" i="0">
                <a:solidFill>
                  <a:srgbClr val="888888"/>
                </a:solidFill>
                <a:latin typeface="Figtree"/>
              </a:rPr>
              <a:t>Subetapas solo si dos areas trabajan en paralelo, o si un area divide el trabajo entre varias personas internas.</a:t>
            </a:r>
          </a:p>
        </p:txBody>
      </p:sp>
      <p:sp>
        <p:nvSpPr>
          <p:cNvPr id="11" name="TextBox 10"/>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097280"/>
            <a:ext cx="15544800" cy="1371600"/>
          </a:xfrm>
          <a:prstGeom prst="rect">
            <a:avLst/>
          </a:prstGeom>
          <a:noFill/>
        </p:spPr>
        <p:txBody>
          <a:bodyPr wrap="square" anchor="t" lIns="0" rIns="0" tIns="0" bIns="0">
            <a:spAutoFit/>
          </a:bodyPr>
          <a:lstStyle/>
          <a:p>
            <a:pPr algn="ctr">
              <a:lnSpc>
                <a:spcPct val="115000"/>
              </a:lnSpc>
            </a:pPr>
            <a:r>
              <a:rPr sz="4400" b="1" i="0">
                <a:solidFill>
                  <a:srgbClr val="0A0915"/>
                </a:solidFill>
                <a:latin typeface="Plus Jakarta Sans"/>
              </a:rPr>
              <a:t>Piezas opcionales que se conectan al flujo.</a:t>
            </a:r>
          </a:p>
        </p:txBody>
      </p:sp>
      <p:sp>
        <p:nvSpPr>
          <p:cNvPr id="3" name="Rounded Rectangle 2"/>
          <p:cNvSpPr/>
          <p:nvPr/>
        </p:nvSpPr>
        <p:spPr>
          <a:xfrm>
            <a:off x="11430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3000" y="4572000"/>
            <a:ext cx="5029200" cy="137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5120640"/>
            <a:ext cx="4297680" cy="1097280"/>
          </a:xfrm>
          <a:prstGeom prst="rect">
            <a:avLst/>
          </a:prstGeom>
          <a:noFill/>
        </p:spPr>
        <p:txBody>
          <a:bodyPr wrap="square" anchor="t" lIns="0" rIns="0" tIns="0" bIns="0">
            <a:spAutoFit/>
          </a:bodyPr>
          <a:lstStyle/>
          <a:p>
            <a:pPr algn="l">
              <a:lnSpc>
                <a:spcPct val="115000"/>
              </a:lnSpc>
            </a:pPr>
            <a:r>
              <a:rPr sz="3000" b="1" i="0">
                <a:solidFill>
                  <a:srgbClr val="EA580C"/>
                </a:solidFill>
                <a:latin typeface="Plus Jakarta Sans"/>
              </a:rPr>
              <a:t>Pagos</a:t>
            </a:r>
          </a:p>
        </p:txBody>
      </p:sp>
      <p:sp>
        <p:nvSpPr>
          <p:cNvPr id="6" name="TextBox 5"/>
          <p:cNvSpPr txBox="1"/>
          <p:nvPr/>
        </p:nvSpPr>
        <p:spPr>
          <a:xfrm>
            <a:off x="15087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Si el tramite cobra una tasa, una de las etapas es el pago. Te lleva al modulo de pagos.</a:t>
            </a:r>
          </a:p>
        </p:txBody>
      </p:sp>
      <p:sp>
        <p:nvSpPr>
          <p:cNvPr id="7" name="Rounded Rectangle 6"/>
          <p:cNvSpPr/>
          <p:nvPr/>
        </p:nvSpPr>
        <p:spPr>
          <a:xfrm>
            <a:off x="66294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629400" y="4572000"/>
            <a:ext cx="5029200" cy="137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5120640"/>
            <a:ext cx="4297680" cy="1097280"/>
          </a:xfrm>
          <a:prstGeom prst="rect">
            <a:avLst/>
          </a:prstGeom>
          <a:noFill/>
        </p:spPr>
        <p:txBody>
          <a:bodyPr wrap="square" anchor="t" lIns="0" rIns="0" tIns="0" bIns="0">
            <a:spAutoFit/>
          </a:bodyPr>
          <a:lstStyle/>
          <a:p>
            <a:pPr algn="l">
              <a:lnSpc>
                <a:spcPct val="115000"/>
              </a:lnSpc>
            </a:pPr>
            <a:r>
              <a:rPr sz="3000" b="1" i="0">
                <a:solidFill>
                  <a:srgbClr val="EA580C"/>
                </a:solidFill>
                <a:latin typeface="Plus Jakarta Sans"/>
              </a:rPr>
              <a:t>Citas</a:t>
            </a:r>
          </a:p>
        </p:txBody>
      </p:sp>
      <p:sp>
        <p:nvSpPr>
          <p:cNvPr id="10" name="TextBox 9"/>
          <p:cNvSpPr txBox="1"/>
          <p:nvPr/>
        </p:nvSpPr>
        <p:spPr>
          <a:xfrm>
            <a:off x="69951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Si el ciudadano tiene que ir presencialmente a una oficina, se modela como una cita.</a:t>
            </a:r>
          </a:p>
        </p:txBody>
      </p:sp>
      <p:sp>
        <p:nvSpPr>
          <p:cNvPr id="11" name="Rounded Rectangle 10"/>
          <p:cNvSpPr/>
          <p:nvPr/>
        </p:nvSpPr>
        <p:spPr>
          <a:xfrm>
            <a:off x="121158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115800" y="4572000"/>
            <a:ext cx="5029200" cy="137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81560" y="5120640"/>
            <a:ext cx="4297680" cy="1097280"/>
          </a:xfrm>
          <a:prstGeom prst="rect">
            <a:avLst/>
          </a:prstGeom>
          <a:noFill/>
        </p:spPr>
        <p:txBody>
          <a:bodyPr wrap="square" anchor="t" lIns="0" rIns="0" tIns="0" bIns="0">
            <a:spAutoFit/>
          </a:bodyPr>
          <a:lstStyle/>
          <a:p>
            <a:pPr algn="l">
              <a:lnSpc>
                <a:spcPct val="115000"/>
              </a:lnSpc>
            </a:pPr>
            <a:r>
              <a:rPr sz="3000" b="1" i="0">
                <a:solidFill>
                  <a:srgbClr val="EA580C"/>
                </a:solidFill>
                <a:latin typeface="Plus Jakarta Sans"/>
              </a:rPr>
              <a:t>Inspecciones</a:t>
            </a:r>
          </a:p>
        </p:txBody>
      </p:sp>
      <p:sp>
        <p:nvSpPr>
          <p:cNvPr id="14" name="TextBox 13"/>
          <p:cNvSpPr txBox="1"/>
          <p:nvPr/>
        </p:nvSpPr>
        <p:spPr>
          <a:xfrm>
            <a:off x="124815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Si un inspector tiene que ir al domicilio o al comercio, se modela como una inspeccion.</a:t>
            </a:r>
          </a:p>
        </p:txBody>
      </p:sp>
      <p:sp>
        <p:nvSpPr>
          <p:cNvPr id="15" name="TextBox 1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Recomendacion para tramites complejos</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Primero el camino feliz. Despues las excepciones.</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Modela primero donde el ciudadano cumple todo y el expediente avanza sin problemas. Despues agrega los caminos donde falta un documento, el pago no se acredito o la inspeccion observo algo. Si modelas todo junto desde el principio, te empantanas.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Las etapas se modelan mirando como se trabaja,</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no como se deberia trabajar.</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Primero reflejar la realidad. Despues, mejorarla.</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