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Lst>
  <p:sldSz cy="10287000" cx="18288000"/>
  <p:notesSz cx="6858000" cy="9144000"/>
  <p:embeddedFontLst>
    <p:embeddedFont>
      <p:font typeface="Inter"/>
      <p:regular r:id="rId13"/>
      <p:bold r:id="rId14"/>
      <p:italic r:id="rId15"/>
      <p:boldItalic r:id="rId16"/>
    </p:embeddedFont>
    <p:embeddedFont>
      <p:font typeface="Inter ExtraBold"/>
      <p:bold r:id="rId17"/>
      <p:boldItalic r:id="rId18"/>
    </p:embeddedFont>
    <p:embeddedFont>
      <p:font typeface="Inter Medium"/>
      <p:regular r:id="rId19"/>
      <p:bold r:id="rId20"/>
      <p:italic r:id="rId21"/>
      <p:boldItalic r:id="rId2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InterMedium-bold.fntdata"/><Relationship Id="rId11" Type="http://schemas.openxmlformats.org/officeDocument/2006/relationships/slide" Target="slides/slide6.xml"/><Relationship Id="rId22" Type="http://schemas.openxmlformats.org/officeDocument/2006/relationships/font" Target="fonts/InterMedium-boldItalic.fntdata"/><Relationship Id="rId10" Type="http://schemas.openxmlformats.org/officeDocument/2006/relationships/slide" Target="slides/slide5.xml"/><Relationship Id="rId21" Type="http://schemas.openxmlformats.org/officeDocument/2006/relationships/font" Target="fonts/InterMedium-italic.fntdata"/><Relationship Id="rId13" Type="http://schemas.openxmlformats.org/officeDocument/2006/relationships/font" Target="fonts/Inter-regular.fntdata"/><Relationship Id="rId12" Type="http://schemas.openxmlformats.org/officeDocument/2006/relationships/slide" Target="slides/slide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font" Target="fonts/Inter-italic.fntdata"/><Relationship Id="rId14" Type="http://schemas.openxmlformats.org/officeDocument/2006/relationships/font" Target="fonts/Inter-bold.fntdata"/><Relationship Id="rId17" Type="http://schemas.openxmlformats.org/officeDocument/2006/relationships/font" Target="fonts/InterExtraBold-bold.fntdata"/><Relationship Id="rId16" Type="http://schemas.openxmlformats.org/officeDocument/2006/relationships/font" Target="fonts/Inter-boldItalic.fntdata"/><Relationship Id="rId5" Type="http://schemas.openxmlformats.org/officeDocument/2006/relationships/notesMaster" Target="notesMasters/notesMaster1.xml"/><Relationship Id="rId19" Type="http://schemas.openxmlformats.org/officeDocument/2006/relationships/font" Target="fonts/InterMedium-regular.fntdata"/><Relationship Id="rId6" Type="http://schemas.openxmlformats.org/officeDocument/2006/relationships/slide" Target="slides/slide1.xml"/><Relationship Id="rId18" Type="http://schemas.openxmlformats.org/officeDocument/2006/relationships/font" Target="fonts/InterExtraBold-boldItalic.fntdata"/><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15.2s · 38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Antes de cerrar la fase, vale la pena dejar a la vista las tres trampas que se repiten en cada implementacion, los criterios para resolver las decisiones que vas a enfrentar y que te espera del otro lado.</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 name="Google Shape;91;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44.8s · 112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Las trampas, primero. Modelar sin validar con el area duena. Es la forma mas rapida de gastar tiempo en algo que despues hay que rehacer. Treinta minutos con el operador real son mas baratos y mas valiosos que dos dias de modelado sin feedback. La segunda trampa es dejar las integraciones para el final. El sistema de autenticacion del gobierno bloquea todo lo demas, asi que se prioriza desde Fase B y se cierra a mas tardar en mitad de Fase C. La tercera trampa es probar solo del lado operador. Si nadie probo el tramite desde la silla del ciudadano, no sabes si funciona; sabes que el operador no lo rompe.</a:t>
            </a:r>
            <a:endParaRPr/>
          </a:p>
        </p:txBody>
      </p:sp>
      <p:sp>
        <p:nvSpPr>
          <p:cNvPr id="92" name="Google Shape;92;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3" name="Google Shape;113;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25.2s · 63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Las decisiones, ahora. Cuando el area duena rechaza el modelado, te sientas con el operador real, no con su jefe. Cuando dudas entre etapas simples y subetapas, te preguntas si el flujo se dibuja como linea recta; si si, alcanza con etapas. Cuando no sabes si seguir iterando, te preguntas si el ciudadano puede completar el tramite sin ayuda; si si, esta listo.</a:t>
            </a:r>
            <a:endParaRPr/>
          </a:p>
        </p:txBody>
      </p:sp>
      <p:sp>
        <p:nvSpPr>
          <p:cNvPr id="114" name="Google Shape;114;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8" name="Google Shape;138;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35.6s · 89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Antes de declarar la fase cerrada, revisa el checklist completo. Todos los tramites priorizados, modelados. Cada uno validado con su area duena, con firma o confirmacion explicita. Testing de punta a punta pasado para cada tramite, con ciudadano y operador. Integraciones funcionando, sobre todo la de identidad. Cero bugs criticos abiertos. Guia publica configurada y revisada. Imagen institucional aplicada. Dominio funcionando. Y los roles, revisados una vez mas, porque entre Fase B y Fase D puede haber rotacion y conviene confirmar quien va a operar el sistema en produccion.</a:t>
            </a:r>
            <a:endParaRPr/>
          </a:p>
        </p:txBody>
      </p:sp>
      <p:sp>
        <p:nvSpPr>
          <p:cNvPr id="139" name="Google Shape;139;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4" name="Google Shape;164;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20.0s · 50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Si encuentras un bloqueo que no puedes resolver, ese es el momento de escalar a Sovra. Un bug critico que no destrabas, una integracion que no responde, un area duena que rechaza el modelado y no logras mediar. Para eso esta el modelo de soporte que armaste en fases anteriores.</a:t>
            </a:r>
            <a:endParaRPr/>
          </a:p>
        </p:txBody>
      </p:sp>
      <p:sp>
        <p:nvSpPr>
          <p:cNvPr id="165" name="Google Shape;165;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9" name="Google Shape;189;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38.8s · 97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Cuando termines Fase C, lo que tienes en la mano es una plataforma funcional con tramites probados. Lo que viene en Fase D es prepararla para produccion. Vas a capacitar a los operadores reales que la van a usar todos los dias, vas a montar el modelo de soporte ciudadano, vas a armar la comunicacion de lanzamiento y vas a hacer una ultima ronda de testing en condiciones lo mas parecidas posible a las de produccion. Son dos semanas mas cortas pero mas intensas, porque cada decision que tomas ahi ya tiene consecuencias visibles para el ciudadano.</a:t>
            </a:r>
            <a:endParaRPr/>
          </a:p>
        </p:txBody>
      </p:sp>
      <p:sp>
        <p:nvSpPr>
          <p:cNvPr id="190" name="Google Shape;190;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1" name="Google Shape;221;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12.8s · 32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Cierras Fase C cuando un ciudadano externo, sin nadie al lado, puede completar cualquiera de los tramites priorizados y recibir su documento. Si todavia no, falta. Si si, te espera Fase D.</a:t>
            </a:r>
            <a:endParaRPr/>
          </a:p>
        </p:txBody>
      </p:sp>
      <p:sp>
        <p:nvSpPr>
          <p:cNvPr id="222" name="Google Shape;222;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3"/>
          <p:cNvSpPr/>
          <p:nvPr/>
        </p:nvSpPr>
        <p:spPr>
          <a:xfrm>
            <a:off x="0" y="0"/>
            <a:ext cx="18288000" cy="228600"/>
          </a:xfrm>
          <a:prstGeom prst="rect">
            <a:avLst/>
          </a:prstGeom>
          <a:solidFill>
            <a:srgbClr val="EA580C"/>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3"/>
          <p:cNvSpPr txBox="1"/>
          <p:nvPr/>
        </p:nvSpPr>
        <p:spPr>
          <a:xfrm>
            <a:off x="1371600" y="3200400"/>
            <a:ext cx="15544800" cy="54864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800" u="none" cap="none" strike="noStrike">
                <a:solidFill>
                  <a:srgbClr val="EA580C"/>
                </a:solidFill>
                <a:latin typeface="Inter"/>
                <a:ea typeface="Inter"/>
                <a:cs typeface="Inter"/>
                <a:sym typeface="Inter"/>
              </a:rPr>
              <a:t>FASE C</a:t>
            </a:r>
            <a:endParaRPr/>
          </a:p>
        </p:txBody>
      </p:sp>
      <p:sp>
        <p:nvSpPr>
          <p:cNvPr id="87" name="Google Shape;87;p13"/>
          <p:cNvSpPr txBox="1"/>
          <p:nvPr/>
        </p:nvSpPr>
        <p:spPr>
          <a:xfrm>
            <a:off x="1371600" y="3840480"/>
            <a:ext cx="15544800" cy="2586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8000" u="none" cap="none" strike="noStrike">
                <a:solidFill>
                  <a:srgbClr val="0A0915"/>
                </a:solidFill>
                <a:latin typeface="Inter"/>
                <a:ea typeface="Inter"/>
                <a:cs typeface="Inter"/>
                <a:sym typeface="Inter"/>
              </a:rPr>
              <a:t>Errores comunes,</a:t>
            </a:r>
            <a:endParaRPr/>
          </a:p>
          <a:p>
            <a:pPr indent="0" lvl="0" marL="0" marR="0" rtl="0" algn="l">
              <a:lnSpc>
                <a:spcPct val="110000"/>
              </a:lnSpc>
              <a:spcBef>
                <a:spcPts val="0"/>
              </a:spcBef>
              <a:spcAft>
                <a:spcPts val="0"/>
              </a:spcAft>
              <a:buNone/>
            </a:pPr>
            <a:r>
              <a:rPr b="1" i="0" lang="en-US" sz="8000" u="none" cap="none" strike="noStrike">
                <a:solidFill>
                  <a:srgbClr val="0A0915"/>
                </a:solidFill>
                <a:latin typeface="Inter"/>
                <a:ea typeface="Inter"/>
                <a:cs typeface="Inter"/>
                <a:sym typeface="Inter"/>
              </a:rPr>
              <a:t>decisiones y que viene</a:t>
            </a:r>
            <a:endParaRPr/>
          </a:p>
        </p:txBody>
      </p:sp>
      <p:sp>
        <p:nvSpPr>
          <p:cNvPr id="88" name="Google Shape;88;p13"/>
          <p:cNvSpPr txBox="1"/>
          <p:nvPr/>
        </p:nvSpPr>
        <p:spPr>
          <a:xfrm>
            <a:off x="1371600" y="7772400"/>
            <a:ext cx="15544800" cy="13716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US" sz="2200" u="none" cap="none" strike="noStrike">
                <a:solidFill>
                  <a:srgbClr val="888888"/>
                </a:solidFill>
                <a:latin typeface="Inter"/>
                <a:ea typeface="Inter"/>
                <a:cs typeface="Inter"/>
                <a:sym typeface="Inter"/>
              </a:rPr>
              <a:t>Las trampas que se repiten, los criterios para decidir y que te espera del otro lado.</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93" name="Shape 93"/>
        <p:cNvGrpSpPr/>
        <p:nvPr/>
      </p:nvGrpSpPr>
      <p:grpSpPr>
        <a:xfrm>
          <a:off x="0" y="0"/>
          <a:ext cx="0" cy="0"/>
          <a:chOff x="0" y="0"/>
          <a:chExt cx="0" cy="0"/>
        </a:xfrm>
      </p:grpSpPr>
      <p:sp>
        <p:nvSpPr>
          <p:cNvPr id="94" name="Google Shape;94;p14"/>
          <p:cNvSpPr/>
          <p:nvPr/>
        </p:nvSpPr>
        <p:spPr>
          <a:xfrm>
            <a:off x="0" y="0"/>
            <a:ext cx="18288000" cy="1428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5" name="Google Shape;95;p14"/>
          <p:cNvSpPr txBox="1"/>
          <p:nvPr/>
        </p:nvSpPr>
        <p:spPr>
          <a:xfrm>
            <a:off x="1371600" y="762000"/>
            <a:ext cx="15544800" cy="8313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ctr">
              <a:spcBef>
                <a:spcPts val="0"/>
              </a:spcBef>
              <a:spcAft>
                <a:spcPts val="0"/>
              </a:spcAft>
              <a:buNone/>
            </a:pPr>
            <a:r>
              <a:rPr b="0" lang="en-US" sz="5400">
                <a:solidFill>
                  <a:srgbClr val="0A0915"/>
                </a:solidFill>
                <a:latin typeface="Inter ExtraBold"/>
                <a:ea typeface="Inter ExtraBold"/>
                <a:cs typeface="Inter ExtraBold"/>
                <a:sym typeface="Inter ExtraBold"/>
              </a:rPr>
              <a:t>Tres trampas que se repiten</a:t>
            </a:r>
            <a:endParaRPr b="0" sz="5400">
              <a:solidFill>
                <a:srgbClr val="0A0915"/>
              </a:solidFill>
              <a:latin typeface="Inter ExtraBold"/>
              <a:ea typeface="Inter ExtraBold"/>
              <a:cs typeface="Inter ExtraBold"/>
              <a:sym typeface="Inter ExtraBold"/>
            </a:endParaRPr>
          </a:p>
        </p:txBody>
      </p:sp>
      <p:sp>
        <p:nvSpPr>
          <p:cNvPr id="96" name="Google Shape;96;p14"/>
          <p:cNvSpPr/>
          <p:nvPr/>
        </p:nvSpPr>
        <p:spPr>
          <a:xfrm>
            <a:off x="952500" y="2476500"/>
            <a:ext cx="4953000" cy="5715000"/>
          </a:xfrm>
          <a:prstGeom prst="roundRect">
            <a:avLst>
              <a:gd fmla="val 4615" name="adj"/>
            </a:avLst>
          </a:prstGeom>
          <a:solidFill>
            <a:srgbClr val="FFFFFF"/>
          </a:solidFill>
          <a:ln cap="flat" cmpd="sng" w="9525">
            <a:solidFill>
              <a:srgbClr val="E5E7EB"/>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7" name="Google Shape;97;p14"/>
          <p:cNvSpPr/>
          <p:nvPr/>
        </p:nvSpPr>
        <p:spPr>
          <a:xfrm>
            <a:off x="952500" y="2476500"/>
            <a:ext cx="4953000" cy="114300"/>
          </a:xfrm>
          <a:prstGeom prst="rect">
            <a:avLst/>
          </a:prstGeom>
          <a:solidFill>
            <a:srgbClr val="EA580C"/>
          </a:solidFill>
          <a:ln>
            <a:noFill/>
          </a:ln>
          <a:effectLst>
            <a:outerShdw blurRad="40000" rotWithShape="0" dir="5400000" dist="23000">
              <a:srgbClr val="000000">
                <a:alpha val="34901"/>
              </a:srgbClr>
            </a:outerShdw>
          </a:effectLst>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8" name="Google Shape;98;p14"/>
          <p:cNvSpPr txBox="1"/>
          <p:nvPr/>
        </p:nvSpPr>
        <p:spPr>
          <a:xfrm>
            <a:off x="1333500" y="3022854"/>
            <a:ext cx="7620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EA580C"/>
                </a:solidFill>
                <a:latin typeface="Material Icons"/>
                <a:ea typeface="Material Icons"/>
                <a:cs typeface="Material Icons"/>
                <a:sym typeface="Material Icons"/>
              </a:rPr>
              <a:t></a:t>
            </a:r>
            <a:endParaRPr sz="4800">
              <a:solidFill>
                <a:srgbClr val="EA580C"/>
              </a:solidFill>
              <a:latin typeface="Material Icons"/>
              <a:ea typeface="Material Icons"/>
              <a:cs typeface="Material Icons"/>
              <a:sym typeface="Material Icons"/>
            </a:endParaRPr>
          </a:p>
        </p:txBody>
      </p:sp>
      <p:sp>
        <p:nvSpPr>
          <p:cNvPr id="99" name="Google Shape;99;p14"/>
          <p:cNvSpPr txBox="1"/>
          <p:nvPr/>
        </p:nvSpPr>
        <p:spPr>
          <a:xfrm>
            <a:off x="1333500" y="3905250"/>
            <a:ext cx="4191000" cy="4311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lang="en-US" sz="2800">
                <a:solidFill>
                  <a:srgbClr val="EA580C"/>
                </a:solidFill>
                <a:latin typeface="Inter"/>
                <a:ea typeface="Inter"/>
                <a:cs typeface="Inter"/>
                <a:sym typeface="Inter"/>
              </a:rPr>
              <a:t>Modelar sin validar</a:t>
            </a:r>
            <a:endParaRPr b="1" sz="2800">
              <a:solidFill>
                <a:srgbClr val="EA580C"/>
              </a:solidFill>
              <a:latin typeface="Inter"/>
              <a:ea typeface="Inter"/>
              <a:cs typeface="Inter"/>
              <a:sym typeface="Inter"/>
            </a:endParaRPr>
          </a:p>
        </p:txBody>
      </p:sp>
      <p:sp>
        <p:nvSpPr>
          <p:cNvPr id="100" name="Google Shape;100;p14"/>
          <p:cNvSpPr txBox="1"/>
          <p:nvPr/>
        </p:nvSpPr>
        <p:spPr>
          <a:xfrm>
            <a:off x="1333500" y="5238750"/>
            <a:ext cx="4191000" cy="8313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lang="en-US" sz="1800">
                <a:solidFill>
                  <a:srgbClr val="374151"/>
                </a:solidFill>
                <a:latin typeface="Inter"/>
                <a:ea typeface="Inter"/>
                <a:cs typeface="Inter"/>
                <a:sym typeface="Inter"/>
              </a:rPr>
              <a:t>30 minutos con el </a:t>
            </a:r>
            <a:r>
              <a:rPr b="1" lang="en-US" sz="1800">
                <a:solidFill>
                  <a:srgbClr val="0A0915"/>
                </a:solidFill>
                <a:latin typeface="Inter"/>
                <a:ea typeface="Inter"/>
                <a:cs typeface="Inter"/>
                <a:sym typeface="Inter"/>
              </a:rPr>
              <a:t>operador real</a:t>
            </a:r>
            <a:r>
              <a:rPr b="0" lang="en-US" sz="1800">
                <a:solidFill>
                  <a:srgbClr val="374151"/>
                </a:solidFill>
                <a:latin typeface="Inter"/>
                <a:ea typeface="Inter"/>
                <a:cs typeface="Inter"/>
                <a:sym typeface="Inter"/>
              </a:rPr>
              <a:t> valen más que dos días de modelado sin feedback.</a:t>
            </a:r>
            <a:endParaRPr b="0" sz="1800">
              <a:solidFill>
                <a:srgbClr val="374151"/>
              </a:solidFill>
              <a:latin typeface="Inter"/>
              <a:ea typeface="Inter"/>
              <a:cs typeface="Inter"/>
              <a:sym typeface="Inter"/>
            </a:endParaRPr>
          </a:p>
        </p:txBody>
      </p:sp>
      <p:sp>
        <p:nvSpPr>
          <p:cNvPr id="101" name="Google Shape;101;p14"/>
          <p:cNvSpPr/>
          <p:nvPr/>
        </p:nvSpPr>
        <p:spPr>
          <a:xfrm>
            <a:off x="6667500" y="2476500"/>
            <a:ext cx="4953000" cy="5715000"/>
          </a:xfrm>
          <a:prstGeom prst="roundRect">
            <a:avLst>
              <a:gd fmla="val 4615" name="adj"/>
            </a:avLst>
          </a:prstGeom>
          <a:solidFill>
            <a:srgbClr val="FFFFFF"/>
          </a:solidFill>
          <a:ln cap="flat" cmpd="sng" w="9525">
            <a:solidFill>
              <a:srgbClr val="E5E7EB"/>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2" name="Google Shape;102;p14"/>
          <p:cNvSpPr/>
          <p:nvPr/>
        </p:nvSpPr>
        <p:spPr>
          <a:xfrm>
            <a:off x="6667500" y="2476500"/>
            <a:ext cx="4953000" cy="114300"/>
          </a:xfrm>
          <a:prstGeom prst="rect">
            <a:avLst/>
          </a:prstGeom>
          <a:solidFill>
            <a:srgbClr val="EA580C"/>
          </a:solidFill>
          <a:ln>
            <a:noFill/>
          </a:ln>
          <a:effectLst>
            <a:outerShdw blurRad="40000" rotWithShape="0" dir="5400000" dist="23000">
              <a:srgbClr val="000000">
                <a:alpha val="34901"/>
              </a:srgbClr>
            </a:outerShdw>
          </a:effectLst>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3" name="Google Shape;103;p14"/>
          <p:cNvSpPr txBox="1"/>
          <p:nvPr/>
        </p:nvSpPr>
        <p:spPr>
          <a:xfrm>
            <a:off x="7048500" y="3022854"/>
            <a:ext cx="7620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EA580C"/>
                </a:solidFill>
                <a:latin typeface="Material Icons"/>
                <a:ea typeface="Material Icons"/>
                <a:cs typeface="Material Icons"/>
                <a:sym typeface="Material Icons"/>
              </a:rPr>
              <a:t></a:t>
            </a:r>
            <a:endParaRPr sz="4800">
              <a:solidFill>
                <a:srgbClr val="EA580C"/>
              </a:solidFill>
              <a:latin typeface="Material Icons"/>
              <a:ea typeface="Material Icons"/>
              <a:cs typeface="Material Icons"/>
              <a:sym typeface="Material Icons"/>
            </a:endParaRPr>
          </a:p>
        </p:txBody>
      </p:sp>
      <p:sp>
        <p:nvSpPr>
          <p:cNvPr id="104" name="Google Shape;104;p14"/>
          <p:cNvSpPr txBox="1"/>
          <p:nvPr/>
        </p:nvSpPr>
        <p:spPr>
          <a:xfrm>
            <a:off x="7048500" y="3905250"/>
            <a:ext cx="4191000" cy="8619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lang="en-US" sz="2800">
                <a:solidFill>
                  <a:srgbClr val="EA580C"/>
                </a:solidFill>
                <a:latin typeface="Inter"/>
                <a:ea typeface="Inter"/>
                <a:cs typeface="Inter"/>
                <a:sym typeface="Inter"/>
              </a:rPr>
              <a:t>Dejar integraciones para el final</a:t>
            </a:r>
            <a:endParaRPr b="1" sz="2800">
              <a:solidFill>
                <a:srgbClr val="EA580C"/>
              </a:solidFill>
              <a:latin typeface="Inter"/>
              <a:ea typeface="Inter"/>
              <a:cs typeface="Inter"/>
              <a:sym typeface="Inter"/>
            </a:endParaRPr>
          </a:p>
        </p:txBody>
      </p:sp>
      <p:sp>
        <p:nvSpPr>
          <p:cNvPr id="105" name="Google Shape;105;p14"/>
          <p:cNvSpPr txBox="1"/>
          <p:nvPr/>
        </p:nvSpPr>
        <p:spPr>
          <a:xfrm>
            <a:off x="7048500" y="5238750"/>
            <a:ext cx="4191000" cy="9465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lang="en-US" sz="1800">
                <a:solidFill>
                  <a:srgbClr val="374151"/>
                </a:solidFill>
                <a:latin typeface="Inter"/>
                <a:ea typeface="Inter"/>
                <a:cs typeface="Inter"/>
                <a:sym typeface="Inter"/>
              </a:rPr>
              <a:t>El </a:t>
            </a:r>
            <a:r>
              <a:rPr b="1" lang="en-US" sz="1800">
                <a:solidFill>
                  <a:srgbClr val="0A0915"/>
                </a:solidFill>
                <a:latin typeface="Inter"/>
                <a:ea typeface="Inter"/>
                <a:cs typeface="Inter"/>
                <a:sym typeface="Inter"/>
              </a:rPr>
              <a:t>IDP bloquea todo</a:t>
            </a:r>
            <a:r>
              <a:rPr b="0" lang="en-US" sz="1800">
                <a:solidFill>
                  <a:srgbClr val="374151"/>
                </a:solidFill>
                <a:latin typeface="Inter"/>
                <a:ea typeface="Inter"/>
                <a:cs typeface="Inter"/>
                <a:sym typeface="Inter"/>
              </a:rPr>
              <a:t>.</a:t>
            </a:r>
            <a:endParaRPr b="0" sz="1800">
              <a:solidFill>
                <a:srgbClr val="374151"/>
              </a:solidFill>
              <a:latin typeface="Inter"/>
              <a:ea typeface="Inter"/>
              <a:cs typeface="Inter"/>
              <a:sym typeface="Inter"/>
            </a:endParaRPr>
          </a:p>
          <a:p>
            <a:pPr indent="0" lvl="0" marL="0" rtl="0" algn="l">
              <a:spcBef>
                <a:spcPts val="900"/>
              </a:spcBef>
              <a:spcAft>
                <a:spcPts val="0"/>
              </a:spcAft>
              <a:buNone/>
            </a:pPr>
            <a:r>
              <a:rPr b="0" lang="en-US" sz="1800">
                <a:solidFill>
                  <a:srgbClr val="374151"/>
                </a:solidFill>
                <a:latin typeface="Inter"/>
                <a:ea typeface="Inter"/>
                <a:cs typeface="Inter"/>
                <a:sym typeface="Inter"/>
              </a:rPr>
              <a:t>Se prioriza desde Fase B y se cierra a más tardar a mitad de Fase C.</a:t>
            </a:r>
            <a:endParaRPr b="0" sz="1800">
              <a:solidFill>
                <a:srgbClr val="374151"/>
              </a:solidFill>
              <a:latin typeface="Inter"/>
              <a:ea typeface="Inter"/>
              <a:cs typeface="Inter"/>
              <a:sym typeface="Inter"/>
            </a:endParaRPr>
          </a:p>
        </p:txBody>
      </p:sp>
      <p:sp>
        <p:nvSpPr>
          <p:cNvPr id="106" name="Google Shape;106;p14"/>
          <p:cNvSpPr/>
          <p:nvPr/>
        </p:nvSpPr>
        <p:spPr>
          <a:xfrm>
            <a:off x="12382500" y="2476500"/>
            <a:ext cx="4953000" cy="5715000"/>
          </a:xfrm>
          <a:prstGeom prst="roundRect">
            <a:avLst>
              <a:gd fmla="val 4615" name="adj"/>
            </a:avLst>
          </a:prstGeom>
          <a:solidFill>
            <a:srgbClr val="FFFFFF"/>
          </a:solidFill>
          <a:ln cap="flat" cmpd="sng" w="9525">
            <a:solidFill>
              <a:srgbClr val="E5E7EB"/>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7" name="Google Shape;107;p14"/>
          <p:cNvSpPr/>
          <p:nvPr/>
        </p:nvSpPr>
        <p:spPr>
          <a:xfrm>
            <a:off x="12382500" y="2476500"/>
            <a:ext cx="4953000" cy="114300"/>
          </a:xfrm>
          <a:prstGeom prst="rect">
            <a:avLst/>
          </a:prstGeom>
          <a:solidFill>
            <a:srgbClr val="EA580C"/>
          </a:solidFill>
          <a:ln>
            <a:noFill/>
          </a:ln>
          <a:effectLst>
            <a:outerShdw blurRad="40000" rotWithShape="0" dir="5400000" dist="23000">
              <a:srgbClr val="000000">
                <a:alpha val="34901"/>
              </a:srgbClr>
            </a:outerShdw>
          </a:effectLst>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8" name="Google Shape;108;p14"/>
          <p:cNvSpPr txBox="1"/>
          <p:nvPr/>
        </p:nvSpPr>
        <p:spPr>
          <a:xfrm>
            <a:off x="12763500" y="3022854"/>
            <a:ext cx="7620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EA580C"/>
                </a:solidFill>
                <a:latin typeface="Material Icons"/>
                <a:ea typeface="Material Icons"/>
                <a:cs typeface="Material Icons"/>
                <a:sym typeface="Material Icons"/>
              </a:rPr>
              <a:t></a:t>
            </a:r>
            <a:endParaRPr sz="4800">
              <a:solidFill>
                <a:srgbClr val="EA580C"/>
              </a:solidFill>
              <a:latin typeface="Material Icons"/>
              <a:ea typeface="Material Icons"/>
              <a:cs typeface="Material Icons"/>
              <a:sym typeface="Material Icons"/>
            </a:endParaRPr>
          </a:p>
        </p:txBody>
      </p:sp>
      <p:sp>
        <p:nvSpPr>
          <p:cNvPr id="109" name="Google Shape;109;p14"/>
          <p:cNvSpPr txBox="1"/>
          <p:nvPr/>
        </p:nvSpPr>
        <p:spPr>
          <a:xfrm>
            <a:off x="12763500" y="3905250"/>
            <a:ext cx="4191000" cy="8619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lang="en-US" sz="2800">
                <a:solidFill>
                  <a:srgbClr val="EA580C"/>
                </a:solidFill>
                <a:latin typeface="Inter"/>
                <a:ea typeface="Inter"/>
                <a:cs typeface="Inter"/>
                <a:sym typeface="Inter"/>
              </a:rPr>
              <a:t>Probar solo del lado operador</a:t>
            </a:r>
            <a:endParaRPr b="1" sz="2800">
              <a:solidFill>
                <a:srgbClr val="EA580C"/>
              </a:solidFill>
              <a:latin typeface="Inter"/>
              <a:ea typeface="Inter"/>
              <a:cs typeface="Inter"/>
              <a:sym typeface="Inter"/>
            </a:endParaRPr>
          </a:p>
        </p:txBody>
      </p:sp>
      <p:sp>
        <p:nvSpPr>
          <p:cNvPr id="110" name="Google Shape;110;p14"/>
          <p:cNvSpPr txBox="1"/>
          <p:nvPr/>
        </p:nvSpPr>
        <p:spPr>
          <a:xfrm>
            <a:off x="12763500" y="5238750"/>
            <a:ext cx="4191000" cy="9465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lang="en-US" sz="1800">
                <a:solidFill>
                  <a:srgbClr val="374151"/>
                </a:solidFill>
                <a:latin typeface="Inter"/>
                <a:ea typeface="Inter"/>
                <a:cs typeface="Inter"/>
                <a:sym typeface="Inter"/>
              </a:rPr>
              <a:t>Si nadie probó desde la </a:t>
            </a:r>
            <a:r>
              <a:rPr b="1" lang="en-US" sz="1800">
                <a:solidFill>
                  <a:srgbClr val="0A0915"/>
                </a:solidFill>
                <a:latin typeface="Inter"/>
                <a:ea typeface="Inter"/>
                <a:cs typeface="Inter"/>
                <a:sym typeface="Inter"/>
              </a:rPr>
              <a:t>silla del ciudadano</a:t>
            </a:r>
            <a:r>
              <a:rPr b="0" lang="en-US" sz="1800">
                <a:solidFill>
                  <a:srgbClr val="374151"/>
                </a:solidFill>
                <a:latin typeface="Inter"/>
                <a:ea typeface="Inter"/>
                <a:cs typeface="Inter"/>
                <a:sym typeface="Inter"/>
              </a:rPr>
              <a:t>, no sabes si funciona.</a:t>
            </a:r>
            <a:endParaRPr b="0" sz="1800">
              <a:solidFill>
                <a:srgbClr val="374151"/>
              </a:solidFill>
              <a:latin typeface="Inter"/>
              <a:ea typeface="Inter"/>
              <a:cs typeface="Inter"/>
              <a:sym typeface="Inter"/>
            </a:endParaRPr>
          </a:p>
          <a:p>
            <a:pPr indent="0" lvl="0" marL="0" rtl="0" algn="l">
              <a:spcBef>
                <a:spcPts val="900"/>
              </a:spcBef>
              <a:spcAft>
                <a:spcPts val="0"/>
              </a:spcAft>
              <a:buNone/>
            </a:pPr>
            <a:r>
              <a:rPr b="0" lang="en-US" sz="1800">
                <a:solidFill>
                  <a:srgbClr val="374151"/>
                </a:solidFill>
                <a:latin typeface="Inter"/>
                <a:ea typeface="Inter"/>
                <a:cs typeface="Inter"/>
                <a:sym typeface="Inter"/>
              </a:rPr>
              <a:t>Sabes que el operador no lo rompe.</a:t>
            </a:r>
            <a:endParaRPr b="0" sz="1800">
              <a:solidFill>
                <a:srgbClr val="374151"/>
              </a:solidFill>
              <a:latin typeface="Inter"/>
              <a:ea typeface="Inter"/>
              <a:cs typeface="Inter"/>
              <a:sym typeface="Inte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15" name="Shape 115"/>
        <p:cNvGrpSpPr/>
        <p:nvPr/>
      </p:nvGrpSpPr>
      <p:grpSpPr>
        <a:xfrm>
          <a:off x="0" y="0"/>
          <a:ext cx="0" cy="0"/>
          <a:chOff x="0" y="0"/>
          <a:chExt cx="0" cy="0"/>
        </a:xfrm>
      </p:grpSpPr>
      <p:sp>
        <p:nvSpPr>
          <p:cNvPr id="116" name="Google Shape;116;p15"/>
          <p:cNvSpPr/>
          <p:nvPr/>
        </p:nvSpPr>
        <p:spPr>
          <a:xfrm>
            <a:off x="0" y="0"/>
            <a:ext cx="18288000" cy="1428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7" name="Google Shape;117;p15"/>
          <p:cNvSpPr txBox="1"/>
          <p:nvPr/>
        </p:nvSpPr>
        <p:spPr>
          <a:xfrm>
            <a:off x="1371600" y="762000"/>
            <a:ext cx="15544800" cy="8313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ctr">
              <a:spcBef>
                <a:spcPts val="0"/>
              </a:spcBef>
              <a:spcAft>
                <a:spcPts val="0"/>
              </a:spcAft>
              <a:buNone/>
            </a:pPr>
            <a:r>
              <a:rPr b="0" i="0" lang="en-US" sz="5400">
                <a:solidFill>
                  <a:srgbClr val="0A0915"/>
                </a:solidFill>
                <a:latin typeface="Inter ExtraBold"/>
                <a:ea typeface="Inter ExtraBold"/>
                <a:cs typeface="Inter ExtraBold"/>
                <a:sym typeface="Inter ExtraBold"/>
              </a:rPr>
              <a:t>Tres decisiones, tres criterios</a:t>
            </a:r>
            <a:endParaRPr b="0" i="0" sz="5400">
              <a:solidFill>
                <a:srgbClr val="0A0915"/>
              </a:solidFill>
              <a:latin typeface="Inter ExtraBold"/>
              <a:ea typeface="Inter ExtraBold"/>
              <a:cs typeface="Inter ExtraBold"/>
              <a:sym typeface="Inter ExtraBold"/>
            </a:endParaRPr>
          </a:p>
        </p:txBody>
      </p:sp>
      <p:grpSp>
        <p:nvGrpSpPr>
          <p:cNvPr id="118" name="Google Shape;118;p15"/>
          <p:cNvGrpSpPr/>
          <p:nvPr/>
        </p:nvGrpSpPr>
        <p:grpSpPr>
          <a:xfrm>
            <a:off x="952500" y="2476500"/>
            <a:ext cx="4953000" cy="5524500"/>
            <a:chOff x="952500" y="2476500"/>
            <a:chExt cx="4953000" cy="5524500"/>
          </a:xfrm>
        </p:grpSpPr>
        <p:sp>
          <p:nvSpPr>
            <p:cNvPr id="119" name="Google Shape;119;p15"/>
            <p:cNvSpPr/>
            <p:nvPr/>
          </p:nvSpPr>
          <p:spPr>
            <a:xfrm>
              <a:off x="952500" y="2476500"/>
              <a:ext cx="4953000" cy="5524500"/>
            </a:xfrm>
            <a:prstGeom prst="roundRect">
              <a:avLst>
                <a:gd fmla="val 4615"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0" name="Google Shape;120;p15"/>
            <p:cNvSpPr/>
            <p:nvPr/>
          </p:nvSpPr>
          <p:spPr>
            <a:xfrm>
              <a:off x="952500" y="2476500"/>
              <a:ext cx="4953000" cy="1143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1" name="Google Shape;121;p15"/>
            <p:cNvSpPr txBox="1"/>
            <p:nvPr/>
          </p:nvSpPr>
          <p:spPr>
            <a:xfrm>
              <a:off x="1333500" y="3022854"/>
              <a:ext cx="7620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EA580C"/>
                  </a:solidFill>
                  <a:latin typeface="Material Icons"/>
                  <a:ea typeface="Material Icons"/>
                  <a:cs typeface="Material Icons"/>
                  <a:sym typeface="Material Icons"/>
                </a:rPr>
                <a:t></a:t>
              </a:r>
              <a:endParaRPr sz="4800">
                <a:solidFill>
                  <a:srgbClr val="EA580C"/>
                </a:solidFill>
                <a:latin typeface="Material Icons"/>
                <a:ea typeface="Material Icons"/>
                <a:cs typeface="Material Icons"/>
                <a:sym typeface="Material Icons"/>
              </a:endParaRPr>
            </a:p>
          </p:txBody>
        </p:sp>
        <p:sp>
          <p:nvSpPr>
            <p:cNvPr id="122" name="Google Shape;122;p15"/>
            <p:cNvSpPr txBox="1"/>
            <p:nvPr/>
          </p:nvSpPr>
          <p:spPr>
            <a:xfrm>
              <a:off x="1333500" y="3905250"/>
              <a:ext cx="4191000" cy="1047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800">
                  <a:solidFill>
                    <a:srgbClr val="EA580C"/>
                  </a:solidFill>
                  <a:latin typeface="Inter"/>
                  <a:ea typeface="Inter"/>
                  <a:cs typeface="Inter"/>
                  <a:sym typeface="Inter"/>
                </a:rPr>
                <a:t>Área dueña rechaza el modelado</a:t>
              </a:r>
              <a:endParaRPr b="1" sz="2800">
                <a:solidFill>
                  <a:srgbClr val="EA580C"/>
                </a:solidFill>
                <a:latin typeface="Inter"/>
                <a:ea typeface="Inter"/>
                <a:cs typeface="Inter"/>
                <a:sym typeface="Inter"/>
              </a:endParaRPr>
            </a:p>
          </p:txBody>
        </p:sp>
        <p:sp>
          <p:nvSpPr>
            <p:cNvPr id="123" name="Google Shape;123;p15"/>
            <p:cNvSpPr txBox="1"/>
            <p:nvPr/>
          </p:nvSpPr>
          <p:spPr>
            <a:xfrm>
              <a:off x="1333500" y="5238750"/>
              <a:ext cx="4191000" cy="1905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1800">
                  <a:solidFill>
                    <a:srgbClr val="374151"/>
                  </a:solidFill>
                  <a:latin typeface="Inter"/>
                  <a:ea typeface="Inter"/>
                  <a:cs typeface="Inter"/>
                  <a:sym typeface="Inter"/>
                </a:rPr>
                <a:t>Te sentas con el </a:t>
              </a:r>
              <a:r>
                <a:rPr b="1" lang="en-US" sz="1800">
                  <a:solidFill>
                    <a:srgbClr val="0A0915"/>
                  </a:solidFill>
                  <a:latin typeface="Inter"/>
                  <a:ea typeface="Inter"/>
                  <a:cs typeface="Inter"/>
                  <a:sym typeface="Inter"/>
                </a:rPr>
                <a:t>operador real</a:t>
              </a:r>
              <a:r>
                <a:rPr b="0" lang="en-US" sz="1800">
                  <a:solidFill>
                    <a:srgbClr val="374151"/>
                  </a:solidFill>
                  <a:latin typeface="Inter"/>
                  <a:ea typeface="Inter"/>
                  <a:cs typeface="Inter"/>
                  <a:sym typeface="Inter"/>
                </a:rPr>
                <a:t>, no con su jefe.</a:t>
              </a:r>
              <a:endParaRPr b="0" sz="1800">
                <a:solidFill>
                  <a:srgbClr val="374151"/>
                </a:solidFill>
                <a:latin typeface="Inter"/>
                <a:ea typeface="Inter"/>
                <a:cs typeface="Inter"/>
                <a:sym typeface="Inter"/>
              </a:endParaRPr>
            </a:p>
          </p:txBody>
        </p:sp>
      </p:grpSp>
      <p:grpSp>
        <p:nvGrpSpPr>
          <p:cNvPr id="124" name="Google Shape;124;p15"/>
          <p:cNvGrpSpPr/>
          <p:nvPr/>
        </p:nvGrpSpPr>
        <p:grpSpPr>
          <a:xfrm>
            <a:off x="6667500" y="2476500"/>
            <a:ext cx="4953000" cy="5524500"/>
            <a:chOff x="6667500" y="2476500"/>
            <a:chExt cx="4953000" cy="5524500"/>
          </a:xfrm>
        </p:grpSpPr>
        <p:sp>
          <p:nvSpPr>
            <p:cNvPr id="125" name="Google Shape;125;p15"/>
            <p:cNvSpPr/>
            <p:nvPr/>
          </p:nvSpPr>
          <p:spPr>
            <a:xfrm>
              <a:off x="6667500" y="2476500"/>
              <a:ext cx="4953000" cy="5524500"/>
            </a:xfrm>
            <a:prstGeom prst="roundRect">
              <a:avLst>
                <a:gd fmla="val 4615"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6" name="Google Shape;126;p15"/>
            <p:cNvSpPr/>
            <p:nvPr/>
          </p:nvSpPr>
          <p:spPr>
            <a:xfrm>
              <a:off x="6667500" y="2476500"/>
              <a:ext cx="4953000" cy="1143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7" name="Google Shape;127;p15"/>
            <p:cNvSpPr txBox="1"/>
            <p:nvPr/>
          </p:nvSpPr>
          <p:spPr>
            <a:xfrm>
              <a:off x="7048500" y="3022854"/>
              <a:ext cx="7620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EA580C"/>
                  </a:solidFill>
                  <a:latin typeface="Material Icons"/>
                  <a:ea typeface="Material Icons"/>
                  <a:cs typeface="Material Icons"/>
                  <a:sym typeface="Material Icons"/>
                </a:rPr>
                <a:t></a:t>
              </a:r>
              <a:endParaRPr sz="4800">
                <a:solidFill>
                  <a:srgbClr val="EA580C"/>
                </a:solidFill>
                <a:latin typeface="Material Icons"/>
                <a:ea typeface="Material Icons"/>
                <a:cs typeface="Material Icons"/>
                <a:sym typeface="Material Icons"/>
              </a:endParaRPr>
            </a:p>
          </p:txBody>
        </p:sp>
        <p:sp>
          <p:nvSpPr>
            <p:cNvPr id="128" name="Google Shape;128;p15"/>
            <p:cNvSpPr txBox="1"/>
            <p:nvPr/>
          </p:nvSpPr>
          <p:spPr>
            <a:xfrm>
              <a:off x="7048500" y="3905250"/>
              <a:ext cx="4191000" cy="1047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800">
                  <a:solidFill>
                    <a:srgbClr val="EA580C"/>
                  </a:solidFill>
                  <a:latin typeface="Inter"/>
                  <a:ea typeface="Inter"/>
                  <a:cs typeface="Inter"/>
                  <a:sym typeface="Inter"/>
                </a:rPr>
                <a:t>¿Etapas simples o subetapas?</a:t>
              </a:r>
              <a:endParaRPr b="1" sz="2800">
                <a:solidFill>
                  <a:srgbClr val="EA580C"/>
                </a:solidFill>
                <a:latin typeface="Inter"/>
                <a:ea typeface="Inter"/>
                <a:cs typeface="Inter"/>
                <a:sym typeface="Inter"/>
              </a:endParaRPr>
            </a:p>
          </p:txBody>
        </p:sp>
        <p:sp>
          <p:nvSpPr>
            <p:cNvPr id="129" name="Google Shape;129;p15"/>
            <p:cNvSpPr txBox="1"/>
            <p:nvPr/>
          </p:nvSpPr>
          <p:spPr>
            <a:xfrm>
              <a:off x="7048500" y="5238750"/>
              <a:ext cx="4191000" cy="1905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1800">
                  <a:solidFill>
                    <a:srgbClr val="374151"/>
                  </a:solidFill>
                  <a:latin typeface="Inter"/>
                  <a:ea typeface="Inter"/>
                  <a:cs typeface="Inter"/>
                  <a:sym typeface="Inter"/>
                </a:rPr>
                <a:t>Si el flujo se dibuja como </a:t>
              </a:r>
              <a:r>
                <a:rPr b="1" lang="en-US" sz="1800">
                  <a:solidFill>
                    <a:srgbClr val="0A0915"/>
                  </a:solidFill>
                  <a:latin typeface="Inter"/>
                  <a:ea typeface="Inter"/>
                  <a:cs typeface="Inter"/>
                  <a:sym typeface="Inter"/>
                </a:rPr>
                <a:t>línea recta</a:t>
              </a:r>
              <a:r>
                <a:rPr b="0" lang="en-US" sz="1800">
                  <a:solidFill>
                    <a:srgbClr val="374151"/>
                  </a:solidFill>
                  <a:latin typeface="Inter"/>
                  <a:ea typeface="Inter"/>
                  <a:cs typeface="Inter"/>
                  <a:sym typeface="Inter"/>
                </a:rPr>
                <a:t>, alcanza con etapas.</a:t>
              </a:r>
              <a:endParaRPr b="0" sz="1800">
                <a:solidFill>
                  <a:srgbClr val="374151"/>
                </a:solidFill>
                <a:latin typeface="Inter"/>
                <a:ea typeface="Inter"/>
                <a:cs typeface="Inter"/>
                <a:sym typeface="Inter"/>
              </a:endParaRPr>
            </a:p>
          </p:txBody>
        </p:sp>
      </p:grpSp>
      <p:grpSp>
        <p:nvGrpSpPr>
          <p:cNvPr id="130" name="Google Shape;130;p15"/>
          <p:cNvGrpSpPr/>
          <p:nvPr/>
        </p:nvGrpSpPr>
        <p:grpSpPr>
          <a:xfrm>
            <a:off x="12382500" y="2476500"/>
            <a:ext cx="4953000" cy="5524500"/>
            <a:chOff x="12382500" y="2476500"/>
            <a:chExt cx="4953000" cy="5524500"/>
          </a:xfrm>
        </p:grpSpPr>
        <p:sp>
          <p:nvSpPr>
            <p:cNvPr id="131" name="Google Shape;131;p15"/>
            <p:cNvSpPr/>
            <p:nvPr/>
          </p:nvSpPr>
          <p:spPr>
            <a:xfrm>
              <a:off x="12382500" y="2476500"/>
              <a:ext cx="4953000" cy="5524500"/>
            </a:xfrm>
            <a:prstGeom prst="roundRect">
              <a:avLst>
                <a:gd fmla="val 4615"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2" name="Google Shape;132;p15"/>
            <p:cNvSpPr/>
            <p:nvPr/>
          </p:nvSpPr>
          <p:spPr>
            <a:xfrm>
              <a:off x="12382500" y="2476500"/>
              <a:ext cx="4953000" cy="1143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3" name="Google Shape;133;p15"/>
            <p:cNvSpPr txBox="1"/>
            <p:nvPr/>
          </p:nvSpPr>
          <p:spPr>
            <a:xfrm>
              <a:off x="12763500" y="3022854"/>
              <a:ext cx="7620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EA580C"/>
                  </a:solidFill>
                  <a:latin typeface="Material Icons"/>
                  <a:ea typeface="Material Icons"/>
                  <a:cs typeface="Material Icons"/>
                  <a:sym typeface="Material Icons"/>
                </a:rPr>
                <a:t></a:t>
              </a:r>
              <a:endParaRPr sz="4800">
                <a:solidFill>
                  <a:srgbClr val="EA580C"/>
                </a:solidFill>
                <a:latin typeface="Material Icons"/>
                <a:ea typeface="Material Icons"/>
                <a:cs typeface="Material Icons"/>
                <a:sym typeface="Material Icons"/>
              </a:endParaRPr>
            </a:p>
          </p:txBody>
        </p:sp>
        <p:sp>
          <p:nvSpPr>
            <p:cNvPr id="134" name="Google Shape;134;p15"/>
            <p:cNvSpPr txBox="1"/>
            <p:nvPr/>
          </p:nvSpPr>
          <p:spPr>
            <a:xfrm>
              <a:off x="12763500" y="3905250"/>
              <a:ext cx="4191000" cy="1047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800">
                  <a:solidFill>
                    <a:srgbClr val="EA580C"/>
                  </a:solidFill>
                  <a:latin typeface="Inter"/>
                  <a:ea typeface="Inter"/>
                  <a:cs typeface="Inter"/>
                  <a:sym typeface="Inter"/>
                </a:rPr>
                <a:t>¿Sigo iterando o esta listo?</a:t>
              </a:r>
              <a:endParaRPr b="1" sz="2800">
                <a:solidFill>
                  <a:srgbClr val="EA580C"/>
                </a:solidFill>
                <a:latin typeface="Inter"/>
                <a:ea typeface="Inter"/>
                <a:cs typeface="Inter"/>
                <a:sym typeface="Inter"/>
              </a:endParaRPr>
            </a:p>
          </p:txBody>
        </p:sp>
        <p:sp>
          <p:nvSpPr>
            <p:cNvPr id="135" name="Google Shape;135;p15"/>
            <p:cNvSpPr txBox="1"/>
            <p:nvPr/>
          </p:nvSpPr>
          <p:spPr>
            <a:xfrm>
              <a:off x="12763500" y="5238750"/>
              <a:ext cx="4191000" cy="1905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1800">
                  <a:solidFill>
                    <a:srgbClr val="374151"/>
                  </a:solidFill>
                  <a:latin typeface="Inter"/>
                  <a:ea typeface="Inter"/>
                  <a:cs typeface="Inter"/>
                  <a:sym typeface="Inter"/>
                </a:rPr>
                <a:t>Si el </a:t>
              </a:r>
              <a:r>
                <a:rPr b="1" lang="en-US" sz="1800">
                  <a:solidFill>
                    <a:srgbClr val="0A0915"/>
                  </a:solidFill>
                  <a:latin typeface="Inter"/>
                  <a:ea typeface="Inter"/>
                  <a:cs typeface="Inter"/>
                  <a:sym typeface="Inter"/>
                </a:rPr>
                <a:t>ciudadano</a:t>
              </a:r>
              <a:r>
                <a:rPr b="0" lang="en-US" sz="1800">
                  <a:solidFill>
                    <a:srgbClr val="374151"/>
                  </a:solidFill>
                  <a:latin typeface="Inter"/>
                  <a:ea typeface="Inter"/>
                  <a:cs typeface="Inter"/>
                  <a:sym typeface="Inter"/>
                </a:rPr>
                <a:t> puede completar el trámite sin ayuda, esta listo.</a:t>
              </a:r>
              <a:endParaRPr b="0" sz="1800">
                <a:solidFill>
                  <a:srgbClr val="374151"/>
                </a:solidFill>
                <a:latin typeface="Inter"/>
                <a:ea typeface="Inter"/>
                <a:cs typeface="Inter"/>
                <a:sym typeface="Inter"/>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p16"/>
          <p:cNvSpPr/>
          <p:nvPr/>
        </p:nvSpPr>
        <p:spPr>
          <a:xfrm>
            <a:off x="0" y="0"/>
            <a:ext cx="18288000" cy="1428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2" name="Google Shape;142;p16"/>
          <p:cNvSpPr txBox="1"/>
          <p:nvPr/>
        </p:nvSpPr>
        <p:spPr>
          <a:xfrm>
            <a:off x="1371600" y="762000"/>
            <a:ext cx="15544800" cy="8313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ctr">
              <a:spcBef>
                <a:spcPts val="0"/>
              </a:spcBef>
              <a:spcAft>
                <a:spcPts val="0"/>
              </a:spcAft>
              <a:buNone/>
            </a:pPr>
            <a:r>
              <a:rPr b="0" i="0" lang="en-US" sz="5400">
                <a:solidFill>
                  <a:srgbClr val="0A0915"/>
                </a:solidFill>
                <a:latin typeface="Inter ExtraBold"/>
                <a:ea typeface="Inter ExtraBold"/>
                <a:cs typeface="Inter ExtraBold"/>
                <a:sym typeface="Inter ExtraBold"/>
              </a:rPr>
              <a:t>Checklist de cierre de fase</a:t>
            </a:r>
            <a:endParaRPr b="0" i="0" sz="5400">
              <a:solidFill>
                <a:srgbClr val="0A0915"/>
              </a:solidFill>
              <a:latin typeface="Inter ExtraBold"/>
              <a:ea typeface="Inter ExtraBold"/>
              <a:cs typeface="Inter ExtraBold"/>
              <a:sym typeface="Inter ExtraBold"/>
            </a:endParaRPr>
          </a:p>
        </p:txBody>
      </p:sp>
      <p:grpSp>
        <p:nvGrpSpPr>
          <p:cNvPr id="143" name="Google Shape;143;p16"/>
          <p:cNvGrpSpPr/>
          <p:nvPr/>
        </p:nvGrpSpPr>
        <p:grpSpPr>
          <a:xfrm>
            <a:off x="1371600" y="2286000"/>
            <a:ext cx="15544950" cy="5905500"/>
            <a:chOff x="1371600" y="2286000"/>
            <a:chExt cx="15544950" cy="5905500"/>
          </a:xfrm>
        </p:grpSpPr>
        <p:sp>
          <p:nvSpPr>
            <p:cNvPr id="144" name="Google Shape;144;p16"/>
            <p:cNvSpPr/>
            <p:nvPr/>
          </p:nvSpPr>
          <p:spPr>
            <a:xfrm>
              <a:off x="1371600" y="2286000"/>
              <a:ext cx="7524900" cy="1714500"/>
            </a:xfrm>
            <a:prstGeom prst="roundRect">
              <a:avLst>
                <a:gd fmla="val 8888"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5" name="Google Shape;145;p16"/>
            <p:cNvSpPr/>
            <p:nvPr/>
          </p:nvSpPr>
          <p:spPr>
            <a:xfrm>
              <a:off x="1371600" y="2286000"/>
              <a:ext cx="114300" cy="17145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6" name="Google Shape;146;p16"/>
            <p:cNvSpPr txBox="1"/>
            <p:nvPr/>
          </p:nvSpPr>
          <p:spPr>
            <a:xfrm>
              <a:off x="1714500" y="2286000"/>
              <a:ext cx="6858000" cy="1714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2400">
                  <a:solidFill>
                    <a:srgbClr val="EA580C"/>
                  </a:solidFill>
                  <a:latin typeface="Inter"/>
                  <a:ea typeface="Inter"/>
                  <a:cs typeface="Inter"/>
                  <a:sym typeface="Inter"/>
                </a:rPr>
                <a:t>Trámites</a:t>
              </a:r>
              <a:endParaRPr b="1" sz="2400">
                <a:solidFill>
                  <a:srgbClr val="EA580C"/>
                </a:solidFill>
                <a:latin typeface="Inter"/>
                <a:ea typeface="Inter"/>
                <a:cs typeface="Inter"/>
                <a:sym typeface="Inter"/>
              </a:endParaRPr>
            </a:p>
            <a:p>
              <a:pPr indent="0" lvl="0" marL="0" rtl="0" algn="l">
                <a:spcBef>
                  <a:spcPts val="600"/>
                </a:spcBef>
                <a:spcAft>
                  <a:spcPts val="0"/>
                </a:spcAft>
                <a:buNone/>
              </a:pPr>
              <a:r>
                <a:rPr lang="en-US" sz="1800">
                  <a:solidFill>
                    <a:srgbClr val="374151"/>
                  </a:solidFill>
                  <a:latin typeface="Inter"/>
                  <a:ea typeface="Inter"/>
                  <a:cs typeface="Inter"/>
                  <a:sym typeface="Inter"/>
                </a:rPr>
                <a:t>Todos los trámites priorizados han sido modelados por completo.</a:t>
              </a:r>
              <a:endParaRPr sz="1800">
                <a:solidFill>
                  <a:srgbClr val="374151"/>
                </a:solidFill>
                <a:latin typeface="Inter"/>
                <a:ea typeface="Inter"/>
                <a:cs typeface="Inter"/>
                <a:sym typeface="Inter"/>
              </a:endParaRPr>
            </a:p>
          </p:txBody>
        </p:sp>
        <p:sp>
          <p:nvSpPr>
            <p:cNvPr id="147" name="Google Shape;147;p16"/>
            <p:cNvSpPr/>
            <p:nvPr/>
          </p:nvSpPr>
          <p:spPr>
            <a:xfrm>
              <a:off x="9391650" y="2286000"/>
              <a:ext cx="7524900" cy="1714500"/>
            </a:xfrm>
            <a:prstGeom prst="roundRect">
              <a:avLst>
                <a:gd fmla="val 8888"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8" name="Google Shape;148;p16"/>
            <p:cNvSpPr/>
            <p:nvPr/>
          </p:nvSpPr>
          <p:spPr>
            <a:xfrm>
              <a:off x="9391650" y="2286000"/>
              <a:ext cx="114300" cy="17145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9" name="Google Shape;149;p16"/>
            <p:cNvSpPr txBox="1"/>
            <p:nvPr/>
          </p:nvSpPr>
          <p:spPr>
            <a:xfrm>
              <a:off x="9734550" y="2286000"/>
              <a:ext cx="6858000" cy="1714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2400">
                  <a:solidFill>
                    <a:srgbClr val="EA580C"/>
                  </a:solidFill>
                  <a:latin typeface="Inter"/>
                  <a:ea typeface="Inter"/>
                  <a:cs typeface="Inter"/>
                  <a:sym typeface="Inter"/>
                </a:rPr>
                <a:t>Validación</a:t>
              </a:r>
              <a:endParaRPr b="1" sz="2400">
                <a:solidFill>
                  <a:srgbClr val="EA580C"/>
                </a:solidFill>
                <a:latin typeface="Inter"/>
                <a:ea typeface="Inter"/>
                <a:cs typeface="Inter"/>
                <a:sym typeface="Inter"/>
              </a:endParaRPr>
            </a:p>
            <a:p>
              <a:pPr indent="0" lvl="0" marL="0" rtl="0" algn="l">
                <a:spcBef>
                  <a:spcPts val="600"/>
                </a:spcBef>
                <a:spcAft>
                  <a:spcPts val="0"/>
                </a:spcAft>
                <a:buNone/>
              </a:pPr>
              <a:r>
                <a:rPr lang="en-US" sz="1800">
                  <a:solidFill>
                    <a:srgbClr val="374151"/>
                  </a:solidFill>
                  <a:latin typeface="Inter"/>
                  <a:ea typeface="Inter"/>
                  <a:cs typeface="Inter"/>
                  <a:sym typeface="Inter"/>
                </a:rPr>
                <a:t>Cada trámite validado con su área dueña, con firma o confirmación explícita.</a:t>
              </a:r>
              <a:endParaRPr sz="1800">
                <a:solidFill>
                  <a:srgbClr val="374151"/>
                </a:solidFill>
                <a:latin typeface="Inter"/>
                <a:ea typeface="Inter"/>
                <a:cs typeface="Inter"/>
                <a:sym typeface="Inter"/>
              </a:endParaRPr>
            </a:p>
          </p:txBody>
        </p:sp>
        <p:sp>
          <p:nvSpPr>
            <p:cNvPr id="150" name="Google Shape;150;p16"/>
            <p:cNvSpPr/>
            <p:nvPr/>
          </p:nvSpPr>
          <p:spPr>
            <a:xfrm>
              <a:off x="1371600" y="4381500"/>
              <a:ext cx="7524900" cy="1714500"/>
            </a:xfrm>
            <a:prstGeom prst="roundRect">
              <a:avLst>
                <a:gd fmla="val 8888"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1" name="Google Shape;151;p16"/>
            <p:cNvSpPr/>
            <p:nvPr/>
          </p:nvSpPr>
          <p:spPr>
            <a:xfrm>
              <a:off x="1371600" y="4381500"/>
              <a:ext cx="114300" cy="17145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2" name="Google Shape;152;p16"/>
            <p:cNvSpPr txBox="1"/>
            <p:nvPr/>
          </p:nvSpPr>
          <p:spPr>
            <a:xfrm>
              <a:off x="1714500" y="4381500"/>
              <a:ext cx="6858000" cy="1714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2400">
                  <a:solidFill>
                    <a:srgbClr val="EA580C"/>
                  </a:solidFill>
                  <a:latin typeface="Inter"/>
                  <a:ea typeface="Inter"/>
                  <a:cs typeface="Inter"/>
                  <a:sym typeface="Inter"/>
                </a:rPr>
                <a:t>Testing Integral</a:t>
              </a:r>
              <a:endParaRPr b="1" sz="2400">
                <a:solidFill>
                  <a:srgbClr val="EA580C"/>
                </a:solidFill>
                <a:latin typeface="Inter"/>
                <a:ea typeface="Inter"/>
                <a:cs typeface="Inter"/>
                <a:sym typeface="Inter"/>
              </a:endParaRPr>
            </a:p>
            <a:p>
              <a:pPr indent="0" lvl="0" marL="0" rtl="0" algn="l">
                <a:spcBef>
                  <a:spcPts val="600"/>
                </a:spcBef>
                <a:spcAft>
                  <a:spcPts val="0"/>
                </a:spcAft>
                <a:buNone/>
              </a:pPr>
              <a:r>
                <a:rPr lang="en-US" sz="1800">
                  <a:solidFill>
                    <a:srgbClr val="374151"/>
                  </a:solidFill>
                  <a:latin typeface="Inter"/>
                  <a:ea typeface="Inter"/>
                  <a:cs typeface="Inter"/>
                  <a:sym typeface="Inter"/>
                </a:rPr>
                <a:t>Pruebas de punta a punta aprobadas por el ciudadano y el operador.</a:t>
              </a:r>
              <a:endParaRPr sz="1800">
                <a:solidFill>
                  <a:srgbClr val="374151"/>
                </a:solidFill>
                <a:latin typeface="Inter"/>
                <a:ea typeface="Inter"/>
                <a:cs typeface="Inter"/>
                <a:sym typeface="Inter"/>
              </a:endParaRPr>
            </a:p>
          </p:txBody>
        </p:sp>
        <p:sp>
          <p:nvSpPr>
            <p:cNvPr id="153" name="Google Shape;153;p16"/>
            <p:cNvSpPr/>
            <p:nvPr/>
          </p:nvSpPr>
          <p:spPr>
            <a:xfrm>
              <a:off x="9391650" y="4381500"/>
              <a:ext cx="7524900" cy="1714500"/>
            </a:xfrm>
            <a:prstGeom prst="roundRect">
              <a:avLst>
                <a:gd fmla="val 8888"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4" name="Google Shape;154;p16"/>
            <p:cNvSpPr/>
            <p:nvPr/>
          </p:nvSpPr>
          <p:spPr>
            <a:xfrm>
              <a:off x="9391650" y="4381500"/>
              <a:ext cx="114300" cy="17145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5" name="Google Shape;155;p16"/>
            <p:cNvSpPr txBox="1"/>
            <p:nvPr/>
          </p:nvSpPr>
          <p:spPr>
            <a:xfrm>
              <a:off x="9734550" y="4381500"/>
              <a:ext cx="6858000" cy="1714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2400">
                  <a:solidFill>
                    <a:srgbClr val="EA580C"/>
                  </a:solidFill>
                  <a:latin typeface="Inter"/>
                  <a:ea typeface="Inter"/>
                  <a:cs typeface="Inter"/>
                  <a:sym typeface="Inter"/>
                </a:rPr>
                <a:t>Integraciones</a:t>
              </a:r>
              <a:endParaRPr b="1" sz="2400">
                <a:solidFill>
                  <a:srgbClr val="EA580C"/>
                </a:solidFill>
                <a:latin typeface="Inter"/>
                <a:ea typeface="Inter"/>
                <a:cs typeface="Inter"/>
                <a:sym typeface="Inter"/>
              </a:endParaRPr>
            </a:p>
            <a:p>
              <a:pPr indent="0" lvl="0" marL="0" rtl="0" algn="l">
                <a:spcBef>
                  <a:spcPts val="600"/>
                </a:spcBef>
                <a:spcAft>
                  <a:spcPts val="0"/>
                </a:spcAft>
                <a:buNone/>
              </a:pPr>
              <a:r>
                <a:rPr lang="en-US" sz="1800">
                  <a:solidFill>
                    <a:srgbClr val="374151"/>
                  </a:solidFill>
                  <a:latin typeface="Inter"/>
                  <a:ea typeface="Inter"/>
                  <a:cs typeface="Inter"/>
                  <a:sym typeface="Inter"/>
                </a:rPr>
                <a:t>Funcionando correctamente, especialmente el módulo de identidad.</a:t>
              </a:r>
              <a:endParaRPr sz="1800">
                <a:solidFill>
                  <a:srgbClr val="374151"/>
                </a:solidFill>
                <a:latin typeface="Inter"/>
                <a:ea typeface="Inter"/>
                <a:cs typeface="Inter"/>
                <a:sym typeface="Inter"/>
              </a:endParaRPr>
            </a:p>
          </p:txBody>
        </p:sp>
        <p:sp>
          <p:nvSpPr>
            <p:cNvPr id="156" name="Google Shape;156;p16"/>
            <p:cNvSpPr/>
            <p:nvPr/>
          </p:nvSpPr>
          <p:spPr>
            <a:xfrm>
              <a:off x="1371600" y="6477000"/>
              <a:ext cx="7524900" cy="1714500"/>
            </a:xfrm>
            <a:prstGeom prst="roundRect">
              <a:avLst>
                <a:gd fmla="val 8888"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7" name="Google Shape;157;p16"/>
            <p:cNvSpPr/>
            <p:nvPr/>
          </p:nvSpPr>
          <p:spPr>
            <a:xfrm>
              <a:off x="1371600" y="6477000"/>
              <a:ext cx="114300" cy="17145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8" name="Google Shape;158;p16"/>
            <p:cNvSpPr txBox="1"/>
            <p:nvPr/>
          </p:nvSpPr>
          <p:spPr>
            <a:xfrm>
              <a:off x="1714500" y="6477000"/>
              <a:ext cx="6858000" cy="1714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2400">
                  <a:solidFill>
                    <a:srgbClr val="EA580C"/>
                  </a:solidFill>
                  <a:latin typeface="Inter"/>
                  <a:ea typeface="Inter"/>
                  <a:cs typeface="Inter"/>
                  <a:sym typeface="Inter"/>
                </a:rPr>
                <a:t>Calidad técnica</a:t>
              </a:r>
              <a:endParaRPr b="1" sz="2400">
                <a:solidFill>
                  <a:srgbClr val="EA580C"/>
                </a:solidFill>
                <a:latin typeface="Inter"/>
                <a:ea typeface="Inter"/>
                <a:cs typeface="Inter"/>
                <a:sym typeface="Inter"/>
              </a:endParaRPr>
            </a:p>
            <a:p>
              <a:pPr indent="0" lvl="0" marL="0" rtl="0" algn="l">
                <a:spcBef>
                  <a:spcPts val="600"/>
                </a:spcBef>
                <a:spcAft>
                  <a:spcPts val="0"/>
                </a:spcAft>
                <a:buNone/>
              </a:pPr>
              <a:r>
                <a:rPr lang="en-US" sz="1800">
                  <a:solidFill>
                    <a:srgbClr val="374151"/>
                  </a:solidFill>
                  <a:latin typeface="Inter"/>
                  <a:ea typeface="Inter"/>
                  <a:cs typeface="Inter"/>
                  <a:sym typeface="Inter"/>
                </a:rPr>
                <a:t>Cero bugs críticos abiertos. Guía pública revisada y lista.</a:t>
              </a:r>
              <a:endParaRPr sz="1800">
                <a:solidFill>
                  <a:srgbClr val="374151"/>
                </a:solidFill>
                <a:latin typeface="Inter"/>
                <a:ea typeface="Inter"/>
                <a:cs typeface="Inter"/>
                <a:sym typeface="Inter"/>
              </a:endParaRPr>
            </a:p>
          </p:txBody>
        </p:sp>
        <p:sp>
          <p:nvSpPr>
            <p:cNvPr id="159" name="Google Shape;159;p16"/>
            <p:cNvSpPr/>
            <p:nvPr/>
          </p:nvSpPr>
          <p:spPr>
            <a:xfrm>
              <a:off x="9391650" y="6477000"/>
              <a:ext cx="7524900" cy="1714500"/>
            </a:xfrm>
            <a:prstGeom prst="roundRect">
              <a:avLst>
                <a:gd fmla="val 8888"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0" name="Google Shape;160;p16"/>
            <p:cNvSpPr/>
            <p:nvPr/>
          </p:nvSpPr>
          <p:spPr>
            <a:xfrm>
              <a:off x="9391650" y="6477000"/>
              <a:ext cx="114300" cy="17145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1" name="Google Shape;161;p16"/>
            <p:cNvSpPr txBox="1"/>
            <p:nvPr/>
          </p:nvSpPr>
          <p:spPr>
            <a:xfrm>
              <a:off x="9734550" y="6477000"/>
              <a:ext cx="6858000" cy="1714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2400">
                  <a:solidFill>
                    <a:srgbClr val="EA580C"/>
                  </a:solidFill>
                  <a:latin typeface="Inter"/>
                  <a:ea typeface="Inter"/>
                  <a:cs typeface="Inter"/>
                  <a:sym typeface="Inter"/>
                </a:rPr>
                <a:t>Institucional</a:t>
              </a:r>
              <a:endParaRPr b="1" sz="2400">
                <a:solidFill>
                  <a:srgbClr val="EA580C"/>
                </a:solidFill>
                <a:latin typeface="Inter"/>
                <a:ea typeface="Inter"/>
                <a:cs typeface="Inter"/>
                <a:sym typeface="Inter"/>
              </a:endParaRPr>
            </a:p>
            <a:p>
              <a:pPr indent="0" lvl="0" marL="0" rtl="0" algn="l">
                <a:spcBef>
                  <a:spcPts val="600"/>
                </a:spcBef>
                <a:spcAft>
                  <a:spcPts val="0"/>
                </a:spcAft>
                <a:buNone/>
              </a:pPr>
              <a:r>
                <a:rPr lang="en-US" sz="1800">
                  <a:solidFill>
                    <a:srgbClr val="374151"/>
                  </a:solidFill>
                  <a:latin typeface="Inter"/>
                  <a:ea typeface="Inter"/>
                  <a:cs typeface="Inter"/>
                  <a:sym typeface="Inter"/>
                </a:rPr>
                <a:t>Imagen aplicada, dominio activo y roles de usuario confirmados.</a:t>
              </a:r>
              <a:endParaRPr sz="1800">
                <a:solidFill>
                  <a:srgbClr val="374151"/>
                </a:solidFill>
                <a:latin typeface="Inter"/>
                <a:ea typeface="Inter"/>
                <a:cs typeface="Inter"/>
                <a:sym typeface="Inter"/>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66" name="Shape 166"/>
        <p:cNvGrpSpPr/>
        <p:nvPr/>
      </p:nvGrpSpPr>
      <p:grpSpPr>
        <a:xfrm>
          <a:off x="0" y="0"/>
          <a:ext cx="0" cy="0"/>
          <a:chOff x="0" y="0"/>
          <a:chExt cx="0" cy="0"/>
        </a:xfrm>
      </p:grpSpPr>
      <p:sp>
        <p:nvSpPr>
          <p:cNvPr id="167" name="Google Shape;167;p17"/>
          <p:cNvSpPr/>
          <p:nvPr/>
        </p:nvSpPr>
        <p:spPr>
          <a:xfrm>
            <a:off x="0" y="0"/>
            <a:ext cx="18288000" cy="1428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68" name="Google Shape;168;p17"/>
          <p:cNvGrpSpPr/>
          <p:nvPr/>
        </p:nvGrpSpPr>
        <p:grpSpPr>
          <a:xfrm>
            <a:off x="1371600" y="762000"/>
            <a:ext cx="15544800" cy="1524000"/>
            <a:chOff x="1371600" y="762000"/>
            <a:chExt cx="15544800" cy="1524000"/>
          </a:xfrm>
        </p:grpSpPr>
        <p:sp>
          <p:nvSpPr>
            <p:cNvPr id="169" name="Google Shape;169;p17"/>
            <p:cNvSpPr txBox="1"/>
            <p:nvPr/>
          </p:nvSpPr>
          <p:spPr>
            <a:xfrm>
              <a:off x="1371600" y="762000"/>
              <a:ext cx="155448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000">
                  <a:solidFill>
                    <a:srgbClr val="EA580C"/>
                  </a:solidFill>
                  <a:latin typeface="Inter"/>
                  <a:ea typeface="Inter"/>
                  <a:cs typeface="Inter"/>
                  <a:sym typeface="Inter"/>
                </a:rPr>
                <a:t>Si encuentras un bloqueo</a:t>
              </a:r>
              <a:endParaRPr b="1" sz="2000">
                <a:solidFill>
                  <a:srgbClr val="EA580C"/>
                </a:solidFill>
                <a:latin typeface="Inter"/>
                <a:ea typeface="Inter"/>
                <a:cs typeface="Inter"/>
                <a:sym typeface="Inter"/>
              </a:endParaRPr>
            </a:p>
          </p:txBody>
        </p:sp>
        <p:sp>
          <p:nvSpPr>
            <p:cNvPr id="170" name="Google Shape;170;p17"/>
            <p:cNvSpPr txBox="1"/>
            <p:nvPr/>
          </p:nvSpPr>
          <p:spPr>
            <a:xfrm>
              <a:off x="1371600" y="1333500"/>
              <a:ext cx="15544800" cy="952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US" sz="5400">
                  <a:solidFill>
                    <a:srgbClr val="0A0915"/>
                  </a:solidFill>
                  <a:latin typeface="Inter ExtraBold"/>
                  <a:ea typeface="Inter ExtraBold"/>
                  <a:cs typeface="Inter ExtraBold"/>
                  <a:sym typeface="Inter ExtraBold"/>
                </a:rPr>
                <a:t>Ese es el momento de escalar a Sovra</a:t>
              </a:r>
              <a:endParaRPr b="0" sz="5400">
                <a:solidFill>
                  <a:srgbClr val="0A0915"/>
                </a:solidFill>
                <a:latin typeface="Inter ExtraBold"/>
                <a:ea typeface="Inter ExtraBold"/>
                <a:cs typeface="Inter ExtraBold"/>
                <a:sym typeface="Inter ExtraBold"/>
              </a:endParaRPr>
            </a:p>
          </p:txBody>
        </p:sp>
      </p:grpSp>
      <p:grpSp>
        <p:nvGrpSpPr>
          <p:cNvPr id="171" name="Google Shape;171;p17"/>
          <p:cNvGrpSpPr/>
          <p:nvPr/>
        </p:nvGrpSpPr>
        <p:grpSpPr>
          <a:xfrm>
            <a:off x="952500" y="3048000"/>
            <a:ext cx="16383000" cy="4000500"/>
            <a:chOff x="952500" y="3048000"/>
            <a:chExt cx="16383000" cy="4000500"/>
          </a:xfrm>
        </p:grpSpPr>
        <p:sp>
          <p:nvSpPr>
            <p:cNvPr id="172" name="Google Shape;172;p17"/>
            <p:cNvSpPr/>
            <p:nvPr/>
          </p:nvSpPr>
          <p:spPr>
            <a:xfrm>
              <a:off x="952500" y="3048000"/>
              <a:ext cx="4953000" cy="4000500"/>
            </a:xfrm>
            <a:prstGeom prst="roundRect">
              <a:avLst>
                <a:gd fmla="val 5714"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3" name="Google Shape;173;p17"/>
            <p:cNvSpPr/>
            <p:nvPr/>
          </p:nvSpPr>
          <p:spPr>
            <a:xfrm>
              <a:off x="952500" y="3048000"/>
              <a:ext cx="4953000" cy="1143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4" name="Google Shape;174;p17"/>
            <p:cNvSpPr txBox="1"/>
            <p:nvPr/>
          </p:nvSpPr>
          <p:spPr>
            <a:xfrm>
              <a:off x="1333500" y="3499104"/>
              <a:ext cx="7620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EA580C"/>
                  </a:solidFill>
                  <a:latin typeface="Material Icons"/>
                  <a:ea typeface="Material Icons"/>
                  <a:cs typeface="Material Icons"/>
                  <a:sym typeface="Material Icons"/>
                </a:rPr>
                <a:t></a:t>
              </a:r>
              <a:endParaRPr sz="4800">
                <a:solidFill>
                  <a:srgbClr val="EA580C"/>
                </a:solidFill>
                <a:latin typeface="Material Icons"/>
                <a:ea typeface="Material Icons"/>
                <a:cs typeface="Material Icons"/>
                <a:sym typeface="Material Icons"/>
              </a:endParaRPr>
            </a:p>
          </p:txBody>
        </p:sp>
        <p:sp>
          <p:nvSpPr>
            <p:cNvPr id="175" name="Google Shape;175;p17"/>
            <p:cNvSpPr txBox="1"/>
            <p:nvPr/>
          </p:nvSpPr>
          <p:spPr>
            <a:xfrm>
              <a:off x="1333500" y="4381500"/>
              <a:ext cx="4191000" cy="2286000"/>
            </a:xfrm>
            <a:prstGeom prst="rect">
              <a:avLst/>
            </a:prstGeom>
            <a:noFill/>
            <a:ln>
              <a:noFill/>
            </a:ln>
          </p:spPr>
          <p:txBody>
            <a:bodyPr anchorCtr="0" anchor="t" bIns="0" lIns="0" spcFirstLastPara="1" rIns="0" wrap="square" tIns="0">
              <a:noAutofit/>
            </a:bodyPr>
            <a:lstStyle/>
            <a:p>
              <a:pPr indent="0" lvl="0" marL="0" rtl="0" algn="l">
                <a:spcBef>
                  <a:spcPts val="0"/>
                </a:spcBef>
                <a:spcAft>
                  <a:spcPts val="1125"/>
                </a:spcAft>
                <a:buNone/>
              </a:pPr>
              <a:r>
                <a:rPr b="1" lang="en-US" sz="2200">
                  <a:solidFill>
                    <a:srgbClr val="0A0915"/>
                  </a:solidFill>
                  <a:latin typeface="Inter"/>
                  <a:ea typeface="Inter"/>
                  <a:cs typeface="Inter"/>
                  <a:sym typeface="Inter"/>
                </a:rPr>
                <a:t>Un bug crítico</a:t>
              </a:r>
              <a:r>
                <a:rPr b="0" lang="en-US" sz="2200">
                  <a:solidFill>
                    <a:srgbClr val="374151"/>
                  </a:solidFill>
                  <a:latin typeface="Inter"/>
                  <a:ea typeface="Inter"/>
                  <a:cs typeface="Inter"/>
                  <a:sym typeface="Inter"/>
                </a:rPr>
                <a:t> que no destrabas o una </a:t>
              </a:r>
              <a:r>
                <a:rPr b="1" lang="en-US" sz="2200">
                  <a:solidFill>
                    <a:srgbClr val="0A0915"/>
                  </a:solidFill>
                  <a:latin typeface="Inter"/>
                  <a:ea typeface="Inter"/>
                  <a:cs typeface="Inter"/>
                  <a:sym typeface="Inter"/>
                </a:rPr>
                <a:t>integración</a:t>
              </a:r>
              <a:r>
                <a:rPr b="0" lang="en-US" sz="2200">
                  <a:solidFill>
                    <a:srgbClr val="374151"/>
                  </a:solidFill>
                  <a:latin typeface="Inter"/>
                  <a:ea typeface="Inter"/>
                  <a:cs typeface="Inter"/>
                  <a:sym typeface="Inter"/>
                </a:rPr>
                <a:t> que no responde.</a:t>
              </a:r>
              <a:endParaRPr b="0" sz="2200">
                <a:solidFill>
                  <a:srgbClr val="374151"/>
                </a:solidFill>
                <a:latin typeface="Inter"/>
                <a:ea typeface="Inter"/>
                <a:cs typeface="Inter"/>
                <a:sym typeface="Inter"/>
              </a:endParaRPr>
            </a:p>
          </p:txBody>
        </p:sp>
        <p:sp>
          <p:nvSpPr>
            <p:cNvPr id="176" name="Google Shape;176;p17"/>
            <p:cNvSpPr/>
            <p:nvPr/>
          </p:nvSpPr>
          <p:spPr>
            <a:xfrm>
              <a:off x="6667500" y="3048000"/>
              <a:ext cx="4953000" cy="4000500"/>
            </a:xfrm>
            <a:prstGeom prst="roundRect">
              <a:avLst>
                <a:gd fmla="val 5714"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7" name="Google Shape;177;p17"/>
            <p:cNvSpPr/>
            <p:nvPr/>
          </p:nvSpPr>
          <p:spPr>
            <a:xfrm>
              <a:off x="6667500" y="3048000"/>
              <a:ext cx="4953000" cy="1143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8" name="Google Shape;178;p17"/>
            <p:cNvSpPr txBox="1"/>
            <p:nvPr/>
          </p:nvSpPr>
          <p:spPr>
            <a:xfrm>
              <a:off x="7048500" y="3499104"/>
              <a:ext cx="7620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EA580C"/>
                  </a:solidFill>
                  <a:latin typeface="Material Icons"/>
                  <a:ea typeface="Material Icons"/>
                  <a:cs typeface="Material Icons"/>
                  <a:sym typeface="Material Icons"/>
                </a:rPr>
                <a:t></a:t>
              </a:r>
              <a:endParaRPr sz="4800">
                <a:solidFill>
                  <a:srgbClr val="EA580C"/>
                </a:solidFill>
                <a:latin typeface="Material Icons"/>
                <a:ea typeface="Material Icons"/>
                <a:cs typeface="Material Icons"/>
                <a:sym typeface="Material Icons"/>
              </a:endParaRPr>
            </a:p>
          </p:txBody>
        </p:sp>
        <p:sp>
          <p:nvSpPr>
            <p:cNvPr id="179" name="Google Shape;179;p17"/>
            <p:cNvSpPr txBox="1"/>
            <p:nvPr/>
          </p:nvSpPr>
          <p:spPr>
            <a:xfrm>
              <a:off x="7048500" y="4381500"/>
              <a:ext cx="4191000" cy="2286000"/>
            </a:xfrm>
            <a:prstGeom prst="rect">
              <a:avLst/>
            </a:prstGeom>
            <a:noFill/>
            <a:ln>
              <a:noFill/>
            </a:ln>
          </p:spPr>
          <p:txBody>
            <a:bodyPr anchorCtr="0" anchor="t" bIns="0" lIns="0" spcFirstLastPara="1" rIns="0" wrap="square" tIns="0">
              <a:noAutofit/>
            </a:bodyPr>
            <a:lstStyle/>
            <a:p>
              <a:pPr indent="0" lvl="0" marL="0" rtl="0" algn="l">
                <a:spcBef>
                  <a:spcPts val="0"/>
                </a:spcBef>
                <a:spcAft>
                  <a:spcPts val="1125"/>
                </a:spcAft>
                <a:buNone/>
              </a:pPr>
              <a:r>
                <a:rPr b="0" lang="en-US" sz="2200">
                  <a:solidFill>
                    <a:srgbClr val="374151"/>
                  </a:solidFill>
                  <a:latin typeface="Inter"/>
                  <a:ea typeface="Inter"/>
                  <a:cs typeface="Inter"/>
                  <a:sym typeface="Inter"/>
                </a:rPr>
                <a:t>Un </a:t>
              </a:r>
              <a:r>
                <a:rPr b="1" lang="en-US" sz="2200">
                  <a:solidFill>
                    <a:srgbClr val="0A0915"/>
                  </a:solidFill>
                  <a:latin typeface="Inter"/>
                  <a:ea typeface="Inter"/>
                  <a:cs typeface="Inter"/>
                  <a:sym typeface="Inter"/>
                </a:rPr>
                <a:t>área dueña</a:t>
              </a:r>
              <a:r>
                <a:rPr b="0" lang="en-US" sz="2200">
                  <a:solidFill>
                    <a:srgbClr val="374151"/>
                  </a:solidFill>
                  <a:latin typeface="Inter"/>
                  <a:ea typeface="Inter"/>
                  <a:cs typeface="Inter"/>
                  <a:sym typeface="Inter"/>
                </a:rPr>
                <a:t> que rechaza el modelado y no logras mediar.</a:t>
              </a:r>
              <a:endParaRPr b="0" sz="2200">
                <a:solidFill>
                  <a:srgbClr val="374151"/>
                </a:solidFill>
                <a:latin typeface="Inter"/>
                <a:ea typeface="Inter"/>
                <a:cs typeface="Inter"/>
                <a:sym typeface="Inter"/>
              </a:endParaRPr>
            </a:p>
          </p:txBody>
        </p:sp>
        <p:sp>
          <p:nvSpPr>
            <p:cNvPr id="180" name="Google Shape;180;p17"/>
            <p:cNvSpPr/>
            <p:nvPr/>
          </p:nvSpPr>
          <p:spPr>
            <a:xfrm>
              <a:off x="12382500" y="3048000"/>
              <a:ext cx="4953000" cy="4000500"/>
            </a:xfrm>
            <a:prstGeom prst="roundRect">
              <a:avLst>
                <a:gd fmla="val 5714"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1" name="Google Shape;181;p17"/>
            <p:cNvSpPr/>
            <p:nvPr/>
          </p:nvSpPr>
          <p:spPr>
            <a:xfrm>
              <a:off x="12382500" y="3048000"/>
              <a:ext cx="4953000" cy="1143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2" name="Google Shape;182;p17"/>
            <p:cNvSpPr txBox="1"/>
            <p:nvPr/>
          </p:nvSpPr>
          <p:spPr>
            <a:xfrm>
              <a:off x="12763500" y="3499104"/>
              <a:ext cx="7620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EA580C"/>
                  </a:solidFill>
                  <a:latin typeface="Material Icons"/>
                  <a:ea typeface="Material Icons"/>
                  <a:cs typeface="Material Icons"/>
                  <a:sym typeface="Material Icons"/>
                </a:rPr>
                <a:t></a:t>
              </a:r>
              <a:endParaRPr sz="4800">
                <a:solidFill>
                  <a:srgbClr val="EA580C"/>
                </a:solidFill>
                <a:latin typeface="Material Icons"/>
                <a:ea typeface="Material Icons"/>
                <a:cs typeface="Material Icons"/>
                <a:sym typeface="Material Icons"/>
              </a:endParaRPr>
            </a:p>
          </p:txBody>
        </p:sp>
        <p:sp>
          <p:nvSpPr>
            <p:cNvPr id="183" name="Google Shape;183;p17"/>
            <p:cNvSpPr txBox="1"/>
            <p:nvPr/>
          </p:nvSpPr>
          <p:spPr>
            <a:xfrm>
              <a:off x="12763500" y="4381500"/>
              <a:ext cx="4191000" cy="2286000"/>
            </a:xfrm>
            <a:prstGeom prst="rect">
              <a:avLst/>
            </a:prstGeom>
            <a:noFill/>
            <a:ln>
              <a:noFill/>
            </a:ln>
          </p:spPr>
          <p:txBody>
            <a:bodyPr anchorCtr="0" anchor="t" bIns="0" lIns="0" spcFirstLastPara="1" rIns="0" wrap="square" tIns="0">
              <a:noAutofit/>
            </a:bodyPr>
            <a:lstStyle/>
            <a:p>
              <a:pPr indent="0" lvl="0" marL="0" rtl="0" algn="l">
                <a:spcBef>
                  <a:spcPts val="0"/>
                </a:spcBef>
                <a:spcAft>
                  <a:spcPts val="1125"/>
                </a:spcAft>
                <a:buNone/>
              </a:pPr>
              <a:r>
                <a:rPr b="0" lang="en-US" sz="2200">
                  <a:solidFill>
                    <a:srgbClr val="374151"/>
                  </a:solidFill>
                  <a:latin typeface="Inter"/>
                  <a:ea typeface="Inter"/>
                  <a:cs typeface="Inter"/>
                  <a:sym typeface="Inter"/>
                </a:rPr>
                <a:t>Para eso está el </a:t>
              </a:r>
              <a:r>
                <a:rPr b="1" lang="en-US" sz="2200">
                  <a:solidFill>
                    <a:srgbClr val="0A0915"/>
                  </a:solidFill>
                  <a:latin typeface="Inter"/>
                  <a:ea typeface="Inter"/>
                  <a:cs typeface="Inter"/>
                  <a:sym typeface="Inter"/>
                </a:rPr>
                <a:t>modelo de soporte</a:t>
              </a:r>
              <a:r>
                <a:rPr b="0" lang="en-US" sz="2200">
                  <a:solidFill>
                    <a:srgbClr val="374151"/>
                  </a:solidFill>
                  <a:latin typeface="Inter"/>
                  <a:ea typeface="Inter"/>
                  <a:cs typeface="Inter"/>
                  <a:sym typeface="Inter"/>
                </a:rPr>
                <a:t> que armaste en fases anteriores.</a:t>
              </a:r>
              <a:endParaRPr b="0" sz="2200">
                <a:solidFill>
                  <a:srgbClr val="374151"/>
                </a:solidFill>
                <a:latin typeface="Inter"/>
                <a:ea typeface="Inter"/>
                <a:cs typeface="Inter"/>
                <a:sym typeface="Inter"/>
              </a:endParaRPr>
            </a:p>
          </p:txBody>
        </p:sp>
      </p:grpSp>
      <p:grpSp>
        <p:nvGrpSpPr>
          <p:cNvPr id="184" name="Google Shape;184;p17"/>
          <p:cNvGrpSpPr/>
          <p:nvPr/>
        </p:nvGrpSpPr>
        <p:grpSpPr>
          <a:xfrm>
            <a:off x="952500" y="7810500"/>
            <a:ext cx="16383000" cy="952500"/>
            <a:chOff x="952500" y="7810500"/>
            <a:chExt cx="16383000" cy="952500"/>
          </a:xfrm>
        </p:grpSpPr>
        <p:sp>
          <p:nvSpPr>
            <p:cNvPr id="185" name="Google Shape;185;p17"/>
            <p:cNvSpPr/>
            <p:nvPr/>
          </p:nvSpPr>
          <p:spPr>
            <a:xfrm>
              <a:off x="952500" y="7810500"/>
              <a:ext cx="16383000" cy="952500"/>
            </a:xfrm>
            <a:prstGeom prst="roundRect">
              <a:avLst>
                <a:gd fmla="val 16000" name="adj"/>
              </a:avLst>
            </a:prstGeom>
            <a:solidFill>
              <a:srgbClr val="F9FAFB"/>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6" name="Google Shape;186;p17"/>
            <p:cNvSpPr txBox="1"/>
            <p:nvPr/>
          </p:nvSpPr>
          <p:spPr>
            <a:xfrm>
              <a:off x="1333500" y="7810500"/>
              <a:ext cx="15621000" cy="952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US" sz="2400">
                  <a:solidFill>
                    <a:srgbClr val="4B5563"/>
                  </a:solidFill>
                  <a:latin typeface="Inter Medium"/>
                  <a:ea typeface="Inter Medium"/>
                  <a:cs typeface="Inter Medium"/>
                  <a:sym typeface="Inter Medium"/>
                </a:rPr>
                <a:t>No dejes que los bloqueos detengan el progreso. Escala a tiempo.</a:t>
              </a:r>
              <a:endParaRPr b="0" sz="2400">
                <a:solidFill>
                  <a:srgbClr val="4B5563"/>
                </a:solidFill>
                <a:latin typeface="Inter Medium"/>
                <a:ea typeface="Inter Medium"/>
                <a:cs typeface="Inter Medium"/>
                <a:sym typeface="Inter Medium"/>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p18"/>
          <p:cNvSpPr/>
          <p:nvPr/>
        </p:nvSpPr>
        <p:spPr>
          <a:xfrm>
            <a:off x="0" y="0"/>
            <a:ext cx="18288000" cy="1428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93" name="Google Shape;193;p18"/>
          <p:cNvGrpSpPr/>
          <p:nvPr/>
        </p:nvGrpSpPr>
        <p:grpSpPr>
          <a:xfrm>
            <a:off x="1371600" y="762000"/>
            <a:ext cx="15544800" cy="1524000"/>
            <a:chOff x="1371600" y="762000"/>
            <a:chExt cx="15544800" cy="1524000"/>
          </a:xfrm>
        </p:grpSpPr>
        <p:sp>
          <p:nvSpPr>
            <p:cNvPr id="194" name="Google Shape;194;p18"/>
            <p:cNvSpPr txBox="1"/>
            <p:nvPr/>
          </p:nvSpPr>
          <p:spPr>
            <a:xfrm>
              <a:off x="1371600" y="762000"/>
              <a:ext cx="155448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000">
                  <a:solidFill>
                    <a:srgbClr val="EA580C"/>
                  </a:solidFill>
                  <a:latin typeface="Inter"/>
                  <a:ea typeface="Inter"/>
                  <a:cs typeface="Inter"/>
                  <a:sym typeface="Inter"/>
                </a:rPr>
                <a:t>Lo que viene</a:t>
              </a:r>
              <a:endParaRPr b="1" sz="2000">
                <a:solidFill>
                  <a:srgbClr val="EA580C"/>
                </a:solidFill>
                <a:latin typeface="Inter"/>
                <a:ea typeface="Inter"/>
                <a:cs typeface="Inter"/>
                <a:sym typeface="Inter"/>
              </a:endParaRPr>
            </a:p>
          </p:txBody>
        </p:sp>
        <p:sp>
          <p:nvSpPr>
            <p:cNvPr id="195" name="Google Shape;195;p18"/>
            <p:cNvSpPr txBox="1"/>
            <p:nvPr/>
          </p:nvSpPr>
          <p:spPr>
            <a:xfrm>
              <a:off x="1371600" y="1333500"/>
              <a:ext cx="15544800" cy="952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US" sz="5400">
                  <a:solidFill>
                    <a:srgbClr val="0A0915"/>
                  </a:solidFill>
                  <a:latin typeface="Inter ExtraBold"/>
                  <a:ea typeface="Inter ExtraBold"/>
                  <a:cs typeface="Inter ExtraBold"/>
                  <a:sym typeface="Inter ExtraBold"/>
                </a:rPr>
                <a:t>Fase D: Preparar la plataforma</a:t>
              </a:r>
              <a:endParaRPr b="0" sz="5400">
                <a:solidFill>
                  <a:srgbClr val="0A0915"/>
                </a:solidFill>
                <a:latin typeface="Inter ExtraBold"/>
                <a:ea typeface="Inter ExtraBold"/>
                <a:cs typeface="Inter ExtraBold"/>
                <a:sym typeface="Inter ExtraBold"/>
              </a:endParaRPr>
            </a:p>
          </p:txBody>
        </p:sp>
      </p:grpSp>
      <p:grpSp>
        <p:nvGrpSpPr>
          <p:cNvPr id="196" name="Google Shape;196;p18"/>
          <p:cNvGrpSpPr/>
          <p:nvPr/>
        </p:nvGrpSpPr>
        <p:grpSpPr>
          <a:xfrm>
            <a:off x="952500" y="3048000"/>
            <a:ext cx="4000500" cy="4000500"/>
            <a:chOff x="952500" y="3048000"/>
            <a:chExt cx="4000500" cy="4000500"/>
          </a:xfrm>
        </p:grpSpPr>
        <p:sp>
          <p:nvSpPr>
            <p:cNvPr id="197" name="Google Shape;197;p18"/>
            <p:cNvSpPr/>
            <p:nvPr/>
          </p:nvSpPr>
          <p:spPr>
            <a:xfrm>
              <a:off x="952500" y="3048000"/>
              <a:ext cx="4000500" cy="4000500"/>
            </a:xfrm>
            <a:prstGeom prst="roundRect">
              <a:avLst>
                <a:gd fmla="val 5714"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8" name="Google Shape;198;p18"/>
            <p:cNvSpPr/>
            <p:nvPr/>
          </p:nvSpPr>
          <p:spPr>
            <a:xfrm>
              <a:off x="952500" y="3048000"/>
              <a:ext cx="4000500" cy="1143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9" name="Google Shape;199;p18"/>
            <p:cNvSpPr txBox="1"/>
            <p:nvPr/>
          </p:nvSpPr>
          <p:spPr>
            <a:xfrm>
              <a:off x="1333500" y="3499104"/>
              <a:ext cx="7620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EA580C"/>
                  </a:solidFill>
                  <a:latin typeface="Material Icons"/>
                  <a:ea typeface="Material Icons"/>
                  <a:cs typeface="Material Icons"/>
                  <a:sym typeface="Material Icons"/>
                </a:rPr>
                <a:t></a:t>
              </a:r>
              <a:endParaRPr sz="4800">
                <a:solidFill>
                  <a:srgbClr val="EA580C"/>
                </a:solidFill>
                <a:latin typeface="Material Icons"/>
                <a:ea typeface="Material Icons"/>
                <a:cs typeface="Material Icons"/>
                <a:sym typeface="Material Icons"/>
              </a:endParaRPr>
            </a:p>
          </p:txBody>
        </p:sp>
        <p:sp>
          <p:nvSpPr>
            <p:cNvPr id="200" name="Google Shape;200;p18"/>
            <p:cNvSpPr txBox="1"/>
            <p:nvPr/>
          </p:nvSpPr>
          <p:spPr>
            <a:xfrm>
              <a:off x="1333500" y="4381500"/>
              <a:ext cx="3238500" cy="2286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000">
                  <a:solidFill>
                    <a:srgbClr val="0A0915"/>
                  </a:solidFill>
                  <a:latin typeface="Inter"/>
                  <a:ea typeface="Inter"/>
                  <a:cs typeface="Inter"/>
                  <a:sym typeface="Inter"/>
                </a:rPr>
                <a:t>Capacitación</a:t>
              </a:r>
              <a:endParaRPr sz="2000">
                <a:solidFill>
                  <a:srgbClr val="374151"/>
                </a:solidFill>
                <a:latin typeface="Inter"/>
                <a:ea typeface="Inter"/>
                <a:cs typeface="Inter"/>
                <a:sym typeface="Inter"/>
              </a:endParaRPr>
            </a:p>
            <a:p>
              <a:pPr indent="0" lvl="0" marL="0" rtl="0" algn="l">
                <a:spcBef>
                  <a:spcPts val="900"/>
                </a:spcBef>
                <a:spcAft>
                  <a:spcPts val="0"/>
                </a:spcAft>
                <a:buNone/>
              </a:pPr>
              <a:r>
                <a:rPr lang="en-US" sz="1600">
                  <a:solidFill>
                    <a:srgbClr val="374151"/>
                  </a:solidFill>
                  <a:latin typeface="Inter"/>
                  <a:ea typeface="Inter"/>
                  <a:cs typeface="Inter"/>
                  <a:sym typeface="Inter"/>
                </a:rPr>
                <a:t>Formar a los operadores reales y montar el modelo de soporte ciudadano.</a:t>
              </a:r>
              <a:endParaRPr sz="1600">
                <a:solidFill>
                  <a:srgbClr val="374151"/>
                </a:solidFill>
                <a:latin typeface="Inter"/>
                <a:ea typeface="Inter"/>
                <a:cs typeface="Inter"/>
                <a:sym typeface="Inter"/>
              </a:endParaRPr>
            </a:p>
          </p:txBody>
        </p:sp>
      </p:grpSp>
      <p:grpSp>
        <p:nvGrpSpPr>
          <p:cNvPr id="201" name="Google Shape;201;p18"/>
          <p:cNvGrpSpPr/>
          <p:nvPr/>
        </p:nvGrpSpPr>
        <p:grpSpPr>
          <a:xfrm>
            <a:off x="5267325" y="3048000"/>
            <a:ext cx="4000500" cy="4000500"/>
            <a:chOff x="5267325" y="3048000"/>
            <a:chExt cx="4000500" cy="4000500"/>
          </a:xfrm>
        </p:grpSpPr>
        <p:sp>
          <p:nvSpPr>
            <p:cNvPr id="202" name="Google Shape;202;p18"/>
            <p:cNvSpPr/>
            <p:nvPr/>
          </p:nvSpPr>
          <p:spPr>
            <a:xfrm>
              <a:off x="5267325" y="3048000"/>
              <a:ext cx="4000500" cy="4000500"/>
            </a:xfrm>
            <a:prstGeom prst="roundRect">
              <a:avLst>
                <a:gd fmla="val 5714"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3" name="Google Shape;203;p18"/>
            <p:cNvSpPr/>
            <p:nvPr/>
          </p:nvSpPr>
          <p:spPr>
            <a:xfrm>
              <a:off x="5267325" y="3048000"/>
              <a:ext cx="4000500" cy="1143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4" name="Google Shape;204;p18"/>
            <p:cNvSpPr txBox="1"/>
            <p:nvPr/>
          </p:nvSpPr>
          <p:spPr>
            <a:xfrm>
              <a:off x="5648325" y="3499104"/>
              <a:ext cx="7620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EA580C"/>
                  </a:solidFill>
                  <a:latin typeface="Material Icons"/>
                  <a:ea typeface="Material Icons"/>
                  <a:cs typeface="Material Icons"/>
                  <a:sym typeface="Material Icons"/>
                </a:rPr>
                <a:t></a:t>
              </a:r>
              <a:endParaRPr sz="4800">
                <a:solidFill>
                  <a:srgbClr val="EA580C"/>
                </a:solidFill>
                <a:latin typeface="Material Icons"/>
                <a:ea typeface="Material Icons"/>
                <a:cs typeface="Material Icons"/>
                <a:sym typeface="Material Icons"/>
              </a:endParaRPr>
            </a:p>
          </p:txBody>
        </p:sp>
        <p:sp>
          <p:nvSpPr>
            <p:cNvPr id="205" name="Google Shape;205;p18"/>
            <p:cNvSpPr txBox="1"/>
            <p:nvPr/>
          </p:nvSpPr>
          <p:spPr>
            <a:xfrm>
              <a:off x="5648325" y="4381500"/>
              <a:ext cx="3238500" cy="2286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000">
                  <a:solidFill>
                    <a:srgbClr val="0A0915"/>
                  </a:solidFill>
                  <a:latin typeface="Inter"/>
                  <a:ea typeface="Inter"/>
                  <a:cs typeface="Inter"/>
                  <a:sym typeface="Inter"/>
                </a:rPr>
                <a:t>Comunicación</a:t>
              </a:r>
              <a:endParaRPr sz="2000">
                <a:solidFill>
                  <a:srgbClr val="374151"/>
                </a:solidFill>
                <a:latin typeface="Inter"/>
                <a:ea typeface="Inter"/>
                <a:cs typeface="Inter"/>
                <a:sym typeface="Inter"/>
              </a:endParaRPr>
            </a:p>
            <a:p>
              <a:pPr indent="0" lvl="0" marL="0" rtl="0" algn="l">
                <a:spcBef>
                  <a:spcPts val="900"/>
                </a:spcBef>
                <a:spcAft>
                  <a:spcPts val="0"/>
                </a:spcAft>
                <a:buNone/>
              </a:pPr>
              <a:r>
                <a:rPr lang="en-US" sz="1600">
                  <a:solidFill>
                    <a:srgbClr val="374151"/>
                  </a:solidFill>
                  <a:latin typeface="Inter"/>
                  <a:ea typeface="Inter"/>
                  <a:cs typeface="Inter"/>
                  <a:sym typeface="Inter"/>
                </a:rPr>
                <a:t>Armar la estrategia de lanzamiento para el ciudadano.</a:t>
              </a:r>
              <a:endParaRPr sz="1600">
                <a:solidFill>
                  <a:srgbClr val="374151"/>
                </a:solidFill>
                <a:latin typeface="Inter"/>
                <a:ea typeface="Inter"/>
                <a:cs typeface="Inter"/>
                <a:sym typeface="Inter"/>
              </a:endParaRPr>
            </a:p>
          </p:txBody>
        </p:sp>
      </p:grpSp>
      <p:grpSp>
        <p:nvGrpSpPr>
          <p:cNvPr id="206" name="Google Shape;206;p18"/>
          <p:cNvGrpSpPr/>
          <p:nvPr/>
        </p:nvGrpSpPr>
        <p:grpSpPr>
          <a:xfrm>
            <a:off x="9582150" y="3048000"/>
            <a:ext cx="4000500" cy="4000500"/>
            <a:chOff x="9582150" y="3048000"/>
            <a:chExt cx="4000500" cy="4000500"/>
          </a:xfrm>
        </p:grpSpPr>
        <p:sp>
          <p:nvSpPr>
            <p:cNvPr id="207" name="Google Shape;207;p18"/>
            <p:cNvSpPr/>
            <p:nvPr/>
          </p:nvSpPr>
          <p:spPr>
            <a:xfrm>
              <a:off x="9582150" y="3048000"/>
              <a:ext cx="4000500" cy="4000500"/>
            </a:xfrm>
            <a:prstGeom prst="roundRect">
              <a:avLst>
                <a:gd fmla="val 5714"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8" name="Google Shape;208;p18"/>
            <p:cNvSpPr/>
            <p:nvPr/>
          </p:nvSpPr>
          <p:spPr>
            <a:xfrm>
              <a:off x="9582150" y="3048000"/>
              <a:ext cx="4000500" cy="1143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9" name="Google Shape;209;p18"/>
            <p:cNvSpPr txBox="1"/>
            <p:nvPr/>
          </p:nvSpPr>
          <p:spPr>
            <a:xfrm>
              <a:off x="9963150" y="3499104"/>
              <a:ext cx="7620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EA580C"/>
                  </a:solidFill>
                  <a:latin typeface="Material Icons"/>
                  <a:ea typeface="Material Icons"/>
                  <a:cs typeface="Material Icons"/>
                  <a:sym typeface="Material Icons"/>
                </a:rPr>
                <a:t></a:t>
              </a:r>
              <a:endParaRPr sz="4800">
                <a:solidFill>
                  <a:srgbClr val="EA580C"/>
                </a:solidFill>
                <a:latin typeface="Material Icons"/>
                <a:ea typeface="Material Icons"/>
                <a:cs typeface="Material Icons"/>
                <a:sym typeface="Material Icons"/>
              </a:endParaRPr>
            </a:p>
          </p:txBody>
        </p:sp>
        <p:sp>
          <p:nvSpPr>
            <p:cNvPr id="210" name="Google Shape;210;p18"/>
            <p:cNvSpPr txBox="1"/>
            <p:nvPr/>
          </p:nvSpPr>
          <p:spPr>
            <a:xfrm>
              <a:off x="9963150" y="4381500"/>
              <a:ext cx="3238500" cy="2286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000">
                  <a:solidFill>
                    <a:srgbClr val="0A0915"/>
                  </a:solidFill>
                  <a:latin typeface="Inter"/>
                  <a:ea typeface="Inter"/>
                  <a:cs typeface="Inter"/>
                  <a:sym typeface="Inter"/>
                </a:rPr>
                <a:t>Testing Final</a:t>
              </a:r>
              <a:endParaRPr sz="2000">
                <a:solidFill>
                  <a:srgbClr val="374151"/>
                </a:solidFill>
                <a:latin typeface="Inter"/>
                <a:ea typeface="Inter"/>
                <a:cs typeface="Inter"/>
                <a:sym typeface="Inter"/>
              </a:endParaRPr>
            </a:p>
            <a:p>
              <a:pPr indent="0" lvl="0" marL="0" rtl="0" algn="l">
                <a:spcBef>
                  <a:spcPts val="900"/>
                </a:spcBef>
                <a:spcAft>
                  <a:spcPts val="0"/>
                </a:spcAft>
                <a:buNone/>
              </a:pPr>
              <a:r>
                <a:rPr lang="en-US" sz="1600">
                  <a:solidFill>
                    <a:srgbClr val="374151"/>
                  </a:solidFill>
                  <a:latin typeface="Inter"/>
                  <a:ea typeface="Inter"/>
                  <a:cs typeface="Inter"/>
                  <a:sym typeface="Inter"/>
                </a:rPr>
                <a:t>Ronda de pruebas en condiciones reales de producción.</a:t>
              </a:r>
              <a:endParaRPr sz="1600">
                <a:solidFill>
                  <a:srgbClr val="374151"/>
                </a:solidFill>
                <a:latin typeface="Inter"/>
                <a:ea typeface="Inter"/>
                <a:cs typeface="Inter"/>
                <a:sym typeface="Inter"/>
              </a:endParaRPr>
            </a:p>
          </p:txBody>
        </p:sp>
      </p:grpSp>
      <p:grpSp>
        <p:nvGrpSpPr>
          <p:cNvPr id="211" name="Google Shape;211;p18"/>
          <p:cNvGrpSpPr/>
          <p:nvPr/>
        </p:nvGrpSpPr>
        <p:grpSpPr>
          <a:xfrm>
            <a:off x="13906500" y="3048000"/>
            <a:ext cx="4000500" cy="4000500"/>
            <a:chOff x="13906500" y="3048000"/>
            <a:chExt cx="4000500" cy="4000500"/>
          </a:xfrm>
        </p:grpSpPr>
        <p:sp>
          <p:nvSpPr>
            <p:cNvPr id="212" name="Google Shape;212;p18"/>
            <p:cNvSpPr/>
            <p:nvPr/>
          </p:nvSpPr>
          <p:spPr>
            <a:xfrm>
              <a:off x="13906500" y="3048000"/>
              <a:ext cx="4000500" cy="4000500"/>
            </a:xfrm>
            <a:prstGeom prst="roundRect">
              <a:avLst>
                <a:gd fmla="val 5714"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13" name="Google Shape;213;p18"/>
            <p:cNvSpPr/>
            <p:nvPr/>
          </p:nvSpPr>
          <p:spPr>
            <a:xfrm>
              <a:off x="13906500" y="3048000"/>
              <a:ext cx="4000500" cy="1143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14" name="Google Shape;214;p18"/>
            <p:cNvSpPr txBox="1"/>
            <p:nvPr/>
          </p:nvSpPr>
          <p:spPr>
            <a:xfrm>
              <a:off x="14287500" y="3499104"/>
              <a:ext cx="7620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EA580C"/>
                  </a:solidFill>
                  <a:latin typeface="Material Icons"/>
                  <a:ea typeface="Material Icons"/>
                  <a:cs typeface="Material Icons"/>
                  <a:sym typeface="Material Icons"/>
                </a:rPr>
                <a:t></a:t>
              </a:r>
              <a:endParaRPr sz="4800">
                <a:solidFill>
                  <a:srgbClr val="EA580C"/>
                </a:solidFill>
                <a:latin typeface="Material Icons"/>
                <a:ea typeface="Material Icons"/>
                <a:cs typeface="Material Icons"/>
                <a:sym typeface="Material Icons"/>
              </a:endParaRPr>
            </a:p>
          </p:txBody>
        </p:sp>
        <p:sp>
          <p:nvSpPr>
            <p:cNvPr id="215" name="Google Shape;215;p18"/>
            <p:cNvSpPr txBox="1"/>
            <p:nvPr/>
          </p:nvSpPr>
          <p:spPr>
            <a:xfrm>
              <a:off x="14287500" y="4381500"/>
              <a:ext cx="3238500" cy="2286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000">
                  <a:solidFill>
                    <a:srgbClr val="0A0915"/>
                  </a:solidFill>
                  <a:latin typeface="Inter"/>
                  <a:ea typeface="Inter"/>
                  <a:cs typeface="Inter"/>
                  <a:sym typeface="Inter"/>
                </a:rPr>
                <a:t>Intensidad</a:t>
              </a:r>
              <a:endParaRPr sz="2000">
                <a:solidFill>
                  <a:srgbClr val="374151"/>
                </a:solidFill>
                <a:latin typeface="Inter"/>
                <a:ea typeface="Inter"/>
                <a:cs typeface="Inter"/>
                <a:sym typeface="Inter"/>
              </a:endParaRPr>
            </a:p>
            <a:p>
              <a:pPr indent="0" lvl="0" marL="0" rtl="0" algn="l">
                <a:spcBef>
                  <a:spcPts val="900"/>
                </a:spcBef>
                <a:spcAft>
                  <a:spcPts val="0"/>
                </a:spcAft>
                <a:buNone/>
              </a:pPr>
              <a:r>
                <a:rPr lang="en-US" sz="1600">
                  <a:solidFill>
                    <a:srgbClr val="374151"/>
                  </a:solidFill>
                  <a:latin typeface="Inter"/>
                  <a:ea typeface="Inter"/>
                  <a:cs typeface="Inter"/>
                  <a:sym typeface="Inter"/>
                </a:rPr>
                <a:t>Dos semanas más cortas pero mucho más intensas.</a:t>
              </a:r>
              <a:endParaRPr sz="1600">
                <a:solidFill>
                  <a:srgbClr val="374151"/>
                </a:solidFill>
                <a:latin typeface="Inter"/>
                <a:ea typeface="Inter"/>
                <a:cs typeface="Inter"/>
                <a:sym typeface="Inter"/>
              </a:endParaRPr>
            </a:p>
          </p:txBody>
        </p:sp>
      </p:grpSp>
      <p:grpSp>
        <p:nvGrpSpPr>
          <p:cNvPr id="216" name="Google Shape;216;p18"/>
          <p:cNvGrpSpPr/>
          <p:nvPr/>
        </p:nvGrpSpPr>
        <p:grpSpPr>
          <a:xfrm>
            <a:off x="952500" y="7810500"/>
            <a:ext cx="16383000" cy="952500"/>
            <a:chOff x="952500" y="7810500"/>
            <a:chExt cx="16383000" cy="952500"/>
          </a:xfrm>
        </p:grpSpPr>
        <p:sp>
          <p:nvSpPr>
            <p:cNvPr id="217" name="Google Shape;217;p18"/>
            <p:cNvSpPr/>
            <p:nvPr/>
          </p:nvSpPr>
          <p:spPr>
            <a:xfrm>
              <a:off x="952500" y="7810500"/>
              <a:ext cx="16383000" cy="952500"/>
            </a:xfrm>
            <a:prstGeom prst="roundRect">
              <a:avLst>
                <a:gd fmla="val 16000" name="adj"/>
              </a:avLst>
            </a:prstGeom>
            <a:solidFill>
              <a:srgbClr val="F9FAFB"/>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18" name="Google Shape;218;p18"/>
            <p:cNvSpPr txBox="1"/>
            <p:nvPr/>
          </p:nvSpPr>
          <p:spPr>
            <a:xfrm>
              <a:off x="1333500" y="7810500"/>
              <a:ext cx="15621000" cy="952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US" sz="2400">
                  <a:solidFill>
                    <a:srgbClr val="4B5563"/>
                  </a:solidFill>
                  <a:latin typeface="Inter Medium"/>
                  <a:ea typeface="Inter Medium"/>
                  <a:cs typeface="Inter Medium"/>
                  <a:sym typeface="Inter Medium"/>
                </a:rPr>
                <a:t>Preparando el camino para el éxito del despliegue final.</a:t>
              </a:r>
              <a:endParaRPr b="0" sz="2400">
                <a:solidFill>
                  <a:srgbClr val="4B5563"/>
                </a:solidFill>
                <a:latin typeface="Inter Medium"/>
                <a:ea typeface="Inter Medium"/>
                <a:cs typeface="Inter Medium"/>
                <a:sym typeface="Inter Medium"/>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19"/>
          <p:cNvSpPr/>
          <p:nvPr/>
        </p:nvSpPr>
        <p:spPr>
          <a:xfrm>
            <a:off x="0" y="0"/>
            <a:ext cx="18288000" cy="10287000"/>
          </a:xfrm>
          <a:prstGeom prst="rect">
            <a:avLst/>
          </a:prstGeom>
          <a:solidFill>
            <a:srgbClr val="EA580C"/>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5" name="Google Shape;225;p19"/>
          <p:cNvSpPr txBox="1"/>
          <p:nvPr/>
        </p:nvSpPr>
        <p:spPr>
          <a:xfrm>
            <a:off x="1371600" y="3200400"/>
            <a:ext cx="15544800" cy="137160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4200" u="none" cap="none" strike="noStrike">
                <a:solidFill>
                  <a:srgbClr val="FFFFFF"/>
                </a:solidFill>
                <a:latin typeface="Inter"/>
                <a:ea typeface="Inter"/>
                <a:cs typeface="Inter"/>
                <a:sym typeface="Inter"/>
              </a:rPr>
              <a:t>Cierras Fase C cuando un ciudadano externo,</a:t>
            </a:r>
            <a:endParaRPr/>
          </a:p>
        </p:txBody>
      </p:sp>
      <p:sp>
        <p:nvSpPr>
          <p:cNvPr id="226" name="Google Shape;226;p19"/>
          <p:cNvSpPr txBox="1"/>
          <p:nvPr/>
        </p:nvSpPr>
        <p:spPr>
          <a:xfrm>
            <a:off x="1371600" y="4754880"/>
            <a:ext cx="15544800" cy="22860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n-US" sz="7800" u="none" cap="none" strike="noStrike">
                <a:solidFill>
                  <a:srgbClr val="FFFFFF"/>
                </a:solidFill>
                <a:latin typeface="Inter"/>
                <a:ea typeface="Inter"/>
                <a:cs typeface="Inter"/>
                <a:sym typeface="Inter"/>
              </a:rPr>
              <a:t>sin nadie al lado,</a:t>
            </a:r>
            <a:endParaRPr/>
          </a:p>
        </p:txBody>
      </p:sp>
      <p:sp>
        <p:nvSpPr>
          <p:cNvPr id="227" name="Google Shape;227;p19"/>
          <p:cNvSpPr txBox="1"/>
          <p:nvPr/>
        </p:nvSpPr>
        <p:spPr>
          <a:xfrm>
            <a:off x="1371600" y="7315200"/>
            <a:ext cx="15544800" cy="46170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3000" u="none" cap="none" strike="noStrike">
                <a:solidFill>
                  <a:srgbClr val="FFFFFF"/>
                </a:solidFill>
                <a:latin typeface="Inter"/>
                <a:ea typeface="Inter"/>
                <a:cs typeface="Inter"/>
                <a:sym typeface="Inter"/>
              </a:rPr>
              <a:t>puede completar el </a:t>
            </a:r>
            <a:r>
              <a:rPr lang="en-US" sz="3000">
                <a:solidFill>
                  <a:srgbClr val="FFFFFF"/>
                </a:solidFill>
                <a:latin typeface="Inter"/>
                <a:ea typeface="Inter"/>
                <a:cs typeface="Inter"/>
                <a:sym typeface="Inter"/>
              </a:rPr>
              <a:t>trámite</a:t>
            </a:r>
            <a:r>
              <a:rPr b="0" i="0" lang="en-US" sz="3000" u="none" cap="none" strike="noStrike">
                <a:solidFill>
                  <a:srgbClr val="FFFFFF"/>
                </a:solidFill>
                <a:latin typeface="Inter"/>
                <a:ea typeface="Inter"/>
                <a:cs typeface="Inter"/>
                <a:sym typeface="Inter"/>
              </a:rPr>
              <a:t> y recibir su documento.</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