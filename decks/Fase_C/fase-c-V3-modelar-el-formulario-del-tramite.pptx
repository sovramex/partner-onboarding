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Lst>
  <p:sldSz cy="10287000" cx="18288000"/>
  <p:notesSz cx="6858000" cy="9144000"/>
  <p:embeddedFontLst>
    <p:embeddedFont>
      <p:font typeface="Inter"/>
      <p:regular r:id="rId13"/>
      <p:bold r:id="rId14"/>
      <p:italic r:id="rId15"/>
      <p:boldItalic r:id="rId1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font" Target="fonts/Inter-regular.fntdata"/><Relationship Id="rId12" Type="http://schemas.openxmlformats.org/officeDocument/2006/relationships/slide" Target="slides/slide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Inter-italic.fntdata"/><Relationship Id="rId14" Type="http://schemas.openxmlformats.org/officeDocument/2006/relationships/font" Target="fonts/Inter-bold.fntdata"/><Relationship Id="rId16" Type="http://schemas.openxmlformats.org/officeDocument/2006/relationships/font" Target="fonts/Inter-bold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18.0s · 45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El formulario es el cuestionario que completa el ciudadano. Es la primera pieza que vas a modelar y la que mas conversacion va a generar con el area duena, porque cada pregunta refleja una decision sobre que informacion necesita el gobierno para resolver la solicitud.</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 name="Google Shape;91;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28.0s · 70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La plataforma te da varios tipos de preguntas. Texto libre, numeros, fechas, opciones para elegir, carga de archivos y campos que se completan a partir de un catalogo. Tambien puedes encadenar preguntas con logica condicional, para que ciertos campos solo aparezcan segun lo que el ciudadano respondio antes. Por ejemplo, si el ciudadano marca que el tramite es para un vehiculo, recien ahi aparece la pregunta del dominio del vehiculo.</a:t>
            </a:r>
            <a:endParaRPr/>
          </a:p>
        </p:txBody>
      </p:sp>
      <p:sp>
        <p:nvSpPr>
          <p:cNvPr id="92" name="Google Shape;92;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0" name="Google Shape;110;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22.4s · 56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Antes de empezar a modelar, conviene tener a mano el formulario en papel que el gobierno usa hoy. Esa hoja es la fuente mas honesta de que se pregunta y en que orden. Cualquier campo que este en el papel y no este en el formulario digital tiene que justificarse. Cualquier campo nuevo que agregues tambien.</a:t>
            </a:r>
            <a:endParaRPr/>
          </a:p>
        </p:txBody>
      </p:sp>
      <p:sp>
        <p:nvSpPr>
          <p:cNvPr id="111" name="Google Shape;111;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6" name="Google Shape;126;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24.8s · 62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Los catalogos son la pieza que se olvida mas seguido. Si una pregunta tiene una lista de opciones que ya existe en otro tramite, configurala una sola vez como catalogo y vinculala desde donde la necesites. La lista de localidades, los tipos de documento, las categorias de comercio, las areas internas del municipio. Todo eso vive una sola vez y se reutiliza.</a:t>
            </a:r>
            <a:endParaRPr/>
          </a:p>
        </p:txBody>
      </p:sp>
      <p:sp>
        <p:nvSpPr>
          <p:cNvPr id="127" name="Google Shape;127;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4" name="Google Shape;144;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17.2s · 43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La validacion de cada campo tambien se modela en esta etapa. Que es obligatorio, que formato tiene que tener, que archivos se aceptan, que tamano maximo. Cada validacion que defines es una sesion de soporte que no vas a tener que dar despues.</a:t>
            </a:r>
            <a:endParaRPr/>
          </a:p>
        </p:txBody>
      </p:sp>
      <p:sp>
        <p:nvSpPr>
          <p:cNvPr id="145" name="Google Shape;145;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2" name="Google Shape;162;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15.6s · 39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Cuando termines el formulario, hay una prueba rapida. Pidele a alguien del equipo del gobierno que lo complete como si fuera ciudadano. Si tarda mas de lo que tarda en hacer el tramite en ventanilla, algo esta de mas.</a:t>
            </a:r>
            <a:endParaRPr/>
          </a:p>
        </p:txBody>
      </p:sp>
      <p:sp>
        <p:nvSpPr>
          <p:cNvPr id="163" name="Google Shape;163;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0" name="Google Shape;180;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9.6s · 24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Un formulario bien modelado se siente mas corto de lo que en realidad es. Uno mal modelado pide cosas que el gobierno nunca necesito.</a:t>
            </a:r>
            <a:endParaRPr/>
          </a:p>
        </p:txBody>
      </p:sp>
      <p:sp>
        <p:nvSpPr>
          <p:cNvPr id="181" name="Google Shape;181;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3"/>
          <p:cNvSpPr/>
          <p:nvPr/>
        </p:nvSpPr>
        <p:spPr>
          <a:xfrm>
            <a:off x="0" y="0"/>
            <a:ext cx="18288000" cy="228600"/>
          </a:xfrm>
          <a:prstGeom prst="rect">
            <a:avLst/>
          </a:prstGeom>
          <a:solidFill>
            <a:srgbClr val="EA580C"/>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3"/>
          <p:cNvSpPr txBox="1"/>
          <p:nvPr/>
        </p:nvSpPr>
        <p:spPr>
          <a:xfrm>
            <a:off x="1371600" y="3200400"/>
            <a:ext cx="15544800" cy="54864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800" u="none" cap="none" strike="noStrike">
                <a:solidFill>
                  <a:srgbClr val="EA580C"/>
                </a:solidFill>
                <a:latin typeface="Inter"/>
                <a:ea typeface="Inter"/>
                <a:cs typeface="Inter"/>
                <a:sym typeface="Inter"/>
              </a:rPr>
              <a:t>FASE C</a:t>
            </a:r>
            <a:endParaRPr/>
          </a:p>
        </p:txBody>
      </p:sp>
      <p:sp>
        <p:nvSpPr>
          <p:cNvPr id="87" name="Google Shape;87;p13"/>
          <p:cNvSpPr txBox="1"/>
          <p:nvPr/>
        </p:nvSpPr>
        <p:spPr>
          <a:xfrm>
            <a:off x="1371600" y="3840480"/>
            <a:ext cx="15544800" cy="2586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8000" u="none" cap="none" strike="noStrike">
                <a:solidFill>
                  <a:srgbClr val="0A0915"/>
                </a:solidFill>
                <a:latin typeface="Inter"/>
                <a:ea typeface="Inter"/>
                <a:cs typeface="Inter"/>
                <a:sym typeface="Inter"/>
              </a:rPr>
              <a:t>Modelar el formulario</a:t>
            </a:r>
            <a:endParaRPr/>
          </a:p>
          <a:p>
            <a:pPr indent="0" lvl="0" marL="0" marR="0" rtl="0" algn="l">
              <a:lnSpc>
                <a:spcPct val="110000"/>
              </a:lnSpc>
              <a:spcBef>
                <a:spcPts val="0"/>
              </a:spcBef>
              <a:spcAft>
                <a:spcPts val="0"/>
              </a:spcAft>
              <a:buNone/>
            </a:pPr>
            <a:r>
              <a:rPr b="1" i="0" lang="en-US" sz="8000" u="none" cap="none" strike="noStrike">
                <a:solidFill>
                  <a:srgbClr val="0A0915"/>
                </a:solidFill>
                <a:latin typeface="Inter"/>
                <a:ea typeface="Inter"/>
                <a:cs typeface="Inter"/>
                <a:sym typeface="Inter"/>
              </a:rPr>
              <a:t>del tramite</a:t>
            </a:r>
            <a:endParaRPr/>
          </a:p>
        </p:txBody>
      </p:sp>
      <p:sp>
        <p:nvSpPr>
          <p:cNvPr id="88" name="Google Shape;88;p13"/>
          <p:cNvSpPr txBox="1"/>
          <p:nvPr/>
        </p:nvSpPr>
        <p:spPr>
          <a:xfrm>
            <a:off x="1250575" y="6517900"/>
            <a:ext cx="15544800" cy="3387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US" sz="2200" u="none" cap="none" strike="noStrike">
                <a:solidFill>
                  <a:srgbClr val="888888"/>
                </a:solidFill>
                <a:latin typeface="Inter"/>
                <a:ea typeface="Inter"/>
                <a:cs typeface="Inter"/>
                <a:sym typeface="Inter"/>
              </a:rPr>
              <a:t>Cada pregunta refleja una decision sobre que informacion necesita el gobierno.</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93" name="Shape 93"/>
        <p:cNvGrpSpPr/>
        <p:nvPr/>
      </p:nvGrpSpPr>
      <p:grpSpPr>
        <a:xfrm>
          <a:off x="0" y="0"/>
          <a:ext cx="0" cy="0"/>
          <a:chOff x="0" y="0"/>
          <a:chExt cx="0" cy="0"/>
        </a:xfrm>
      </p:grpSpPr>
      <p:sp>
        <p:nvSpPr>
          <p:cNvPr id="94" name="Google Shape;94;p14"/>
          <p:cNvSpPr/>
          <p:nvPr/>
        </p:nvSpPr>
        <p:spPr>
          <a:xfrm>
            <a:off x="0" y="0"/>
            <a:ext cx="18288000" cy="2286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5" name="Google Shape;95;p14"/>
          <p:cNvSpPr txBox="1"/>
          <p:nvPr/>
        </p:nvSpPr>
        <p:spPr>
          <a:xfrm>
            <a:off x="1371600" y="762000"/>
            <a:ext cx="15544800" cy="7389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lang="en-US" sz="4800">
                <a:solidFill>
                  <a:srgbClr val="0A0915"/>
                </a:solidFill>
                <a:latin typeface="Inter"/>
                <a:ea typeface="Inter"/>
                <a:cs typeface="Inter"/>
                <a:sym typeface="Inter"/>
              </a:rPr>
              <a:t>¿Qué te ofrece la plataforma?</a:t>
            </a:r>
            <a:endParaRPr b="1" sz="4800">
              <a:solidFill>
                <a:srgbClr val="0A0915"/>
              </a:solidFill>
              <a:latin typeface="Inter"/>
              <a:ea typeface="Inter"/>
              <a:cs typeface="Inter"/>
              <a:sym typeface="Inter"/>
            </a:endParaRPr>
          </a:p>
        </p:txBody>
      </p:sp>
      <p:grpSp>
        <p:nvGrpSpPr>
          <p:cNvPr id="96" name="Google Shape;96;p14"/>
          <p:cNvGrpSpPr/>
          <p:nvPr/>
        </p:nvGrpSpPr>
        <p:grpSpPr>
          <a:xfrm>
            <a:off x="1371600" y="2286000"/>
            <a:ext cx="7239000" cy="3238500"/>
            <a:chOff x="1371600" y="2286000"/>
            <a:chExt cx="7239000" cy="3238500"/>
          </a:xfrm>
        </p:grpSpPr>
        <p:sp>
          <p:nvSpPr>
            <p:cNvPr id="97" name="Google Shape;97;p14"/>
            <p:cNvSpPr/>
            <p:nvPr/>
          </p:nvSpPr>
          <p:spPr>
            <a:xfrm>
              <a:off x="1371600" y="2286000"/>
              <a:ext cx="7239000" cy="3238500"/>
            </a:xfrm>
            <a:prstGeom prst="roundRect">
              <a:avLst>
                <a:gd fmla="val 5882" name="adj"/>
              </a:avLst>
            </a:prstGeom>
            <a:solidFill>
              <a:srgbClr val="F8FAFC"/>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8" name="Google Shape;98;p14"/>
            <p:cNvSpPr txBox="1"/>
            <p:nvPr/>
          </p:nvSpPr>
          <p:spPr>
            <a:xfrm>
              <a:off x="1752600" y="2737104"/>
              <a:ext cx="7620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EA580C"/>
                  </a:solidFill>
                  <a:latin typeface="Material Icons"/>
                  <a:ea typeface="Material Icons"/>
                  <a:cs typeface="Material Icons"/>
                  <a:sym typeface="Material Icons"/>
                </a:rPr>
                <a:t></a:t>
              </a:r>
              <a:endParaRPr sz="4800">
                <a:solidFill>
                  <a:srgbClr val="EA580C"/>
                </a:solidFill>
                <a:latin typeface="Material Icons"/>
                <a:ea typeface="Material Icons"/>
                <a:cs typeface="Material Icons"/>
                <a:sym typeface="Material Icons"/>
              </a:endParaRPr>
            </a:p>
          </p:txBody>
        </p:sp>
        <p:sp>
          <p:nvSpPr>
            <p:cNvPr id="99" name="Google Shape;99;p14"/>
            <p:cNvSpPr txBox="1"/>
            <p:nvPr/>
          </p:nvSpPr>
          <p:spPr>
            <a:xfrm>
              <a:off x="1752600" y="3619500"/>
              <a:ext cx="6477000" cy="1524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400">
                  <a:solidFill>
                    <a:srgbClr val="0A0915"/>
                  </a:solidFill>
                  <a:latin typeface="Inter"/>
                  <a:ea typeface="Inter"/>
                  <a:cs typeface="Inter"/>
                  <a:sym typeface="Inter"/>
                </a:rPr>
                <a:t>Versatilidad de datos</a:t>
              </a:r>
              <a:endParaRPr b="1" sz="2400">
                <a:solidFill>
                  <a:srgbClr val="0A0915"/>
                </a:solidFill>
                <a:latin typeface="Inter"/>
                <a:ea typeface="Inter"/>
                <a:cs typeface="Inter"/>
                <a:sym typeface="Inter"/>
              </a:endParaRPr>
            </a:p>
            <a:p>
              <a:pPr indent="0" lvl="0" marL="0" rtl="0" algn="l">
                <a:spcBef>
                  <a:spcPts val="1125"/>
                </a:spcBef>
                <a:spcAft>
                  <a:spcPts val="0"/>
                </a:spcAft>
                <a:buNone/>
              </a:pPr>
              <a:r>
                <a:rPr b="0" lang="en-US" sz="1600">
                  <a:solidFill>
                    <a:srgbClr val="475569"/>
                  </a:solidFill>
                  <a:latin typeface="Inter"/>
                  <a:ea typeface="Inter"/>
                  <a:cs typeface="Inter"/>
                  <a:sym typeface="Inter"/>
                </a:rPr>
                <a:t>Texto libre, números, fechas, opciones múltiples y carga de archivos.</a:t>
              </a:r>
              <a:endParaRPr b="0" sz="1600">
                <a:solidFill>
                  <a:srgbClr val="475569"/>
                </a:solidFill>
                <a:latin typeface="Inter"/>
                <a:ea typeface="Inter"/>
                <a:cs typeface="Inter"/>
                <a:sym typeface="Inter"/>
              </a:endParaRPr>
            </a:p>
          </p:txBody>
        </p:sp>
      </p:grpSp>
      <p:grpSp>
        <p:nvGrpSpPr>
          <p:cNvPr id="100" name="Google Shape;100;p14"/>
          <p:cNvGrpSpPr/>
          <p:nvPr/>
        </p:nvGrpSpPr>
        <p:grpSpPr>
          <a:xfrm>
            <a:off x="9677400" y="2286000"/>
            <a:ext cx="7239000" cy="3238500"/>
            <a:chOff x="9677400" y="2286000"/>
            <a:chExt cx="7239000" cy="3238500"/>
          </a:xfrm>
        </p:grpSpPr>
        <p:sp>
          <p:nvSpPr>
            <p:cNvPr id="101" name="Google Shape;101;p14"/>
            <p:cNvSpPr/>
            <p:nvPr/>
          </p:nvSpPr>
          <p:spPr>
            <a:xfrm>
              <a:off x="9677400" y="2286000"/>
              <a:ext cx="7239000" cy="3238500"/>
            </a:xfrm>
            <a:prstGeom prst="roundRect">
              <a:avLst>
                <a:gd fmla="val 5882" name="adj"/>
              </a:avLst>
            </a:prstGeom>
            <a:solidFill>
              <a:srgbClr val="F8FAFC"/>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2" name="Google Shape;102;p14"/>
            <p:cNvSpPr txBox="1"/>
            <p:nvPr/>
          </p:nvSpPr>
          <p:spPr>
            <a:xfrm>
              <a:off x="10058400" y="2737104"/>
              <a:ext cx="7620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EA580C"/>
                  </a:solidFill>
                  <a:latin typeface="Material Icons"/>
                  <a:ea typeface="Material Icons"/>
                  <a:cs typeface="Material Icons"/>
                  <a:sym typeface="Material Icons"/>
                </a:rPr>
                <a:t></a:t>
              </a:r>
              <a:endParaRPr sz="4800">
                <a:solidFill>
                  <a:srgbClr val="EA580C"/>
                </a:solidFill>
                <a:latin typeface="Material Icons"/>
                <a:ea typeface="Material Icons"/>
                <a:cs typeface="Material Icons"/>
                <a:sym typeface="Material Icons"/>
              </a:endParaRPr>
            </a:p>
          </p:txBody>
        </p:sp>
        <p:sp>
          <p:nvSpPr>
            <p:cNvPr id="103" name="Google Shape;103;p14"/>
            <p:cNvSpPr txBox="1"/>
            <p:nvPr/>
          </p:nvSpPr>
          <p:spPr>
            <a:xfrm>
              <a:off x="10058400" y="3619500"/>
              <a:ext cx="6477000" cy="1524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400">
                  <a:solidFill>
                    <a:srgbClr val="0A0915"/>
                  </a:solidFill>
                  <a:latin typeface="Inter"/>
                  <a:ea typeface="Inter"/>
                  <a:cs typeface="Inter"/>
                  <a:sym typeface="Inter"/>
                </a:rPr>
                <a:t>Catálogos inteligentes</a:t>
              </a:r>
              <a:endParaRPr b="1" sz="2400">
                <a:solidFill>
                  <a:srgbClr val="0A0915"/>
                </a:solidFill>
                <a:latin typeface="Inter"/>
                <a:ea typeface="Inter"/>
                <a:cs typeface="Inter"/>
                <a:sym typeface="Inter"/>
              </a:endParaRPr>
            </a:p>
            <a:p>
              <a:pPr indent="0" lvl="0" marL="0" rtl="0" algn="l">
                <a:spcBef>
                  <a:spcPts val="1125"/>
                </a:spcBef>
                <a:spcAft>
                  <a:spcPts val="0"/>
                </a:spcAft>
                <a:buNone/>
              </a:pPr>
              <a:r>
                <a:rPr b="0" lang="en-US" sz="1600">
                  <a:solidFill>
                    <a:srgbClr val="475569"/>
                  </a:solidFill>
                  <a:latin typeface="Inter"/>
                  <a:ea typeface="Inter"/>
                  <a:cs typeface="Inter"/>
                  <a:sym typeface="Inter"/>
                </a:rPr>
                <a:t>Campos que se completan automáticamente a partir de catálogos predefinidos.</a:t>
              </a:r>
              <a:endParaRPr b="0" sz="1600">
                <a:solidFill>
                  <a:srgbClr val="475569"/>
                </a:solidFill>
                <a:latin typeface="Inter"/>
                <a:ea typeface="Inter"/>
                <a:cs typeface="Inter"/>
                <a:sym typeface="Inter"/>
              </a:endParaRPr>
            </a:p>
          </p:txBody>
        </p:sp>
      </p:grpSp>
      <p:grpSp>
        <p:nvGrpSpPr>
          <p:cNvPr id="104" name="Google Shape;104;p14"/>
          <p:cNvGrpSpPr/>
          <p:nvPr/>
        </p:nvGrpSpPr>
        <p:grpSpPr>
          <a:xfrm>
            <a:off x="1371600" y="5905500"/>
            <a:ext cx="15544800" cy="3048000"/>
            <a:chOff x="1371600" y="5905500"/>
            <a:chExt cx="15544800" cy="3048000"/>
          </a:xfrm>
        </p:grpSpPr>
        <p:sp>
          <p:nvSpPr>
            <p:cNvPr id="105" name="Google Shape;105;p14"/>
            <p:cNvSpPr/>
            <p:nvPr/>
          </p:nvSpPr>
          <p:spPr>
            <a:xfrm>
              <a:off x="1371600" y="5905500"/>
              <a:ext cx="15544800" cy="3048000"/>
            </a:xfrm>
            <a:prstGeom prst="roundRect">
              <a:avLst>
                <a:gd fmla="val 6250" name="adj"/>
              </a:avLst>
            </a:prstGeom>
            <a:solidFill>
              <a:srgbClr val="FFF7ED"/>
            </a:solidFill>
            <a:ln cap="flat" cmpd="sng" w="19050">
              <a:solidFill>
                <a:srgbClr val="FDBA74"/>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6" name="Google Shape;106;p14"/>
            <p:cNvSpPr txBox="1"/>
            <p:nvPr/>
          </p:nvSpPr>
          <p:spPr>
            <a:xfrm>
              <a:off x="1752600" y="6356604"/>
              <a:ext cx="7620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EA580C"/>
                  </a:solidFill>
                  <a:latin typeface="Material Icons"/>
                  <a:ea typeface="Material Icons"/>
                  <a:cs typeface="Material Icons"/>
                  <a:sym typeface="Material Icons"/>
                </a:rPr>
                <a:t></a:t>
              </a:r>
              <a:endParaRPr sz="4800">
                <a:solidFill>
                  <a:srgbClr val="EA580C"/>
                </a:solidFill>
                <a:latin typeface="Material Icons"/>
                <a:ea typeface="Material Icons"/>
                <a:cs typeface="Material Icons"/>
                <a:sym typeface="Material Icons"/>
              </a:endParaRPr>
            </a:p>
          </p:txBody>
        </p:sp>
        <p:sp>
          <p:nvSpPr>
            <p:cNvPr id="107" name="Google Shape;107;p14"/>
            <p:cNvSpPr txBox="1"/>
            <p:nvPr/>
          </p:nvSpPr>
          <p:spPr>
            <a:xfrm>
              <a:off x="2895600" y="6286500"/>
              <a:ext cx="13639800" cy="2286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2400">
                  <a:solidFill>
                    <a:srgbClr val="0A0915"/>
                  </a:solidFill>
                  <a:latin typeface="Inter"/>
                  <a:ea typeface="Inter"/>
                  <a:cs typeface="Inter"/>
                  <a:sym typeface="Inter"/>
                </a:rPr>
                <a:t>Lógica Condicional</a:t>
              </a:r>
              <a:endParaRPr b="1" sz="2400">
                <a:solidFill>
                  <a:srgbClr val="0A0915"/>
                </a:solidFill>
                <a:latin typeface="Inter"/>
                <a:ea typeface="Inter"/>
                <a:cs typeface="Inter"/>
                <a:sym typeface="Inter"/>
              </a:endParaRPr>
            </a:p>
            <a:p>
              <a:pPr indent="0" lvl="0" marL="0" rtl="0" algn="l">
                <a:spcBef>
                  <a:spcPts val="1125"/>
                </a:spcBef>
                <a:spcAft>
                  <a:spcPts val="0"/>
                </a:spcAft>
                <a:buNone/>
              </a:pPr>
              <a:r>
                <a:rPr b="0" lang="en-US" sz="1800">
                  <a:solidFill>
                    <a:srgbClr val="475569"/>
                  </a:solidFill>
                  <a:latin typeface="Inter"/>
                  <a:ea typeface="Inter"/>
                  <a:cs typeface="Inter"/>
                  <a:sym typeface="Inter"/>
                </a:rPr>
                <a:t>Optimiza la experiencia mostrando solo lo necesario según las respuestas previas.</a:t>
              </a:r>
              <a:endParaRPr b="0" sz="1800">
                <a:solidFill>
                  <a:srgbClr val="475569"/>
                </a:solidFill>
                <a:latin typeface="Inter"/>
                <a:ea typeface="Inter"/>
                <a:cs typeface="Inter"/>
                <a:sym typeface="Inter"/>
              </a:endParaRPr>
            </a:p>
            <a:p>
              <a:pPr indent="0" lvl="0" marL="0" rtl="0" algn="l">
                <a:spcBef>
                  <a:spcPts val="1500"/>
                </a:spcBef>
                <a:spcAft>
                  <a:spcPts val="0"/>
                </a:spcAft>
                <a:buNone/>
              </a:pPr>
              <a:r>
                <a:rPr b="1" i="1" lang="en-US" sz="1600">
                  <a:solidFill>
                    <a:srgbClr val="1E293B"/>
                  </a:solidFill>
                  <a:highlight>
                    <a:srgbClr val="FFFFFF"/>
                  </a:highlight>
                  <a:latin typeface="Inter"/>
                  <a:ea typeface="Inter"/>
                  <a:cs typeface="Inter"/>
                  <a:sym typeface="Inter"/>
                </a:rPr>
                <a:t>Ejemplo:</a:t>
              </a:r>
              <a:r>
                <a:rPr i="1" lang="en-US" sz="1600">
                  <a:solidFill>
                    <a:srgbClr val="1E293B"/>
                  </a:solidFill>
                  <a:highlight>
                    <a:srgbClr val="FFFFFF"/>
                  </a:highlight>
                  <a:latin typeface="Inter"/>
                  <a:ea typeface="Inter"/>
                  <a:cs typeface="Inter"/>
                  <a:sym typeface="Inter"/>
                </a:rPr>
                <a:t> Si el ciudadano marca "Vehículo", recién ahí aparece la pregunta sobre el dominio.</a:t>
              </a:r>
              <a:endParaRPr i="1" sz="1600">
                <a:solidFill>
                  <a:srgbClr val="1E293B"/>
                </a:solidFill>
                <a:highlight>
                  <a:srgbClr val="FFFFFF"/>
                </a:highlight>
                <a:latin typeface="Inter"/>
                <a:ea typeface="Inter"/>
                <a:cs typeface="Inter"/>
                <a:sym typeface="Inter"/>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5"/>
          <p:cNvSpPr/>
          <p:nvPr/>
        </p:nvSpPr>
        <p:spPr>
          <a:xfrm>
            <a:off x="0" y="0"/>
            <a:ext cx="18288000" cy="2286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14" name="Google Shape;114;p15"/>
          <p:cNvGrpSpPr/>
          <p:nvPr/>
        </p:nvGrpSpPr>
        <p:grpSpPr>
          <a:xfrm>
            <a:off x="1371600" y="904100"/>
            <a:ext cx="15544800" cy="7810500"/>
            <a:chOff x="1371600" y="952500"/>
            <a:chExt cx="15544800" cy="7810500"/>
          </a:xfrm>
        </p:grpSpPr>
        <p:sp>
          <p:nvSpPr>
            <p:cNvPr id="115" name="Google Shape;115;p15"/>
            <p:cNvSpPr/>
            <p:nvPr/>
          </p:nvSpPr>
          <p:spPr>
            <a:xfrm>
              <a:off x="1371600" y="1524000"/>
              <a:ext cx="15544800" cy="7239000"/>
            </a:xfrm>
            <a:prstGeom prst="roundRect">
              <a:avLst>
                <a:gd fmla="val 3157" name="adj"/>
              </a:avLst>
            </a:prstGeom>
            <a:solidFill>
              <a:srgbClr val="FFF7ED"/>
            </a:solidFill>
            <a:ln cap="flat" cmpd="sng" w="19050">
              <a:solidFill>
                <a:srgbClr val="FDBA74"/>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16" name="Google Shape;116;p15"/>
            <p:cNvGrpSpPr/>
            <p:nvPr/>
          </p:nvGrpSpPr>
          <p:grpSpPr>
            <a:xfrm>
              <a:off x="8667750" y="952500"/>
              <a:ext cx="952500" cy="1025525"/>
              <a:chOff x="8667750" y="952500"/>
              <a:chExt cx="952500" cy="1025525"/>
            </a:xfrm>
          </p:grpSpPr>
          <p:sp>
            <p:nvSpPr>
              <p:cNvPr id="117" name="Google Shape;117;p15"/>
              <p:cNvSpPr/>
              <p:nvPr/>
            </p:nvSpPr>
            <p:spPr>
              <a:xfrm>
                <a:off x="8667750" y="952500"/>
                <a:ext cx="952500" cy="952500"/>
              </a:xfrm>
              <a:prstGeom prst="roundRect">
                <a:avLst>
                  <a:gd fmla="val 12000" name="adj"/>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8" name="Google Shape;118;p15"/>
              <p:cNvSpPr txBox="1"/>
              <p:nvPr/>
            </p:nvSpPr>
            <p:spPr>
              <a:xfrm>
                <a:off x="8667750" y="1025525"/>
                <a:ext cx="952500" cy="952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5000">
                    <a:solidFill>
                      <a:srgbClr val="FFFFFF"/>
                    </a:solidFill>
                    <a:latin typeface="Material Icons"/>
                    <a:ea typeface="Material Icons"/>
                    <a:cs typeface="Material Icons"/>
                    <a:sym typeface="Material Icons"/>
                  </a:rPr>
                  <a:t></a:t>
                </a:r>
                <a:endParaRPr sz="5000">
                  <a:solidFill>
                    <a:srgbClr val="FFFFFF"/>
                  </a:solidFill>
                  <a:latin typeface="Material Icons"/>
                  <a:ea typeface="Material Icons"/>
                  <a:cs typeface="Material Icons"/>
                  <a:sym typeface="Material Icons"/>
                </a:endParaRPr>
              </a:p>
            </p:txBody>
          </p:sp>
        </p:grpSp>
        <p:sp>
          <p:nvSpPr>
            <p:cNvPr id="119" name="Google Shape;119;p15"/>
            <p:cNvSpPr txBox="1"/>
            <p:nvPr/>
          </p:nvSpPr>
          <p:spPr>
            <a:xfrm>
              <a:off x="1371600" y="2095500"/>
              <a:ext cx="155448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000">
                  <a:solidFill>
                    <a:srgbClr val="EA580C"/>
                  </a:solidFill>
                  <a:latin typeface="Inter"/>
                  <a:ea typeface="Inter"/>
                  <a:cs typeface="Inter"/>
                  <a:sym typeface="Inter"/>
                </a:rPr>
                <a:t>Antes de empezar</a:t>
              </a:r>
              <a:endParaRPr b="1" sz="2000">
                <a:solidFill>
                  <a:srgbClr val="EA580C"/>
                </a:solidFill>
                <a:latin typeface="Inter"/>
                <a:ea typeface="Inter"/>
                <a:cs typeface="Inter"/>
                <a:sym typeface="Inter"/>
              </a:endParaRPr>
            </a:p>
          </p:txBody>
        </p:sp>
        <p:sp>
          <p:nvSpPr>
            <p:cNvPr id="120" name="Google Shape;120;p15"/>
            <p:cNvSpPr txBox="1"/>
            <p:nvPr/>
          </p:nvSpPr>
          <p:spPr>
            <a:xfrm>
              <a:off x="2286000" y="2762250"/>
              <a:ext cx="13716000" cy="1524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4760">
                  <a:solidFill>
                    <a:srgbClr val="0A0915"/>
                  </a:solidFill>
                  <a:latin typeface="Inter"/>
                  <a:ea typeface="Inter"/>
                  <a:cs typeface="Inter"/>
                  <a:sym typeface="Inter"/>
                </a:rPr>
                <a:t>Tené a mano el formulario en papel que el gobierno usa hoy</a:t>
              </a:r>
              <a:endParaRPr b="1" sz="4760">
                <a:solidFill>
                  <a:srgbClr val="0A0915"/>
                </a:solidFill>
                <a:latin typeface="Inter"/>
                <a:ea typeface="Inter"/>
                <a:cs typeface="Inter"/>
                <a:sym typeface="Inter"/>
              </a:endParaRPr>
            </a:p>
          </p:txBody>
        </p:sp>
        <p:pic>
          <p:nvPicPr>
            <p:cNvPr id="121" name="Google Shape;121;p15"/>
            <p:cNvPicPr preferRelativeResize="0"/>
            <p:nvPr/>
          </p:nvPicPr>
          <p:blipFill rotWithShape="1">
            <a:blip r:embed="rId3">
              <a:alphaModFix/>
            </a:blip>
            <a:srcRect b="0" l="0" r="0" t="0"/>
            <a:stretch/>
          </p:blipFill>
          <p:spPr>
            <a:xfrm>
              <a:off x="8172450" y="4552950"/>
              <a:ext cx="971700" cy="38100"/>
            </a:xfrm>
            <a:prstGeom prst="rect">
              <a:avLst/>
            </a:prstGeom>
            <a:noFill/>
            <a:ln>
              <a:noFill/>
            </a:ln>
          </p:spPr>
        </p:pic>
        <p:sp>
          <p:nvSpPr>
            <p:cNvPr id="122" name="Google Shape;122;p15"/>
            <p:cNvSpPr txBox="1"/>
            <p:nvPr/>
          </p:nvSpPr>
          <p:spPr>
            <a:xfrm>
              <a:off x="2952750" y="4953000"/>
              <a:ext cx="12382500" cy="952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US" sz="2400">
                  <a:solidFill>
                    <a:srgbClr val="475569"/>
                  </a:solidFill>
                  <a:latin typeface="Inter"/>
                  <a:ea typeface="Inter"/>
                  <a:cs typeface="Inter"/>
                  <a:sym typeface="Inter"/>
                </a:rPr>
                <a:t>Esa hoja es la fuente más honesta de qué se pregunta y en qué orden.</a:t>
              </a:r>
              <a:endParaRPr b="0" sz="2400">
                <a:solidFill>
                  <a:srgbClr val="475569"/>
                </a:solidFill>
                <a:latin typeface="Inter"/>
                <a:ea typeface="Inter"/>
                <a:cs typeface="Inter"/>
                <a:sym typeface="Inter"/>
              </a:endParaRPr>
            </a:p>
          </p:txBody>
        </p:sp>
        <p:sp>
          <p:nvSpPr>
            <p:cNvPr id="123" name="Google Shape;123;p15"/>
            <p:cNvSpPr txBox="1"/>
            <p:nvPr/>
          </p:nvSpPr>
          <p:spPr>
            <a:xfrm>
              <a:off x="3810000" y="6191250"/>
              <a:ext cx="10668000" cy="1714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200">
                  <a:solidFill>
                    <a:srgbClr val="1E293B"/>
                  </a:solidFill>
                  <a:latin typeface="Inter"/>
                  <a:ea typeface="Inter"/>
                  <a:cs typeface="Inter"/>
                  <a:sym typeface="Inter"/>
                </a:rPr>
                <a:t>El papel es tu regla de oro:</a:t>
              </a:r>
              <a:endParaRPr b="1" sz="2200">
                <a:solidFill>
                  <a:srgbClr val="1E293B"/>
                </a:solidFill>
                <a:latin typeface="Inter"/>
                <a:ea typeface="Inter"/>
                <a:cs typeface="Inter"/>
                <a:sym typeface="Inter"/>
              </a:endParaRPr>
            </a:p>
            <a:p>
              <a:pPr indent="0" lvl="0" marL="0" rtl="0" algn="ctr">
                <a:spcBef>
                  <a:spcPts val="750"/>
                </a:spcBef>
                <a:spcAft>
                  <a:spcPts val="0"/>
                </a:spcAft>
                <a:buNone/>
              </a:pPr>
              <a:r>
                <a:rPr b="0" lang="en-US" sz="1800">
                  <a:solidFill>
                    <a:srgbClr val="475569"/>
                  </a:solidFill>
                  <a:latin typeface="Inter"/>
                  <a:ea typeface="Inter"/>
                  <a:cs typeface="Inter"/>
                  <a:sym typeface="Inter"/>
                </a:rPr>
                <a:t>Cualquier campo del papel que no esté en el digital tiene que justificarse. Cualquier campo nuevo que agregues, también.</a:t>
              </a:r>
              <a:endParaRPr b="0" sz="1800">
                <a:solidFill>
                  <a:srgbClr val="475569"/>
                </a:solidFill>
                <a:latin typeface="Inter"/>
                <a:ea typeface="Inter"/>
                <a:cs typeface="Inter"/>
                <a:sym typeface="Inter"/>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p16"/>
          <p:cNvSpPr/>
          <p:nvPr/>
        </p:nvSpPr>
        <p:spPr>
          <a:xfrm>
            <a:off x="0" y="0"/>
            <a:ext cx="18288000" cy="2286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30" name="Google Shape;130;p16"/>
          <p:cNvGrpSpPr/>
          <p:nvPr/>
        </p:nvGrpSpPr>
        <p:grpSpPr>
          <a:xfrm>
            <a:off x="1371600" y="1047750"/>
            <a:ext cx="15544800" cy="7715250"/>
            <a:chOff x="1371600" y="1047750"/>
            <a:chExt cx="15544800" cy="7715250"/>
          </a:xfrm>
        </p:grpSpPr>
        <p:sp>
          <p:nvSpPr>
            <p:cNvPr id="131" name="Google Shape;131;p16"/>
            <p:cNvSpPr/>
            <p:nvPr/>
          </p:nvSpPr>
          <p:spPr>
            <a:xfrm>
              <a:off x="1371600" y="1524000"/>
              <a:ext cx="15544800" cy="7239000"/>
            </a:xfrm>
            <a:prstGeom prst="roundRect">
              <a:avLst>
                <a:gd fmla="val 3157" name="adj"/>
              </a:avLst>
            </a:prstGeom>
            <a:solidFill>
              <a:srgbClr val="FFF7ED"/>
            </a:solidFill>
            <a:ln cap="flat" cmpd="sng" w="19050">
              <a:solidFill>
                <a:srgbClr val="FDBA74"/>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32" name="Google Shape;132;p16"/>
            <p:cNvGrpSpPr/>
            <p:nvPr/>
          </p:nvGrpSpPr>
          <p:grpSpPr>
            <a:xfrm>
              <a:off x="8667750" y="1047750"/>
              <a:ext cx="952500" cy="1025525"/>
              <a:chOff x="8667750" y="1047750"/>
              <a:chExt cx="952500" cy="1025525"/>
            </a:xfrm>
          </p:grpSpPr>
          <p:sp>
            <p:nvSpPr>
              <p:cNvPr id="133" name="Google Shape;133;p16"/>
              <p:cNvSpPr/>
              <p:nvPr/>
            </p:nvSpPr>
            <p:spPr>
              <a:xfrm>
                <a:off x="8667750" y="1047750"/>
                <a:ext cx="952500" cy="952500"/>
              </a:xfrm>
              <a:prstGeom prst="roundRect">
                <a:avLst>
                  <a:gd fmla="val 12000" name="adj"/>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4" name="Google Shape;134;p16"/>
              <p:cNvSpPr txBox="1"/>
              <p:nvPr/>
            </p:nvSpPr>
            <p:spPr>
              <a:xfrm>
                <a:off x="8667750" y="1120775"/>
                <a:ext cx="952500" cy="952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5000">
                    <a:solidFill>
                      <a:srgbClr val="FFFFFF"/>
                    </a:solidFill>
                    <a:latin typeface="Material Icons"/>
                    <a:ea typeface="Material Icons"/>
                    <a:cs typeface="Material Icons"/>
                    <a:sym typeface="Material Icons"/>
                  </a:rPr>
                  <a:t></a:t>
                </a:r>
                <a:endParaRPr sz="5000">
                  <a:solidFill>
                    <a:srgbClr val="FFFFFF"/>
                  </a:solidFill>
                  <a:latin typeface="Material Icons"/>
                  <a:ea typeface="Material Icons"/>
                  <a:cs typeface="Material Icons"/>
                  <a:sym typeface="Material Icons"/>
                </a:endParaRPr>
              </a:p>
            </p:txBody>
          </p:sp>
        </p:grpSp>
        <p:sp>
          <p:nvSpPr>
            <p:cNvPr id="135" name="Google Shape;135;p16"/>
            <p:cNvSpPr txBox="1"/>
            <p:nvPr/>
          </p:nvSpPr>
          <p:spPr>
            <a:xfrm>
              <a:off x="1371600" y="2095500"/>
              <a:ext cx="155448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000">
                  <a:solidFill>
                    <a:srgbClr val="EA580C"/>
                  </a:solidFill>
                  <a:latin typeface="Inter"/>
                  <a:ea typeface="Inter"/>
                  <a:cs typeface="Inter"/>
                  <a:sym typeface="Inter"/>
                </a:rPr>
                <a:t>Lo que se olvida más seguido</a:t>
              </a:r>
              <a:endParaRPr b="1" sz="2000">
                <a:solidFill>
                  <a:srgbClr val="EA580C"/>
                </a:solidFill>
                <a:latin typeface="Inter"/>
                <a:ea typeface="Inter"/>
                <a:cs typeface="Inter"/>
                <a:sym typeface="Inter"/>
              </a:endParaRPr>
            </a:p>
          </p:txBody>
        </p:sp>
        <p:sp>
          <p:nvSpPr>
            <p:cNvPr id="136" name="Google Shape;136;p16"/>
            <p:cNvSpPr txBox="1"/>
            <p:nvPr/>
          </p:nvSpPr>
          <p:spPr>
            <a:xfrm>
              <a:off x="2286000" y="2857500"/>
              <a:ext cx="13716000" cy="1143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4800">
                  <a:solidFill>
                    <a:srgbClr val="0A0915"/>
                  </a:solidFill>
                  <a:latin typeface="Inter"/>
                  <a:ea typeface="Inter"/>
                  <a:cs typeface="Inter"/>
                  <a:sym typeface="Inter"/>
                </a:rPr>
                <a:t>Los catálogos viven una sola vez</a:t>
              </a:r>
              <a:endParaRPr b="1" sz="4800">
                <a:solidFill>
                  <a:srgbClr val="0A0915"/>
                </a:solidFill>
                <a:latin typeface="Inter"/>
                <a:ea typeface="Inter"/>
                <a:cs typeface="Inter"/>
                <a:sym typeface="Inter"/>
              </a:endParaRPr>
            </a:p>
          </p:txBody>
        </p:sp>
        <p:sp>
          <p:nvSpPr>
            <p:cNvPr id="137" name="Google Shape;137;p16"/>
            <p:cNvSpPr/>
            <p:nvPr/>
          </p:nvSpPr>
          <p:spPr>
            <a:xfrm>
              <a:off x="8667750" y="4381500"/>
              <a:ext cx="952500" cy="38100"/>
            </a:xfrm>
            <a:prstGeom prst="roundRect">
              <a:avLst>
                <a:gd fmla="val 50000" name="adj"/>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8" name="Google Shape;138;p16"/>
            <p:cNvSpPr txBox="1"/>
            <p:nvPr/>
          </p:nvSpPr>
          <p:spPr>
            <a:xfrm>
              <a:off x="2952750" y="4762500"/>
              <a:ext cx="12382500" cy="1143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US" sz="2400">
                  <a:solidFill>
                    <a:srgbClr val="475569"/>
                  </a:solidFill>
                  <a:latin typeface="Inter"/>
                  <a:ea typeface="Inter"/>
                  <a:cs typeface="Inter"/>
                  <a:sym typeface="Inter"/>
                </a:rPr>
                <a:t>Si una pregunta tiene una lista de opciones que ya existe, configurala como catálogo y vinculala. Todo eso vive una sola vez y se reutiliza.</a:t>
              </a:r>
              <a:endParaRPr b="0" sz="2400">
                <a:solidFill>
                  <a:srgbClr val="475569"/>
                </a:solidFill>
                <a:latin typeface="Inter"/>
                <a:ea typeface="Inter"/>
                <a:cs typeface="Inter"/>
                <a:sym typeface="Inter"/>
              </a:endParaRPr>
            </a:p>
          </p:txBody>
        </p:sp>
        <p:grpSp>
          <p:nvGrpSpPr>
            <p:cNvPr id="139" name="Google Shape;139;p16"/>
            <p:cNvGrpSpPr/>
            <p:nvPr/>
          </p:nvGrpSpPr>
          <p:grpSpPr>
            <a:xfrm>
              <a:off x="3810000" y="6286500"/>
              <a:ext cx="10668000" cy="1905000"/>
              <a:chOff x="3810000" y="6286500"/>
              <a:chExt cx="10668000" cy="1905000"/>
            </a:xfrm>
          </p:grpSpPr>
          <p:sp>
            <p:nvSpPr>
              <p:cNvPr id="140" name="Google Shape;140;p16"/>
              <p:cNvSpPr/>
              <p:nvPr/>
            </p:nvSpPr>
            <p:spPr>
              <a:xfrm>
                <a:off x="3810000" y="6286500"/>
                <a:ext cx="10668000" cy="1905000"/>
              </a:xfrm>
              <a:prstGeom prst="roundRect">
                <a:avLst>
                  <a:gd fmla="val 8000"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1" name="Google Shape;141;p16"/>
              <p:cNvSpPr txBox="1"/>
              <p:nvPr/>
            </p:nvSpPr>
            <p:spPr>
              <a:xfrm>
                <a:off x="3810000" y="6286500"/>
                <a:ext cx="10668000" cy="1905000"/>
              </a:xfrm>
              <a:prstGeom prst="rect">
                <a:avLst/>
              </a:prstGeom>
              <a:noFill/>
              <a:ln>
                <a:noFill/>
              </a:ln>
            </p:spPr>
            <p:txBody>
              <a:bodyPr anchorCtr="0" anchor="ctr" bIns="190500" lIns="190500" spcFirstLastPara="1" rIns="190500" wrap="square" tIns="190500">
                <a:noAutofit/>
              </a:bodyPr>
              <a:lstStyle/>
              <a:p>
                <a:pPr indent="0" lvl="0" marL="0" rtl="0" algn="ctr">
                  <a:spcBef>
                    <a:spcPts val="0"/>
                  </a:spcBef>
                  <a:spcAft>
                    <a:spcPts val="0"/>
                  </a:spcAft>
                  <a:buNone/>
                </a:pPr>
                <a:r>
                  <a:rPr b="1" lang="en-US" sz="1800">
                    <a:solidFill>
                      <a:srgbClr val="1E293B"/>
                    </a:solidFill>
                    <a:latin typeface="Inter"/>
                    <a:ea typeface="Inter"/>
                    <a:cs typeface="Inter"/>
                    <a:sym typeface="Inter"/>
                  </a:rPr>
                  <a:t>Ejemplos comunes:</a:t>
                </a:r>
                <a:endParaRPr b="1" sz="1800">
                  <a:solidFill>
                    <a:srgbClr val="1E293B"/>
                  </a:solidFill>
                  <a:latin typeface="Inter"/>
                  <a:ea typeface="Inter"/>
                  <a:cs typeface="Inter"/>
                  <a:sym typeface="Inter"/>
                </a:endParaRPr>
              </a:p>
              <a:p>
                <a:pPr indent="0" lvl="0" marL="0" rtl="0" algn="ctr">
                  <a:spcBef>
                    <a:spcPts val="1125"/>
                  </a:spcBef>
                  <a:spcAft>
                    <a:spcPts val="0"/>
                  </a:spcAft>
                  <a:buNone/>
                </a:pPr>
                <a:r>
                  <a:rPr lang="en-US" sz="1800">
                    <a:solidFill>
                      <a:srgbClr val="475569"/>
                    </a:solidFill>
                    <a:latin typeface="Inter"/>
                    <a:ea typeface="Inter"/>
                    <a:cs typeface="Inter"/>
                    <a:sym typeface="Inter"/>
                  </a:rPr>
                  <a:t>Localidades, tipos de documento, categorías de comercio, áreas internas.</a:t>
                </a:r>
                <a:endParaRPr sz="1800">
                  <a:solidFill>
                    <a:srgbClr val="475569"/>
                  </a:solidFill>
                  <a:latin typeface="Inter"/>
                  <a:ea typeface="Inter"/>
                  <a:cs typeface="Inter"/>
                  <a:sym typeface="Inter"/>
                </a:endParaRPr>
              </a:p>
            </p:txBody>
          </p:sp>
        </p:grpSp>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17"/>
          <p:cNvSpPr/>
          <p:nvPr/>
        </p:nvSpPr>
        <p:spPr>
          <a:xfrm>
            <a:off x="0" y="0"/>
            <a:ext cx="18288000" cy="2286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48" name="Google Shape;148;p17"/>
          <p:cNvGrpSpPr/>
          <p:nvPr/>
        </p:nvGrpSpPr>
        <p:grpSpPr>
          <a:xfrm>
            <a:off x="1371600" y="1047750"/>
            <a:ext cx="15544800" cy="7715250"/>
            <a:chOff x="1371600" y="1047750"/>
            <a:chExt cx="15544800" cy="7715250"/>
          </a:xfrm>
        </p:grpSpPr>
        <p:sp>
          <p:nvSpPr>
            <p:cNvPr id="149" name="Google Shape;149;p17"/>
            <p:cNvSpPr/>
            <p:nvPr/>
          </p:nvSpPr>
          <p:spPr>
            <a:xfrm>
              <a:off x="1371600" y="1524000"/>
              <a:ext cx="15544800" cy="7239000"/>
            </a:xfrm>
            <a:prstGeom prst="roundRect">
              <a:avLst>
                <a:gd fmla="val 3157" name="adj"/>
              </a:avLst>
            </a:prstGeom>
            <a:solidFill>
              <a:srgbClr val="FFF7ED"/>
            </a:solidFill>
            <a:ln cap="flat" cmpd="sng" w="19050">
              <a:solidFill>
                <a:srgbClr val="FDBA74"/>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50" name="Google Shape;150;p17"/>
            <p:cNvGrpSpPr/>
            <p:nvPr/>
          </p:nvGrpSpPr>
          <p:grpSpPr>
            <a:xfrm>
              <a:off x="8667750" y="1047750"/>
              <a:ext cx="952500" cy="1025525"/>
              <a:chOff x="8667750" y="1047750"/>
              <a:chExt cx="952500" cy="1025525"/>
            </a:xfrm>
          </p:grpSpPr>
          <p:sp>
            <p:nvSpPr>
              <p:cNvPr id="151" name="Google Shape;151;p17"/>
              <p:cNvSpPr/>
              <p:nvPr/>
            </p:nvSpPr>
            <p:spPr>
              <a:xfrm>
                <a:off x="8667750" y="1047750"/>
                <a:ext cx="952500" cy="952500"/>
              </a:xfrm>
              <a:prstGeom prst="roundRect">
                <a:avLst>
                  <a:gd fmla="val 12000" name="adj"/>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2" name="Google Shape;152;p17"/>
              <p:cNvSpPr txBox="1"/>
              <p:nvPr/>
            </p:nvSpPr>
            <p:spPr>
              <a:xfrm>
                <a:off x="8667750" y="1120775"/>
                <a:ext cx="952500" cy="9525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lang="en-US" sz="5000">
                    <a:solidFill>
                      <a:srgbClr val="FFFFFF"/>
                    </a:solidFill>
                    <a:latin typeface="Material Icons"/>
                    <a:ea typeface="Material Icons"/>
                    <a:cs typeface="Material Icons"/>
                    <a:sym typeface="Material Icons"/>
                  </a:rPr>
                  <a:t></a:t>
                </a:r>
                <a:endParaRPr sz="5000">
                  <a:solidFill>
                    <a:srgbClr val="FFFFFF"/>
                  </a:solidFill>
                  <a:latin typeface="Material Icons"/>
                  <a:ea typeface="Material Icons"/>
                  <a:cs typeface="Material Icons"/>
                  <a:sym typeface="Material Icons"/>
                </a:endParaRPr>
              </a:p>
            </p:txBody>
          </p:sp>
        </p:grpSp>
        <p:sp>
          <p:nvSpPr>
            <p:cNvPr id="153" name="Google Shape;153;p17"/>
            <p:cNvSpPr txBox="1"/>
            <p:nvPr/>
          </p:nvSpPr>
          <p:spPr>
            <a:xfrm>
              <a:off x="1371600" y="2095500"/>
              <a:ext cx="15544800" cy="5715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000">
                  <a:solidFill>
                    <a:srgbClr val="EA580C"/>
                  </a:solidFill>
                  <a:latin typeface="Inter"/>
                  <a:ea typeface="Inter"/>
                  <a:cs typeface="Inter"/>
                  <a:sym typeface="Inter"/>
                </a:rPr>
                <a:t>Validaciones por campo</a:t>
              </a:r>
              <a:endParaRPr b="1" sz="2000">
                <a:solidFill>
                  <a:srgbClr val="EA580C"/>
                </a:solidFill>
                <a:latin typeface="Inter"/>
                <a:ea typeface="Inter"/>
                <a:cs typeface="Inter"/>
                <a:sym typeface="Inter"/>
              </a:endParaRPr>
            </a:p>
          </p:txBody>
        </p:sp>
        <p:sp>
          <p:nvSpPr>
            <p:cNvPr id="154" name="Google Shape;154;p17"/>
            <p:cNvSpPr txBox="1"/>
            <p:nvPr/>
          </p:nvSpPr>
          <p:spPr>
            <a:xfrm>
              <a:off x="2286000" y="2667000"/>
              <a:ext cx="13716000" cy="17145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4800">
                  <a:solidFill>
                    <a:srgbClr val="0A0915"/>
                  </a:solidFill>
                  <a:latin typeface="Inter"/>
                  <a:ea typeface="Inter"/>
                  <a:cs typeface="Inter"/>
                  <a:sym typeface="Inter"/>
                </a:rPr>
                <a:t>Cada validación es una sesión de soporte que no vas a tener</a:t>
              </a:r>
              <a:endParaRPr b="1" sz="4800">
                <a:solidFill>
                  <a:srgbClr val="0A0915"/>
                </a:solidFill>
                <a:latin typeface="Inter"/>
                <a:ea typeface="Inter"/>
                <a:cs typeface="Inter"/>
                <a:sym typeface="Inter"/>
              </a:endParaRPr>
            </a:p>
          </p:txBody>
        </p:sp>
        <p:sp>
          <p:nvSpPr>
            <p:cNvPr id="155" name="Google Shape;155;p17"/>
            <p:cNvSpPr/>
            <p:nvPr/>
          </p:nvSpPr>
          <p:spPr>
            <a:xfrm>
              <a:off x="8667750" y="4572000"/>
              <a:ext cx="952500" cy="38100"/>
            </a:xfrm>
            <a:prstGeom prst="roundRect">
              <a:avLst>
                <a:gd fmla="val 50000" name="adj"/>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6" name="Google Shape;156;p17"/>
            <p:cNvSpPr txBox="1"/>
            <p:nvPr/>
          </p:nvSpPr>
          <p:spPr>
            <a:xfrm>
              <a:off x="2952750" y="4953000"/>
              <a:ext cx="12382500" cy="762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0" lang="en-US" sz="2400">
                  <a:solidFill>
                    <a:srgbClr val="475569"/>
                  </a:solidFill>
                  <a:latin typeface="Inter"/>
                  <a:ea typeface="Inter"/>
                  <a:cs typeface="Inter"/>
                  <a:sym typeface="Inter"/>
                </a:rPr>
                <a:t>Sé explícito en las reglas para evitar confusiones.</a:t>
              </a:r>
              <a:endParaRPr b="0" sz="2400">
                <a:solidFill>
                  <a:srgbClr val="475569"/>
                </a:solidFill>
                <a:latin typeface="Inter"/>
                <a:ea typeface="Inter"/>
                <a:cs typeface="Inter"/>
                <a:sym typeface="Inter"/>
              </a:endParaRPr>
            </a:p>
          </p:txBody>
        </p:sp>
        <p:grpSp>
          <p:nvGrpSpPr>
            <p:cNvPr id="157" name="Google Shape;157;p17"/>
            <p:cNvGrpSpPr/>
            <p:nvPr/>
          </p:nvGrpSpPr>
          <p:grpSpPr>
            <a:xfrm>
              <a:off x="3810000" y="5905500"/>
              <a:ext cx="10668000" cy="2286000"/>
              <a:chOff x="3810000" y="5905500"/>
              <a:chExt cx="10668000" cy="2286000"/>
            </a:xfrm>
          </p:grpSpPr>
          <p:sp>
            <p:nvSpPr>
              <p:cNvPr id="158" name="Google Shape;158;p17"/>
              <p:cNvSpPr/>
              <p:nvPr/>
            </p:nvSpPr>
            <p:spPr>
              <a:xfrm>
                <a:off x="3810000" y="5905500"/>
                <a:ext cx="10668000" cy="2286000"/>
              </a:xfrm>
              <a:prstGeom prst="roundRect">
                <a:avLst>
                  <a:gd fmla="val 6666"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9" name="Google Shape;159;p17"/>
              <p:cNvSpPr txBox="1"/>
              <p:nvPr/>
            </p:nvSpPr>
            <p:spPr>
              <a:xfrm>
                <a:off x="3810000" y="5905500"/>
                <a:ext cx="10668000" cy="2286000"/>
              </a:xfrm>
              <a:prstGeom prst="rect">
                <a:avLst/>
              </a:prstGeom>
              <a:solidFill>
                <a:srgbClr val="000000">
                  <a:alpha val="0"/>
                </a:srgbClr>
              </a:solidFill>
              <a:ln>
                <a:noFill/>
              </a:ln>
            </p:spPr>
            <p:txBody>
              <a:bodyPr anchorCtr="0" anchor="ctr" bIns="190500" lIns="190500" spcFirstLastPara="1" rIns="190500" wrap="square" tIns="190500">
                <a:noAutofit/>
              </a:bodyPr>
              <a:lstStyle/>
              <a:p>
                <a:pPr indent="0" lvl="0" marL="0" rtl="0" algn="ctr">
                  <a:spcBef>
                    <a:spcPts val="0"/>
                  </a:spcBef>
                  <a:spcAft>
                    <a:spcPts val="0"/>
                  </a:spcAft>
                  <a:buNone/>
                </a:pPr>
                <a:r>
                  <a:rPr b="1" lang="en-US" sz="1800">
                    <a:solidFill>
                      <a:srgbClr val="1E293B"/>
                    </a:solidFill>
                    <a:latin typeface="Inter"/>
                    <a:ea typeface="Inter"/>
                    <a:cs typeface="Inter"/>
                    <a:sym typeface="Inter"/>
                  </a:rPr>
                  <a:t>¿Qué definir en cada campo?</a:t>
                </a:r>
                <a:endParaRPr b="1" sz="1800">
                  <a:solidFill>
                    <a:srgbClr val="1E293B"/>
                  </a:solidFill>
                  <a:latin typeface="Inter"/>
                  <a:ea typeface="Inter"/>
                  <a:cs typeface="Inter"/>
                  <a:sym typeface="Inter"/>
                </a:endParaRPr>
              </a:p>
              <a:p>
                <a:pPr indent="0" lvl="0" marL="0" rtl="0" algn="ctr">
                  <a:spcBef>
                    <a:spcPts val="1500"/>
                  </a:spcBef>
                  <a:spcAft>
                    <a:spcPts val="0"/>
                  </a:spcAft>
                  <a:buNone/>
                </a:pPr>
                <a:r>
                  <a:rPr b="0" lang="en-US" sz="1800">
                    <a:solidFill>
                      <a:srgbClr val="475569"/>
                    </a:solidFill>
                    <a:latin typeface="Inter"/>
                    <a:ea typeface="Inter"/>
                    <a:cs typeface="Inter"/>
                    <a:sym typeface="Inter"/>
                  </a:rPr>
                  <a:t>• Obligatoriedad y formatos específicos</a:t>
                </a:r>
                <a:endParaRPr b="0" sz="1800">
                  <a:solidFill>
                    <a:srgbClr val="475569"/>
                  </a:solidFill>
                  <a:latin typeface="Inter"/>
                  <a:ea typeface="Inter"/>
                  <a:cs typeface="Inter"/>
                  <a:sym typeface="Inter"/>
                </a:endParaRPr>
              </a:p>
              <a:p>
                <a:pPr indent="0" lvl="0" marL="0" rtl="0" algn="ctr">
                  <a:spcBef>
                    <a:spcPts val="750"/>
                  </a:spcBef>
                  <a:spcAft>
                    <a:spcPts val="0"/>
                  </a:spcAft>
                  <a:buNone/>
                </a:pPr>
                <a:r>
                  <a:rPr b="0" lang="en-US" sz="1800">
                    <a:solidFill>
                      <a:srgbClr val="475569"/>
                    </a:solidFill>
                    <a:latin typeface="Inter"/>
                    <a:ea typeface="Inter"/>
                    <a:cs typeface="Inter"/>
                    <a:sym typeface="Inter"/>
                  </a:rPr>
                  <a:t>• Tipos de archivos aceptados</a:t>
                </a:r>
                <a:endParaRPr b="0" sz="1800">
                  <a:solidFill>
                    <a:srgbClr val="475569"/>
                  </a:solidFill>
                  <a:latin typeface="Inter"/>
                  <a:ea typeface="Inter"/>
                  <a:cs typeface="Inter"/>
                  <a:sym typeface="Inter"/>
                </a:endParaRPr>
              </a:p>
              <a:p>
                <a:pPr indent="0" lvl="0" marL="0" rtl="0" algn="ctr">
                  <a:spcBef>
                    <a:spcPts val="750"/>
                  </a:spcBef>
                  <a:spcAft>
                    <a:spcPts val="0"/>
                  </a:spcAft>
                  <a:buNone/>
                </a:pPr>
                <a:r>
                  <a:rPr b="0" lang="en-US" sz="1800">
                    <a:solidFill>
                      <a:srgbClr val="475569"/>
                    </a:solidFill>
                    <a:latin typeface="Inter"/>
                    <a:ea typeface="Inter"/>
                    <a:cs typeface="Inter"/>
                    <a:sym typeface="Inter"/>
                  </a:rPr>
                  <a:t>• Tamaños máximos permitidos</a:t>
                </a:r>
                <a:endParaRPr b="0" sz="1800">
                  <a:solidFill>
                    <a:srgbClr val="475569"/>
                  </a:solidFill>
                  <a:latin typeface="Inter"/>
                  <a:ea typeface="Inter"/>
                  <a:cs typeface="Inter"/>
                  <a:sym typeface="Inter"/>
                </a:endParaRPr>
              </a:p>
            </p:txBody>
          </p:sp>
        </p:grpSp>
      </p:gr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18"/>
          <p:cNvSpPr/>
          <p:nvPr/>
        </p:nvSpPr>
        <p:spPr>
          <a:xfrm>
            <a:off x="0" y="0"/>
            <a:ext cx="18288000" cy="2286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66" name="Google Shape;166;p18"/>
          <p:cNvGrpSpPr/>
          <p:nvPr/>
        </p:nvGrpSpPr>
        <p:grpSpPr>
          <a:xfrm>
            <a:off x="1371600" y="1047750"/>
            <a:ext cx="15544800" cy="7715250"/>
            <a:chOff x="1371600" y="1047750"/>
            <a:chExt cx="15544800" cy="7715250"/>
          </a:xfrm>
        </p:grpSpPr>
        <p:sp>
          <p:nvSpPr>
            <p:cNvPr id="167" name="Google Shape;167;p18"/>
            <p:cNvSpPr/>
            <p:nvPr/>
          </p:nvSpPr>
          <p:spPr>
            <a:xfrm>
              <a:off x="1371600" y="1524000"/>
              <a:ext cx="15544800" cy="7239000"/>
            </a:xfrm>
            <a:prstGeom prst="roundRect">
              <a:avLst>
                <a:gd fmla="val 3157" name="adj"/>
              </a:avLst>
            </a:prstGeom>
            <a:solidFill>
              <a:srgbClr val="FFF7ED"/>
            </a:solidFill>
            <a:ln cap="flat" cmpd="sng" w="19050">
              <a:solidFill>
                <a:srgbClr val="FDBA74"/>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68" name="Google Shape;168;p18"/>
            <p:cNvGrpSpPr/>
            <p:nvPr/>
          </p:nvGrpSpPr>
          <p:grpSpPr>
            <a:xfrm>
              <a:off x="8667750" y="1047750"/>
              <a:ext cx="952500" cy="1092200"/>
              <a:chOff x="8667750" y="1047750"/>
              <a:chExt cx="952500" cy="1092200"/>
            </a:xfrm>
          </p:grpSpPr>
          <p:sp>
            <p:nvSpPr>
              <p:cNvPr id="169" name="Google Shape;169;p18"/>
              <p:cNvSpPr/>
              <p:nvPr/>
            </p:nvSpPr>
            <p:spPr>
              <a:xfrm>
                <a:off x="8667750" y="1047750"/>
                <a:ext cx="952500" cy="952500"/>
              </a:xfrm>
              <a:prstGeom prst="roundRect">
                <a:avLst>
                  <a:gd fmla="val 12000" name="adj"/>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0" name="Google Shape;170;p18"/>
              <p:cNvSpPr txBox="1"/>
              <p:nvPr/>
            </p:nvSpPr>
            <p:spPr>
              <a:xfrm>
                <a:off x="8667750" y="1187450"/>
                <a:ext cx="952500" cy="952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5000">
                    <a:solidFill>
                      <a:srgbClr val="FFFFFF"/>
                    </a:solidFill>
                    <a:latin typeface="Material Icons"/>
                    <a:ea typeface="Material Icons"/>
                    <a:cs typeface="Material Icons"/>
                    <a:sym typeface="Material Icons"/>
                  </a:rPr>
                  <a:t></a:t>
                </a:r>
                <a:endParaRPr sz="5000">
                  <a:solidFill>
                    <a:srgbClr val="FFFFFF"/>
                  </a:solidFill>
                  <a:latin typeface="Material Icons"/>
                  <a:ea typeface="Material Icons"/>
                  <a:cs typeface="Material Icons"/>
                  <a:sym typeface="Material Icons"/>
                </a:endParaRPr>
              </a:p>
            </p:txBody>
          </p:sp>
        </p:grpSp>
      </p:grpSp>
      <p:sp>
        <p:nvSpPr>
          <p:cNvPr id="171" name="Google Shape;171;p18"/>
          <p:cNvSpPr txBox="1"/>
          <p:nvPr/>
        </p:nvSpPr>
        <p:spPr>
          <a:xfrm>
            <a:off x="1371600" y="2095500"/>
            <a:ext cx="155448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000">
                <a:solidFill>
                  <a:srgbClr val="EA580C"/>
                </a:solidFill>
                <a:latin typeface="Inter"/>
                <a:ea typeface="Inter"/>
                <a:cs typeface="Inter"/>
                <a:sym typeface="Inter"/>
              </a:rPr>
              <a:t>La prueba rápida</a:t>
            </a:r>
            <a:endParaRPr b="1" sz="2000">
              <a:solidFill>
                <a:srgbClr val="EA580C"/>
              </a:solidFill>
              <a:latin typeface="Inter"/>
              <a:ea typeface="Inter"/>
              <a:cs typeface="Inter"/>
              <a:sym typeface="Inter"/>
            </a:endParaRPr>
          </a:p>
        </p:txBody>
      </p:sp>
      <p:sp>
        <p:nvSpPr>
          <p:cNvPr id="172" name="Google Shape;172;p18"/>
          <p:cNvSpPr txBox="1"/>
          <p:nvPr/>
        </p:nvSpPr>
        <p:spPr>
          <a:xfrm>
            <a:off x="2286000" y="2857500"/>
            <a:ext cx="13716000" cy="1524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4800">
                <a:solidFill>
                  <a:srgbClr val="0A0915"/>
                </a:solidFill>
                <a:latin typeface="Inter"/>
                <a:ea typeface="Inter"/>
                <a:cs typeface="Inter"/>
                <a:sym typeface="Inter"/>
              </a:rPr>
              <a:t>Pedile a alguien del gobierno que lo complete como si fuera ciudadano</a:t>
            </a:r>
            <a:endParaRPr b="1" sz="4800">
              <a:solidFill>
                <a:srgbClr val="0A0915"/>
              </a:solidFill>
              <a:latin typeface="Inter"/>
              <a:ea typeface="Inter"/>
              <a:cs typeface="Inter"/>
              <a:sym typeface="Inter"/>
            </a:endParaRPr>
          </a:p>
        </p:txBody>
      </p:sp>
      <p:sp>
        <p:nvSpPr>
          <p:cNvPr id="173" name="Google Shape;173;p18"/>
          <p:cNvSpPr/>
          <p:nvPr/>
        </p:nvSpPr>
        <p:spPr>
          <a:xfrm>
            <a:off x="8667750" y="4572000"/>
            <a:ext cx="952500" cy="38100"/>
          </a:xfrm>
          <a:prstGeom prst="roundRect">
            <a:avLst>
              <a:gd fmla="val 50000" name="adj"/>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4" name="Google Shape;174;p18"/>
          <p:cNvSpPr txBox="1"/>
          <p:nvPr/>
        </p:nvSpPr>
        <p:spPr>
          <a:xfrm>
            <a:off x="2952750" y="4953000"/>
            <a:ext cx="12382500" cy="952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US" sz="2400">
                <a:solidFill>
                  <a:srgbClr val="475569"/>
                </a:solidFill>
                <a:latin typeface="Inter"/>
                <a:ea typeface="Inter"/>
                <a:cs typeface="Inter"/>
                <a:sym typeface="Inter"/>
              </a:rPr>
              <a:t>El tiempo es la métrica de éxito de tu diseño digital.</a:t>
            </a:r>
            <a:endParaRPr b="0" sz="2400">
              <a:solidFill>
                <a:srgbClr val="475569"/>
              </a:solidFill>
              <a:latin typeface="Inter"/>
              <a:ea typeface="Inter"/>
              <a:cs typeface="Inter"/>
              <a:sym typeface="Inter"/>
            </a:endParaRPr>
          </a:p>
        </p:txBody>
      </p:sp>
      <p:grpSp>
        <p:nvGrpSpPr>
          <p:cNvPr id="175" name="Google Shape;175;p18"/>
          <p:cNvGrpSpPr/>
          <p:nvPr/>
        </p:nvGrpSpPr>
        <p:grpSpPr>
          <a:xfrm>
            <a:off x="3810000" y="6286500"/>
            <a:ext cx="10668000" cy="1714500"/>
            <a:chOff x="3810000" y="6286500"/>
            <a:chExt cx="10668000" cy="1714500"/>
          </a:xfrm>
        </p:grpSpPr>
        <p:sp>
          <p:nvSpPr>
            <p:cNvPr id="176" name="Google Shape;176;p18"/>
            <p:cNvSpPr/>
            <p:nvPr/>
          </p:nvSpPr>
          <p:spPr>
            <a:xfrm>
              <a:off x="3810000" y="6286500"/>
              <a:ext cx="10668000" cy="1714500"/>
            </a:xfrm>
            <a:prstGeom prst="roundRect">
              <a:avLst>
                <a:gd fmla="val 8888"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7" name="Google Shape;177;p18"/>
            <p:cNvSpPr txBox="1"/>
            <p:nvPr/>
          </p:nvSpPr>
          <p:spPr>
            <a:xfrm>
              <a:off x="3810000" y="6286500"/>
              <a:ext cx="10668000" cy="1714500"/>
            </a:xfrm>
            <a:prstGeom prst="rect">
              <a:avLst/>
            </a:prstGeom>
            <a:noFill/>
            <a:ln>
              <a:noFill/>
            </a:ln>
          </p:spPr>
          <p:txBody>
            <a:bodyPr anchorCtr="0" anchor="ctr" bIns="190500" lIns="190500" spcFirstLastPara="1" rIns="190500" wrap="square" tIns="190500">
              <a:noAutofit/>
            </a:bodyPr>
            <a:lstStyle/>
            <a:p>
              <a:pPr indent="0" lvl="0" marL="0" rtl="0" algn="ctr">
                <a:spcBef>
                  <a:spcPts val="0"/>
                </a:spcBef>
                <a:spcAft>
                  <a:spcPts val="0"/>
                </a:spcAft>
                <a:buNone/>
              </a:pPr>
              <a:r>
                <a:rPr b="1" lang="en-US" sz="2200">
                  <a:solidFill>
                    <a:srgbClr val="1E293B"/>
                  </a:solidFill>
                  <a:latin typeface="Inter"/>
                  <a:ea typeface="Inter"/>
                  <a:cs typeface="Inter"/>
                  <a:sym typeface="Inter"/>
                </a:rPr>
                <a:t>La regla de oro:</a:t>
              </a:r>
              <a:endParaRPr b="1" sz="2200">
                <a:solidFill>
                  <a:srgbClr val="1E293B"/>
                </a:solidFill>
                <a:latin typeface="Inter"/>
                <a:ea typeface="Inter"/>
                <a:cs typeface="Inter"/>
                <a:sym typeface="Inter"/>
              </a:endParaRPr>
            </a:p>
            <a:p>
              <a:pPr indent="0" lvl="0" marL="0" rtl="0" algn="ctr">
                <a:spcBef>
                  <a:spcPts val="600"/>
                </a:spcBef>
                <a:spcAft>
                  <a:spcPts val="0"/>
                </a:spcAft>
                <a:buNone/>
              </a:pPr>
              <a:r>
                <a:rPr b="0" lang="en-US" sz="1800">
                  <a:solidFill>
                    <a:srgbClr val="475569"/>
                  </a:solidFill>
                  <a:latin typeface="Inter"/>
                  <a:ea typeface="Inter"/>
                  <a:cs typeface="Inter"/>
                  <a:sym typeface="Inter"/>
                </a:rPr>
                <a:t>Si tarda más de lo que tarda en hacer el trámite en ventanilla, algo está de más.</a:t>
              </a:r>
              <a:endParaRPr b="0" sz="1800">
                <a:solidFill>
                  <a:srgbClr val="475569"/>
                </a:solidFill>
                <a:latin typeface="Inter"/>
                <a:ea typeface="Inter"/>
                <a:cs typeface="Inter"/>
                <a:sym typeface="Inter"/>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19"/>
          <p:cNvSpPr/>
          <p:nvPr/>
        </p:nvSpPr>
        <p:spPr>
          <a:xfrm>
            <a:off x="0" y="0"/>
            <a:ext cx="18288000" cy="10287000"/>
          </a:xfrm>
          <a:prstGeom prst="rect">
            <a:avLst/>
          </a:prstGeom>
          <a:solidFill>
            <a:srgbClr val="EA580C"/>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4" name="Google Shape;184;p19"/>
          <p:cNvSpPr txBox="1"/>
          <p:nvPr/>
        </p:nvSpPr>
        <p:spPr>
          <a:xfrm>
            <a:off x="1274775" y="2511300"/>
            <a:ext cx="15544800" cy="64650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4200" u="none" cap="none" strike="noStrike">
                <a:solidFill>
                  <a:srgbClr val="FFFFFF"/>
                </a:solidFill>
                <a:latin typeface="Inter"/>
                <a:ea typeface="Inter"/>
                <a:cs typeface="Inter"/>
                <a:sym typeface="Inter"/>
              </a:rPr>
              <a:t>Un formulario bien modelado</a:t>
            </a:r>
            <a:endParaRPr/>
          </a:p>
        </p:txBody>
      </p:sp>
      <p:sp>
        <p:nvSpPr>
          <p:cNvPr id="185" name="Google Shape;185;p19"/>
          <p:cNvSpPr txBox="1"/>
          <p:nvPr/>
        </p:nvSpPr>
        <p:spPr>
          <a:xfrm>
            <a:off x="1371600" y="3882905"/>
            <a:ext cx="15544800" cy="25212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n-US" sz="7800" u="none" cap="none" strike="noStrike">
                <a:solidFill>
                  <a:srgbClr val="FFFFFF"/>
                </a:solidFill>
                <a:latin typeface="Inter"/>
                <a:ea typeface="Inter"/>
                <a:cs typeface="Inter"/>
                <a:sym typeface="Inter"/>
              </a:rPr>
              <a:t>se siente </a:t>
            </a:r>
            <a:r>
              <a:rPr b="1" lang="en-US" sz="7800">
                <a:solidFill>
                  <a:srgbClr val="FFFFFF"/>
                </a:solidFill>
                <a:latin typeface="Inter"/>
                <a:ea typeface="Inter"/>
                <a:cs typeface="Inter"/>
                <a:sym typeface="Inter"/>
              </a:rPr>
              <a:t>más</a:t>
            </a:r>
            <a:r>
              <a:rPr b="1" i="0" lang="en-US" sz="7800" u="none" cap="none" strike="noStrike">
                <a:solidFill>
                  <a:srgbClr val="FFFFFF"/>
                </a:solidFill>
                <a:latin typeface="Inter"/>
                <a:ea typeface="Inter"/>
                <a:cs typeface="Inter"/>
                <a:sym typeface="Inter"/>
              </a:rPr>
              <a:t> corto de lo que es.</a:t>
            </a:r>
            <a:endParaRPr/>
          </a:p>
        </p:txBody>
      </p:sp>
      <p:sp>
        <p:nvSpPr>
          <p:cNvPr id="186" name="Google Shape;186;p19"/>
          <p:cNvSpPr txBox="1"/>
          <p:nvPr/>
        </p:nvSpPr>
        <p:spPr>
          <a:xfrm>
            <a:off x="1371600" y="7129200"/>
            <a:ext cx="15544800" cy="46170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3000" u="none" cap="none" strike="noStrike">
                <a:solidFill>
                  <a:srgbClr val="FFFFFF"/>
                </a:solidFill>
                <a:latin typeface="Inter"/>
                <a:ea typeface="Inter"/>
                <a:cs typeface="Inter"/>
                <a:sym typeface="Inter"/>
              </a:rPr>
              <a:t>Uno mal modelado pide cosas que el gobierno nunca necesito.</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