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10287000" cx="18288000"/>
  <p:notesSz cx="6858000" cy="9144000"/>
  <p:embeddedFontLst>
    <p:embeddedFont>
      <p:font typeface="Inter SemiBold"/>
      <p:regular r:id="rId14"/>
      <p:bold r:id="rId15"/>
      <p:italic r:id="rId16"/>
      <p:boldItalic r:id="rId17"/>
    </p:embeddedFont>
    <p:embeddedFont>
      <p:font typeface="Inter"/>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Inter-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bold.fntdata"/><Relationship Id="rId14" Type="http://schemas.openxmlformats.org/officeDocument/2006/relationships/font" Target="fonts/InterSemiBold-regular.fntdata"/><Relationship Id="rId17" Type="http://schemas.openxmlformats.org/officeDocument/2006/relationships/font" Target="fonts/InterSemiBold-boldItalic.fntdata"/><Relationship Id="rId16" Type="http://schemas.openxmlformats.org/officeDocument/2006/relationships/font" Target="fonts/InterSemiBold-italic.fntdata"/><Relationship Id="rId5" Type="http://schemas.openxmlformats.org/officeDocument/2006/relationships/notesMaster" Target="notesMasters/notesMaster1.xml"/><Relationship Id="rId19" Type="http://schemas.openxmlformats.org/officeDocument/2006/relationships/font" Target="fonts/Inter-bold.fntdata"/><Relationship Id="rId6" Type="http://schemas.openxmlformats.org/officeDocument/2006/relationships/slide" Target="slides/slide1.xml"/><Relationship Id="rId18" Type="http://schemas.openxmlformats.org/officeDocument/2006/relationships/font" Target="fonts/Inter-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11.2s · 28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tres piezas que cierran el modelado de cada tramite. Sin ellas, lo que tienes es un formulario lindo que no se conecta con el resto del mundo.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27.6s · 69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primera es el documento de salida. Es el archivo que recibe el ciudadano cuando el tramite se aprueba: el certificado, el permiso, la habilitacion, la constancia. La segunda es la ficha del tramite. Es la pagina publica que el ciudadano ve en la guia antes de iniciar la solicitud. La tercera es la configuracion general del tramite. Aca entran las reglas globales que se aplican al tramite completo.</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28.8s · 72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documento de salida se arma con un editor visual donde combinas elementos de diseno, como el escudo y el encabezado institucional, con variables del tramite, como el nombre del ciudadano, el numero de expediente, la fecha y los datos del formulario. La regla es que cada dato que aparece en el documento ya tiene que estar capturado en el formulario o en alguna etapa. Si no, no hay de donde sacarlo.</a:t>
            </a:r>
            <a:endParaRPr/>
          </a:p>
        </p:txBody>
      </p:sp>
      <p:sp>
        <p:nvSpPr>
          <p:cNvPr id="121" name="Google Shape;12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19.6s · 49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ficha le explica al ciudadano que es el tramite, que necesita, cuanto cuesta si corresponde y cuanto tarda en resolverse. La ficha no es decoracion. Es la primera linea de soporte. Una ficha bien escrita evita la mitad de las llamadas al area. Una ficha pobre las multiplica.</a:t>
            </a:r>
            <a:endParaRPr/>
          </a:p>
        </p:txBody>
      </p:sp>
      <p:sp>
        <p:nvSpPr>
          <p:cNvPr id="138" name="Google Shape;138;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22.0s · 55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En la configuracion general entran las reglas globales que se aplican al tramite completo: si esta visible o sigue oculto, si depende de que otro tramite este resuelto primero, que identificador interno tiene, que firmas necesita y cual es su vigencia. Son decisiones que parecen menores pero definen como se comporta el tramite en produccion.</a:t>
            </a:r>
            <a:endParaRPr/>
          </a:p>
        </p:txBody>
      </p:sp>
      <p:sp>
        <p:nvSpPr>
          <p:cNvPr id="156" name="Google Shape;156;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18.4s · 46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Una sugerencia de orden. Modela formulario y etapas primero, porque son lo mas visible. Despues arma el documento de salida, porque ya tienes claros los datos que vas a usar. Recien al final ajustas la ficha publica y la configuracion general, cuando el resto esta estable.</a:t>
            </a:r>
            <a:endParaRPr/>
          </a:p>
        </p:txBody>
      </p:sp>
      <p:sp>
        <p:nvSpPr>
          <p:cNvPr id="181" name="Google Shape;18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23.2s · 58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 antes de pasar al testing, aplica la imagen institucional. Logo, colores del gobierno, secciones del home, dominio propio. El KB de apariencia tiene la guia completa, con todas las secciones de tema y de pagina de inicio que se pueden personalizar. Si lo dejas para el final, te vas a comer la urgencia de Fase D haciendolo.</a:t>
            </a:r>
            <a:endParaRPr/>
          </a:p>
        </p:txBody>
      </p:sp>
      <p:sp>
        <p:nvSpPr>
          <p:cNvPr id="199" name="Google Shape;199;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11.2s · 28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tramite no termina en el formulario. Termina cuando el ciudadano puede entrar por la guia publica, completar, recibir su documento y entender que paso en cada paso.</a:t>
            </a:r>
            <a:endParaRPr/>
          </a:p>
        </p:txBody>
      </p:sp>
      <p:sp>
        <p:nvSpPr>
          <p:cNvPr id="215" name="Google Shape;215;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EA580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EA580C"/>
                </a:solidFill>
                <a:latin typeface="Inter"/>
                <a:ea typeface="Inter"/>
                <a:cs typeface="Inter"/>
                <a:sym typeface="Inter"/>
              </a:rPr>
              <a:t>FASE C</a:t>
            </a:r>
            <a:endParaRPr/>
          </a:p>
        </p:txBody>
      </p:sp>
      <p:sp>
        <p:nvSpPr>
          <p:cNvPr id="87" name="Google Shape;87;p13"/>
          <p:cNvSpPr txBox="1"/>
          <p:nvPr/>
        </p:nvSpPr>
        <p:spPr>
          <a:xfrm>
            <a:off x="1371600" y="3840480"/>
            <a:ext cx="15544800" cy="12315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Cerrar el tr</a:t>
            </a:r>
            <a:r>
              <a:rPr b="1" lang="en-US" sz="8000">
                <a:solidFill>
                  <a:srgbClr val="0A0915"/>
                </a:solidFill>
                <a:latin typeface="Inter"/>
                <a:ea typeface="Inter"/>
                <a:cs typeface="Inter"/>
                <a:sym typeface="Inter"/>
              </a:rPr>
              <a:t>á</a:t>
            </a:r>
            <a:r>
              <a:rPr b="1" i="0" lang="en-US" sz="8000" u="none" cap="none" strike="noStrike">
                <a:solidFill>
                  <a:srgbClr val="0A0915"/>
                </a:solidFill>
                <a:latin typeface="Inter"/>
                <a:ea typeface="Inter"/>
                <a:cs typeface="Inter"/>
                <a:sym typeface="Inter"/>
              </a:rPr>
              <a:t>mite</a:t>
            </a:r>
            <a:endParaRPr/>
          </a:p>
        </p:txBody>
      </p:sp>
      <p:sp>
        <p:nvSpPr>
          <p:cNvPr id="88" name="Google Shape;88;p13"/>
          <p:cNvSpPr txBox="1"/>
          <p:nvPr/>
        </p:nvSpPr>
        <p:spPr>
          <a:xfrm>
            <a:off x="1371600" y="51634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Documento de salida, ficha </a:t>
            </a:r>
            <a:r>
              <a:rPr lang="en-US" sz="2200">
                <a:solidFill>
                  <a:srgbClr val="888888"/>
                </a:solidFill>
                <a:latin typeface="Inter"/>
                <a:ea typeface="Inter"/>
                <a:cs typeface="Inter"/>
                <a:sym typeface="Inter"/>
              </a:rPr>
              <a:t>pública</a:t>
            </a:r>
            <a:r>
              <a:rPr b="0" i="0" lang="en-US" sz="2200" u="none" cap="none" strike="noStrike">
                <a:solidFill>
                  <a:srgbClr val="888888"/>
                </a:solidFill>
                <a:latin typeface="Inter"/>
                <a:ea typeface="Inter"/>
                <a:cs typeface="Inter"/>
                <a:sym typeface="Inter"/>
              </a:rPr>
              <a:t> y </a:t>
            </a:r>
            <a:r>
              <a:rPr lang="en-US" sz="2200">
                <a:solidFill>
                  <a:srgbClr val="888888"/>
                </a:solidFill>
                <a:latin typeface="Inter"/>
                <a:ea typeface="Inter"/>
                <a:cs typeface="Inter"/>
                <a:sym typeface="Inter"/>
              </a:rPr>
              <a:t>configuración</a:t>
            </a:r>
            <a:r>
              <a:rPr b="0" i="0" lang="en-US" sz="2200" u="none" cap="none" strike="noStrike">
                <a:solidFill>
                  <a:srgbClr val="888888"/>
                </a:solidFill>
                <a:latin typeface="Inter"/>
                <a:ea typeface="Inter"/>
                <a:cs typeface="Inter"/>
                <a:sym typeface="Inter"/>
              </a:rPr>
              <a:t> general.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831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lang="en-US" sz="5400">
                <a:solidFill>
                  <a:srgbClr val="0A0915"/>
                </a:solidFill>
                <a:latin typeface="Inter"/>
                <a:ea typeface="Inter"/>
                <a:cs typeface="Inter"/>
                <a:sym typeface="Inter"/>
              </a:rPr>
              <a:t>Tres piezas que cierran el modelado</a:t>
            </a:r>
            <a:endParaRPr b="1" sz="5400">
              <a:solidFill>
                <a:srgbClr val="0A0915"/>
              </a:solidFill>
              <a:latin typeface="Inter"/>
              <a:ea typeface="Inter"/>
              <a:cs typeface="Inter"/>
              <a:sym typeface="Inter"/>
            </a:endParaRPr>
          </a:p>
        </p:txBody>
      </p:sp>
      <p:sp>
        <p:nvSpPr>
          <p:cNvPr id="96" name="Google Shape;96;p14"/>
          <p:cNvSpPr txBox="1"/>
          <p:nvPr/>
        </p:nvSpPr>
        <p:spPr>
          <a:xfrm>
            <a:off x="1371600" y="1809750"/>
            <a:ext cx="155448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2400">
                <a:solidFill>
                  <a:srgbClr val="888888"/>
                </a:solidFill>
                <a:latin typeface="Inter"/>
                <a:ea typeface="Inter"/>
                <a:cs typeface="Inter"/>
                <a:sym typeface="Inter"/>
              </a:rPr>
              <a:t>Sin ellas, lo que tenés es un formulario lindo que no se conecta con el resto del mundo.</a:t>
            </a:r>
            <a:endParaRPr b="0" sz="2400">
              <a:solidFill>
                <a:srgbClr val="888888"/>
              </a:solidFill>
              <a:latin typeface="Inter"/>
              <a:ea typeface="Inter"/>
              <a:cs typeface="Inter"/>
              <a:sym typeface="Inter"/>
            </a:endParaRPr>
          </a:p>
        </p:txBody>
      </p:sp>
      <p:grpSp>
        <p:nvGrpSpPr>
          <p:cNvPr id="97" name="Google Shape;97;p14"/>
          <p:cNvGrpSpPr/>
          <p:nvPr/>
        </p:nvGrpSpPr>
        <p:grpSpPr>
          <a:xfrm>
            <a:off x="1143000" y="3048000"/>
            <a:ext cx="5143500" cy="5715000"/>
            <a:chOff x="1143000" y="3048000"/>
            <a:chExt cx="5143500" cy="5715000"/>
          </a:xfrm>
        </p:grpSpPr>
        <p:sp>
          <p:nvSpPr>
            <p:cNvPr id="98" name="Google Shape;98;p14"/>
            <p:cNvSpPr/>
            <p:nvPr/>
          </p:nvSpPr>
          <p:spPr>
            <a:xfrm>
              <a:off x="1143000" y="3048000"/>
              <a:ext cx="5143500" cy="5715000"/>
            </a:xfrm>
            <a:prstGeom prst="roundRect">
              <a:avLst>
                <a:gd fmla="val 7407"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4"/>
            <p:cNvSpPr/>
            <p:nvPr/>
          </p:nvSpPr>
          <p:spPr>
            <a:xfrm>
              <a:off x="1143000" y="3048000"/>
              <a:ext cx="5143500" cy="1143000"/>
            </a:xfrm>
            <a:prstGeom prst="roundRect">
              <a:avLst>
                <a:gd fmla="val 33333"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4"/>
            <p:cNvSpPr/>
            <p:nvPr/>
          </p:nvSpPr>
          <p:spPr>
            <a:xfrm>
              <a:off x="1143000" y="3619500"/>
              <a:ext cx="5143500" cy="5715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1428750" y="3286125"/>
              <a:ext cx="4572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FFFFFF"/>
                  </a:solidFill>
                  <a:latin typeface="Inter"/>
                  <a:ea typeface="Inter"/>
                  <a:cs typeface="Inter"/>
                  <a:sym typeface="Inter"/>
                </a:rPr>
                <a:t>Documento de salida</a:t>
              </a:r>
              <a:endParaRPr b="1" sz="3200">
                <a:solidFill>
                  <a:srgbClr val="FFFFFF"/>
                </a:solidFill>
                <a:latin typeface="Inter"/>
                <a:ea typeface="Inter"/>
                <a:cs typeface="Inter"/>
                <a:sym typeface="Inter"/>
              </a:endParaRPr>
            </a:p>
          </p:txBody>
        </p:sp>
        <p:sp>
          <p:nvSpPr>
            <p:cNvPr id="102" name="Google Shape;102;p14"/>
            <p:cNvSpPr txBox="1"/>
            <p:nvPr/>
          </p:nvSpPr>
          <p:spPr>
            <a:xfrm>
              <a:off x="1428750" y="4381500"/>
              <a:ext cx="4572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200">
                  <a:solidFill>
                    <a:srgbClr val="0A0915"/>
                  </a:solidFill>
                  <a:latin typeface="Inter"/>
                  <a:ea typeface="Inter"/>
                  <a:cs typeface="Inter"/>
                  <a:sym typeface="Inter"/>
                </a:rPr>
                <a:t>El certificado, permiso, habilitación o constancia que recibe el ciudadano cuando se aprueba.</a:t>
              </a:r>
              <a:endParaRPr b="0" sz="2200">
                <a:solidFill>
                  <a:srgbClr val="0A0915"/>
                </a:solidFill>
                <a:latin typeface="Inter"/>
                <a:ea typeface="Inter"/>
                <a:cs typeface="Inter"/>
                <a:sym typeface="Inter"/>
              </a:endParaRPr>
            </a:p>
          </p:txBody>
        </p:sp>
        <p:sp>
          <p:nvSpPr>
            <p:cNvPr id="103" name="Google Shape;103;p14"/>
            <p:cNvSpPr txBox="1"/>
            <p:nvPr/>
          </p:nvSpPr>
          <p:spPr>
            <a:xfrm>
              <a:off x="1428750" y="7517130"/>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650">
                  <a:solidFill>
                    <a:srgbClr val="EA580C"/>
                  </a:solidFill>
                  <a:latin typeface="Material Icons"/>
                  <a:ea typeface="Material Icons"/>
                  <a:cs typeface="Material Icons"/>
                  <a:sym typeface="Material Icons"/>
                </a:rPr>
                <a:t></a:t>
              </a:r>
              <a:endParaRPr b="0" sz="4650">
                <a:solidFill>
                  <a:srgbClr val="EA580C"/>
                </a:solidFill>
                <a:latin typeface="Material Icons"/>
                <a:ea typeface="Material Icons"/>
                <a:cs typeface="Material Icons"/>
                <a:sym typeface="Material Icons"/>
              </a:endParaRPr>
            </a:p>
          </p:txBody>
        </p:sp>
      </p:grpSp>
      <p:grpSp>
        <p:nvGrpSpPr>
          <p:cNvPr id="104" name="Google Shape;104;p14"/>
          <p:cNvGrpSpPr/>
          <p:nvPr/>
        </p:nvGrpSpPr>
        <p:grpSpPr>
          <a:xfrm>
            <a:off x="6572250" y="3048000"/>
            <a:ext cx="5143500" cy="5715000"/>
            <a:chOff x="6572250" y="3048000"/>
            <a:chExt cx="5143500" cy="5715000"/>
          </a:xfrm>
        </p:grpSpPr>
        <p:sp>
          <p:nvSpPr>
            <p:cNvPr id="105" name="Google Shape;105;p14"/>
            <p:cNvSpPr/>
            <p:nvPr/>
          </p:nvSpPr>
          <p:spPr>
            <a:xfrm>
              <a:off x="6572250" y="3048000"/>
              <a:ext cx="5143500" cy="5715000"/>
            </a:xfrm>
            <a:prstGeom prst="roundRect">
              <a:avLst>
                <a:gd fmla="val 7407"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4"/>
            <p:cNvSpPr/>
            <p:nvPr/>
          </p:nvSpPr>
          <p:spPr>
            <a:xfrm>
              <a:off x="6572250" y="3048000"/>
              <a:ext cx="5143500" cy="1143000"/>
            </a:xfrm>
            <a:prstGeom prst="roundRect">
              <a:avLst>
                <a:gd fmla="val 33333"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4"/>
            <p:cNvSpPr/>
            <p:nvPr/>
          </p:nvSpPr>
          <p:spPr>
            <a:xfrm>
              <a:off x="6572250" y="3619500"/>
              <a:ext cx="5143500" cy="5715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4"/>
            <p:cNvSpPr txBox="1"/>
            <p:nvPr/>
          </p:nvSpPr>
          <p:spPr>
            <a:xfrm>
              <a:off x="6858000" y="3286125"/>
              <a:ext cx="4572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FFFFFF"/>
                  </a:solidFill>
                  <a:latin typeface="Inter"/>
                  <a:ea typeface="Inter"/>
                  <a:cs typeface="Inter"/>
                  <a:sym typeface="Inter"/>
                </a:rPr>
                <a:t>Ficha del trámite</a:t>
              </a:r>
              <a:endParaRPr b="1" sz="3200">
                <a:solidFill>
                  <a:srgbClr val="FFFFFF"/>
                </a:solidFill>
                <a:latin typeface="Inter"/>
                <a:ea typeface="Inter"/>
                <a:cs typeface="Inter"/>
                <a:sym typeface="Inter"/>
              </a:endParaRPr>
            </a:p>
          </p:txBody>
        </p:sp>
        <p:sp>
          <p:nvSpPr>
            <p:cNvPr id="109" name="Google Shape;109;p14"/>
            <p:cNvSpPr txBox="1"/>
            <p:nvPr/>
          </p:nvSpPr>
          <p:spPr>
            <a:xfrm>
              <a:off x="6858000" y="4381500"/>
              <a:ext cx="4572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200">
                  <a:solidFill>
                    <a:srgbClr val="0A0915"/>
                  </a:solidFill>
                  <a:latin typeface="Inter"/>
                  <a:ea typeface="Inter"/>
                  <a:cs typeface="Inter"/>
                  <a:sym typeface="Inter"/>
                </a:rPr>
                <a:t>La página pública que el ciudadano ve en la guía antes de iniciar la solicitud.</a:t>
              </a:r>
              <a:endParaRPr b="0" sz="2200">
                <a:solidFill>
                  <a:srgbClr val="0A0915"/>
                </a:solidFill>
                <a:latin typeface="Inter"/>
                <a:ea typeface="Inter"/>
                <a:cs typeface="Inter"/>
                <a:sym typeface="Inter"/>
              </a:endParaRPr>
            </a:p>
          </p:txBody>
        </p:sp>
        <p:sp>
          <p:nvSpPr>
            <p:cNvPr id="110" name="Google Shape;110;p14"/>
            <p:cNvSpPr txBox="1"/>
            <p:nvPr/>
          </p:nvSpPr>
          <p:spPr>
            <a:xfrm>
              <a:off x="6858000" y="7517130"/>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650">
                  <a:solidFill>
                    <a:srgbClr val="EA580C"/>
                  </a:solidFill>
                  <a:latin typeface="Material Icons"/>
                  <a:ea typeface="Material Icons"/>
                  <a:cs typeface="Material Icons"/>
                  <a:sym typeface="Material Icons"/>
                </a:rPr>
                <a:t></a:t>
              </a:r>
              <a:endParaRPr b="0" sz="4650">
                <a:solidFill>
                  <a:srgbClr val="EA580C"/>
                </a:solidFill>
                <a:latin typeface="Material Icons"/>
                <a:ea typeface="Material Icons"/>
                <a:cs typeface="Material Icons"/>
                <a:sym typeface="Material Icons"/>
              </a:endParaRPr>
            </a:p>
          </p:txBody>
        </p:sp>
      </p:grpSp>
      <p:grpSp>
        <p:nvGrpSpPr>
          <p:cNvPr id="111" name="Google Shape;111;p14"/>
          <p:cNvGrpSpPr/>
          <p:nvPr/>
        </p:nvGrpSpPr>
        <p:grpSpPr>
          <a:xfrm>
            <a:off x="12001500" y="3048000"/>
            <a:ext cx="5143500" cy="5715000"/>
            <a:chOff x="12001500" y="3048000"/>
            <a:chExt cx="5143500" cy="5715000"/>
          </a:xfrm>
        </p:grpSpPr>
        <p:sp>
          <p:nvSpPr>
            <p:cNvPr id="112" name="Google Shape;112;p14"/>
            <p:cNvSpPr/>
            <p:nvPr/>
          </p:nvSpPr>
          <p:spPr>
            <a:xfrm>
              <a:off x="12001500" y="3048000"/>
              <a:ext cx="5143500" cy="5715000"/>
            </a:xfrm>
            <a:prstGeom prst="roundRect">
              <a:avLst>
                <a:gd fmla="val 7407"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14"/>
            <p:cNvSpPr/>
            <p:nvPr/>
          </p:nvSpPr>
          <p:spPr>
            <a:xfrm>
              <a:off x="12001500" y="3048000"/>
              <a:ext cx="5143500" cy="1143000"/>
            </a:xfrm>
            <a:prstGeom prst="roundRect">
              <a:avLst>
                <a:gd fmla="val 33333"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4"/>
            <p:cNvSpPr/>
            <p:nvPr/>
          </p:nvSpPr>
          <p:spPr>
            <a:xfrm>
              <a:off x="12001500" y="3619500"/>
              <a:ext cx="5143500" cy="5715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5" name="Google Shape;115;p14"/>
            <p:cNvSpPr txBox="1"/>
            <p:nvPr/>
          </p:nvSpPr>
          <p:spPr>
            <a:xfrm>
              <a:off x="12287250" y="3286125"/>
              <a:ext cx="4572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FFFFFF"/>
                  </a:solidFill>
                  <a:latin typeface="Inter"/>
                  <a:ea typeface="Inter"/>
                  <a:cs typeface="Inter"/>
                  <a:sym typeface="Inter"/>
                </a:rPr>
                <a:t>Configuración general</a:t>
              </a:r>
              <a:endParaRPr b="1" sz="3200">
                <a:solidFill>
                  <a:srgbClr val="FFFFFF"/>
                </a:solidFill>
                <a:latin typeface="Inter"/>
                <a:ea typeface="Inter"/>
                <a:cs typeface="Inter"/>
                <a:sym typeface="Inter"/>
              </a:endParaRPr>
            </a:p>
          </p:txBody>
        </p:sp>
        <p:sp>
          <p:nvSpPr>
            <p:cNvPr id="116" name="Google Shape;116;p14"/>
            <p:cNvSpPr txBox="1"/>
            <p:nvPr/>
          </p:nvSpPr>
          <p:spPr>
            <a:xfrm>
              <a:off x="12287250" y="4381500"/>
              <a:ext cx="45720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2200">
                  <a:solidFill>
                    <a:srgbClr val="0A0915"/>
                  </a:solidFill>
                  <a:latin typeface="Inter"/>
                  <a:ea typeface="Inter"/>
                  <a:cs typeface="Inter"/>
                  <a:sym typeface="Inter"/>
                </a:rPr>
                <a:t>Las reglas globales que se aplican al trámite completo.</a:t>
              </a:r>
              <a:endParaRPr b="0" sz="2200">
                <a:solidFill>
                  <a:srgbClr val="0A0915"/>
                </a:solidFill>
                <a:latin typeface="Inter"/>
                <a:ea typeface="Inter"/>
                <a:cs typeface="Inter"/>
                <a:sym typeface="Inter"/>
              </a:endParaRPr>
            </a:p>
          </p:txBody>
        </p:sp>
        <p:sp>
          <p:nvSpPr>
            <p:cNvPr id="117" name="Google Shape;117;p14"/>
            <p:cNvSpPr txBox="1"/>
            <p:nvPr/>
          </p:nvSpPr>
          <p:spPr>
            <a:xfrm>
              <a:off x="12287250" y="7517130"/>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4650">
                  <a:solidFill>
                    <a:srgbClr val="EA580C"/>
                  </a:solidFill>
                  <a:latin typeface="Material Icons"/>
                  <a:ea typeface="Material Icons"/>
                  <a:cs typeface="Material Icons"/>
                  <a:sym typeface="Material Icons"/>
                </a:rPr>
                <a:t></a:t>
              </a:r>
              <a:endParaRPr b="0" sz="4650">
                <a:solidFill>
                  <a:srgbClr val="EA580C"/>
                </a:solidFill>
                <a:latin typeface="Material Icons"/>
                <a:ea typeface="Material Icons"/>
                <a:cs typeface="Material Icons"/>
                <a:sym typeface="Material Ico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5"/>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5"/>
          <p:cNvSpPr txBox="1"/>
          <p:nvPr/>
        </p:nvSpPr>
        <p:spPr>
          <a:xfrm>
            <a:off x="1371600" y="762000"/>
            <a:ext cx="15544800" cy="1714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5600">
                <a:solidFill>
                  <a:srgbClr val="0A0915"/>
                </a:solidFill>
                <a:latin typeface="Inter"/>
                <a:ea typeface="Inter"/>
                <a:cs typeface="Inter"/>
                <a:sym typeface="Inter"/>
              </a:rPr>
              <a:t>Cada dato que aparece tiene que estar capturado antes</a:t>
            </a:r>
            <a:endParaRPr b="1" sz="5600">
              <a:solidFill>
                <a:srgbClr val="0A0915"/>
              </a:solidFill>
              <a:latin typeface="Inter"/>
              <a:ea typeface="Inter"/>
              <a:cs typeface="Inter"/>
              <a:sym typeface="Inter"/>
            </a:endParaRPr>
          </a:p>
        </p:txBody>
      </p:sp>
      <p:grpSp>
        <p:nvGrpSpPr>
          <p:cNvPr id="125" name="Google Shape;125;p15"/>
          <p:cNvGrpSpPr/>
          <p:nvPr/>
        </p:nvGrpSpPr>
        <p:grpSpPr>
          <a:xfrm>
            <a:off x="1371600" y="3048000"/>
            <a:ext cx="15925800" cy="4953000"/>
            <a:chOff x="1371600" y="3048000"/>
            <a:chExt cx="15925800" cy="4953000"/>
          </a:xfrm>
        </p:grpSpPr>
        <p:sp>
          <p:nvSpPr>
            <p:cNvPr id="126" name="Google Shape;126;p15"/>
            <p:cNvSpPr/>
            <p:nvPr/>
          </p:nvSpPr>
          <p:spPr>
            <a:xfrm>
              <a:off x="1371600" y="3048000"/>
              <a:ext cx="7239000" cy="4953000"/>
            </a:xfrm>
            <a:prstGeom prst="roundRect">
              <a:avLst>
                <a:gd fmla="val 7692"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5"/>
            <p:cNvSpPr txBox="1"/>
            <p:nvPr/>
          </p:nvSpPr>
          <p:spPr>
            <a:xfrm>
              <a:off x="1752600" y="3499104"/>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4800">
                  <a:solidFill>
                    <a:srgbClr val="EA580C"/>
                  </a:solidFill>
                  <a:latin typeface="Material Icons"/>
                  <a:ea typeface="Material Icons"/>
                  <a:cs typeface="Material Icons"/>
                  <a:sym typeface="Material Icons"/>
                </a:rPr>
                <a:t></a:t>
              </a:r>
              <a:endParaRPr sz="4800">
                <a:solidFill>
                  <a:srgbClr val="EA580C"/>
                </a:solidFill>
                <a:latin typeface="Material Icons"/>
                <a:ea typeface="Material Icons"/>
                <a:cs typeface="Material Icons"/>
                <a:sym typeface="Material Icons"/>
              </a:endParaRPr>
            </a:p>
          </p:txBody>
        </p:sp>
        <p:sp>
          <p:nvSpPr>
            <p:cNvPr id="128" name="Google Shape;128;p15"/>
            <p:cNvSpPr txBox="1"/>
            <p:nvPr/>
          </p:nvSpPr>
          <p:spPr>
            <a:xfrm>
              <a:off x="1752600" y="4381500"/>
              <a:ext cx="6477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Editor Visual</a:t>
              </a:r>
              <a:endParaRPr b="1" sz="2800">
                <a:solidFill>
                  <a:srgbClr val="0A0915"/>
                </a:solidFill>
                <a:latin typeface="Inter"/>
                <a:ea typeface="Inter"/>
                <a:cs typeface="Inter"/>
                <a:sym typeface="Inter"/>
              </a:endParaRPr>
            </a:p>
            <a:p>
              <a:pPr indent="0" lvl="0" marL="0" rtl="0" algn="l">
                <a:spcBef>
                  <a:spcPts val="1500"/>
                </a:spcBef>
                <a:spcAft>
                  <a:spcPts val="0"/>
                </a:spcAft>
                <a:buNone/>
              </a:pPr>
              <a:r>
                <a:rPr b="0" lang="en-US" sz="1800">
                  <a:solidFill>
                    <a:srgbClr val="4B5563"/>
                  </a:solidFill>
                  <a:latin typeface="Inter"/>
                  <a:ea typeface="Inter"/>
                  <a:cs typeface="Inter"/>
                  <a:sym typeface="Inter"/>
                </a:rPr>
                <a:t>Combinas elementos de diseño (escudo, encabezado institucional) con las variables del trámite.</a:t>
              </a:r>
              <a:endParaRPr b="0" sz="1800">
                <a:solidFill>
                  <a:srgbClr val="4B5563"/>
                </a:solidFill>
                <a:latin typeface="Inter"/>
                <a:ea typeface="Inter"/>
                <a:cs typeface="Inter"/>
                <a:sym typeface="Inter"/>
              </a:endParaRPr>
            </a:p>
          </p:txBody>
        </p:sp>
        <p:sp>
          <p:nvSpPr>
            <p:cNvPr id="129" name="Google Shape;129;p15"/>
            <p:cNvSpPr/>
            <p:nvPr/>
          </p:nvSpPr>
          <p:spPr>
            <a:xfrm>
              <a:off x="10058400" y="3048000"/>
              <a:ext cx="7239000" cy="4953000"/>
            </a:xfrm>
            <a:prstGeom prst="roundRect">
              <a:avLst>
                <a:gd fmla="val 7692"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5"/>
            <p:cNvSpPr txBox="1"/>
            <p:nvPr/>
          </p:nvSpPr>
          <p:spPr>
            <a:xfrm>
              <a:off x="10439400" y="3499104"/>
              <a:ext cx="7620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4800">
                  <a:solidFill>
                    <a:srgbClr val="FFFFFF"/>
                  </a:solidFill>
                  <a:latin typeface="Material Icons"/>
                  <a:ea typeface="Material Icons"/>
                  <a:cs typeface="Material Icons"/>
                  <a:sym typeface="Material Icons"/>
                </a:rPr>
                <a:t></a:t>
              </a:r>
              <a:endParaRPr sz="4800">
                <a:solidFill>
                  <a:srgbClr val="FFFFFF"/>
                </a:solidFill>
                <a:latin typeface="Material Icons"/>
                <a:ea typeface="Material Icons"/>
                <a:cs typeface="Material Icons"/>
                <a:sym typeface="Material Icons"/>
              </a:endParaRPr>
            </a:p>
          </p:txBody>
        </p:sp>
        <p:sp>
          <p:nvSpPr>
            <p:cNvPr id="131" name="Google Shape;131;p15"/>
            <p:cNvSpPr txBox="1"/>
            <p:nvPr/>
          </p:nvSpPr>
          <p:spPr>
            <a:xfrm>
              <a:off x="10439400" y="4381500"/>
              <a:ext cx="6477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FFFFFF"/>
                  </a:solidFill>
                  <a:latin typeface="Inter"/>
                  <a:ea typeface="Inter"/>
                  <a:cs typeface="Inter"/>
                  <a:sym typeface="Inter"/>
                </a:rPr>
                <a:t>Documento de Salida</a:t>
              </a:r>
              <a:endParaRPr b="1" sz="2800">
                <a:solidFill>
                  <a:srgbClr val="FFFFFF"/>
                </a:solidFill>
                <a:latin typeface="Inter"/>
                <a:ea typeface="Inter"/>
                <a:cs typeface="Inter"/>
                <a:sym typeface="Inter"/>
              </a:endParaRPr>
            </a:p>
            <a:p>
              <a:pPr indent="0" lvl="0" marL="0" rtl="0" algn="l">
                <a:spcBef>
                  <a:spcPts val="1500"/>
                </a:spcBef>
                <a:spcAft>
                  <a:spcPts val="0"/>
                </a:spcAft>
                <a:buNone/>
              </a:pPr>
              <a:r>
                <a:rPr b="0" lang="en-US" sz="1800">
                  <a:solidFill>
                    <a:srgbClr val="FFFFFF"/>
                  </a:solidFill>
                  <a:latin typeface="Inter"/>
                  <a:ea typeface="Inter"/>
                  <a:cs typeface="Inter"/>
                  <a:sym typeface="Inter"/>
                </a:rPr>
                <a:t>• Nombre del ciudadano</a:t>
              </a:r>
              <a:endParaRPr b="0" sz="1800">
                <a:solidFill>
                  <a:srgbClr val="FFFFFF"/>
                </a:solidFill>
                <a:latin typeface="Inter"/>
                <a:ea typeface="Inter"/>
                <a:cs typeface="Inter"/>
                <a:sym typeface="Inter"/>
              </a:endParaRPr>
            </a:p>
            <a:p>
              <a:pPr indent="0" lvl="0" marL="0" rtl="0" algn="l">
                <a:spcBef>
                  <a:spcPts val="1125"/>
                </a:spcBef>
                <a:spcAft>
                  <a:spcPts val="0"/>
                </a:spcAft>
                <a:buNone/>
              </a:pPr>
              <a:r>
                <a:rPr b="0" lang="en-US" sz="1800">
                  <a:solidFill>
                    <a:srgbClr val="FFFFFF"/>
                  </a:solidFill>
                  <a:latin typeface="Inter"/>
                  <a:ea typeface="Inter"/>
                  <a:cs typeface="Inter"/>
                  <a:sym typeface="Inter"/>
                </a:rPr>
                <a:t>• Número de expediente</a:t>
              </a:r>
              <a:endParaRPr b="0" sz="1800">
                <a:solidFill>
                  <a:srgbClr val="FFFFFF"/>
                </a:solidFill>
                <a:latin typeface="Inter"/>
                <a:ea typeface="Inter"/>
                <a:cs typeface="Inter"/>
                <a:sym typeface="Inter"/>
              </a:endParaRPr>
            </a:p>
            <a:p>
              <a:pPr indent="0" lvl="0" marL="0" rtl="0" algn="l">
                <a:spcBef>
                  <a:spcPts val="1125"/>
                </a:spcBef>
                <a:spcAft>
                  <a:spcPts val="1125"/>
                </a:spcAft>
                <a:buNone/>
              </a:pPr>
              <a:r>
                <a:rPr b="0" lang="en-US" sz="1800">
                  <a:solidFill>
                    <a:srgbClr val="FFFFFF"/>
                  </a:solidFill>
                  <a:latin typeface="Inter"/>
                  <a:ea typeface="Inter"/>
                  <a:cs typeface="Inter"/>
                  <a:sym typeface="Inter"/>
                </a:rPr>
                <a:t>• Fecha y datos del formulario</a:t>
              </a:r>
              <a:endParaRPr b="0" sz="1800">
                <a:solidFill>
                  <a:srgbClr val="FFFFFF"/>
                </a:solidFill>
                <a:latin typeface="Inter"/>
                <a:ea typeface="Inter"/>
                <a:cs typeface="Inter"/>
                <a:sym typeface="Inter"/>
              </a:endParaRPr>
            </a:p>
          </p:txBody>
        </p:sp>
      </p:grpSp>
      <p:grpSp>
        <p:nvGrpSpPr>
          <p:cNvPr id="132" name="Google Shape;132;p15"/>
          <p:cNvGrpSpPr/>
          <p:nvPr/>
        </p:nvGrpSpPr>
        <p:grpSpPr>
          <a:xfrm>
            <a:off x="1371600" y="8382000"/>
            <a:ext cx="15544800" cy="1143000"/>
            <a:chOff x="1371600" y="8382000"/>
            <a:chExt cx="15544800" cy="1143000"/>
          </a:xfrm>
        </p:grpSpPr>
        <p:sp>
          <p:nvSpPr>
            <p:cNvPr id="133" name="Google Shape;133;p15"/>
            <p:cNvSpPr/>
            <p:nvPr/>
          </p:nvSpPr>
          <p:spPr>
            <a:xfrm>
              <a:off x="1371600" y="8382000"/>
              <a:ext cx="15544800" cy="1143000"/>
            </a:xfrm>
            <a:prstGeom prst="roundRect">
              <a:avLst>
                <a:gd fmla="val 16666" name="adj"/>
              </a:avLst>
            </a:prstGeom>
            <a:solidFill>
              <a:srgbClr val="FFF7ED"/>
            </a:solidFill>
            <a:ln cap="flat" cmpd="sng" w="9525">
              <a:solidFill>
                <a:srgbClr val="FDBA7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5"/>
            <p:cNvSpPr txBox="1"/>
            <p:nvPr/>
          </p:nvSpPr>
          <p:spPr>
            <a:xfrm>
              <a:off x="1752600" y="8382000"/>
              <a:ext cx="14782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200">
                  <a:solidFill>
                    <a:srgbClr val="9A3412"/>
                  </a:solidFill>
                  <a:latin typeface="Inter SemiBold"/>
                  <a:ea typeface="Inter SemiBold"/>
                  <a:cs typeface="Inter SemiBold"/>
                  <a:sym typeface="Inter SemiBold"/>
                </a:rPr>
                <a:t>Si un dato no está en el formulario ni en una etapa, </a:t>
              </a:r>
              <a:r>
                <a:rPr b="1" lang="en-US" sz="2200">
                  <a:solidFill>
                    <a:srgbClr val="EA580C"/>
                  </a:solidFill>
                  <a:latin typeface="Inter"/>
                  <a:ea typeface="Inter"/>
                  <a:cs typeface="Inter"/>
                  <a:sym typeface="Inter"/>
                </a:rPr>
                <a:t>no hay de donde sacarlo.</a:t>
              </a:r>
              <a:endParaRPr b="0" sz="2200">
                <a:solidFill>
                  <a:srgbClr val="9A3412"/>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16"/>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16"/>
          <p:cNvSpPr txBox="1"/>
          <p:nvPr/>
        </p:nvSpPr>
        <p:spPr>
          <a:xfrm>
            <a:off x="1371600" y="762000"/>
            <a:ext cx="15544800" cy="831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5400">
                <a:solidFill>
                  <a:srgbClr val="0A0915"/>
                </a:solidFill>
                <a:latin typeface="Inter"/>
                <a:ea typeface="Inter"/>
                <a:cs typeface="Inter"/>
                <a:sym typeface="Inter"/>
              </a:rPr>
              <a:t>La ficha pública es la primera línea de soporte</a:t>
            </a:r>
            <a:endParaRPr b="1" i="0" sz="5400">
              <a:solidFill>
                <a:srgbClr val="0A0915"/>
              </a:solidFill>
              <a:latin typeface="Inter"/>
              <a:ea typeface="Inter"/>
              <a:cs typeface="Inter"/>
              <a:sym typeface="Inter"/>
            </a:endParaRPr>
          </a:p>
        </p:txBody>
      </p:sp>
      <p:grpSp>
        <p:nvGrpSpPr>
          <p:cNvPr id="142" name="Google Shape;142;p16"/>
          <p:cNvGrpSpPr/>
          <p:nvPr/>
        </p:nvGrpSpPr>
        <p:grpSpPr>
          <a:xfrm>
            <a:off x="1371600" y="2667000"/>
            <a:ext cx="7239000" cy="4953000"/>
            <a:chOff x="1371600" y="2667000"/>
            <a:chExt cx="7239000" cy="4953000"/>
          </a:xfrm>
        </p:grpSpPr>
        <p:sp>
          <p:nvSpPr>
            <p:cNvPr id="143" name="Google Shape;143;p16"/>
            <p:cNvSpPr/>
            <p:nvPr/>
          </p:nvSpPr>
          <p:spPr>
            <a:xfrm>
              <a:off x="1371600" y="2667000"/>
              <a:ext cx="7239000" cy="4953000"/>
            </a:xfrm>
            <a:prstGeom prst="roundRect">
              <a:avLst>
                <a:gd fmla="val 7692"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4" name="Google Shape;144;p16"/>
            <p:cNvSpPr txBox="1"/>
            <p:nvPr/>
          </p:nvSpPr>
          <p:spPr>
            <a:xfrm>
              <a:off x="1752600" y="3184779"/>
              <a:ext cx="76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4800">
                  <a:solidFill>
                    <a:srgbClr val="94A3B8"/>
                  </a:solidFill>
                  <a:latin typeface="Material Icons"/>
                  <a:ea typeface="Material Icons"/>
                  <a:cs typeface="Material Icons"/>
                  <a:sym typeface="Material Icons"/>
                </a:rPr>
                <a:t></a:t>
              </a:r>
              <a:endParaRPr sz="4800">
                <a:solidFill>
                  <a:srgbClr val="94A3B8"/>
                </a:solidFill>
                <a:latin typeface="Material Icons"/>
                <a:ea typeface="Material Icons"/>
                <a:cs typeface="Material Icons"/>
                <a:sym typeface="Material Icons"/>
              </a:endParaRPr>
            </a:p>
          </p:txBody>
        </p:sp>
        <p:sp>
          <p:nvSpPr>
            <p:cNvPr id="145" name="Google Shape;145;p16"/>
            <p:cNvSpPr txBox="1"/>
            <p:nvPr/>
          </p:nvSpPr>
          <p:spPr>
            <a:xfrm>
              <a:off x="1752600" y="4000500"/>
              <a:ext cx="64770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888888"/>
                  </a:solidFill>
                  <a:latin typeface="Inter"/>
                  <a:ea typeface="Inter"/>
                  <a:cs typeface="Inter"/>
                  <a:sym typeface="Inter"/>
                </a:rPr>
                <a:t>Ficha pobre</a:t>
              </a:r>
              <a:endParaRPr b="1" sz="3200">
                <a:solidFill>
                  <a:srgbClr val="888888"/>
                </a:solidFill>
                <a:latin typeface="Inter"/>
                <a:ea typeface="Inter"/>
                <a:cs typeface="Inter"/>
                <a:sym typeface="Inter"/>
              </a:endParaRPr>
            </a:p>
            <a:p>
              <a:pPr indent="0" lvl="0" marL="0" rtl="0" algn="l">
                <a:spcBef>
                  <a:spcPts val="1500"/>
                </a:spcBef>
                <a:spcAft>
                  <a:spcPts val="0"/>
                </a:spcAft>
                <a:buNone/>
              </a:pPr>
              <a:r>
                <a:rPr b="0" lang="en-US" sz="2400">
                  <a:solidFill>
                    <a:srgbClr val="4B5563"/>
                  </a:solidFill>
                  <a:latin typeface="Inter"/>
                  <a:ea typeface="Inter"/>
                  <a:cs typeface="Inter"/>
                  <a:sym typeface="Inter"/>
                </a:rPr>
                <a:t>Multiplica las llamadas al área y genera cuellos de botella innecesarios.</a:t>
              </a:r>
              <a:endParaRPr b="0" sz="2400">
                <a:solidFill>
                  <a:srgbClr val="4B5563"/>
                </a:solidFill>
                <a:latin typeface="Inter"/>
                <a:ea typeface="Inter"/>
                <a:cs typeface="Inter"/>
                <a:sym typeface="Inter"/>
              </a:endParaRPr>
            </a:p>
          </p:txBody>
        </p:sp>
      </p:grpSp>
      <p:grpSp>
        <p:nvGrpSpPr>
          <p:cNvPr id="146" name="Google Shape;146;p16"/>
          <p:cNvGrpSpPr/>
          <p:nvPr/>
        </p:nvGrpSpPr>
        <p:grpSpPr>
          <a:xfrm>
            <a:off x="9677400" y="2667000"/>
            <a:ext cx="7239000" cy="4953000"/>
            <a:chOff x="9677400" y="2667000"/>
            <a:chExt cx="7239000" cy="4953000"/>
          </a:xfrm>
        </p:grpSpPr>
        <p:sp>
          <p:nvSpPr>
            <p:cNvPr id="147" name="Google Shape;147;p16"/>
            <p:cNvSpPr/>
            <p:nvPr/>
          </p:nvSpPr>
          <p:spPr>
            <a:xfrm>
              <a:off x="9677400" y="2667000"/>
              <a:ext cx="7239000" cy="4953000"/>
            </a:xfrm>
            <a:prstGeom prst="roundRect">
              <a:avLst>
                <a:gd fmla="val 7692"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16"/>
            <p:cNvSpPr txBox="1"/>
            <p:nvPr/>
          </p:nvSpPr>
          <p:spPr>
            <a:xfrm>
              <a:off x="10058400" y="3184779"/>
              <a:ext cx="762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4800">
                  <a:solidFill>
                    <a:srgbClr val="FFFFFF"/>
                  </a:solidFill>
                  <a:latin typeface="Material Icons"/>
                  <a:ea typeface="Material Icons"/>
                  <a:cs typeface="Material Icons"/>
                  <a:sym typeface="Material Icons"/>
                </a:rPr>
                <a:t></a:t>
              </a:r>
              <a:endParaRPr sz="4800">
                <a:solidFill>
                  <a:srgbClr val="FFFFFF"/>
                </a:solidFill>
                <a:latin typeface="Material Icons"/>
                <a:ea typeface="Material Icons"/>
                <a:cs typeface="Material Icons"/>
                <a:sym typeface="Material Icons"/>
              </a:endParaRPr>
            </a:p>
          </p:txBody>
        </p:sp>
        <p:sp>
          <p:nvSpPr>
            <p:cNvPr id="149" name="Google Shape;149;p16"/>
            <p:cNvSpPr txBox="1"/>
            <p:nvPr/>
          </p:nvSpPr>
          <p:spPr>
            <a:xfrm>
              <a:off x="10058400" y="4000500"/>
              <a:ext cx="6477000" cy="3238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FFFFFF"/>
                  </a:solidFill>
                  <a:latin typeface="Inter"/>
                  <a:ea typeface="Inter"/>
                  <a:cs typeface="Inter"/>
                  <a:sym typeface="Inter"/>
                </a:rPr>
                <a:t>Ficha bien escrita</a:t>
              </a:r>
              <a:endParaRPr b="1" sz="3200">
                <a:solidFill>
                  <a:srgbClr val="FFFFFF"/>
                </a:solidFill>
                <a:latin typeface="Inter"/>
                <a:ea typeface="Inter"/>
                <a:cs typeface="Inter"/>
                <a:sym typeface="Inter"/>
              </a:endParaRPr>
            </a:p>
            <a:p>
              <a:pPr indent="0" lvl="0" marL="0" rtl="0" algn="l">
                <a:spcBef>
                  <a:spcPts val="1500"/>
                </a:spcBef>
                <a:spcAft>
                  <a:spcPts val="0"/>
                </a:spcAft>
                <a:buNone/>
              </a:pPr>
              <a:r>
                <a:rPr b="0" lang="en-US" sz="2400">
                  <a:solidFill>
                    <a:srgbClr val="FFFFFF"/>
                  </a:solidFill>
                  <a:latin typeface="Inter"/>
                  <a:ea typeface="Inter"/>
                  <a:cs typeface="Inter"/>
                  <a:sym typeface="Inter"/>
                </a:rPr>
                <a:t>Evita la mitad de las llamadas al responder claramente:</a:t>
              </a:r>
              <a:endParaRPr b="0" sz="2400">
                <a:solidFill>
                  <a:srgbClr val="FFFFFF"/>
                </a:solidFill>
                <a:latin typeface="Inter"/>
                <a:ea typeface="Inter"/>
                <a:cs typeface="Inter"/>
                <a:sym typeface="Inter"/>
              </a:endParaRPr>
            </a:p>
            <a:p>
              <a:pPr indent="-355600" lvl="0" marL="457200" rtl="0" algn="l">
                <a:spcBef>
                  <a:spcPts val="1125"/>
                </a:spcBef>
                <a:spcAft>
                  <a:spcPts val="0"/>
                </a:spcAft>
                <a:buClr>
                  <a:srgbClr val="FFFFFF"/>
                </a:buClr>
                <a:buSzPts val="2000"/>
                <a:buFont typeface="Inter"/>
                <a:buChar char="●"/>
              </a:pPr>
              <a:r>
                <a:rPr b="0" lang="en-US" sz="2000">
                  <a:solidFill>
                    <a:srgbClr val="FFFFFF"/>
                  </a:solidFill>
                  <a:latin typeface="Inter"/>
                  <a:ea typeface="Inter"/>
                  <a:cs typeface="Inter"/>
                  <a:sym typeface="Inter"/>
                </a:rPr>
                <a:t>Qué es el trámite</a:t>
              </a:r>
              <a:endParaRPr b="0" sz="2000">
                <a:solidFill>
                  <a:srgbClr val="FFFFFF"/>
                </a:solidFill>
                <a:latin typeface="Inter"/>
                <a:ea typeface="Inter"/>
                <a:cs typeface="Inter"/>
                <a:sym typeface="Inter"/>
              </a:endParaRPr>
            </a:p>
            <a:p>
              <a:pPr indent="-355600" lvl="0" marL="457200" rtl="0" algn="l">
                <a:spcBef>
                  <a:spcPts val="600"/>
                </a:spcBef>
                <a:spcAft>
                  <a:spcPts val="0"/>
                </a:spcAft>
                <a:buClr>
                  <a:srgbClr val="FFFFFF"/>
                </a:buClr>
                <a:buSzPts val="2000"/>
                <a:buFont typeface="Inter"/>
                <a:buChar char="●"/>
              </a:pPr>
              <a:r>
                <a:rPr b="0" lang="en-US" sz="2000">
                  <a:solidFill>
                    <a:srgbClr val="FFFFFF"/>
                  </a:solidFill>
                  <a:latin typeface="Inter"/>
                  <a:ea typeface="Inter"/>
                  <a:cs typeface="Inter"/>
                  <a:sym typeface="Inter"/>
                </a:rPr>
                <a:t>Qué requisitos necesita</a:t>
              </a:r>
              <a:endParaRPr b="0" sz="2000">
                <a:solidFill>
                  <a:srgbClr val="FFFFFF"/>
                </a:solidFill>
                <a:latin typeface="Inter"/>
                <a:ea typeface="Inter"/>
                <a:cs typeface="Inter"/>
                <a:sym typeface="Inter"/>
              </a:endParaRPr>
            </a:p>
            <a:p>
              <a:pPr indent="-355600" lvl="0" marL="457200" rtl="0" algn="l">
                <a:spcBef>
                  <a:spcPts val="600"/>
                </a:spcBef>
                <a:spcAft>
                  <a:spcPts val="0"/>
                </a:spcAft>
                <a:buClr>
                  <a:srgbClr val="FFFFFF"/>
                </a:buClr>
                <a:buSzPts val="2000"/>
                <a:buFont typeface="Inter"/>
                <a:buChar char="●"/>
              </a:pPr>
              <a:r>
                <a:rPr b="0" lang="en-US" sz="2000">
                  <a:solidFill>
                    <a:srgbClr val="FFFFFF"/>
                  </a:solidFill>
                  <a:latin typeface="Inter"/>
                  <a:ea typeface="Inter"/>
                  <a:cs typeface="Inter"/>
                  <a:sym typeface="Inter"/>
                </a:rPr>
                <a:t>Cuánto cuesta</a:t>
              </a:r>
              <a:endParaRPr b="0" sz="2000">
                <a:solidFill>
                  <a:srgbClr val="FFFFFF"/>
                </a:solidFill>
                <a:latin typeface="Inter"/>
                <a:ea typeface="Inter"/>
                <a:cs typeface="Inter"/>
                <a:sym typeface="Inter"/>
              </a:endParaRPr>
            </a:p>
            <a:p>
              <a:pPr indent="-355600" lvl="0" marL="457200" rtl="0" algn="l">
                <a:spcBef>
                  <a:spcPts val="600"/>
                </a:spcBef>
                <a:spcAft>
                  <a:spcPts val="0"/>
                </a:spcAft>
                <a:buClr>
                  <a:srgbClr val="FFFFFF"/>
                </a:buClr>
                <a:buSzPts val="2000"/>
                <a:buFont typeface="Inter"/>
                <a:buChar char="●"/>
              </a:pPr>
              <a:r>
                <a:rPr b="0" lang="en-US" sz="2000">
                  <a:solidFill>
                    <a:srgbClr val="FFFFFF"/>
                  </a:solidFill>
                  <a:latin typeface="Inter"/>
                  <a:ea typeface="Inter"/>
                  <a:cs typeface="Inter"/>
                  <a:sym typeface="Inter"/>
                </a:rPr>
                <a:t>Cuánto tiempo tarda</a:t>
              </a:r>
              <a:endParaRPr b="0" sz="2000">
                <a:solidFill>
                  <a:srgbClr val="FFFFFF"/>
                </a:solidFill>
                <a:latin typeface="Inter"/>
                <a:ea typeface="Inter"/>
                <a:cs typeface="Inter"/>
                <a:sym typeface="Inter"/>
              </a:endParaRPr>
            </a:p>
          </p:txBody>
        </p:sp>
      </p:grpSp>
      <p:grpSp>
        <p:nvGrpSpPr>
          <p:cNvPr id="150" name="Google Shape;150;p16"/>
          <p:cNvGrpSpPr/>
          <p:nvPr/>
        </p:nvGrpSpPr>
        <p:grpSpPr>
          <a:xfrm>
            <a:off x="1371600" y="8191500"/>
            <a:ext cx="15544800" cy="1143000"/>
            <a:chOff x="1371600" y="8191500"/>
            <a:chExt cx="15544800" cy="1143000"/>
          </a:xfrm>
        </p:grpSpPr>
        <p:sp>
          <p:nvSpPr>
            <p:cNvPr id="151" name="Google Shape;151;p16"/>
            <p:cNvSpPr/>
            <p:nvPr/>
          </p:nvSpPr>
          <p:spPr>
            <a:xfrm>
              <a:off x="1371600" y="8191500"/>
              <a:ext cx="15544800" cy="1143000"/>
            </a:xfrm>
            <a:prstGeom prst="roundRect">
              <a:avLst>
                <a:gd fmla="val 16666" name="adj"/>
              </a:avLst>
            </a:prstGeom>
            <a:solidFill>
              <a:srgbClr val="FFF7ED"/>
            </a:solidFill>
            <a:ln cap="flat" cmpd="sng" w="9525">
              <a:solidFill>
                <a:srgbClr val="FDBA7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6"/>
            <p:cNvSpPr txBox="1"/>
            <p:nvPr/>
          </p:nvSpPr>
          <p:spPr>
            <a:xfrm>
              <a:off x="1752600" y="8191500"/>
              <a:ext cx="147828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400">
                  <a:solidFill>
                    <a:srgbClr val="9A3412"/>
                  </a:solidFill>
                  <a:latin typeface="Inter SemiBold"/>
                  <a:ea typeface="Inter SemiBold"/>
                  <a:cs typeface="Inter SemiBold"/>
                  <a:sym typeface="Inter SemiBold"/>
                </a:rPr>
                <a:t>Una buena ficha ahorra tiempo al ciudadano </a:t>
              </a:r>
              <a:r>
                <a:rPr b="1" lang="en-US" sz="2400">
                  <a:solidFill>
                    <a:srgbClr val="EA580C"/>
                  </a:solidFill>
                  <a:latin typeface="Inter"/>
                  <a:ea typeface="Inter"/>
                  <a:cs typeface="Inter"/>
                  <a:sym typeface="Inter"/>
                </a:rPr>
                <a:t>y recursos al equipo de soporte.</a:t>
              </a:r>
              <a:endParaRPr b="0" sz="2400">
                <a:solidFill>
                  <a:srgbClr val="9A3412"/>
                </a:solidFill>
                <a:latin typeface="Inter SemiBold"/>
                <a:ea typeface="Inter SemiBold"/>
                <a:cs typeface="Inter SemiBold"/>
                <a:sym typeface="Inter SemiBol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7"/>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txBox="1"/>
          <p:nvPr/>
        </p:nvSpPr>
        <p:spPr>
          <a:xfrm>
            <a:off x="1371600" y="7620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4800">
                <a:solidFill>
                  <a:srgbClr val="0A0915"/>
                </a:solidFill>
                <a:latin typeface="Inter"/>
                <a:ea typeface="Inter"/>
                <a:cs typeface="Inter"/>
                <a:sym typeface="Inter"/>
              </a:rPr>
              <a:t>Configuración general: las reglas globales</a:t>
            </a:r>
            <a:endParaRPr b="1" i="0" sz="4800">
              <a:solidFill>
                <a:srgbClr val="0A0915"/>
              </a:solidFill>
              <a:latin typeface="Inter"/>
              <a:ea typeface="Inter"/>
              <a:cs typeface="Inter"/>
              <a:sym typeface="Inter"/>
            </a:endParaRPr>
          </a:p>
        </p:txBody>
      </p:sp>
      <p:grpSp>
        <p:nvGrpSpPr>
          <p:cNvPr id="160" name="Google Shape;160;p17"/>
          <p:cNvGrpSpPr/>
          <p:nvPr/>
        </p:nvGrpSpPr>
        <p:grpSpPr>
          <a:xfrm>
            <a:off x="1371600" y="2286000"/>
            <a:ext cx="4572000" cy="3238500"/>
            <a:chOff x="1371600" y="2286000"/>
            <a:chExt cx="4572000" cy="3238500"/>
          </a:xfrm>
        </p:grpSpPr>
        <p:sp>
          <p:nvSpPr>
            <p:cNvPr id="161" name="Google Shape;161;p17"/>
            <p:cNvSpPr/>
            <p:nvPr/>
          </p:nvSpPr>
          <p:spPr>
            <a:xfrm>
              <a:off x="1371600" y="2286000"/>
              <a:ext cx="4572000" cy="3238500"/>
            </a:xfrm>
            <a:prstGeom prst="roundRect">
              <a:avLst>
                <a:gd fmla="val 11764"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7"/>
            <p:cNvSpPr txBox="1"/>
            <p:nvPr/>
          </p:nvSpPr>
          <p:spPr>
            <a:xfrm>
              <a:off x="1752600" y="2667000"/>
              <a:ext cx="3810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A580C"/>
                  </a:solidFill>
                  <a:latin typeface="Material Icons"/>
                  <a:ea typeface="Material Icons"/>
                  <a:cs typeface="Material Icons"/>
                  <a:sym typeface="Material Icons"/>
                </a:rPr>
                <a:t></a:t>
              </a:r>
              <a:endParaRPr sz="4800">
                <a:solidFill>
                  <a:srgbClr val="EA580C"/>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Visibilidad</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800">
                  <a:solidFill>
                    <a:srgbClr val="4B5563"/>
                  </a:solidFill>
                  <a:latin typeface="Inter"/>
                  <a:ea typeface="Inter"/>
                  <a:cs typeface="Inter"/>
                  <a:sym typeface="Inter"/>
                </a:rPr>
                <a:t>Controla si el trámite está visible al público o permanece oculto durante la configuración.</a:t>
              </a:r>
              <a:endParaRPr b="0" sz="1800">
                <a:solidFill>
                  <a:srgbClr val="4B5563"/>
                </a:solidFill>
                <a:latin typeface="Inter"/>
                <a:ea typeface="Inter"/>
                <a:cs typeface="Inter"/>
                <a:sym typeface="Inter"/>
              </a:endParaRPr>
            </a:p>
          </p:txBody>
        </p:sp>
      </p:grpSp>
      <p:grpSp>
        <p:nvGrpSpPr>
          <p:cNvPr id="163" name="Google Shape;163;p17"/>
          <p:cNvGrpSpPr/>
          <p:nvPr/>
        </p:nvGrpSpPr>
        <p:grpSpPr>
          <a:xfrm>
            <a:off x="6858000" y="2286000"/>
            <a:ext cx="4572000" cy="3238500"/>
            <a:chOff x="6858000" y="2286000"/>
            <a:chExt cx="4572000" cy="3238500"/>
          </a:xfrm>
        </p:grpSpPr>
        <p:sp>
          <p:nvSpPr>
            <p:cNvPr id="164" name="Google Shape;164;p17"/>
            <p:cNvSpPr/>
            <p:nvPr/>
          </p:nvSpPr>
          <p:spPr>
            <a:xfrm>
              <a:off x="6858000" y="2286000"/>
              <a:ext cx="4572000" cy="3238500"/>
            </a:xfrm>
            <a:prstGeom prst="roundRect">
              <a:avLst>
                <a:gd fmla="val 11764"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7"/>
            <p:cNvSpPr txBox="1"/>
            <p:nvPr/>
          </p:nvSpPr>
          <p:spPr>
            <a:xfrm>
              <a:off x="7239000" y="2667000"/>
              <a:ext cx="3810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A580C"/>
                  </a:solidFill>
                  <a:latin typeface="Material Icons"/>
                  <a:ea typeface="Material Icons"/>
                  <a:cs typeface="Material Icons"/>
                  <a:sym typeface="Material Icons"/>
                </a:rPr>
                <a:t></a:t>
              </a:r>
              <a:endParaRPr sz="4800">
                <a:solidFill>
                  <a:srgbClr val="EA580C"/>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Dependencias</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800">
                  <a:solidFill>
                    <a:srgbClr val="4B5563"/>
                  </a:solidFill>
                  <a:latin typeface="Inter"/>
                  <a:ea typeface="Inter"/>
                  <a:cs typeface="Inter"/>
                  <a:sym typeface="Inter"/>
                </a:rPr>
                <a:t>Establece si el inicio depende de la resolución previa de otro trámite específico.</a:t>
              </a:r>
              <a:endParaRPr b="0" sz="1800">
                <a:solidFill>
                  <a:srgbClr val="4B5563"/>
                </a:solidFill>
                <a:latin typeface="Inter"/>
                <a:ea typeface="Inter"/>
                <a:cs typeface="Inter"/>
                <a:sym typeface="Inter"/>
              </a:endParaRPr>
            </a:p>
          </p:txBody>
        </p:sp>
      </p:grpSp>
      <p:grpSp>
        <p:nvGrpSpPr>
          <p:cNvPr id="166" name="Google Shape;166;p17"/>
          <p:cNvGrpSpPr/>
          <p:nvPr/>
        </p:nvGrpSpPr>
        <p:grpSpPr>
          <a:xfrm>
            <a:off x="12344400" y="2286000"/>
            <a:ext cx="4572000" cy="3238500"/>
            <a:chOff x="12344400" y="2286000"/>
            <a:chExt cx="4572000" cy="3238500"/>
          </a:xfrm>
        </p:grpSpPr>
        <p:sp>
          <p:nvSpPr>
            <p:cNvPr id="167" name="Google Shape;167;p17"/>
            <p:cNvSpPr/>
            <p:nvPr/>
          </p:nvSpPr>
          <p:spPr>
            <a:xfrm>
              <a:off x="12344400" y="2286000"/>
              <a:ext cx="4572000" cy="3238500"/>
            </a:xfrm>
            <a:prstGeom prst="roundRect">
              <a:avLst>
                <a:gd fmla="val 11764"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txBox="1"/>
            <p:nvPr/>
          </p:nvSpPr>
          <p:spPr>
            <a:xfrm>
              <a:off x="12725400" y="2667000"/>
              <a:ext cx="38100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A580C"/>
                  </a:solidFill>
                  <a:latin typeface="Material Icons"/>
                  <a:ea typeface="Material Icons"/>
                  <a:cs typeface="Material Icons"/>
                  <a:sym typeface="Material Icons"/>
                </a:rPr>
                <a:t></a:t>
              </a:r>
              <a:endParaRPr sz="4800">
                <a:solidFill>
                  <a:srgbClr val="EA580C"/>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Identificación</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800">
                  <a:solidFill>
                    <a:srgbClr val="4B5563"/>
                  </a:solidFill>
                  <a:latin typeface="Inter"/>
                  <a:ea typeface="Inter"/>
                  <a:cs typeface="Inter"/>
                  <a:sym typeface="Inter"/>
                </a:rPr>
                <a:t>Asigna el identificador interno único para el seguimiento y gestión del trámite.</a:t>
              </a:r>
              <a:endParaRPr b="0" sz="1800">
                <a:solidFill>
                  <a:srgbClr val="4B5563"/>
                </a:solidFill>
                <a:latin typeface="Inter"/>
                <a:ea typeface="Inter"/>
                <a:cs typeface="Inter"/>
                <a:sym typeface="Inter"/>
              </a:endParaRPr>
            </a:p>
          </p:txBody>
        </p:sp>
      </p:grpSp>
      <p:grpSp>
        <p:nvGrpSpPr>
          <p:cNvPr id="169" name="Google Shape;169;p17"/>
          <p:cNvGrpSpPr/>
          <p:nvPr/>
        </p:nvGrpSpPr>
        <p:grpSpPr>
          <a:xfrm>
            <a:off x="1371600" y="5905500"/>
            <a:ext cx="7239000" cy="2286000"/>
            <a:chOff x="1371600" y="5905500"/>
            <a:chExt cx="7239000" cy="2286000"/>
          </a:xfrm>
        </p:grpSpPr>
        <p:sp>
          <p:nvSpPr>
            <p:cNvPr id="170" name="Google Shape;170;p17"/>
            <p:cNvSpPr/>
            <p:nvPr/>
          </p:nvSpPr>
          <p:spPr>
            <a:xfrm>
              <a:off x="1371600" y="5905500"/>
              <a:ext cx="7239000" cy="2286000"/>
            </a:xfrm>
            <a:prstGeom prst="roundRect">
              <a:avLst>
                <a:gd fmla="val 16666"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7"/>
            <p:cNvSpPr txBox="1"/>
            <p:nvPr/>
          </p:nvSpPr>
          <p:spPr>
            <a:xfrm>
              <a:off x="1752600" y="6286500"/>
              <a:ext cx="6477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3720">
                  <a:solidFill>
                    <a:srgbClr val="FFFFFF"/>
                  </a:solidFill>
                  <a:latin typeface="Material Icons"/>
                  <a:ea typeface="Material Icons"/>
                  <a:cs typeface="Material Icons"/>
                  <a:sym typeface="Material Icons"/>
                </a:rPr>
                <a:t></a:t>
              </a:r>
              <a:endParaRPr sz="3720">
                <a:solidFill>
                  <a:srgbClr val="FFFFFF"/>
                </a:solidFill>
                <a:latin typeface="Material Icons"/>
                <a:ea typeface="Material Icons"/>
                <a:cs typeface="Material Icons"/>
                <a:sym typeface="Material Icons"/>
              </a:endParaRPr>
            </a:p>
            <a:p>
              <a:pPr indent="0" lvl="0" marL="0" rtl="0" algn="l">
                <a:spcBef>
                  <a:spcPts val="750"/>
                </a:spcBef>
                <a:spcAft>
                  <a:spcPts val="0"/>
                </a:spcAft>
                <a:buNone/>
              </a:pPr>
              <a:r>
                <a:rPr b="1" lang="en-US" sz="1860">
                  <a:solidFill>
                    <a:srgbClr val="FFFFFF"/>
                  </a:solidFill>
                  <a:latin typeface="Inter"/>
                  <a:ea typeface="Inter"/>
                  <a:cs typeface="Inter"/>
                  <a:sym typeface="Inter"/>
                </a:rPr>
                <a:t>Firmas Necesarias</a:t>
              </a:r>
              <a:endParaRPr b="1" sz="1860">
                <a:solidFill>
                  <a:srgbClr val="FFFFFF"/>
                </a:solidFill>
                <a:latin typeface="Inter"/>
                <a:ea typeface="Inter"/>
                <a:cs typeface="Inter"/>
                <a:sym typeface="Inter"/>
              </a:endParaRPr>
            </a:p>
            <a:p>
              <a:pPr indent="0" lvl="0" marL="0" rtl="0" algn="l">
                <a:spcBef>
                  <a:spcPts val="375"/>
                </a:spcBef>
                <a:spcAft>
                  <a:spcPts val="0"/>
                </a:spcAft>
                <a:buNone/>
              </a:pPr>
              <a:r>
                <a:rPr b="0" lang="en-US" sz="1395">
                  <a:solidFill>
                    <a:srgbClr val="FFFFFF"/>
                  </a:solidFill>
                  <a:latin typeface="Inter"/>
                  <a:ea typeface="Inter"/>
                  <a:cs typeface="Inter"/>
                  <a:sym typeface="Inter"/>
                </a:rPr>
                <a:t>Define qué niveles de autorización y firmas son requeridos para completar el proceso.</a:t>
              </a:r>
              <a:endParaRPr b="0" sz="1395">
                <a:solidFill>
                  <a:srgbClr val="FFFFFF"/>
                </a:solidFill>
                <a:latin typeface="Inter"/>
                <a:ea typeface="Inter"/>
                <a:cs typeface="Inter"/>
                <a:sym typeface="Inter"/>
              </a:endParaRPr>
            </a:p>
          </p:txBody>
        </p:sp>
      </p:grpSp>
      <p:grpSp>
        <p:nvGrpSpPr>
          <p:cNvPr id="172" name="Google Shape;172;p17"/>
          <p:cNvGrpSpPr/>
          <p:nvPr/>
        </p:nvGrpSpPr>
        <p:grpSpPr>
          <a:xfrm>
            <a:off x="9677400" y="5905500"/>
            <a:ext cx="7239000" cy="2286000"/>
            <a:chOff x="9677400" y="5905500"/>
            <a:chExt cx="7239000" cy="2286000"/>
          </a:xfrm>
        </p:grpSpPr>
        <p:sp>
          <p:nvSpPr>
            <p:cNvPr id="173" name="Google Shape;173;p17"/>
            <p:cNvSpPr/>
            <p:nvPr/>
          </p:nvSpPr>
          <p:spPr>
            <a:xfrm>
              <a:off x="9677400" y="5905500"/>
              <a:ext cx="7239000" cy="2286000"/>
            </a:xfrm>
            <a:prstGeom prst="roundRect">
              <a:avLst>
                <a:gd fmla="val 16666"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7"/>
            <p:cNvSpPr txBox="1"/>
            <p:nvPr/>
          </p:nvSpPr>
          <p:spPr>
            <a:xfrm>
              <a:off x="10058400" y="6286500"/>
              <a:ext cx="64770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440">
                  <a:solidFill>
                    <a:srgbClr val="FFFFFF"/>
                  </a:solidFill>
                  <a:latin typeface="Material Icons"/>
                  <a:ea typeface="Material Icons"/>
                  <a:cs typeface="Material Icons"/>
                  <a:sym typeface="Material Icons"/>
                </a:rPr>
                <a:t></a:t>
              </a:r>
              <a:endParaRPr sz="4440">
                <a:solidFill>
                  <a:srgbClr val="FFFFFF"/>
                </a:solidFill>
                <a:latin typeface="Material Icons"/>
                <a:ea typeface="Material Icons"/>
                <a:cs typeface="Material Icons"/>
                <a:sym typeface="Material Icons"/>
              </a:endParaRPr>
            </a:p>
            <a:p>
              <a:pPr indent="0" lvl="0" marL="0" rtl="0" algn="l">
                <a:spcBef>
                  <a:spcPts val="750"/>
                </a:spcBef>
                <a:spcAft>
                  <a:spcPts val="0"/>
                </a:spcAft>
                <a:buNone/>
              </a:pPr>
              <a:r>
                <a:rPr b="1" lang="en-US" sz="2220">
                  <a:solidFill>
                    <a:srgbClr val="FFFFFF"/>
                  </a:solidFill>
                  <a:latin typeface="Inter"/>
                  <a:ea typeface="Inter"/>
                  <a:cs typeface="Inter"/>
                  <a:sym typeface="Inter"/>
                </a:rPr>
                <a:t>Vigencia</a:t>
              </a:r>
              <a:endParaRPr b="1" sz="2220">
                <a:solidFill>
                  <a:srgbClr val="FFFFFF"/>
                </a:solidFill>
                <a:latin typeface="Inter"/>
                <a:ea typeface="Inter"/>
                <a:cs typeface="Inter"/>
                <a:sym typeface="Inter"/>
              </a:endParaRPr>
            </a:p>
            <a:p>
              <a:pPr indent="0" lvl="0" marL="0" rtl="0" algn="l">
                <a:spcBef>
                  <a:spcPts val="375"/>
                </a:spcBef>
                <a:spcAft>
                  <a:spcPts val="0"/>
                </a:spcAft>
                <a:buNone/>
              </a:pPr>
              <a:r>
                <a:rPr b="0" lang="en-US" sz="1665">
                  <a:solidFill>
                    <a:srgbClr val="FFFFFF"/>
                  </a:solidFill>
                  <a:latin typeface="Inter"/>
                  <a:ea typeface="Inter"/>
                  <a:cs typeface="Inter"/>
                  <a:sym typeface="Inter"/>
                </a:rPr>
                <a:t>Determina el periodo de validez del trámite una vez finalizado.</a:t>
              </a:r>
              <a:endParaRPr b="0" sz="1665">
                <a:solidFill>
                  <a:srgbClr val="FFFFFF"/>
                </a:solidFill>
                <a:latin typeface="Inter"/>
                <a:ea typeface="Inter"/>
                <a:cs typeface="Inter"/>
                <a:sym typeface="Inter"/>
              </a:endParaRPr>
            </a:p>
          </p:txBody>
        </p:sp>
      </p:grpSp>
      <p:grpSp>
        <p:nvGrpSpPr>
          <p:cNvPr id="175" name="Google Shape;175;p17"/>
          <p:cNvGrpSpPr/>
          <p:nvPr/>
        </p:nvGrpSpPr>
        <p:grpSpPr>
          <a:xfrm>
            <a:off x="1371600" y="8572500"/>
            <a:ext cx="15544800" cy="1143000"/>
            <a:chOff x="1371600" y="8572500"/>
            <a:chExt cx="15544800" cy="1143000"/>
          </a:xfrm>
        </p:grpSpPr>
        <p:sp>
          <p:nvSpPr>
            <p:cNvPr id="176" name="Google Shape;176;p17"/>
            <p:cNvSpPr/>
            <p:nvPr/>
          </p:nvSpPr>
          <p:spPr>
            <a:xfrm>
              <a:off x="1371600" y="8572500"/>
              <a:ext cx="15544800" cy="1143000"/>
            </a:xfrm>
            <a:prstGeom prst="roundRect">
              <a:avLst>
                <a:gd fmla="val 16666" name="adj"/>
              </a:avLst>
            </a:prstGeom>
            <a:solidFill>
              <a:srgbClr val="FFF7ED"/>
            </a:solidFill>
            <a:ln cap="flat" cmpd="sng" w="9525">
              <a:solidFill>
                <a:srgbClr val="FDBA7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7"/>
            <p:cNvSpPr txBox="1"/>
            <p:nvPr/>
          </p:nvSpPr>
          <p:spPr>
            <a:xfrm>
              <a:off x="1752600" y="8572500"/>
              <a:ext cx="14782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i="0" lang="en-US" sz="2200">
                  <a:solidFill>
                    <a:srgbClr val="9A3412"/>
                  </a:solidFill>
                  <a:latin typeface="Inter SemiBold"/>
                  <a:ea typeface="Inter SemiBold"/>
                  <a:cs typeface="Inter SemiBold"/>
                  <a:sym typeface="Inter SemiBold"/>
                </a:rPr>
                <a:t>Las reglas globales definen el </a:t>
              </a:r>
              <a:r>
                <a:rPr b="1" i="0" lang="en-US" sz="2200">
                  <a:solidFill>
                    <a:srgbClr val="EA580C"/>
                  </a:solidFill>
                  <a:latin typeface="Inter"/>
                  <a:ea typeface="Inter"/>
                  <a:cs typeface="Inter"/>
                  <a:sym typeface="Inter"/>
                </a:rPr>
                <a:t>comportamiento base</a:t>
              </a:r>
              <a:r>
                <a:rPr b="0" i="0" lang="en-US" sz="2200">
                  <a:solidFill>
                    <a:srgbClr val="9A3412"/>
                  </a:solidFill>
                  <a:latin typeface="Inter SemiBold"/>
                  <a:ea typeface="Inter SemiBold"/>
                  <a:cs typeface="Inter SemiBold"/>
                  <a:sym typeface="Inter SemiBold"/>
                </a:rPr>
                <a:t> de toda la gestión.</a:t>
              </a:r>
              <a:endParaRPr b="0" i="0" sz="2200">
                <a:solidFill>
                  <a:srgbClr val="9A3412"/>
                </a:solidFill>
                <a:latin typeface="Inter SemiBold"/>
                <a:ea typeface="Inter SemiBold"/>
                <a:cs typeface="Inter SemiBold"/>
                <a:sym typeface="Inter SemiBol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18"/>
          <p:cNvSpPr txBox="1"/>
          <p:nvPr/>
        </p:nvSpPr>
        <p:spPr>
          <a:xfrm>
            <a:off x="1371600" y="762000"/>
            <a:ext cx="155448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2000">
                <a:solidFill>
                  <a:srgbClr val="EA580C"/>
                </a:solidFill>
                <a:latin typeface="Inter"/>
                <a:ea typeface="Inter"/>
                <a:cs typeface="Inter"/>
                <a:sym typeface="Inter"/>
              </a:rPr>
              <a:t>Orden sugerido</a:t>
            </a:r>
            <a:endParaRPr b="1" i="0" sz="2000">
              <a:solidFill>
                <a:srgbClr val="EA580C"/>
              </a:solidFill>
              <a:latin typeface="Inter"/>
              <a:ea typeface="Inter"/>
              <a:cs typeface="Inter"/>
              <a:sym typeface="Inter"/>
            </a:endParaRPr>
          </a:p>
        </p:txBody>
      </p:sp>
      <p:sp>
        <p:nvSpPr>
          <p:cNvPr id="185" name="Google Shape;185;p18"/>
          <p:cNvSpPr txBox="1"/>
          <p:nvPr/>
        </p:nvSpPr>
        <p:spPr>
          <a:xfrm>
            <a:off x="1371600" y="13335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4800">
                <a:solidFill>
                  <a:srgbClr val="0A0915"/>
                </a:solidFill>
                <a:latin typeface="Inter"/>
                <a:ea typeface="Inter"/>
                <a:cs typeface="Inter"/>
                <a:sym typeface="Inter"/>
              </a:rPr>
              <a:t>Flujo de trabajo recomendado</a:t>
            </a:r>
            <a:endParaRPr b="1" i="0" sz="4800">
              <a:solidFill>
                <a:srgbClr val="0A0915"/>
              </a:solidFill>
              <a:latin typeface="Inter"/>
              <a:ea typeface="Inter"/>
              <a:cs typeface="Inter"/>
              <a:sym typeface="Inter"/>
            </a:endParaRPr>
          </a:p>
        </p:txBody>
      </p:sp>
      <p:grpSp>
        <p:nvGrpSpPr>
          <p:cNvPr id="186" name="Google Shape;186;p18"/>
          <p:cNvGrpSpPr/>
          <p:nvPr/>
        </p:nvGrpSpPr>
        <p:grpSpPr>
          <a:xfrm>
            <a:off x="1371600" y="3048000"/>
            <a:ext cx="4572000" cy="4000500"/>
            <a:chOff x="1371600" y="3048000"/>
            <a:chExt cx="4572000" cy="4000500"/>
          </a:xfrm>
        </p:grpSpPr>
        <p:sp>
          <p:nvSpPr>
            <p:cNvPr id="187" name="Google Shape;187;p18"/>
            <p:cNvSpPr/>
            <p:nvPr/>
          </p:nvSpPr>
          <p:spPr>
            <a:xfrm>
              <a:off x="1371600" y="3048000"/>
              <a:ext cx="4572000" cy="4000500"/>
            </a:xfrm>
            <a:prstGeom prst="roundRect">
              <a:avLst>
                <a:gd fmla="val 9523"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8"/>
            <p:cNvSpPr txBox="1"/>
            <p:nvPr/>
          </p:nvSpPr>
          <p:spPr>
            <a:xfrm>
              <a:off x="1752600" y="3429000"/>
              <a:ext cx="3810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A580C"/>
                  </a:solidFill>
                  <a:latin typeface="Material Icons"/>
                  <a:ea typeface="Material Icons"/>
                  <a:cs typeface="Material Icons"/>
                  <a:sym typeface="Material Icons"/>
                </a:rPr>
                <a:t></a:t>
              </a:r>
              <a:endParaRPr sz="4800">
                <a:solidFill>
                  <a:srgbClr val="EA580C"/>
                </a:solidFill>
                <a:latin typeface="Material Icons"/>
                <a:ea typeface="Material Icons"/>
                <a:cs typeface="Material Icons"/>
                <a:sym typeface="Material Icons"/>
              </a:endParaRPr>
            </a:p>
            <a:p>
              <a:pPr indent="0" lvl="0" marL="0" rtl="0" algn="l">
                <a:spcBef>
                  <a:spcPts val="1500"/>
                </a:spcBef>
                <a:spcAft>
                  <a:spcPts val="0"/>
                </a:spcAft>
                <a:buNone/>
              </a:pPr>
              <a:r>
                <a:rPr b="1" lang="en-US" sz="2800">
                  <a:solidFill>
                    <a:srgbClr val="0A0915"/>
                  </a:solidFill>
                  <a:latin typeface="Inter"/>
                  <a:ea typeface="Inter"/>
                  <a:cs typeface="Inter"/>
                  <a:sym typeface="Inter"/>
                </a:rPr>
                <a:t>1. Formulario y Etapas</a:t>
              </a:r>
              <a:endParaRPr b="1" sz="28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Es lo más visible para el ciudadano. Define la estructura principal y el flujo del proceso desde el inicio.</a:t>
              </a:r>
              <a:endParaRPr b="0" sz="1800">
                <a:solidFill>
                  <a:srgbClr val="4B5563"/>
                </a:solidFill>
                <a:latin typeface="Inter"/>
                <a:ea typeface="Inter"/>
                <a:cs typeface="Inter"/>
                <a:sym typeface="Inter"/>
              </a:endParaRPr>
            </a:p>
          </p:txBody>
        </p:sp>
      </p:grpSp>
      <p:grpSp>
        <p:nvGrpSpPr>
          <p:cNvPr id="189" name="Google Shape;189;p18"/>
          <p:cNvGrpSpPr/>
          <p:nvPr/>
        </p:nvGrpSpPr>
        <p:grpSpPr>
          <a:xfrm>
            <a:off x="6858000" y="3048000"/>
            <a:ext cx="4572000" cy="4000500"/>
            <a:chOff x="6858000" y="3048000"/>
            <a:chExt cx="4572000" cy="4000500"/>
          </a:xfrm>
        </p:grpSpPr>
        <p:sp>
          <p:nvSpPr>
            <p:cNvPr id="190" name="Google Shape;190;p18"/>
            <p:cNvSpPr/>
            <p:nvPr/>
          </p:nvSpPr>
          <p:spPr>
            <a:xfrm>
              <a:off x="6858000" y="3048000"/>
              <a:ext cx="4572000" cy="4000500"/>
            </a:xfrm>
            <a:prstGeom prst="roundRect">
              <a:avLst>
                <a:gd fmla="val 9523"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8"/>
            <p:cNvSpPr txBox="1"/>
            <p:nvPr/>
          </p:nvSpPr>
          <p:spPr>
            <a:xfrm>
              <a:off x="7239000" y="3429000"/>
              <a:ext cx="3810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A580C"/>
                  </a:solidFill>
                  <a:latin typeface="Material Icons"/>
                  <a:ea typeface="Material Icons"/>
                  <a:cs typeface="Material Icons"/>
                  <a:sym typeface="Material Icons"/>
                </a:rPr>
                <a:t></a:t>
              </a:r>
              <a:endParaRPr sz="4800">
                <a:solidFill>
                  <a:srgbClr val="EA580C"/>
                </a:solidFill>
                <a:latin typeface="Material Icons"/>
                <a:ea typeface="Material Icons"/>
                <a:cs typeface="Material Icons"/>
                <a:sym typeface="Material Icons"/>
              </a:endParaRPr>
            </a:p>
            <a:p>
              <a:pPr indent="0" lvl="0" marL="0" rtl="0" algn="l">
                <a:spcBef>
                  <a:spcPts val="1500"/>
                </a:spcBef>
                <a:spcAft>
                  <a:spcPts val="0"/>
                </a:spcAft>
                <a:buNone/>
              </a:pPr>
              <a:r>
                <a:rPr b="1" lang="en-US" sz="2800">
                  <a:solidFill>
                    <a:srgbClr val="0A0915"/>
                  </a:solidFill>
                  <a:latin typeface="Inter"/>
                  <a:ea typeface="Inter"/>
                  <a:cs typeface="Inter"/>
                  <a:sym typeface="Inter"/>
                </a:rPr>
                <a:t>2. Documento de Salida</a:t>
              </a:r>
              <a:endParaRPr b="1" sz="2800">
                <a:solidFill>
                  <a:srgbClr val="0A0915"/>
                </a:solidFill>
                <a:latin typeface="Inter"/>
                <a:ea typeface="Inter"/>
                <a:cs typeface="Inter"/>
                <a:sym typeface="Inter"/>
              </a:endParaRPr>
            </a:p>
            <a:p>
              <a:pPr indent="0" lvl="0" marL="0" rtl="0" algn="l">
                <a:spcBef>
                  <a:spcPts val="1125"/>
                </a:spcBef>
                <a:spcAft>
                  <a:spcPts val="0"/>
                </a:spcAft>
                <a:buNone/>
              </a:pPr>
              <a:r>
                <a:rPr b="0" lang="en-US" sz="1800">
                  <a:solidFill>
                    <a:srgbClr val="4B5563"/>
                  </a:solidFill>
                  <a:latin typeface="Inter"/>
                  <a:ea typeface="Inter"/>
                  <a:cs typeface="Inter"/>
                  <a:sym typeface="Inter"/>
                </a:rPr>
                <a:t>Se construye una vez que los datos están claros. Es el resultado final que recibirá el usuario.</a:t>
              </a:r>
              <a:endParaRPr b="0" sz="1800">
                <a:solidFill>
                  <a:srgbClr val="4B5563"/>
                </a:solidFill>
                <a:latin typeface="Inter"/>
                <a:ea typeface="Inter"/>
                <a:cs typeface="Inter"/>
                <a:sym typeface="Inter"/>
              </a:endParaRPr>
            </a:p>
          </p:txBody>
        </p:sp>
      </p:grpSp>
      <p:grpSp>
        <p:nvGrpSpPr>
          <p:cNvPr id="192" name="Google Shape;192;p18"/>
          <p:cNvGrpSpPr/>
          <p:nvPr/>
        </p:nvGrpSpPr>
        <p:grpSpPr>
          <a:xfrm>
            <a:off x="12344400" y="3048000"/>
            <a:ext cx="4572000" cy="4000500"/>
            <a:chOff x="12344400" y="3048000"/>
            <a:chExt cx="4572000" cy="4000500"/>
          </a:xfrm>
        </p:grpSpPr>
        <p:sp>
          <p:nvSpPr>
            <p:cNvPr id="193" name="Google Shape;193;p18"/>
            <p:cNvSpPr/>
            <p:nvPr/>
          </p:nvSpPr>
          <p:spPr>
            <a:xfrm>
              <a:off x="12344400" y="3048000"/>
              <a:ext cx="4572000" cy="4000500"/>
            </a:xfrm>
            <a:prstGeom prst="roundRect">
              <a:avLst>
                <a:gd fmla="val 9523"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8"/>
            <p:cNvSpPr txBox="1"/>
            <p:nvPr/>
          </p:nvSpPr>
          <p:spPr>
            <a:xfrm>
              <a:off x="12725400" y="3429000"/>
              <a:ext cx="3810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FFFFFF"/>
                  </a:solidFill>
                  <a:latin typeface="Material Icons"/>
                  <a:ea typeface="Material Icons"/>
                  <a:cs typeface="Material Icons"/>
                  <a:sym typeface="Material Icons"/>
                </a:rPr>
                <a:t></a:t>
              </a:r>
              <a:endParaRPr sz="4800">
                <a:solidFill>
                  <a:srgbClr val="FFFFFF"/>
                </a:solidFill>
                <a:latin typeface="Material Icons"/>
                <a:ea typeface="Material Icons"/>
                <a:cs typeface="Material Icons"/>
                <a:sym typeface="Material Icons"/>
              </a:endParaRPr>
            </a:p>
            <a:p>
              <a:pPr indent="0" lvl="0" marL="0" rtl="0" algn="l">
                <a:spcBef>
                  <a:spcPts val="1500"/>
                </a:spcBef>
                <a:spcAft>
                  <a:spcPts val="0"/>
                </a:spcAft>
                <a:buNone/>
              </a:pPr>
              <a:r>
                <a:rPr b="1" lang="en-US" sz="2800">
                  <a:solidFill>
                    <a:srgbClr val="FFFFFF"/>
                  </a:solidFill>
                  <a:latin typeface="Inter"/>
                  <a:ea typeface="Inter"/>
                  <a:cs typeface="Inter"/>
                  <a:sym typeface="Inter"/>
                </a:rPr>
                <a:t>3. Ficha y Configuración</a:t>
              </a:r>
              <a:endParaRPr b="1" sz="2800">
                <a:solidFill>
                  <a:srgbClr val="FFFFFF"/>
                </a:solidFill>
                <a:latin typeface="Inter"/>
                <a:ea typeface="Inter"/>
                <a:cs typeface="Inter"/>
                <a:sym typeface="Inter"/>
              </a:endParaRPr>
            </a:p>
            <a:p>
              <a:pPr indent="0" lvl="0" marL="0" rtl="0" algn="l">
                <a:spcBef>
                  <a:spcPts val="1125"/>
                </a:spcBef>
                <a:spcAft>
                  <a:spcPts val="0"/>
                </a:spcAft>
                <a:buNone/>
              </a:pPr>
              <a:r>
                <a:rPr b="0" lang="en-US" sz="1800">
                  <a:solidFill>
                    <a:srgbClr val="FFFFFF"/>
                  </a:solidFill>
                  <a:latin typeface="Inter"/>
                  <a:ea typeface="Inter"/>
                  <a:cs typeface="Inter"/>
                  <a:sym typeface="Inter"/>
                </a:rPr>
                <a:t>Ajustes finales de la ficha pública y reglas globales. Se realiza cuando el resto del sistema es estable.</a:t>
              </a:r>
              <a:endParaRPr b="0" sz="1800">
                <a:solidFill>
                  <a:srgbClr val="FFFFFF"/>
                </a:solidFill>
                <a:latin typeface="Inter"/>
                <a:ea typeface="Inter"/>
                <a:cs typeface="Inter"/>
                <a:sym typeface="Inter"/>
              </a:endParaRPr>
            </a:p>
          </p:txBody>
        </p:sp>
      </p:grpSp>
      <p:sp>
        <p:nvSpPr>
          <p:cNvPr id="195" name="Google Shape;195;p18"/>
          <p:cNvSpPr txBox="1"/>
          <p:nvPr/>
        </p:nvSpPr>
        <p:spPr>
          <a:xfrm>
            <a:off x="1371600" y="8191500"/>
            <a:ext cx="15544800" cy="369300"/>
          </a:xfrm>
          <a:prstGeom prst="rect">
            <a:avLst/>
          </a:prstGeom>
          <a:solidFill>
            <a:srgbClr val="FFF7ED"/>
          </a:solidFill>
          <a:ln cap="flat" cmpd="sng" w="9525">
            <a:solidFill>
              <a:srgbClr val="FDBA74"/>
            </a:solidFill>
            <a:prstDash val="solid"/>
            <a:round/>
            <a:headEnd len="sm" w="sm" type="none"/>
            <a:tailEnd len="sm" w="sm" type="none"/>
          </a:ln>
        </p:spPr>
        <p:txBody>
          <a:bodyPr anchorCtr="0" anchor="ctr" bIns="0" lIns="0" spcFirstLastPara="1" rIns="0" wrap="square" tIns="0">
            <a:spAutoFit/>
          </a:bodyPr>
          <a:lstStyle/>
          <a:p>
            <a:pPr indent="0" lvl="0" marL="0" rtl="0" algn="ctr">
              <a:spcBef>
                <a:spcPts val="0"/>
              </a:spcBef>
              <a:spcAft>
                <a:spcPts val="0"/>
              </a:spcAft>
              <a:buNone/>
            </a:pPr>
            <a:r>
              <a:rPr b="0" i="0" lang="en-US" sz="2400">
                <a:solidFill>
                  <a:srgbClr val="9A3412"/>
                </a:solidFill>
                <a:latin typeface="Inter SemiBold"/>
                <a:ea typeface="Inter SemiBold"/>
                <a:cs typeface="Inter SemiBold"/>
                <a:sym typeface="Inter SemiBold"/>
              </a:rPr>
              <a:t>Construye sobre una </a:t>
            </a:r>
            <a:r>
              <a:rPr b="1" i="0" lang="en-US" sz="2400">
                <a:solidFill>
                  <a:srgbClr val="EA580C"/>
                </a:solidFill>
                <a:latin typeface="Inter"/>
                <a:ea typeface="Inter"/>
                <a:cs typeface="Inter"/>
                <a:sym typeface="Inter"/>
              </a:rPr>
              <a:t>base sólida</a:t>
            </a:r>
            <a:r>
              <a:rPr b="0" i="0" lang="en-US" sz="2400">
                <a:solidFill>
                  <a:srgbClr val="9A3412"/>
                </a:solidFill>
                <a:latin typeface="Inter SemiBold"/>
                <a:ea typeface="Inter SemiBold"/>
                <a:cs typeface="Inter SemiBold"/>
                <a:sym typeface="Inter SemiBold"/>
              </a:rPr>
              <a:t> antes de definir los detalles finales.</a:t>
            </a:r>
            <a:endParaRPr b="0" i="0" sz="2400">
              <a:solidFill>
                <a:srgbClr val="9A3412"/>
              </a:solidFill>
              <a:latin typeface="Inter SemiBold"/>
              <a:ea typeface="Inter SemiBold"/>
              <a:cs typeface="Inter SemiBold"/>
              <a:sym typeface="Inter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9"/>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9"/>
          <p:cNvSpPr txBox="1"/>
          <p:nvPr/>
        </p:nvSpPr>
        <p:spPr>
          <a:xfrm>
            <a:off x="1371600" y="762000"/>
            <a:ext cx="155448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2000">
                <a:solidFill>
                  <a:srgbClr val="EA580C"/>
                </a:solidFill>
                <a:latin typeface="Inter"/>
                <a:ea typeface="Inter"/>
                <a:cs typeface="Inter"/>
                <a:sym typeface="Inter"/>
              </a:rPr>
              <a:t>Antes del testing</a:t>
            </a:r>
            <a:endParaRPr b="1" i="0" sz="2000">
              <a:solidFill>
                <a:srgbClr val="EA580C"/>
              </a:solidFill>
              <a:latin typeface="Inter"/>
              <a:ea typeface="Inter"/>
              <a:cs typeface="Inter"/>
              <a:sym typeface="Inter"/>
            </a:endParaRPr>
          </a:p>
        </p:txBody>
      </p:sp>
      <p:sp>
        <p:nvSpPr>
          <p:cNvPr id="203" name="Google Shape;203;p19"/>
          <p:cNvSpPr txBox="1"/>
          <p:nvPr/>
        </p:nvSpPr>
        <p:spPr>
          <a:xfrm>
            <a:off x="1371600" y="13335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1" i="0" lang="en-US" sz="4800">
                <a:solidFill>
                  <a:srgbClr val="0A0915"/>
                </a:solidFill>
                <a:latin typeface="Inter"/>
                <a:ea typeface="Inter"/>
                <a:cs typeface="Inter"/>
                <a:sym typeface="Inter"/>
              </a:rPr>
              <a:t>Aplica la imagen institucional</a:t>
            </a:r>
            <a:endParaRPr b="1" i="0" sz="4800">
              <a:solidFill>
                <a:srgbClr val="0A0915"/>
              </a:solidFill>
              <a:latin typeface="Inter"/>
              <a:ea typeface="Inter"/>
              <a:cs typeface="Inter"/>
              <a:sym typeface="Inter"/>
            </a:endParaRPr>
          </a:p>
        </p:txBody>
      </p:sp>
      <p:grpSp>
        <p:nvGrpSpPr>
          <p:cNvPr id="204" name="Google Shape;204;p19"/>
          <p:cNvGrpSpPr/>
          <p:nvPr/>
        </p:nvGrpSpPr>
        <p:grpSpPr>
          <a:xfrm>
            <a:off x="1371600" y="2667000"/>
            <a:ext cx="15544800" cy="4953000"/>
            <a:chOff x="1371600" y="2667000"/>
            <a:chExt cx="15544800" cy="4953000"/>
          </a:xfrm>
        </p:grpSpPr>
        <p:sp>
          <p:nvSpPr>
            <p:cNvPr id="205" name="Google Shape;205;p19"/>
            <p:cNvSpPr/>
            <p:nvPr/>
          </p:nvSpPr>
          <p:spPr>
            <a:xfrm>
              <a:off x="1371600" y="2667000"/>
              <a:ext cx="7239000" cy="4953000"/>
            </a:xfrm>
            <a:prstGeom prst="roundRect">
              <a:avLst>
                <a:gd fmla="val 7692" name="adj"/>
              </a:avLst>
            </a:prstGeom>
            <a:solidFill>
              <a:srgbClr val="F8F9FA"/>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9"/>
            <p:cNvSpPr txBox="1"/>
            <p:nvPr/>
          </p:nvSpPr>
          <p:spPr>
            <a:xfrm>
              <a:off x="1752600" y="3048000"/>
              <a:ext cx="64770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EA580C"/>
                  </a:solidFill>
                  <a:latin typeface="Material Icons"/>
                  <a:ea typeface="Material Icons"/>
                  <a:cs typeface="Material Icons"/>
                  <a:sym typeface="Material Icons"/>
                </a:rPr>
                <a:t></a:t>
              </a:r>
              <a:endParaRPr sz="4800">
                <a:solidFill>
                  <a:srgbClr val="EA580C"/>
                </a:solidFill>
                <a:latin typeface="Material Icons"/>
                <a:ea typeface="Material Icons"/>
                <a:cs typeface="Material Icons"/>
                <a:sym typeface="Material Icons"/>
              </a:endParaRPr>
            </a:p>
            <a:p>
              <a:pPr indent="0" lvl="0" marL="0" rtl="0" algn="l">
                <a:spcBef>
                  <a:spcPts val="1500"/>
                </a:spcBef>
                <a:spcAft>
                  <a:spcPts val="0"/>
                </a:spcAft>
                <a:buNone/>
              </a:pPr>
              <a:r>
                <a:rPr b="1" lang="en-US" sz="3200">
                  <a:solidFill>
                    <a:srgbClr val="0A0915"/>
                  </a:solidFill>
                  <a:latin typeface="Inter"/>
                  <a:ea typeface="Inter"/>
                  <a:cs typeface="Inter"/>
                  <a:sym typeface="Inter"/>
                </a:rPr>
                <a:t>Elementos Clave</a:t>
              </a:r>
              <a:endParaRPr b="1" sz="3200">
                <a:solidFill>
                  <a:srgbClr val="0A0915"/>
                </a:solidFill>
                <a:latin typeface="Inter"/>
                <a:ea typeface="Inter"/>
                <a:cs typeface="Inter"/>
                <a:sym typeface="Inter"/>
              </a:endParaRPr>
            </a:p>
            <a:p>
              <a:pPr indent="-381000" lvl="0" marL="457200" rtl="0" algn="l">
                <a:spcBef>
                  <a:spcPts val="1500"/>
                </a:spcBef>
                <a:spcAft>
                  <a:spcPts val="0"/>
                </a:spcAft>
                <a:buClr>
                  <a:srgbClr val="4B5563"/>
                </a:buClr>
                <a:buSzPts val="2400"/>
                <a:buFont typeface="Inter"/>
                <a:buChar char="●"/>
              </a:pPr>
              <a:r>
                <a:rPr lang="en-US" sz="2400">
                  <a:solidFill>
                    <a:srgbClr val="4B5563"/>
                  </a:solidFill>
                  <a:latin typeface="Inter"/>
                  <a:ea typeface="Inter"/>
                  <a:cs typeface="Inter"/>
                  <a:sym typeface="Inter"/>
                </a:rPr>
                <a:t>Logo institucional</a:t>
              </a:r>
              <a:endParaRPr sz="2400">
                <a:solidFill>
                  <a:srgbClr val="4B5563"/>
                </a:solidFill>
                <a:latin typeface="Inter"/>
                <a:ea typeface="Inter"/>
                <a:cs typeface="Inter"/>
                <a:sym typeface="Inter"/>
              </a:endParaRPr>
            </a:p>
            <a:p>
              <a:pPr indent="-381000" lvl="0" marL="457200" rtl="0" algn="l">
                <a:spcBef>
                  <a:spcPts val="1125"/>
                </a:spcBef>
                <a:spcAft>
                  <a:spcPts val="0"/>
                </a:spcAft>
                <a:buClr>
                  <a:srgbClr val="4B5563"/>
                </a:buClr>
                <a:buSzPts val="2400"/>
                <a:buFont typeface="Inter"/>
                <a:buChar char="●"/>
              </a:pPr>
              <a:r>
                <a:rPr lang="en-US" sz="2400">
                  <a:solidFill>
                    <a:srgbClr val="4B5563"/>
                  </a:solidFill>
                  <a:latin typeface="Inter"/>
                  <a:ea typeface="Inter"/>
                  <a:cs typeface="Inter"/>
                  <a:sym typeface="Inter"/>
                </a:rPr>
                <a:t>Colores del gobierno</a:t>
              </a:r>
              <a:endParaRPr sz="2400">
                <a:solidFill>
                  <a:srgbClr val="4B5563"/>
                </a:solidFill>
                <a:latin typeface="Inter"/>
                <a:ea typeface="Inter"/>
                <a:cs typeface="Inter"/>
                <a:sym typeface="Inter"/>
              </a:endParaRPr>
            </a:p>
            <a:p>
              <a:pPr indent="-381000" lvl="0" marL="457200" rtl="0" algn="l">
                <a:spcBef>
                  <a:spcPts val="1125"/>
                </a:spcBef>
                <a:spcAft>
                  <a:spcPts val="0"/>
                </a:spcAft>
                <a:buClr>
                  <a:srgbClr val="4B5563"/>
                </a:buClr>
                <a:buSzPts val="2400"/>
                <a:buFont typeface="Inter"/>
                <a:buChar char="●"/>
              </a:pPr>
              <a:r>
                <a:rPr lang="en-US" sz="2400">
                  <a:solidFill>
                    <a:srgbClr val="4B5563"/>
                  </a:solidFill>
                  <a:latin typeface="Inter"/>
                  <a:ea typeface="Inter"/>
                  <a:cs typeface="Inter"/>
                  <a:sym typeface="Inter"/>
                </a:rPr>
                <a:t>Secciones del home</a:t>
              </a:r>
              <a:endParaRPr sz="2400">
                <a:solidFill>
                  <a:srgbClr val="4B5563"/>
                </a:solidFill>
                <a:latin typeface="Inter"/>
                <a:ea typeface="Inter"/>
                <a:cs typeface="Inter"/>
                <a:sym typeface="Inter"/>
              </a:endParaRPr>
            </a:p>
            <a:p>
              <a:pPr indent="-381000" lvl="0" marL="457200" rtl="0" algn="l">
                <a:spcBef>
                  <a:spcPts val="1125"/>
                </a:spcBef>
                <a:spcAft>
                  <a:spcPts val="0"/>
                </a:spcAft>
                <a:buClr>
                  <a:srgbClr val="4B5563"/>
                </a:buClr>
                <a:buSzPts val="2400"/>
                <a:buFont typeface="Inter"/>
                <a:buChar char="●"/>
              </a:pPr>
              <a:r>
                <a:rPr lang="en-US" sz="2400">
                  <a:solidFill>
                    <a:srgbClr val="4B5563"/>
                  </a:solidFill>
                  <a:latin typeface="Inter"/>
                  <a:ea typeface="Inter"/>
                  <a:cs typeface="Inter"/>
                  <a:sym typeface="Inter"/>
                </a:rPr>
                <a:t>Dominio propio</a:t>
              </a:r>
              <a:endParaRPr sz="2400">
                <a:solidFill>
                  <a:srgbClr val="4B5563"/>
                </a:solidFill>
                <a:latin typeface="Inter"/>
                <a:ea typeface="Inter"/>
                <a:cs typeface="Inter"/>
                <a:sym typeface="Inter"/>
              </a:endParaRPr>
            </a:p>
          </p:txBody>
        </p:sp>
        <p:sp>
          <p:nvSpPr>
            <p:cNvPr id="207" name="Google Shape;207;p19"/>
            <p:cNvSpPr/>
            <p:nvPr/>
          </p:nvSpPr>
          <p:spPr>
            <a:xfrm>
              <a:off x="9677400" y="2667000"/>
              <a:ext cx="7239000" cy="4953000"/>
            </a:xfrm>
            <a:prstGeom prst="roundRect">
              <a:avLst>
                <a:gd fmla="val 7692" name="adj"/>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9"/>
            <p:cNvSpPr txBox="1"/>
            <p:nvPr/>
          </p:nvSpPr>
          <p:spPr>
            <a:xfrm>
              <a:off x="10058400" y="3048000"/>
              <a:ext cx="6477000" cy="419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800">
                  <a:solidFill>
                    <a:srgbClr val="FFFFFF"/>
                  </a:solidFill>
                  <a:latin typeface="Material Icons"/>
                  <a:ea typeface="Material Icons"/>
                  <a:cs typeface="Material Icons"/>
                  <a:sym typeface="Material Icons"/>
                </a:rPr>
                <a:t></a:t>
              </a:r>
              <a:endParaRPr sz="4800">
                <a:solidFill>
                  <a:srgbClr val="FFFFFF"/>
                </a:solidFill>
                <a:latin typeface="Material Icons"/>
                <a:ea typeface="Material Icons"/>
                <a:cs typeface="Material Icons"/>
                <a:sym typeface="Material Icons"/>
              </a:endParaRPr>
            </a:p>
            <a:p>
              <a:pPr indent="0" lvl="0" marL="0" rtl="0" algn="l">
                <a:spcBef>
                  <a:spcPts val="1500"/>
                </a:spcBef>
                <a:spcAft>
                  <a:spcPts val="0"/>
                </a:spcAft>
                <a:buNone/>
              </a:pPr>
              <a:r>
                <a:rPr b="1" lang="en-US" sz="3200">
                  <a:solidFill>
                    <a:srgbClr val="FFFFFF"/>
                  </a:solidFill>
                  <a:latin typeface="Inter"/>
                  <a:ea typeface="Inter"/>
                  <a:cs typeface="Inter"/>
                  <a:sym typeface="Inter"/>
                </a:rPr>
                <a:t>¡No lo postergues!</a:t>
              </a:r>
              <a:endParaRPr b="1" sz="3200">
                <a:solidFill>
                  <a:srgbClr val="FFFFFF"/>
                </a:solidFill>
                <a:latin typeface="Inter"/>
                <a:ea typeface="Inter"/>
                <a:cs typeface="Inter"/>
                <a:sym typeface="Inter"/>
              </a:endParaRPr>
            </a:p>
            <a:p>
              <a:pPr indent="0" lvl="0" marL="0" rtl="0" algn="l">
                <a:spcBef>
                  <a:spcPts val="1500"/>
                </a:spcBef>
                <a:spcAft>
                  <a:spcPts val="0"/>
                </a:spcAft>
                <a:buNone/>
              </a:pPr>
              <a:r>
                <a:rPr b="0" lang="en-US" sz="2400">
                  <a:solidFill>
                    <a:srgbClr val="FFFFFF"/>
                  </a:solidFill>
                  <a:latin typeface="Inter"/>
                  <a:ea typeface="Inter"/>
                  <a:cs typeface="Inter"/>
                  <a:sym typeface="Inter"/>
                </a:rPr>
                <a:t>Si lo dejas para el final, te vas a comer la urgencia de Fase D haciéndolo.</a:t>
              </a:r>
              <a:endParaRPr b="0" sz="2400">
                <a:solidFill>
                  <a:srgbClr val="FFFFFF"/>
                </a:solidFill>
                <a:latin typeface="Inter"/>
                <a:ea typeface="Inter"/>
                <a:cs typeface="Inter"/>
                <a:sym typeface="Inter"/>
              </a:endParaRPr>
            </a:p>
            <a:p>
              <a:pPr indent="0" lvl="0" marL="0" rtl="0" algn="l">
                <a:spcBef>
                  <a:spcPts val="1500"/>
                </a:spcBef>
                <a:spcAft>
                  <a:spcPts val="0"/>
                </a:spcAft>
                <a:buNone/>
              </a:pPr>
              <a:r>
                <a:rPr b="1" lang="en-US" sz="2000">
                  <a:solidFill>
                    <a:srgbClr val="FFFFFF"/>
                  </a:solidFill>
                  <a:latin typeface="Inter"/>
                  <a:ea typeface="Inter"/>
                  <a:cs typeface="Inter"/>
                  <a:sym typeface="Inter"/>
                </a:rPr>
                <a:t>Consulta el KB de apariencia para la guía completa.</a:t>
              </a:r>
              <a:endParaRPr b="1" sz="2000">
                <a:solidFill>
                  <a:srgbClr val="FFFFFF"/>
                </a:solidFill>
                <a:latin typeface="Inter"/>
                <a:ea typeface="Inter"/>
                <a:cs typeface="Inter"/>
                <a:sym typeface="Inter"/>
              </a:endParaRPr>
            </a:p>
          </p:txBody>
        </p:sp>
      </p:grpSp>
      <p:grpSp>
        <p:nvGrpSpPr>
          <p:cNvPr id="209" name="Google Shape;209;p19"/>
          <p:cNvGrpSpPr/>
          <p:nvPr/>
        </p:nvGrpSpPr>
        <p:grpSpPr>
          <a:xfrm>
            <a:off x="1371600" y="8191500"/>
            <a:ext cx="15544800" cy="1143000"/>
            <a:chOff x="1371600" y="8191500"/>
            <a:chExt cx="15544800" cy="1143000"/>
          </a:xfrm>
        </p:grpSpPr>
        <p:sp>
          <p:nvSpPr>
            <p:cNvPr id="210" name="Google Shape;210;p19"/>
            <p:cNvSpPr/>
            <p:nvPr/>
          </p:nvSpPr>
          <p:spPr>
            <a:xfrm>
              <a:off x="1371600" y="8191500"/>
              <a:ext cx="15544800" cy="1143000"/>
            </a:xfrm>
            <a:prstGeom prst="roundRect">
              <a:avLst>
                <a:gd fmla="val 16666" name="adj"/>
              </a:avLst>
            </a:prstGeom>
            <a:solidFill>
              <a:srgbClr val="FFF7ED"/>
            </a:solidFill>
            <a:ln cap="flat" cmpd="sng" w="9525">
              <a:solidFill>
                <a:srgbClr val="FDBA7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9"/>
            <p:cNvSpPr txBox="1"/>
            <p:nvPr/>
          </p:nvSpPr>
          <p:spPr>
            <a:xfrm>
              <a:off x="1752600" y="8191500"/>
              <a:ext cx="14782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400">
                  <a:solidFill>
                    <a:srgbClr val="9A3412"/>
                  </a:solidFill>
                  <a:latin typeface="Inter SemiBold"/>
                  <a:ea typeface="Inter SemiBold"/>
                  <a:cs typeface="Inter SemiBold"/>
                  <a:sym typeface="Inter SemiBold"/>
                </a:rPr>
                <a:t>La identidad visual genera </a:t>
              </a:r>
              <a:r>
                <a:rPr b="1" lang="en-US" sz="2400">
                  <a:solidFill>
                    <a:srgbClr val="EA580C"/>
                  </a:solidFill>
                  <a:latin typeface="Inter"/>
                  <a:ea typeface="Inter"/>
                  <a:cs typeface="Inter"/>
                  <a:sym typeface="Inter"/>
                </a:rPr>
                <a:t>confianza y legitimidad</a:t>
              </a:r>
              <a:r>
                <a:rPr b="0" lang="en-US" sz="2400">
                  <a:solidFill>
                    <a:srgbClr val="9A3412"/>
                  </a:solidFill>
                  <a:latin typeface="Inter SemiBold"/>
                  <a:ea typeface="Inter SemiBold"/>
                  <a:cs typeface="Inter SemiBold"/>
                  <a:sym typeface="Inter SemiBold"/>
                </a:rPr>
                <a:t> ante el ciudadano.</a:t>
              </a:r>
              <a:endParaRPr b="0" sz="2400">
                <a:solidFill>
                  <a:srgbClr val="9A3412"/>
                </a:solidFill>
                <a:latin typeface="Inter SemiBold"/>
                <a:ea typeface="Inter SemiBold"/>
                <a:cs typeface="Inter SemiBold"/>
                <a:sym typeface="Inter SemiBold"/>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p:nvPr/>
        </p:nvSpPr>
        <p:spPr>
          <a:xfrm>
            <a:off x="0" y="0"/>
            <a:ext cx="18288000" cy="10287000"/>
          </a:xfrm>
          <a:prstGeom prst="rect">
            <a:avLst/>
          </a:prstGeom>
          <a:solidFill>
            <a:srgbClr val="EA580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0"/>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El </a:t>
            </a:r>
            <a:r>
              <a:rPr lang="en-US" sz="4200">
                <a:solidFill>
                  <a:srgbClr val="FFFFFF"/>
                </a:solidFill>
                <a:latin typeface="Inter"/>
                <a:ea typeface="Inter"/>
                <a:cs typeface="Inter"/>
                <a:sym typeface="Inter"/>
              </a:rPr>
              <a:t>trámite</a:t>
            </a:r>
            <a:r>
              <a:rPr b="0" i="0" lang="en-US" sz="4200" u="none" cap="none" strike="noStrike">
                <a:solidFill>
                  <a:srgbClr val="FFFFFF"/>
                </a:solidFill>
                <a:latin typeface="Inter"/>
                <a:ea typeface="Inter"/>
                <a:cs typeface="Inter"/>
                <a:sym typeface="Inter"/>
              </a:rPr>
              <a:t> no termina en el formulario</a:t>
            </a:r>
            <a:endParaRPr/>
          </a:p>
        </p:txBody>
      </p:sp>
      <p:sp>
        <p:nvSpPr>
          <p:cNvPr id="219" name="Google Shape;219;p20"/>
          <p:cNvSpPr txBox="1"/>
          <p:nvPr/>
        </p:nvSpPr>
        <p:spPr>
          <a:xfrm>
            <a:off x="1371600" y="4000505"/>
            <a:ext cx="15544800" cy="25212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Termina cuando el ciudadano recibe su documento</a:t>
            </a:r>
            <a:endParaRPr/>
          </a:p>
        </p:txBody>
      </p:sp>
      <p:sp>
        <p:nvSpPr>
          <p:cNvPr id="220" name="Google Shape;220;p20"/>
          <p:cNvSpPr txBox="1"/>
          <p:nvPr/>
        </p:nvSpPr>
        <p:spPr>
          <a:xfrm>
            <a:off x="1371600" y="6918600"/>
            <a:ext cx="15544800" cy="4617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y entiende que paso en cada paso.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