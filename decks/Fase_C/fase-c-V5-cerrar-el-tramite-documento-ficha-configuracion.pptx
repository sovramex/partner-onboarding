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estimada: 11.2s · 28 palabras]</a:t>
            </a:r>
          </a:p>
          <a:p/>
          <a:p>
            <a:r>
              <a:t>Hay tres piezas que cierran el modelado de cada tramite. Sin ellas, lo que tienes es un formulario lindo que no se conecta con el resto del mundo.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estimada: 27.6s · 69 palabras]</a:t>
            </a:r>
          </a:p>
          <a:p/>
          <a:p>
            <a:r>
              <a:t>La primera es el documento de salida. Es el archivo que recibe el ciudadano cuando el tramite se aprueba: el certificado, el permiso, la habilitacion, la constancia. La segunda es la ficha del tramite. Es la pagina publica que el ciudadano ve en la guia antes de iniciar la solicitud. La tercera es la configuracion general del tramite. Aca entran las reglas globales que se aplican al tramite completo.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estimada: 28.8s · 72 palabras]</a:t>
            </a:r>
          </a:p>
          <a:p/>
          <a:p>
            <a:r>
              <a:t>El documento de salida se arma con un editor visual donde combinas elementos de diseno, como el escudo y el encabezado institucional, con variables del tramite, como el nombre del ciudadano, el numero de expediente, la fecha y los datos del formulario. La regla es que cada dato que aparece en el documento ya tiene que estar capturado en el formulario o en alguna etapa. Si no, no hay de donde sacarlo.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estimada: 19.6s · 49 palabras]</a:t>
            </a:r>
          </a:p>
          <a:p/>
          <a:p>
            <a:r>
              <a:t>La ficha le explica al ciudadano que es el tramite, que necesita, cuanto cuesta si corresponde y cuanto tarda en resolverse. La ficha no es decoracion. Es la primera linea de soporte. Una ficha bien escrita evita la mitad de las llamadas al area. Una ficha pobre las multiplica.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estimada: 22.0s · 55 palabras]</a:t>
            </a:r>
          </a:p>
          <a:p/>
          <a:p>
            <a:r>
              <a:t>En la configuracion general entran las reglas globales que se aplican al tramite completo: si esta visible o sigue oculto, si depende de que otro tramite este resuelto primero, que identificador interno tiene, que firmas necesita y cual es su vigencia. Son decisiones que parecen menores pero definen como se comporta el tramite en produccion.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estimada: 18.4s · 46 palabras]</a:t>
            </a:r>
          </a:p>
          <a:p/>
          <a:p>
            <a:r>
              <a:t>Una sugerencia de orden. Modela formulario y etapas primero, porque son lo mas visible. Despues arma el documento de salida, porque ya tienes claros los datos que vas a usar. Recien al final ajustas la ficha publica y la configuracion general, cuando el resto esta estable.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estimada: 23.2s · 58 palabras]</a:t>
            </a:r>
          </a:p>
          <a:p/>
          <a:p>
            <a:r>
              <a:t>Y antes de pasar al testing, aplica la imagen institucional. Logo, colores del gobierno, secciones del home, dominio propio. El KB de apariencia tiene la guia completa, con todas las secciones de tema y de pagina de inicio que se pueden personalizar. Si lo dejas para el final, te vas a comer la urgencia de Fase D haciendolo.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estimada: 11.2s · 28 palabras]</a:t>
            </a:r>
          </a:p>
          <a:p/>
          <a:p>
            <a:r>
              <a:t>El tramite no termina en el formulario. Termina cuando el ciudadano puede entrar por la guia publica, completar, recibir su documento y entender que paso en cada paso.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228600"/>
          </a:xfrm>
          <a:prstGeom prst="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3200400"/>
            <a:ext cx="15544800" cy="548640"/>
          </a:xfrm>
          <a:prstGeom prst="rect">
            <a:avLst/>
          </a:prstGeom>
          <a:noFill/>
        </p:spPr>
        <p:txBody>
          <a:bodyPr wrap="square" anchor="t" lIns="0" rIns="0" tIns="0" bIns="0">
            <a:spAutoFit/>
          </a:bodyPr>
          <a:lstStyle/>
          <a:p>
            <a:pPr algn="l">
              <a:lnSpc>
                <a:spcPct val="115000"/>
              </a:lnSpc>
            </a:pPr>
            <a:r>
              <a:rPr sz="1800" b="1" i="0">
                <a:solidFill>
                  <a:srgbClr val="EA580C"/>
                </a:solidFill>
                <a:latin typeface="Figtree"/>
              </a:rPr>
              <a:t>FASE C</a:t>
            </a:r>
          </a:p>
        </p:txBody>
      </p:sp>
      <p:sp>
        <p:nvSpPr>
          <p:cNvPr id="4" name="TextBox 3"/>
          <p:cNvSpPr txBox="1"/>
          <p:nvPr/>
        </p:nvSpPr>
        <p:spPr>
          <a:xfrm>
            <a:off x="1371600" y="3840480"/>
            <a:ext cx="15544800" cy="3657600"/>
          </a:xfrm>
          <a:prstGeom prst="rect">
            <a:avLst/>
          </a:prstGeom>
          <a:noFill/>
        </p:spPr>
        <p:txBody>
          <a:bodyPr wrap="square" anchor="t" lIns="0" rIns="0" tIns="0" bIns="0">
            <a:spAutoFit/>
          </a:bodyPr>
          <a:lstStyle/>
          <a:p>
            <a:pPr algn="l">
              <a:lnSpc>
                <a:spcPct val="110000"/>
              </a:lnSpc>
            </a:pPr>
            <a:r>
              <a:rPr sz="8000" b="1" i="0">
                <a:solidFill>
                  <a:srgbClr val="0A0915"/>
                </a:solidFill>
                <a:latin typeface="Plus Jakarta Sans"/>
              </a:rPr>
              <a:t>Cerrar el tramite.</a:t>
            </a:r>
          </a:p>
        </p:txBody>
      </p:sp>
      <p:sp>
        <p:nvSpPr>
          <p:cNvPr id="5" name="TextBox 4"/>
          <p:cNvSpPr txBox="1"/>
          <p:nvPr/>
        </p:nvSpPr>
        <p:spPr>
          <a:xfrm>
            <a:off x="1371600" y="7772400"/>
            <a:ext cx="15544800" cy="1371600"/>
          </a:xfrm>
          <a:prstGeom prst="rect">
            <a:avLst/>
          </a:prstGeom>
          <a:noFill/>
        </p:spPr>
        <p:txBody>
          <a:bodyPr wrap="square" anchor="t" lIns="0" rIns="0" tIns="0" bIns="0">
            <a:spAutoFit/>
          </a:bodyPr>
          <a:lstStyle/>
          <a:p>
            <a:pPr algn="l">
              <a:lnSpc>
                <a:spcPct val="130000"/>
              </a:lnSpc>
            </a:pPr>
            <a:r>
              <a:rPr sz="2200" b="0" i="0">
                <a:solidFill>
                  <a:srgbClr val="888888"/>
                </a:solidFill>
                <a:latin typeface="Figtree"/>
              </a:rPr>
              <a:t>Documento de salida, ficha publica y configuracion general.</a:t>
            </a:r>
          </a:p>
        </p:txBody>
      </p:sp>
      <p:sp>
        <p:nvSpPr>
          <p:cNvPr id="6" name="TextBox 5"/>
          <p:cNvSpPr txBox="1"/>
          <p:nvPr/>
        </p:nvSpPr>
        <p:spPr>
          <a:xfrm>
            <a:off x="13716000" y="9829800"/>
            <a:ext cx="4389120" cy="365760"/>
          </a:xfrm>
          <a:prstGeom prst="rect">
            <a:avLst/>
          </a:prstGeom>
          <a:noFill/>
        </p:spPr>
        <p:txBody>
          <a:bodyPr wrap="none">
            <a:spAutoFit/>
          </a:bodyPr>
          <a:lstStyle/>
          <a:p>
            <a:pPr algn="r"/>
            <a:r>
              <a:rPr sz="1000">
                <a:solidFill>
                  <a:srgbClr val="888888"/>
                </a:solidFill>
                <a:latin typeface="Figtree"/>
              </a:rPr>
              <a:t>Sovra Partners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0" y="1097280"/>
            <a:ext cx="15544800" cy="1371600"/>
          </a:xfrm>
          <a:prstGeom prst="rect">
            <a:avLst/>
          </a:prstGeom>
          <a:noFill/>
        </p:spPr>
        <p:txBody>
          <a:bodyPr wrap="square" anchor="t" lIns="0" rIns="0" tIns="0" bIns="0">
            <a:spAutoFit/>
          </a:bodyPr>
          <a:lstStyle/>
          <a:p>
            <a:pPr algn="ctr">
              <a:lnSpc>
                <a:spcPct val="115000"/>
              </a:lnSpc>
            </a:pPr>
            <a:r>
              <a:rPr sz="4400" b="1" i="0">
                <a:solidFill>
                  <a:srgbClr val="0A0915"/>
                </a:solidFill>
                <a:latin typeface="Plus Jakarta Sans"/>
              </a:rPr>
              <a:t>Tres piezas que cierran el modelado.</a:t>
            </a:r>
          </a:p>
        </p:txBody>
      </p:sp>
      <p:sp>
        <p:nvSpPr>
          <p:cNvPr id="3" name="TextBox 2"/>
          <p:cNvSpPr txBox="1"/>
          <p:nvPr/>
        </p:nvSpPr>
        <p:spPr>
          <a:xfrm>
            <a:off x="1371600" y="2560320"/>
            <a:ext cx="15544800" cy="731520"/>
          </a:xfrm>
          <a:prstGeom prst="rect">
            <a:avLst/>
          </a:prstGeom>
          <a:noFill/>
        </p:spPr>
        <p:txBody>
          <a:bodyPr wrap="square" anchor="t" lIns="0" rIns="0" tIns="0" bIns="0">
            <a:spAutoFit/>
          </a:bodyPr>
          <a:lstStyle/>
          <a:p>
            <a:pPr algn="ctr">
              <a:lnSpc>
                <a:spcPct val="115000"/>
              </a:lnSpc>
            </a:pPr>
            <a:r>
              <a:rPr sz="2200" b="0" i="0">
                <a:solidFill>
                  <a:srgbClr val="888888"/>
                </a:solidFill>
                <a:latin typeface="Figtree"/>
              </a:rPr>
              <a:t>Sin ellas, lo que tenes es un formulario lindo que no se conecta con el resto del mundo.</a:t>
            </a:r>
          </a:p>
        </p:txBody>
      </p:sp>
      <p:sp>
        <p:nvSpPr>
          <p:cNvPr id="4" name="Rounded Rectangle 3"/>
          <p:cNvSpPr/>
          <p:nvPr/>
        </p:nvSpPr>
        <p:spPr>
          <a:xfrm>
            <a:off x="1143000" y="4572000"/>
            <a:ext cx="5029200" cy="4572000"/>
          </a:xfrm>
          <a:prstGeom prst="roundRect">
            <a:avLst/>
          </a:prstGeom>
          <a:solidFill>
            <a:srgbClr val="FFFFFF"/>
          </a:solidFill>
          <a:ln w="19050">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143000" y="4572000"/>
            <a:ext cx="5029200" cy="137160"/>
          </a:xfrm>
          <a:prstGeom prst="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508760" y="5120640"/>
            <a:ext cx="4297680" cy="1097280"/>
          </a:xfrm>
          <a:prstGeom prst="rect">
            <a:avLst/>
          </a:prstGeom>
          <a:noFill/>
        </p:spPr>
        <p:txBody>
          <a:bodyPr wrap="square" anchor="t" lIns="0" rIns="0" tIns="0" bIns="0">
            <a:spAutoFit/>
          </a:bodyPr>
          <a:lstStyle/>
          <a:p>
            <a:pPr algn="l">
              <a:lnSpc>
                <a:spcPct val="115000"/>
              </a:lnSpc>
            </a:pPr>
            <a:r>
              <a:rPr sz="3000" b="1" i="0">
                <a:solidFill>
                  <a:srgbClr val="EA580C"/>
                </a:solidFill>
                <a:latin typeface="Plus Jakarta Sans"/>
              </a:rPr>
              <a:t>Documento de salida</a:t>
            </a:r>
          </a:p>
        </p:txBody>
      </p:sp>
      <p:sp>
        <p:nvSpPr>
          <p:cNvPr id="7" name="TextBox 6"/>
          <p:cNvSpPr txBox="1"/>
          <p:nvPr/>
        </p:nvSpPr>
        <p:spPr>
          <a:xfrm>
            <a:off x="1508760" y="6309360"/>
            <a:ext cx="4297680" cy="2743200"/>
          </a:xfrm>
          <a:prstGeom prst="rect">
            <a:avLst/>
          </a:prstGeom>
          <a:noFill/>
        </p:spPr>
        <p:txBody>
          <a:bodyPr wrap="square" anchor="t" lIns="0" rIns="0" tIns="0" bIns="0">
            <a:spAutoFit/>
          </a:bodyPr>
          <a:lstStyle/>
          <a:p>
            <a:pPr algn="l">
              <a:lnSpc>
                <a:spcPct val="140000"/>
              </a:lnSpc>
            </a:pPr>
            <a:r>
              <a:rPr sz="1800" b="0" i="0">
                <a:solidFill>
                  <a:srgbClr val="0A0915"/>
                </a:solidFill>
                <a:latin typeface="Figtree"/>
              </a:rPr>
              <a:t>El certificado, permiso, habilitacion o constancia que recibe el ciudadano cuando se aprueba.</a:t>
            </a:r>
          </a:p>
        </p:txBody>
      </p:sp>
      <p:sp>
        <p:nvSpPr>
          <p:cNvPr id="8" name="Rounded Rectangle 7"/>
          <p:cNvSpPr/>
          <p:nvPr/>
        </p:nvSpPr>
        <p:spPr>
          <a:xfrm>
            <a:off x="6629400" y="4572000"/>
            <a:ext cx="5029200" cy="4572000"/>
          </a:xfrm>
          <a:prstGeom prst="roundRect">
            <a:avLst/>
          </a:prstGeom>
          <a:solidFill>
            <a:srgbClr val="FFFFFF"/>
          </a:solidFill>
          <a:ln w="19050">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629400" y="4572000"/>
            <a:ext cx="5029200" cy="137160"/>
          </a:xfrm>
          <a:prstGeom prst="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995160" y="5120640"/>
            <a:ext cx="4297680" cy="1097280"/>
          </a:xfrm>
          <a:prstGeom prst="rect">
            <a:avLst/>
          </a:prstGeom>
          <a:noFill/>
        </p:spPr>
        <p:txBody>
          <a:bodyPr wrap="square" anchor="t" lIns="0" rIns="0" tIns="0" bIns="0">
            <a:spAutoFit/>
          </a:bodyPr>
          <a:lstStyle/>
          <a:p>
            <a:pPr algn="l">
              <a:lnSpc>
                <a:spcPct val="115000"/>
              </a:lnSpc>
            </a:pPr>
            <a:r>
              <a:rPr sz="3000" b="1" i="0">
                <a:solidFill>
                  <a:srgbClr val="EA580C"/>
                </a:solidFill>
                <a:latin typeface="Plus Jakarta Sans"/>
              </a:rPr>
              <a:t>Ficha del tramite</a:t>
            </a:r>
          </a:p>
        </p:txBody>
      </p:sp>
      <p:sp>
        <p:nvSpPr>
          <p:cNvPr id="11" name="TextBox 10"/>
          <p:cNvSpPr txBox="1"/>
          <p:nvPr/>
        </p:nvSpPr>
        <p:spPr>
          <a:xfrm>
            <a:off x="6995160" y="6309360"/>
            <a:ext cx="4297680" cy="2743200"/>
          </a:xfrm>
          <a:prstGeom prst="rect">
            <a:avLst/>
          </a:prstGeom>
          <a:noFill/>
        </p:spPr>
        <p:txBody>
          <a:bodyPr wrap="square" anchor="t" lIns="0" rIns="0" tIns="0" bIns="0">
            <a:spAutoFit/>
          </a:bodyPr>
          <a:lstStyle/>
          <a:p>
            <a:pPr algn="l">
              <a:lnSpc>
                <a:spcPct val="140000"/>
              </a:lnSpc>
            </a:pPr>
            <a:r>
              <a:rPr sz="1800" b="0" i="0">
                <a:solidFill>
                  <a:srgbClr val="0A0915"/>
                </a:solidFill>
                <a:latin typeface="Figtree"/>
              </a:rPr>
              <a:t>La pagina publica que el ciudadano ve en la guia antes de iniciar la solicitud.</a:t>
            </a:r>
          </a:p>
        </p:txBody>
      </p:sp>
      <p:sp>
        <p:nvSpPr>
          <p:cNvPr id="12" name="Rounded Rectangle 11"/>
          <p:cNvSpPr/>
          <p:nvPr/>
        </p:nvSpPr>
        <p:spPr>
          <a:xfrm>
            <a:off x="12115800" y="4572000"/>
            <a:ext cx="5029200" cy="4572000"/>
          </a:xfrm>
          <a:prstGeom prst="roundRect">
            <a:avLst/>
          </a:prstGeom>
          <a:solidFill>
            <a:srgbClr val="FFFFFF"/>
          </a:solidFill>
          <a:ln w="19050">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2115800" y="4572000"/>
            <a:ext cx="5029200" cy="137160"/>
          </a:xfrm>
          <a:prstGeom prst="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481560" y="5120640"/>
            <a:ext cx="4297680" cy="1097280"/>
          </a:xfrm>
          <a:prstGeom prst="rect">
            <a:avLst/>
          </a:prstGeom>
          <a:noFill/>
        </p:spPr>
        <p:txBody>
          <a:bodyPr wrap="square" anchor="t" lIns="0" rIns="0" tIns="0" bIns="0">
            <a:spAutoFit/>
          </a:bodyPr>
          <a:lstStyle/>
          <a:p>
            <a:pPr algn="l">
              <a:lnSpc>
                <a:spcPct val="115000"/>
              </a:lnSpc>
            </a:pPr>
            <a:r>
              <a:rPr sz="3000" b="1" i="0">
                <a:solidFill>
                  <a:srgbClr val="EA580C"/>
                </a:solidFill>
                <a:latin typeface="Plus Jakarta Sans"/>
              </a:rPr>
              <a:t>Configuracion general</a:t>
            </a:r>
          </a:p>
        </p:txBody>
      </p:sp>
      <p:sp>
        <p:nvSpPr>
          <p:cNvPr id="15" name="TextBox 14"/>
          <p:cNvSpPr txBox="1"/>
          <p:nvPr/>
        </p:nvSpPr>
        <p:spPr>
          <a:xfrm>
            <a:off x="12481560" y="6309360"/>
            <a:ext cx="4297680" cy="2743200"/>
          </a:xfrm>
          <a:prstGeom prst="rect">
            <a:avLst/>
          </a:prstGeom>
          <a:noFill/>
        </p:spPr>
        <p:txBody>
          <a:bodyPr wrap="square" anchor="t" lIns="0" rIns="0" tIns="0" bIns="0">
            <a:spAutoFit/>
          </a:bodyPr>
          <a:lstStyle/>
          <a:p>
            <a:pPr algn="l">
              <a:lnSpc>
                <a:spcPct val="140000"/>
              </a:lnSpc>
            </a:pPr>
            <a:r>
              <a:rPr sz="1800" b="0" i="0">
                <a:solidFill>
                  <a:srgbClr val="0A0915"/>
                </a:solidFill>
                <a:latin typeface="Figtree"/>
              </a:rPr>
              <a:t>Las reglas globales que se aplican al tramite completo.</a:t>
            </a:r>
          </a:p>
        </p:txBody>
      </p:sp>
      <p:sp>
        <p:nvSpPr>
          <p:cNvPr id="16" name="TextBox 15"/>
          <p:cNvSpPr txBox="1"/>
          <p:nvPr/>
        </p:nvSpPr>
        <p:spPr>
          <a:xfrm>
            <a:off x="13716000" y="9829800"/>
            <a:ext cx="4389120" cy="365760"/>
          </a:xfrm>
          <a:prstGeom prst="rect">
            <a:avLst/>
          </a:prstGeom>
          <a:noFill/>
        </p:spPr>
        <p:txBody>
          <a:bodyPr wrap="none">
            <a:spAutoFit/>
          </a:bodyPr>
          <a:lstStyle/>
          <a:p>
            <a:pPr algn="r"/>
            <a:r>
              <a:rPr sz="1000">
                <a:solidFill>
                  <a:srgbClr val="888888"/>
                </a:solidFill>
                <a:latin typeface="Figtree"/>
              </a:rPr>
              <a:t>Sovra Partners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0" y="2286000"/>
            <a:ext cx="15544800" cy="548640"/>
          </a:xfrm>
          <a:prstGeom prst="rect">
            <a:avLst/>
          </a:prstGeom>
          <a:noFill/>
        </p:spPr>
        <p:txBody>
          <a:bodyPr wrap="square" anchor="t" lIns="0" rIns="0" tIns="0" bIns="0">
            <a:spAutoFit/>
          </a:bodyPr>
          <a:lstStyle/>
          <a:p>
            <a:pPr algn="ctr">
              <a:lnSpc>
                <a:spcPct val="115000"/>
              </a:lnSpc>
            </a:pPr>
            <a:r>
              <a:rPr sz="2000" b="1" i="0">
                <a:solidFill>
                  <a:srgbClr val="EA580C"/>
                </a:solidFill>
                <a:latin typeface="Figtree"/>
              </a:rPr>
              <a:t>Documento de salida</a:t>
            </a:r>
          </a:p>
        </p:txBody>
      </p:sp>
      <p:sp>
        <p:nvSpPr>
          <p:cNvPr id="3" name="TextBox 2"/>
          <p:cNvSpPr txBox="1"/>
          <p:nvPr/>
        </p:nvSpPr>
        <p:spPr>
          <a:xfrm>
            <a:off x="1371600" y="3200400"/>
            <a:ext cx="15544800" cy="2743200"/>
          </a:xfrm>
          <a:prstGeom prst="rect">
            <a:avLst/>
          </a:prstGeom>
          <a:noFill/>
        </p:spPr>
        <p:txBody>
          <a:bodyPr wrap="square" anchor="t" lIns="0" rIns="0" tIns="0" bIns="0">
            <a:spAutoFit/>
          </a:bodyPr>
          <a:lstStyle/>
          <a:p>
            <a:pPr algn="ctr">
              <a:lnSpc>
                <a:spcPct val="115000"/>
              </a:lnSpc>
            </a:pPr>
            <a:r>
              <a:rPr sz="5600" b="1" i="0">
                <a:solidFill>
                  <a:srgbClr val="0A0915"/>
                </a:solidFill>
                <a:latin typeface="Plus Jakarta Sans"/>
              </a:rPr>
              <a:t>Cada dato que aparece tiene que estar capturado antes.</a:t>
            </a:r>
          </a:p>
        </p:txBody>
      </p:sp>
      <p:sp>
        <p:nvSpPr>
          <p:cNvPr id="4" name="TextBox 3"/>
          <p:cNvSpPr txBox="1"/>
          <p:nvPr/>
        </p:nvSpPr>
        <p:spPr>
          <a:xfrm>
            <a:off x="1828800" y="6858000"/>
            <a:ext cx="14630400" cy="2286000"/>
          </a:xfrm>
          <a:prstGeom prst="rect">
            <a:avLst/>
          </a:prstGeom>
          <a:noFill/>
        </p:spPr>
        <p:txBody>
          <a:bodyPr wrap="square" anchor="t" lIns="0" rIns="0" tIns="0" bIns="0">
            <a:spAutoFit/>
          </a:bodyPr>
          <a:lstStyle/>
          <a:p>
            <a:pPr algn="ctr">
              <a:lnSpc>
                <a:spcPct val="140000"/>
              </a:lnSpc>
            </a:pPr>
            <a:r>
              <a:rPr sz="2400" b="0" i="0">
                <a:solidFill>
                  <a:srgbClr val="0A0915"/>
                </a:solidFill>
                <a:latin typeface="Figtree"/>
              </a:rPr>
              <a:t>Se arma con un editor visual: combinas elementos de diseno (escudo, encabezado institucional) con variables del tramite (nombre del ciudadano, numero de expediente, fecha, datos del formulario). Si un dato no esta en el formulario ni en una etapa, no hay de donde sacarlo.</a:t>
            </a:r>
          </a:p>
        </p:txBody>
      </p:sp>
      <p:sp>
        <p:nvSpPr>
          <p:cNvPr id="5" name="TextBox 4"/>
          <p:cNvSpPr txBox="1"/>
          <p:nvPr/>
        </p:nvSpPr>
        <p:spPr>
          <a:xfrm>
            <a:off x="13716000" y="9829800"/>
            <a:ext cx="4389120" cy="365760"/>
          </a:xfrm>
          <a:prstGeom prst="rect">
            <a:avLst/>
          </a:prstGeom>
          <a:noFill/>
        </p:spPr>
        <p:txBody>
          <a:bodyPr wrap="none">
            <a:spAutoFit/>
          </a:bodyPr>
          <a:lstStyle/>
          <a:p>
            <a:pPr algn="r"/>
            <a:r>
              <a:rPr sz="1000">
                <a:solidFill>
                  <a:srgbClr val="888888"/>
                </a:solidFill>
                <a:latin typeface="Figtree"/>
              </a:rPr>
              <a:t>Sovra Partners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0" y="1371600"/>
            <a:ext cx="15544800" cy="2286000"/>
          </a:xfrm>
          <a:prstGeom prst="rect">
            <a:avLst/>
          </a:prstGeom>
          <a:noFill/>
        </p:spPr>
        <p:txBody>
          <a:bodyPr wrap="square" anchor="t" lIns="0" rIns="0" tIns="0" bIns="0">
            <a:spAutoFit/>
          </a:bodyPr>
          <a:lstStyle/>
          <a:p>
            <a:pPr algn="ctr">
              <a:lnSpc>
                <a:spcPct val="115000"/>
              </a:lnSpc>
            </a:pPr>
            <a:r>
              <a:rPr sz="4400" b="1" i="0">
                <a:solidFill>
                  <a:srgbClr val="0A0915"/>
                </a:solidFill>
                <a:latin typeface="Plus Jakarta Sans"/>
              </a:rPr>
              <a:t>La ficha publica es la primera linea de soporte.</a:t>
            </a:r>
          </a:p>
        </p:txBody>
      </p:sp>
      <p:sp>
        <p:nvSpPr>
          <p:cNvPr id="3" name="Rounded Rectangle 2"/>
          <p:cNvSpPr/>
          <p:nvPr/>
        </p:nvSpPr>
        <p:spPr>
          <a:xfrm>
            <a:off x="1828800" y="4572000"/>
            <a:ext cx="6400800" cy="4114800"/>
          </a:xfrm>
          <a:prstGeom prst="roundRect">
            <a:avLst/>
          </a:prstGeom>
          <a:solidFill>
            <a:srgbClr val="F8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286000" y="5029200"/>
            <a:ext cx="5486400" cy="731520"/>
          </a:xfrm>
          <a:prstGeom prst="rect">
            <a:avLst/>
          </a:prstGeom>
          <a:noFill/>
        </p:spPr>
        <p:txBody>
          <a:bodyPr wrap="square" anchor="t" lIns="0" rIns="0" tIns="0" bIns="0">
            <a:spAutoFit/>
          </a:bodyPr>
          <a:lstStyle/>
          <a:p>
            <a:pPr algn="l">
              <a:lnSpc>
                <a:spcPct val="115000"/>
              </a:lnSpc>
            </a:pPr>
            <a:r>
              <a:rPr sz="1800" b="1" i="0">
                <a:solidFill>
                  <a:srgbClr val="888888"/>
                </a:solidFill>
                <a:latin typeface="Figtree"/>
              </a:rPr>
              <a:t>Ficha pobre</a:t>
            </a:r>
          </a:p>
        </p:txBody>
      </p:sp>
      <p:sp>
        <p:nvSpPr>
          <p:cNvPr id="5" name="TextBox 4"/>
          <p:cNvSpPr txBox="1"/>
          <p:nvPr/>
        </p:nvSpPr>
        <p:spPr>
          <a:xfrm>
            <a:off x="2286000" y="6035040"/>
            <a:ext cx="5486400" cy="2286000"/>
          </a:xfrm>
          <a:prstGeom prst="rect">
            <a:avLst/>
          </a:prstGeom>
          <a:noFill/>
        </p:spPr>
        <p:txBody>
          <a:bodyPr wrap="square" anchor="t" lIns="0" rIns="0" tIns="0" bIns="0">
            <a:spAutoFit/>
          </a:bodyPr>
          <a:lstStyle/>
          <a:p>
            <a:pPr algn="l">
              <a:lnSpc>
                <a:spcPct val="130000"/>
              </a:lnSpc>
            </a:pPr>
            <a:r>
              <a:rPr sz="2800" b="0" i="0">
                <a:solidFill>
                  <a:srgbClr val="0A0915"/>
                </a:solidFill>
                <a:latin typeface="Plus Jakarta Sans"/>
              </a:rPr>
              <a:t>Multiplica las llamadas al area.</a:t>
            </a:r>
          </a:p>
        </p:txBody>
      </p:sp>
      <p:sp>
        <p:nvSpPr>
          <p:cNvPr id="6" name="Rounded Rectangle 5"/>
          <p:cNvSpPr/>
          <p:nvPr/>
        </p:nvSpPr>
        <p:spPr>
          <a:xfrm>
            <a:off x="10058400" y="4572000"/>
            <a:ext cx="6400800" cy="4114800"/>
          </a:xfrm>
          <a:prstGeom prst="round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0" y="5029200"/>
            <a:ext cx="5486400" cy="731520"/>
          </a:xfrm>
          <a:prstGeom prst="rect">
            <a:avLst/>
          </a:prstGeom>
          <a:noFill/>
        </p:spPr>
        <p:txBody>
          <a:bodyPr wrap="square" anchor="t" lIns="0" rIns="0" tIns="0" bIns="0">
            <a:spAutoFit/>
          </a:bodyPr>
          <a:lstStyle/>
          <a:p>
            <a:pPr algn="l">
              <a:lnSpc>
                <a:spcPct val="115000"/>
              </a:lnSpc>
            </a:pPr>
            <a:r>
              <a:rPr sz="1800" b="1" i="0">
                <a:solidFill>
                  <a:srgbClr val="FFFFFF"/>
                </a:solidFill>
                <a:latin typeface="Figtree"/>
              </a:rPr>
              <a:t>Ficha bien escrita</a:t>
            </a:r>
          </a:p>
        </p:txBody>
      </p:sp>
      <p:sp>
        <p:nvSpPr>
          <p:cNvPr id="8" name="TextBox 7"/>
          <p:cNvSpPr txBox="1"/>
          <p:nvPr/>
        </p:nvSpPr>
        <p:spPr>
          <a:xfrm>
            <a:off x="10515600" y="6035040"/>
            <a:ext cx="5486400" cy="2286000"/>
          </a:xfrm>
          <a:prstGeom prst="rect">
            <a:avLst/>
          </a:prstGeom>
          <a:noFill/>
        </p:spPr>
        <p:txBody>
          <a:bodyPr wrap="square" anchor="t" lIns="0" rIns="0" tIns="0" bIns="0">
            <a:spAutoFit/>
          </a:bodyPr>
          <a:lstStyle/>
          <a:p>
            <a:pPr algn="l">
              <a:lnSpc>
                <a:spcPct val="130000"/>
              </a:lnSpc>
            </a:pPr>
            <a:r>
              <a:rPr sz="2800" b="0" i="0">
                <a:solidFill>
                  <a:srgbClr val="FFFFFF"/>
                </a:solidFill>
                <a:latin typeface="Plus Jakarta Sans"/>
              </a:rPr>
              <a:t>Evita la mitad de las llamadas. Explica que es, que necesita, cuanto cuesta y cuanto tarda.</a:t>
            </a:r>
          </a:p>
        </p:txBody>
      </p:sp>
      <p:sp>
        <p:nvSpPr>
          <p:cNvPr id="9" name="TextBox 8"/>
          <p:cNvSpPr txBox="1"/>
          <p:nvPr/>
        </p:nvSpPr>
        <p:spPr>
          <a:xfrm>
            <a:off x="13716000" y="9829800"/>
            <a:ext cx="4389120" cy="365760"/>
          </a:xfrm>
          <a:prstGeom prst="rect">
            <a:avLst/>
          </a:prstGeom>
          <a:noFill/>
        </p:spPr>
        <p:txBody>
          <a:bodyPr wrap="none">
            <a:spAutoFit/>
          </a:bodyPr>
          <a:lstStyle/>
          <a:p>
            <a:pPr algn="r"/>
            <a:r>
              <a:rPr sz="1000">
                <a:solidFill>
                  <a:srgbClr val="888888"/>
                </a:solidFill>
                <a:latin typeface="Figtree"/>
              </a:rPr>
              <a:t>Sovra Partners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0" y="1371600"/>
            <a:ext cx="15544800" cy="1828800"/>
          </a:xfrm>
          <a:prstGeom prst="rect">
            <a:avLst/>
          </a:prstGeom>
          <a:noFill/>
        </p:spPr>
        <p:txBody>
          <a:bodyPr wrap="square" anchor="t" lIns="0" rIns="0" tIns="0" bIns="0">
            <a:spAutoFit/>
          </a:bodyPr>
          <a:lstStyle/>
          <a:p>
            <a:pPr algn="l">
              <a:lnSpc>
                <a:spcPct val="115000"/>
              </a:lnSpc>
            </a:pPr>
            <a:r>
              <a:rPr sz="4200" b="1" i="0">
                <a:solidFill>
                  <a:srgbClr val="0A0915"/>
                </a:solidFill>
                <a:latin typeface="Plus Jakarta Sans"/>
              </a:rPr>
              <a:t>Configuracion general: las reglas globales.</a:t>
            </a:r>
          </a:p>
        </p:txBody>
      </p:sp>
      <p:sp>
        <p:nvSpPr>
          <p:cNvPr id="3" name="Rounded Rectangle 2"/>
          <p:cNvSpPr/>
          <p:nvPr/>
        </p:nvSpPr>
        <p:spPr>
          <a:xfrm>
            <a:off x="1371600" y="3886200"/>
            <a:ext cx="228600" cy="228600"/>
          </a:xfrm>
          <a:prstGeom prst="round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828800" y="3657600"/>
            <a:ext cx="15087600" cy="731520"/>
          </a:xfrm>
          <a:prstGeom prst="rect">
            <a:avLst/>
          </a:prstGeom>
          <a:noFill/>
        </p:spPr>
        <p:txBody>
          <a:bodyPr wrap="square" anchor="t" lIns="0" rIns="0" tIns="0" bIns="0">
            <a:spAutoFit/>
          </a:bodyPr>
          <a:lstStyle/>
          <a:p>
            <a:pPr algn="l">
              <a:lnSpc>
                <a:spcPct val="130000"/>
              </a:lnSpc>
            </a:pPr>
            <a:r>
              <a:rPr sz="2200" b="0" i="0">
                <a:solidFill>
                  <a:srgbClr val="0A0915"/>
                </a:solidFill>
                <a:latin typeface="Figtree"/>
              </a:rPr>
              <a:t>Si esta visible o sigue oculto.</a:t>
            </a:r>
          </a:p>
        </p:txBody>
      </p:sp>
      <p:sp>
        <p:nvSpPr>
          <p:cNvPr id="5" name="Rounded Rectangle 4"/>
          <p:cNvSpPr/>
          <p:nvPr/>
        </p:nvSpPr>
        <p:spPr>
          <a:xfrm>
            <a:off x="1371600" y="4709160"/>
            <a:ext cx="228600" cy="228600"/>
          </a:xfrm>
          <a:prstGeom prst="round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0" y="4480560"/>
            <a:ext cx="15087600" cy="731520"/>
          </a:xfrm>
          <a:prstGeom prst="rect">
            <a:avLst/>
          </a:prstGeom>
          <a:noFill/>
        </p:spPr>
        <p:txBody>
          <a:bodyPr wrap="square" anchor="t" lIns="0" rIns="0" tIns="0" bIns="0">
            <a:spAutoFit/>
          </a:bodyPr>
          <a:lstStyle/>
          <a:p>
            <a:pPr algn="l">
              <a:lnSpc>
                <a:spcPct val="130000"/>
              </a:lnSpc>
            </a:pPr>
            <a:r>
              <a:rPr sz="2200" b="0" i="0">
                <a:solidFill>
                  <a:srgbClr val="0A0915"/>
                </a:solidFill>
                <a:latin typeface="Figtree"/>
              </a:rPr>
              <a:t>Si depende de que otro tramite este resuelto primero.</a:t>
            </a:r>
          </a:p>
        </p:txBody>
      </p:sp>
      <p:sp>
        <p:nvSpPr>
          <p:cNvPr id="7" name="Rounded Rectangle 6"/>
          <p:cNvSpPr/>
          <p:nvPr/>
        </p:nvSpPr>
        <p:spPr>
          <a:xfrm>
            <a:off x="1371600" y="5532120"/>
            <a:ext cx="228600" cy="228600"/>
          </a:xfrm>
          <a:prstGeom prst="round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28800" y="5303520"/>
            <a:ext cx="15087600" cy="731520"/>
          </a:xfrm>
          <a:prstGeom prst="rect">
            <a:avLst/>
          </a:prstGeom>
          <a:noFill/>
        </p:spPr>
        <p:txBody>
          <a:bodyPr wrap="square" anchor="t" lIns="0" rIns="0" tIns="0" bIns="0">
            <a:spAutoFit/>
          </a:bodyPr>
          <a:lstStyle/>
          <a:p>
            <a:pPr algn="l">
              <a:lnSpc>
                <a:spcPct val="130000"/>
              </a:lnSpc>
            </a:pPr>
            <a:r>
              <a:rPr sz="2200" b="0" i="0">
                <a:solidFill>
                  <a:srgbClr val="0A0915"/>
                </a:solidFill>
                <a:latin typeface="Figtree"/>
              </a:rPr>
              <a:t>Que identificador interno tiene.</a:t>
            </a:r>
          </a:p>
        </p:txBody>
      </p:sp>
      <p:sp>
        <p:nvSpPr>
          <p:cNvPr id="9" name="Rounded Rectangle 8"/>
          <p:cNvSpPr/>
          <p:nvPr/>
        </p:nvSpPr>
        <p:spPr>
          <a:xfrm>
            <a:off x="1371600" y="6355080"/>
            <a:ext cx="228600" cy="228600"/>
          </a:xfrm>
          <a:prstGeom prst="round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828800" y="6126480"/>
            <a:ext cx="15087600" cy="731520"/>
          </a:xfrm>
          <a:prstGeom prst="rect">
            <a:avLst/>
          </a:prstGeom>
          <a:noFill/>
        </p:spPr>
        <p:txBody>
          <a:bodyPr wrap="square" anchor="t" lIns="0" rIns="0" tIns="0" bIns="0">
            <a:spAutoFit/>
          </a:bodyPr>
          <a:lstStyle/>
          <a:p>
            <a:pPr algn="l">
              <a:lnSpc>
                <a:spcPct val="130000"/>
              </a:lnSpc>
            </a:pPr>
            <a:r>
              <a:rPr sz="2200" b="0" i="0">
                <a:solidFill>
                  <a:srgbClr val="0A0915"/>
                </a:solidFill>
                <a:latin typeface="Figtree"/>
              </a:rPr>
              <a:t>Que firmas necesita.</a:t>
            </a:r>
          </a:p>
        </p:txBody>
      </p:sp>
      <p:sp>
        <p:nvSpPr>
          <p:cNvPr id="11" name="Rounded Rectangle 10"/>
          <p:cNvSpPr/>
          <p:nvPr/>
        </p:nvSpPr>
        <p:spPr>
          <a:xfrm>
            <a:off x="1371600" y="7178040"/>
            <a:ext cx="228600" cy="228600"/>
          </a:xfrm>
          <a:prstGeom prst="round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828800" y="6949440"/>
            <a:ext cx="15087600" cy="731520"/>
          </a:xfrm>
          <a:prstGeom prst="rect">
            <a:avLst/>
          </a:prstGeom>
          <a:noFill/>
        </p:spPr>
        <p:txBody>
          <a:bodyPr wrap="square" anchor="t" lIns="0" rIns="0" tIns="0" bIns="0">
            <a:spAutoFit/>
          </a:bodyPr>
          <a:lstStyle/>
          <a:p>
            <a:pPr algn="l">
              <a:lnSpc>
                <a:spcPct val="130000"/>
              </a:lnSpc>
            </a:pPr>
            <a:r>
              <a:rPr sz="2200" b="0" i="0">
                <a:solidFill>
                  <a:srgbClr val="0A0915"/>
                </a:solidFill>
                <a:latin typeface="Figtree"/>
              </a:rPr>
              <a:t>Cual es su vigencia.</a:t>
            </a:r>
          </a:p>
        </p:txBody>
      </p:sp>
      <p:sp>
        <p:nvSpPr>
          <p:cNvPr id="13" name="TextBox 12"/>
          <p:cNvSpPr txBox="1"/>
          <p:nvPr/>
        </p:nvSpPr>
        <p:spPr>
          <a:xfrm>
            <a:off x="13716000" y="9829800"/>
            <a:ext cx="4389120" cy="365760"/>
          </a:xfrm>
          <a:prstGeom prst="rect">
            <a:avLst/>
          </a:prstGeom>
          <a:noFill/>
        </p:spPr>
        <p:txBody>
          <a:bodyPr wrap="none">
            <a:spAutoFit/>
          </a:bodyPr>
          <a:lstStyle/>
          <a:p>
            <a:pPr algn="r"/>
            <a:r>
              <a:rPr sz="1000">
                <a:solidFill>
                  <a:srgbClr val="888888"/>
                </a:solidFill>
                <a:latin typeface="Figtree"/>
              </a:rPr>
              <a:t>Sovra Partners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0" y="2286000"/>
            <a:ext cx="15544800" cy="548640"/>
          </a:xfrm>
          <a:prstGeom prst="rect">
            <a:avLst/>
          </a:prstGeom>
          <a:noFill/>
        </p:spPr>
        <p:txBody>
          <a:bodyPr wrap="square" anchor="t" lIns="0" rIns="0" tIns="0" bIns="0">
            <a:spAutoFit/>
          </a:bodyPr>
          <a:lstStyle/>
          <a:p>
            <a:pPr algn="ctr">
              <a:lnSpc>
                <a:spcPct val="115000"/>
              </a:lnSpc>
            </a:pPr>
            <a:r>
              <a:rPr sz="2000" b="1" i="0">
                <a:solidFill>
                  <a:srgbClr val="EA580C"/>
                </a:solidFill>
                <a:latin typeface="Figtree"/>
              </a:rPr>
              <a:t>Orden sugerido</a:t>
            </a:r>
          </a:p>
        </p:txBody>
      </p:sp>
      <p:sp>
        <p:nvSpPr>
          <p:cNvPr id="3" name="TextBox 2"/>
          <p:cNvSpPr txBox="1"/>
          <p:nvPr/>
        </p:nvSpPr>
        <p:spPr>
          <a:xfrm>
            <a:off x="1371600" y="3200400"/>
            <a:ext cx="15544800" cy="2743200"/>
          </a:xfrm>
          <a:prstGeom prst="rect">
            <a:avLst/>
          </a:prstGeom>
          <a:noFill/>
        </p:spPr>
        <p:txBody>
          <a:bodyPr wrap="square" anchor="t" lIns="0" rIns="0" tIns="0" bIns="0">
            <a:spAutoFit/>
          </a:bodyPr>
          <a:lstStyle/>
          <a:p>
            <a:pPr algn="ctr">
              <a:lnSpc>
                <a:spcPct val="115000"/>
              </a:lnSpc>
            </a:pPr>
            <a:r>
              <a:rPr sz="5600" b="1" i="0">
                <a:solidFill>
                  <a:srgbClr val="0A0915"/>
                </a:solidFill>
                <a:latin typeface="Plus Jakarta Sans"/>
              </a:rPr>
              <a:t>Formulario y etapas primero. Documento despues. Ficha al final.</a:t>
            </a:r>
          </a:p>
        </p:txBody>
      </p:sp>
      <p:sp>
        <p:nvSpPr>
          <p:cNvPr id="4" name="TextBox 3"/>
          <p:cNvSpPr txBox="1"/>
          <p:nvPr/>
        </p:nvSpPr>
        <p:spPr>
          <a:xfrm>
            <a:off x="1828800" y="6858000"/>
            <a:ext cx="14630400" cy="2286000"/>
          </a:xfrm>
          <a:prstGeom prst="rect">
            <a:avLst/>
          </a:prstGeom>
          <a:noFill/>
        </p:spPr>
        <p:txBody>
          <a:bodyPr wrap="square" anchor="t" lIns="0" rIns="0" tIns="0" bIns="0">
            <a:spAutoFit/>
          </a:bodyPr>
          <a:lstStyle/>
          <a:p>
            <a:pPr algn="ctr">
              <a:lnSpc>
                <a:spcPct val="140000"/>
              </a:lnSpc>
            </a:pPr>
            <a:r>
              <a:rPr sz="2400" b="0" i="0">
                <a:solidFill>
                  <a:srgbClr val="0A0915"/>
                </a:solidFill>
                <a:latin typeface="Figtree"/>
              </a:rPr>
              <a:t>Formulario y etapas son lo mas visible. Despues armas el documento de salida, porque ya tenes claros los datos que vas a usar. Recien al final ajustas la ficha publica y la configuracion general, cuando el resto esta estable.</a:t>
            </a:r>
          </a:p>
        </p:txBody>
      </p:sp>
      <p:sp>
        <p:nvSpPr>
          <p:cNvPr id="5" name="TextBox 4"/>
          <p:cNvSpPr txBox="1"/>
          <p:nvPr/>
        </p:nvSpPr>
        <p:spPr>
          <a:xfrm>
            <a:off x="13716000" y="9829800"/>
            <a:ext cx="4389120" cy="365760"/>
          </a:xfrm>
          <a:prstGeom prst="rect">
            <a:avLst/>
          </a:prstGeom>
          <a:noFill/>
        </p:spPr>
        <p:txBody>
          <a:bodyPr wrap="none">
            <a:spAutoFit/>
          </a:bodyPr>
          <a:lstStyle/>
          <a:p>
            <a:pPr algn="r"/>
            <a:r>
              <a:rPr sz="1000">
                <a:solidFill>
                  <a:srgbClr val="888888"/>
                </a:solidFill>
                <a:latin typeface="Figtree"/>
              </a:rPr>
              <a:t>Sovra Partners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0" y="2286000"/>
            <a:ext cx="15544800" cy="548640"/>
          </a:xfrm>
          <a:prstGeom prst="rect">
            <a:avLst/>
          </a:prstGeom>
          <a:noFill/>
        </p:spPr>
        <p:txBody>
          <a:bodyPr wrap="square" anchor="t" lIns="0" rIns="0" tIns="0" bIns="0">
            <a:spAutoFit/>
          </a:bodyPr>
          <a:lstStyle/>
          <a:p>
            <a:pPr algn="ctr">
              <a:lnSpc>
                <a:spcPct val="115000"/>
              </a:lnSpc>
            </a:pPr>
            <a:r>
              <a:rPr sz="2000" b="1" i="0">
                <a:solidFill>
                  <a:srgbClr val="EA580C"/>
                </a:solidFill>
                <a:latin typeface="Figtree"/>
              </a:rPr>
              <a:t>Antes del testing</a:t>
            </a:r>
          </a:p>
        </p:txBody>
      </p:sp>
      <p:sp>
        <p:nvSpPr>
          <p:cNvPr id="3" name="TextBox 2"/>
          <p:cNvSpPr txBox="1"/>
          <p:nvPr/>
        </p:nvSpPr>
        <p:spPr>
          <a:xfrm>
            <a:off x="1371600" y="3200400"/>
            <a:ext cx="15544800" cy="2743200"/>
          </a:xfrm>
          <a:prstGeom prst="rect">
            <a:avLst/>
          </a:prstGeom>
          <a:noFill/>
        </p:spPr>
        <p:txBody>
          <a:bodyPr wrap="square" anchor="t" lIns="0" rIns="0" tIns="0" bIns="0">
            <a:spAutoFit/>
          </a:bodyPr>
          <a:lstStyle/>
          <a:p>
            <a:pPr algn="ctr">
              <a:lnSpc>
                <a:spcPct val="115000"/>
              </a:lnSpc>
            </a:pPr>
            <a:r>
              <a:rPr sz="5600" b="1" i="0">
                <a:solidFill>
                  <a:srgbClr val="0A0915"/>
                </a:solidFill>
                <a:latin typeface="Plus Jakarta Sans"/>
              </a:rPr>
              <a:t>Aplica la imagen institucional.</a:t>
            </a:r>
          </a:p>
        </p:txBody>
      </p:sp>
      <p:sp>
        <p:nvSpPr>
          <p:cNvPr id="4" name="TextBox 3"/>
          <p:cNvSpPr txBox="1"/>
          <p:nvPr/>
        </p:nvSpPr>
        <p:spPr>
          <a:xfrm>
            <a:off x="1828800" y="6858000"/>
            <a:ext cx="14630400" cy="2286000"/>
          </a:xfrm>
          <a:prstGeom prst="rect">
            <a:avLst/>
          </a:prstGeom>
          <a:noFill/>
        </p:spPr>
        <p:txBody>
          <a:bodyPr wrap="square" anchor="t" lIns="0" rIns="0" tIns="0" bIns="0">
            <a:spAutoFit/>
          </a:bodyPr>
          <a:lstStyle/>
          <a:p>
            <a:pPr algn="ctr">
              <a:lnSpc>
                <a:spcPct val="140000"/>
              </a:lnSpc>
            </a:pPr>
            <a:r>
              <a:rPr sz="2400" b="0" i="0">
                <a:solidFill>
                  <a:srgbClr val="0A0915"/>
                </a:solidFill>
                <a:latin typeface="Figtree"/>
              </a:rPr>
              <a:t>Logo, colores del gobierno, secciones del home, dominio propio. El KB de apariencia tiene la guia completa. Si lo dejas para el final, te vas a comer la urgencia de Fase D haciendolo.</a:t>
            </a:r>
          </a:p>
        </p:txBody>
      </p:sp>
      <p:sp>
        <p:nvSpPr>
          <p:cNvPr id="5" name="TextBox 4"/>
          <p:cNvSpPr txBox="1"/>
          <p:nvPr/>
        </p:nvSpPr>
        <p:spPr>
          <a:xfrm>
            <a:off x="13716000" y="9829800"/>
            <a:ext cx="4389120" cy="365760"/>
          </a:xfrm>
          <a:prstGeom prst="rect">
            <a:avLst/>
          </a:prstGeom>
          <a:noFill/>
        </p:spPr>
        <p:txBody>
          <a:bodyPr wrap="none">
            <a:spAutoFit/>
          </a:bodyPr>
          <a:lstStyle/>
          <a:p>
            <a:pPr algn="r"/>
            <a:r>
              <a:rPr sz="1000">
                <a:solidFill>
                  <a:srgbClr val="888888"/>
                </a:solidFill>
                <a:latin typeface="Figtree"/>
              </a:rPr>
              <a:t>Sovra Partners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3200400"/>
            <a:ext cx="15544800" cy="1371600"/>
          </a:xfrm>
          <a:prstGeom prst="rect">
            <a:avLst/>
          </a:prstGeom>
          <a:noFill/>
        </p:spPr>
        <p:txBody>
          <a:bodyPr wrap="square" anchor="t" lIns="0" rIns="0" tIns="0" bIns="0">
            <a:spAutoFit/>
          </a:bodyPr>
          <a:lstStyle/>
          <a:p>
            <a:pPr algn="ctr">
              <a:lnSpc>
                <a:spcPct val="115000"/>
              </a:lnSpc>
            </a:pPr>
            <a:r>
              <a:rPr sz="4200" b="0" i="0">
                <a:solidFill>
                  <a:srgbClr val="FFFFFF"/>
                </a:solidFill>
                <a:latin typeface="Plus Jakarta Sans"/>
              </a:rPr>
              <a:t>El tramite no termina en el formulario.</a:t>
            </a:r>
          </a:p>
        </p:txBody>
      </p:sp>
      <p:sp>
        <p:nvSpPr>
          <p:cNvPr id="4" name="TextBox 3"/>
          <p:cNvSpPr txBox="1"/>
          <p:nvPr/>
        </p:nvSpPr>
        <p:spPr>
          <a:xfrm>
            <a:off x="1371600" y="4754880"/>
            <a:ext cx="15544800" cy="2286000"/>
          </a:xfrm>
          <a:prstGeom prst="rect">
            <a:avLst/>
          </a:prstGeom>
          <a:noFill/>
        </p:spPr>
        <p:txBody>
          <a:bodyPr wrap="square" anchor="t" lIns="0" rIns="0" tIns="0" bIns="0">
            <a:spAutoFit/>
          </a:bodyPr>
          <a:lstStyle/>
          <a:p>
            <a:pPr algn="ctr">
              <a:lnSpc>
                <a:spcPct val="110000"/>
              </a:lnSpc>
            </a:pPr>
            <a:r>
              <a:rPr sz="7800" b="1" i="0">
                <a:solidFill>
                  <a:srgbClr val="FFFFFF"/>
                </a:solidFill>
                <a:latin typeface="Plus Jakarta Sans"/>
              </a:rPr>
              <a:t>Termina cuando el ciudadano recibe su documento</a:t>
            </a:r>
          </a:p>
        </p:txBody>
      </p:sp>
      <p:sp>
        <p:nvSpPr>
          <p:cNvPr id="5" name="TextBox 4"/>
          <p:cNvSpPr txBox="1"/>
          <p:nvPr/>
        </p:nvSpPr>
        <p:spPr>
          <a:xfrm>
            <a:off x="1371600" y="7315200"/>
            <a:ext cx="15544800" cy="1097280"/>
          </a:xfrm>
          <a:prstGeom prst="rect">
            <a:avLst/>
          </a:prstGeom>
          <a:noFill/>
        </p:spPr>
        <p:txBody>
          <a:bodyPr wrap="square" anchor="t" lIns="0" rIns="0" tIns="0" bIns="0">
            <a:spAutoFit/>
          </a:bodyPr>
          <a:lstStyle/>
          <a:p>
            <a:pPr algn="ctr">
              <a:lnSpc>
                <a:spcPct val="115000"/>
              </a:lnSpc>
            </a:pPr>
            <a:r>
              <a:rPr sz="3000" b="0" i="0">
                <a:solidFill>
                  <a:srgbClr val="FFFFFF"/>
                </a:solidFill>
                <a:latin typeface="Plus Jakarta Sans"/>
              </a:rPr>
              <a:t>y entiende que paso en cada paso.</a:t>
            </a:r>
          </a:p>
        </p:txBody>
      </p:sp>
      <p:sp>
        <p:nvSpPr>
          <p:cNvPr id="6" name="TextBox 5"/>
          <p:cNvSpPr txBox="1"/>
          <p:nvPr/>
        </p:nvSpPr>
        <p:spPr>
          <a:xfrm>
            <a:off x="13716000" y="9829800"/>
            <a:ext cx="4389120" cy="365760"/>
          </a:xfrm>
          <a:prstGeom prst="rect">
            <a:avLst/>
          </a:prstGeom>
          <a:noFill/>
        </p:spPr>
        <p:txBody>
          <a:bodyPr wrap="none">
            <a:spAutoFit/>
          </a:bodyPr>
          <a:lstStyle/>
          <a:p>
            <a:pPr algn="r"/>
            <a:r>
              <a:rPr sz="1000">
                <a:solidFill>
                  <a:srgbClr val="CCE5FF"/>
                </a:solidFill>
                <a:latin typeface="Figtree"/>
              </a:rPr>
              <a:t>Sovra Partners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