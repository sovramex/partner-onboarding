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18.4s · 46 palabras]</a:t>
            </a:r>
          </a:p>
          <a:p/>
          <a:p>
            <a:r>
              <a:t>El testing de Fase C es la prueba de fuego. Cada tramite priorizado tiene que pasar el ciclo completo, desde que el ciudadano lo encuentra en la guia publica hasta que recibe su documento final. Si alguno de los pasos falla, el tramite no esta listo.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24.8s · 62 palabras]</a:t>
            </a:r>
          </a:p>
          <a:p/>
          <a:p>
            <a:r>
              <a:t>El protocolo son siete pasos en orden. Uno, el ciudadano encuentra el tramite en la guia. Dos, se registra o autentica. Tres, completa el formulario y adjunta los documentos. Cuatro, el operador recibe el expediente en su bandeja. Cinco, el operador gestiona las etapas hasta resolverlo. Seis, el ciudadano recibe la notificacion del resultado. Siete, el documento de salida se genera correctamente.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17.6s · 44 palabras]</a:t>
            </a:r>
          </a:p>
          <a:p/>
          <a:p>
            <a:r>
              <a:t>Cada paso tiene que probarse explicitamente. No es suficiente con que el formulario se complete. Hay que ver que el expediente le llega al operador correcto, que la notificacion se dispara, que el documento sale con todos los datos en el lugar que corresponde.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36.0s · 90 palabras]</a:t>
            </a:r>
          </a:p>
          <a:p/>
          <a:p>
            <a:r>
              <a:t>Hay una regla incomoda pero critica. La prueba del lado ciudadano no la puede hacer alguien que participo en el modelado. Si quien modelo el tramite tambien lo prueba, conoce todos los atajos y todas las preguntas trampa. Va a completar el tramite en tres minutos y vas a creer que esta listo. Pidele a alguien que no estuvo en el modelado, cuanto mas alejado mejor, que complete el tramite como si nunca lo hubiera visto. Si tropieza, ahi esta el problema. Si no puede sin ayuda, no esta listo.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46.8s · 117 palabras]</a:t>
            </a:r>
          </a:p>
          <a:p/>
          <a:p>
            <a:r>
              <a:t>La prueba del lado operador tambien necesita a alguien real. No al tecnico del gobierno que entiende como funciona la plataforma. Al operador de carne y hueso que va a gestionar el tramite todos los dias una vez que lance. Si el operador se confunde con las etapas o no encuentra donde esta el expediente, hay que redisenar antes de avanzar. Estandariza el naming de los usuarios de prueba para que no se mezclen con usuarios reales. Y manten un reporte simple por cada tramite probado: paso a paso, que paso, que fallo, que bug se abrio. Ese reporte es lo que despues le muestras al dueno del proyecto del gobierno cuando preguntan si esta todo listo.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20.8s · 52 palabras]</a:t>
            </a:r>
          </a:p>
          <a:p/>
          <a:p>
            <a:r>
              <a:t>Antes de cerrar Fase C, el criterio es cero bugs criticos abiertos. Los bugs menores se pueden aceptar, pero cada uno tiene que tener responsable y fecha de resolucion. Y si un tramite tiene un bug critico que no logras resolver, esa es la senal para escalar a Sovra antes de avanzar.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8.4s · 21 palabras]</a:t>
            </a:r>
          </a:p>
          <a:p/>
          <a:p>
            <a:r>
              <a:t>Si la persona externa puede completar el tramite sin ayuda, esta listo. Si no puede, todavia no. No hay puntos intermedios.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2286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548640"/>
          </a:xfrm>
          <a:prstGeom prst="rect">
            <a:avLst/>
          </a:prstGeom>
          <a:noFill/>
        </p:spPr>
        <p:txBody>
          <a:bodyPr wrap="square" anchor="t" lIns="0" rIns="0" tIns="0" bIns="0">
            <a:spAutoFit/>
          </a:bodyPr>
          <a:lstStyle/>
          <a:p>
            <a:pPr algn="l">
              <a:lnSpc>
                <a:spcPct val="115000"/>
              </a:lnSpc>
            </a:pPr>
            <a:r>
              <a:rPr sz="1800" b="1" i="0">
                <a:solidFill>
                  <a:srgbClr val="EA580C"/>
                </a:solidFill>
                <a:latin typeface="Figtree"/>
              </a:rPr>
              <a:t>FASE C</a:t>
            </a:r>
          </a:p>
        </p:txBody>
      </p:sp>
      <p:sp>
        <p:nvSpPr>
          <p:cNvPr id="4" name="TextBox 3"/>
          <p:cNvSpPr txBox="1"/>
          <p:nvPr/>
        </p:nvSpPr>
        <p:spPr>
          <a:xfrm>
            <a:off x="1371600" y="3840480"/>
            <a:ext cx="15544800" cy="3657600"/>
          </a:xfrm>
          <a:prstGeom prst="rect">
            <a:avLst/>
          </a:prstGeom>
          <a:noFill/>
        </p:spPr>
        <p:txBody>
          <a:bodyPr wrap="square" anchor="t" lIns="0" rIns="0" tIns="0" bIns="0">
            <a:spAutoFit/>
          </a:bodyPr>
          <a:lstStyle/>
          <a:p>
            <a:pPr algn="l">
              <a:lnSpc>
                <a:spcPct val="110000"/>
              </a:lnSpc>
            </a:pPr>
            <a:r>
              <a:rPr sz="8000" b="1" i="0">
                <a:solidFill>
                  <a:srgbClr val="0A0915"/>
                </a:solidFill>
                <a:latin typeface="Plus Jakarta Sans"/>
              </a:rPr>
              <a:t>Probar de punta a punta.</a:t>
            </a:r>
          </a:p>
        </p:txBody>
      </p:sp>
      <p:sp>
        <p:nvSpPr>
          <p:cNvPr id="5" name="TextBox 4"/>
          <p:cNvSpPr txBox="1"/>
          <p:nvPr/>
        </p:nvSpPr>
        <p:spPr>
          <a:xfrm>
            <a:off x="1371600" y="7772400"/>
            <a:ext cx="15544800" cy="1371600"/>
          </a:xfrm>
          <a:prstGeom prst="rect">
            <a:avLst/>
          </a:prstGeom>
          <a:noFill/>
        </p:spPr>
        <p:txBody>
          <a:bodyPr wrap="square" anchor="t" lIns="0" rIns="0" tIns="0" bIns="0">
            <a:spAutoFit/>
          </a:bodyPr>
          <a:lstStyle/>
          <a:p>
            <a:pPr algn="l">
              <a:lnSpc>
                <a:spcPct val="130000"/>
              </a:lnSpc>
            </a:pPr>
            <a:r>
              <a:rPr sz="2200" b="0" i="0">
                <a:solidFill>
                  <a:srgbClr val="888888"/>
                </a:solidFill>
                <a:latin typeface="Figtree"/>
              </a:rPr>
              <a:t>La prueba de fuego. Cada tramite priorizado tiene que pasar el ciclo completo.</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371600"/>
            <a:ext cx="15544800" cy="1828800"/>
          </a:xfrm>
          <a:prstGeom prst="rect">
            <a:avLst/>
          </a:prstGeom>
          <a:noFill/>
        </p:spPr>
        <p:txBody>
          <a:bodyPr wrap="square" anchor="t" lIns="0" rIns="0" tIns="0" bIns="0">
            <a:spAutoFit/>
          </a:bodyPr>
          <a:lstStyle/>
          <a:p>
            <a:pPr algn="l">
              <a:lnSpc>
                <a:spcPct val="115000"/>
              </a:lnSpc>
            </a:pPr>
            <a:r>
              <a:rPr sz="4200" b="1" i="0">
                <a:solidFill>
                  <a:srgbClr val="0A0915"/>
                </a:solidFill>
                <a:latin typeface="Plus Jakarta Sans"/>
              </a:rPr>
              <a:t>El protocolo: siete pasos en orden.</a:t>
            </a:r>
          </a:p>
        </p:txBody>
      </p:sp>
      <p:sp>
        <p:nvSpPr>
          <p:cNvPr id="3" name="Rounded Rectangle 2"/>
          <p:cNvSpPr/>
          <p:nvPr/>
        </p:nvSpPr>
        <p:spPr>
          <a:xfrm>
            <a:off x="1371600" y="3886200"/>
            <a:ext cx="228600" cy="228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365760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1. El ciudadano encuentra el tramite en la guia.</a:t>
            </a:r>
          </a:p>
        </p:txBody>
      </p:sp>
      <p:sp>
        <p:nvSpPr>
          <p:cNvPr id="5" name="Rounded Rectangle 4"/>
          <p:cNvSpPr/>
          <p:nvPr/>
        </p:nvSpPr>
        <p:spPr>
          <a:xfrm>
            <a:off x="1371600" y="4709160"/>
            <a:ext cx="228600" cy="228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448056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2. Se registra o autentica.</a:t>
            </a:r>
          </a:p>
        </p:txBody>
      </p:sp>
      <p:sp>
        <p:nvSpPr>
          <p:cNvPr id="7" name="Rounded Rectangle 6"/>
          <p:cNvSpPr/>
          <p:nvPr/>
        </p:nvSpPr>
        <p:spPr>
          <a:xfrm>
            <a:off x="1371600" y="5532120"/>
            <a:ext cx="228600" cy="228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30352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3. Completa el formulario y adjunta los documentos.</a:t>
            </a:r>
          </a:p>
        </p:txBody>
      </p:sp>
      <p:sp>
        <p:nvSpPr>
          <p:cNvPr id="9" name="Rounded Rectangle 8"/>
          <p:cNvSpPr/>
          <p:nvPr/>
        </p:nvSpPr>
        <p:spPr>
          <a:xfrm>
            <a:off x="1371600" y="6355080"/>
            <a:ext cx="228600" cy="228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0" y="612648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4. El operador recibe el expediente en su bandeja.</a:t>
            </a:r>
          </a:p>
        </p:txBody>
      </p:sp>
      <p:sp>
        <p:nvSpPr>
          <p:cNvPr id="11" name="Rounded Rectangle 10"/>
          <p:cNvSpPr/>
          <p:nvPr/>
        </p:nvSpPr>
        <p:spPr>
          <a:xfrm>
            <a:off x="1371600" y="7178040"/>
            <a:ext cx="228600" cy="228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694944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5. El operador gestiona las etapas hasta resolverlo.</a:t>
            </a:r>
          </a:p>
        </p:txBody>
      </p:sp>
      <p:sp>
        <p:nvSpPr>
          <p:cNvPr id="13" name="Rounded Rectangle 12"/>
          <p:cNvSpPr/>
          <p:nvPr/>
        </p:nvSpPr>
        <p:spPr>
          <a:xfrm>
            <a:off x="1371600" y="8001000"/>
            <a:ext cx="228600" cy="228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28800" y="777240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6. El ciudadano recibe la notificacion del resultado.</a:t>
            </a:r>
          </a:p>
        </p:txBody>
      </p:sp>
      <p:sp>
        <p:nvSpPr>
          <p:cNvPr id="15" name="TextBox 1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EA580C"/>
                </a:solidFill>
                <a:latin typeface="Figtree"/>
              </a:rPr>
              <a:t>Cada paso, explicito</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Septimo paso: el documento de salida se genera correctamente.</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No alcanza con que el formulario se complete. Hay que ver que el expediente le llega al operador correcto, que la notificacion se dispara, que el documento sale con todos los datos en el lugar que corresponde.</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371600"/>
            <a:ext cx="15544800" cy="2286000"/>
          </a:xfrm>
          <a:prstGeom prst="rect">
            <a:avLst/>
          </a:prstGeom>
          <a:noFill/>
        </p:spPr>
        <p:txBody>
          <a:bodyPr wrap="square" anchor="t" lIns="0" rIns="0" tIns="0" bIns="0">
            <a:spAutoFit/>
          </a:bodyPr>
          <a:lstStyle/>
          <a:p>
            <a:pPr algn="ctr">
              <a:lnSpc>
                <a:spcPct val="110000"/>
              </a:lnSpc>
            </a:pPr>
            <a:r>
              <a:rPr sz="4600" b="1" i="0">
                <a:solidFill>
                  <a:srgbClr val="0A0915"/>
                </a:solidFill>
                <a:latin typeface="Plus Jakarta Sans"/>
              </a:rPr>
              <a:t>Quien prueba del lado ciudadano.</a:t>
            </a:r>
          </a:p>
        </p:txBody>
      </p:sp>
      <p:sp>
        <p:nvSpPr>
          <p:cNvPr id="3" name="Rounded Rectangle 2"/>
          <p:cNvSpPr/>
          <p:nvPr/>
        </p:nvSpPr>
        <p:spPr>
          <a:xfrm>
            <a:off x="1828800" y="4754880"/>
            <a:ext cx="6400800" cy="4114800"/>
          </a:xfrm>
          <a:prstGeom prst="roundRect">
            <a:avLst/>
          </a:prstGeom>
          <a:solidFill>
            <a:srgbClr val="FEF2F2"/>
          </a:solidFill>
          <a:ln w="12700">
            <a:solidFill>
              <a:srgbClr val="FE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0" y="5120640"/>
            <a:ext cx="914400" cy="1097280"/>
          </a:xfrm>
          <a:prstGeom prst="rect">
            <a:avLst/>
          </a:prstGeom>
          <a:noFill/>
        </p:spPr>
        <p:txBody>
          <a:bodyPr wrap="square" anchor="t" lIns="0" rIns="0" tIns="0" bIns="0">
            <a:spAutoFit/>
          </a:bodyPr>
          <a:lstStyle/>
          <a:p>
            <a:pPr algn="l">
              <a:lnSpc>
                <a:spcPct val="115000"/>
              </a:lnSpc>
            </a:pPr>
            <a:r>
              <a:rPr sz="3600" b="1" i="0">
                <a:solidFill>
                  <a:srgbClr val="DC2626"/>
                </a:solidFill>
                <a:latin typeface="Plus Jakarta Sans"/>
              </a:rPr>
              <a:t>✗</a:t>
            </a:r>
          </a:p>
        </p:txBody>
      </p:sp>
      <p:sp>
        <p:nvSpPr>
          <p:cNvPr id="5" name="TextBox 4"/>
          <p:cNvSpPr txBox="1"/>
          <p:nvPr/>
        </p:nvSpPr>
        <p:spPr>
          <a:xfrm>
            <a:off x="2286000" y="6217920"/>
            <a:ext cx="5486400" cy="1371600"/>
          </a:xfrm>
          <a:prstGeom prst="rect">
            <a:avLst/>
          </a:prstGeom>
          <a:noFill/>
        </p:spPr>
        <p:txBody>
          <a:bodyPr wrap="square" anchor="t" lIns="0" rIns="0" tIns="0" bIns="0">
            <a:spAutoFit/>
          </a:bodyPr>
          <a:lstStyle/>
          <a:p>
            <a:pPr algn="l">
              <a:lnSpc>
                <a:spcPct val="115000"/>
              </a:lnSpc>
            </a:pPr>
            <a:r>
              <a:rPr sz="3000" b="1" i="0">
                <a:solidFill>
                  <a:srgbClr val="0A0915"/>
                </a:solidFill>
                <a:latin typeface="Plus Jakarta Sans"/>
              </a:rPr>
              <a:t>Quien modelo el tramite.</a:t>
            </a:r>
          </a:p>
        </p:txBody>
      </p:sp>
      <p:sp>
        <p:nvSpPr>
          <p:cNvPr id="6" name="TextBox 5"/>
          <p:cNvSpPr txBox="1"/>
          <p:nvPr/>
        </p:nvSpPr>
        <p:spPr>
          <a:xfrm>
            <a:off x="2286000" y="7315200"/>
            <a:ext cx="5486400" cy="1371600"/>
          </a:xfrm>
          <a:prstGeom prst="rect">
            <a:avLst/>
          </a:prstGeom>
          <a:noFill/>
        </p:spPr>
        <p:txBody>
          <a:bodyPr wrap="square" anchor="t" lIns="0" rIns="0" tIns="0" bIns="0">
            <a:spAutoFit/>
          </a:bodyPr>
          <a:lstStyle/>
          <a:p>
            <a:pPr algn="l">
              <a:lnSpc>
                <a:spcPct val="140000"/>
              </a:lnSpc>
            </a:pPr>
            <a:r>
              <a:rPr sz="1800" b="0" i="0">
                <a:solidFill>
                  <a:srgbClr val="888888"/>
                </a:solidFill>
                <a:latin typeface="Figtree"/>
              </a:rPr>
              <a:t>Conoce los atajos y las preguntas trampa. Lo completa en tres minutos y crees que esta listo.</a:t>
            </a:r>
          </a:p>
        </p:txBody>
      </p:sp>
      <p:sp>
        <p:nvSpPr>
          <p:cNvPr id="7" name="Rounded Rectangle 6"/>
          <p:cNvSpPr/>
          <p:nvPr/>
        </p:nvSpPr>
        <p:spPr>
          <a:xfrm>
            <a:off x="10058400" y="4754880"/>
            <a:ext cx="6400800" cy="411480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0" y="5120640"/>
            <a:ext cx="914400" cy="1097280"/>
          </a:xfrm>
          <a:prstGeom prst="rect">
            <a:avLst/>
          </a:prstGeom>
          <a:noFill/>
        </p:spPr>
        <p:txBody>
          <a:bodyPr wrap="square" anchor="t" lIns="0" rIns="0" tIns="0" bIns="0">
            <a:spAutoFit/>
          </a:bodyPr>
          <a:lstStyle/>
          <a:p>
            <a:pPr algn="l">
              <a:lnSpc>
                <a:spcPct val="115000"/>
              </a:lnSpc>
            </a:pPr>
            <a:r>
              <a:rPr sz="3600" b="1" i="0">
                <a:solidFill>
                  <a:srgbClr val="10B981"/>
                </a:solidFill>
                <a:latin typeface="Plus Jakarta Sans"/>
              </a:rPr>
              <a:t>✓</a:t>
            </a:r>
          </a:p>
        </p:txBody>
      </p:sp>
      <p:sp>
        <p:nvSpPr>
          <p:cNvPr id="9" name="TextBox 8"/>
          <p:cNvSpPr txBox="1"/>
          <p:nvPr/>
        </p:nvSpPr>
        <p:spPr>
          <a:xfrm>
            <a:off x="10515600" y="6217920"/>
            <a:ext cx="5486400" cy="1371600"/>
          </a:xfrm>
          <a:prstGeom prst="rect">
            <a:avLst/>
          </a:prstGeom>
          <a:noFill/>
        </p:spPr>
        <p:txBody>
          <a:bodyPr wrap="square" anchor="t" lIns="0" rIns="0" tIns="0" bIns="0">
            <a:spAutoFit/>
          </a:bodyPr>
          <a:lstStyle/>
          <a:p>
            <a:pPr algn="l">
              <a:lnSpc>
                <a:spcPct val="115000"/>
              </a:lnSpc>
            </a:pPr>
            <a:r>
              <a:rPr sz="3000" b="1" i="0">
                <a:solidFill>
                  <a:srgbClr val="0A0915"/>
                </a:solidFill>
                <a:latin typeface="Plus Jakarta Sans"/>
              </a:rPr>
              <a:t>Alguien que no estuvo en el modelado.</a:t>
            </a:r>
          </a:p>
        </p:txBody>
      </p:sp>
      <p:sp>
        <p:nvSpPr>
          <p:cNvPr id="10" name="TextBox 9"/>
          <p:cNvSpPr txBox="1"/>
          <p:nvPr/>
        </p:nvSpPr>
        <p:spPr>
          <a:xfrm>
            <a:off x="10515600" y="7315200"/>
            <a:ext cx="5486400" cy="1371600"/>
          </a:xfrm>
          <a:prstGeom prst="rect">
            <a:avLst/>
          </a:prstGeom>
          <a:noFill/>
        </p:spPr>
        <p:txBody>
          <a:bodyPr wrap="square" anchor="t" lIns="0" rIns="0" tIns="0" bIns="0">
            <a:spAutoFit/>
          </a:bodyPr>
          <a:lstStyle/>
          <a:p>
            <a:pPr algn="l">
              <a:lnSpc>
                <a:spcPct val="140000"/>
              </a:lnSpc>
            </a:pPr>
            <a:r>
              <a:rPr sz="1800" b="0" i="0">
                <a:solidFill>
                  <a:srgbClr val="888888"/>
                </a:solidFill>
                <a:latin typeface="Figtree"/>
              </a:rPr>
              <a:t>Cuanto mas alejado, mejor. Si tropieza, ahi esta el problema. Si no puede sin ayuda, no esta listo.</a:t>
            </a:r>
          </a:p>
        </p:txBody>
      </p:sp>
      <p:sp>
        <p:nvSpPr>
          <p:cNvPr id="11" name="TextBox 10"/>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371600"/>
            <a:ext cx="15544800" cy="2286000"/>
          </a:xfrm>
          <a:prstGeom prst="rect">
            <a:avLst/>
          </a:prstGeom>
          <a:noFill/>
        </p:spPr>
        <p:txBody>
          <a:bodyPr wrap="square" anchor="t" lIns="0" rIns="0" tIns="0" bIns="0">
            <a:spAutoFit/>
          </a:bodyPr>
          <a:lstStyle/>
          <a:p>
            <a:pPr algn="ctr">
              <a:lnSpc>
                <a:spcPct val="110000"/>
              </a:lnSpc>
            </a:pPr>
            <a:r>
              <a:rPr sz="4600" b="1" i="0">
                <a:solidFill>
                  <a:srgbClr val="0A0915"/>
                </a:solidFill>
                <a:latin typeface="Plus Jakarta Sans"/>
              </a:rPr>
              <a:t>Quien prueba del lado operador.</a:t>
            </a:r>
          </a:p>
        </p:txBody>
      </p:sp>
      <p:sp>
        <p:nvSpPr>
          <p:cNvPr id="3" name="Rounded Rectangle 2"/>
          <p:cNvSpPr/>
          <p:nvPr/>
        </p:nvSpPr>
        <p:spPr>
          <a:xfrm>
            <a:off x="1828800" y="4754880"/>
            <a:ext cx="6400800" cy="4114800"/>
          </a:xfrm>
          <a:prstGeom prst="roundRect">
            <a:avLst/>
          </a:prstGeom>
          <a:solidFill>
            <a:srgbClr val="FEF2F2"/>
          </a:solidFill>
          <a:ln w="12700">
            <a:solidFill>
              <a:srgbClr val="FE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0" y="5120640"/>
            <a:ext cx="914400" cy="1097280"/>
          </a:xfrm>
          <a:prstGeom prst="rect">
            <a:avLst/>
          </a:prstGeom>
          <a:noFill/>
        </p:spPr>
        <p:txBody>
          <a:bodyPr wrap="square" anchor="t" lIns="0" rIns="0" tIns="0" bIns="0">
            <a:spAutoFit/>
          </a:bodyPr>
          <a:lstStyle/>
          <a:p>
            <a:pPr algn="l">
              <a:lnSpc>
                <a:spcPct val="115000"/>
              </a:lnSpc>
            </a:pPr>
            <a:r>
              <a:rPr sz="3600" b="1" i="0">
                <a:solidFill>
                  <a:srgbClr val="DC2626"/>
                </a:solidFill>
                <a:latin typeface="Plus Jakarta Sans"/>
              </a:rPr>
              <a:t>✗</a:t>
            </a:r>
          </a:p>
        </p:txBody>
      </p:sp>
      <p:sp>
        <p:nvSpPr>
          <p:cNvPr id="5" name="TextBox 4"/>
          <p:cNvSpPr txBox="1"/>
          <p:nvPr/>
        </p:nvSpPr>
        <p:spPr>
          <a:xfrm>
            <a:off x="2286000" y="6217920"/>
            <a:ext cx="5486400" cy="1371600"/>
          </a:xfrm>
          <a:prstGeom prst="rect">
            <a:avLst/>
          </a:prstGeom>
          <a:noFill/>
        </p:spPr>
        <p:txBody>
          <a:bodyPr wrap="square" anchor="t" lIns="0" rIns="0" tIns="0" bIns="0">
            <a:spAutoFit/>
          </a:bodyPr>
          <a:lstStyle/>
          <a:p>
            <a:pPr algn="l">
              <a:lnSpc>
                <a:spcPct val="115000"/>
              </a:lnSpc>
            </a:pPr>
            <a:r>
              <a:rPr sz="3000" b="1" i="0">
                <a:solidFill>
                  <a:srgbClr val="0A0915"/>
                </a:solidFill>
                <a:latin typeface="Plus Jakarta Sans"/>
              </a:rPr>
              <a:t>El tecnico del gobierno.</a:t>
            </a:r>
          </a:p>
        </p:txBody>
      </p:sp>
      <p:sp>
        <p:nvSpPr>
          <p:cNvPr id="6" name="TextBox 5"/>
          <p:cNvSpPr txBox="1"/>
          <p:nvPr/>
        </p:nvSpPr>
        <p:spPr>
          <a:xfrm>
            <a:off x="2286000" y="7315200"/>
            <a:ext cx="5486400" cy="1371600"/>
          </a:xfrm>
          <a:prstGeom prst="rect">
            <a:avLst/>
          </a:prstGeom>
          <a:noFill/>
        </p:spPr>
        <p:txBody>
          <a:bodyPr wrap="square" anchor="t" lIns="0" rIns="0" tIns="0" bIns="0">
            <a:spAutoFit/>
          </a:bodyPr>
          <a:lstStyle/>
          <a:p>
            <a:pPr algn="l">
              <a:lnSpc>
                <a:spcPct val="140000"/>
              </a:lnSpc>
            </a:pPr>
            <a:r>
              <a:rPr sz="1800" b="0" i="0">
                <a:solidFill>
                  <a:srgbClr val="888888"/>
                </a:solidFill>
                <a:latin typeface="Figtree"/>
              </a:rPr>
              <a:t>Entiende como funciona la plataforma. No tropieza donde tropezara la realidad.</a:t>
            </a:r>
          </a:p>
        </p:txBody>
      </p:sp>
      <p:sp>
        <p:nvSpPr>
          <p:cNvPr id="7" name="Rounded Rectangle 6"/>
          <p:cNvSpPr/>
          <p:nvPr/>
        </p:nvSpPr>
        <p:spPr>
          <a:xfrm>
            <a:off x="10058400" y="4754880"/>
            <a:ext cx="6400800" cy="411480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0" y="5120640"/>
            <a:ext cx="914400" cy="1097280"/>
          </a:xfrm>
          <a:prstGeom prst="rect">
            <a:avLst/>
          </a:prstGeom>
          <a:noFill/>
        </p:spPr>
        <p:txBody>
          <a:bodyPr wrap="square" anchor="t" lIns="0" rIns="0" tIns="0" bIns="0">
            <a:spAutoFit/>
          </a:bodyPr>
          <a:lstStyle/>
          <a:p>
            <a:pPr algn="l">
              <a:lnSpc>
                <a:spcPct val="115000"/>
              </a:lnSpc>
            </a:pPr>
            <a:r>
              <a:rPr sz="3600" b="1" i="0">
                <a:solidFill>
                  <a:srgbClr val="10B981"/>
                </a:solidFill>
                <a:latin typeface="Plus Jakarta Sans"/>
              </a:rPr>
              <a:t>✓</a:t>
            </a:r>
          </a:p>
        </p:txBody>
      </p:sp>
      <p:sp>
        <p:nvSpPr>
          <p:cNvPr id="9" name="TextBox 8"/>
          <p:cNvSpPr txBox="1"/>
          <p:nvPr/>
        </p:nvSpPr>
        <p:spPr>
          <a:xfrm>
            <a:off x="10515600" y="6217920"/>
            <a:ext cx="5486400" cy="1371600"/>
          </a:xfrm>
          <a:prstGeom prst="rect">
            <a:avLst/>
          </a:prstGeom>
          <a:noFill/>
        </p:spPr>
        <p:txBody>
          <a:bodyPr wrap="square" anchor="t" lIns="0" rIns="0" tIns="0" bIns="0">
            <a:spAutoFit/>
          </a:bodyPr>
          <a:lstStyle/>
          <a:p>
            <a:pPr algn="l">
              <a:lnSpc>
                <a:spcPct val="115000"/>
              </a:lnSpc>
            </a:pPr>
            <a:r>
              <a:rPr sz="3000" b="1" i="0">
                <a:solidFill>
                  <a:srgbClr val="0A0915"/>
                </a:solidFill>
                <a:latin typeface="Plus Jakarta Sans"/>
              </a:rPr>
              <a:t>El operador real.</a:t>
            </a:r>
          </a:p>
        </p:txBody>
      </p:sp>
      <p:sp>
        <p:nvSpPr>
          <p:cNvPr id="10" name="TextBox 9"/>
          <p:cNvSpPr txBox="1"/>
          <p:nvPr/>
        </p:nvSpPr>
        <p:spPr>
          <a:xfrm>
            <a:off x="10515600" y="7315200"/>
            <a:ext cx="5486400" cy="1371600"/>
          </a:xfrm>
          <a:prstGeom prst="rect">
            <a:avLst/>
          </a:prstGeom>
          <a:noFill/>
        </p:spPr>
        <p:txBody>
          <a:bodyPr wrap="square" anchor="t" lIns="0" rIns="0" tIns="0" bIns="0">
            <a:spAutoFit/>
          </a:bodyPr>
          <a:lstStyle/>
          <a:p>
            <a:pPr algn="l">
              <a:lnSpc>
                <a:spcPct val="140000"/>
              </a:lnSpc>
            </a:pPr>
            <a:r>
              <a:rPr sz="1800" b="0" i="0">
                <a:solidFill>
                  <a:srgbClr val="888888"/>
                </a:solidFill>
                <a:latin typeface="Figtree"/>
              </a:rPr>
              <a:t>El de carne y hueso que va a gestionar el tramite todos los dias. Si se confunde con las etapas, hay que redisenar antes de avanzar.</a:t>
            </a:r>
          </a:p>
        </p:txBody>
      </p:sp>
      <p:sp>
        <p:nvSpPr>
          <p:cNvPr id="11" name="TextBox 10"/>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EA580C"/>
                </a:solidFill>
                <a:latin typeface="Figtree"/>
              </a:rPr>
              <a:t>Antes de cerrar Fase C</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Cero bugs criticos abiertos.</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Los bugs menores se pueden aceptar, pero cada uno tiene que tener responsable y fecha de resolucion. Si un tramite tiene un bug critico que no logras resolver, esa es la senal para escalar a Sovra antes de avanzar.</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1371600"/>
          </a:xfrm>
          <a:prstGeom prst="rect">
            <a:avLst/>
          </a:prstGeom>
          <a:noFill/>
        </p:spPr>
        <p:txBody>
          <a:bodyPr wrap="square" anchor="t" lIns="0" rIns="0" tIns="0" bIns="0">
            <a:spAutoFit/>
          </a:bodyPr>
          <a:lstStyle/>
          <a:p>
            <a:pPr algn="ctr">
              <a:lnSpc>
                <a:spcPct val="115000"/>
              </a:lnSpc>
            </a:pPr>
            <a:r>
              <a:rPr sz="4200" b="0" i="0">
                <a:solidFill>
                  <a:srgbClr val="FFFFFF"/>
                </a:solidFill>
                <a:latin typeface="Plus Jakarta Sans"/>
              </a:rPr>
              <a:t>Si la persona externa puede completar el tramite sin ayuda,</a:t>
            </a:r>
          </a:p>
        </p:txBody>
      </p:sp>
      <p:sp>
        <p:nvSpPr>
          <p:cNvPr id="4" name="TextBox 3"/>
          <p:cNvSpPr txBox="1"/>
          <p:nvPr/>
        </p:nvSpPr>
        <p:spPr>
          <a:xfrm>
            <a:off x="1371600" y="4754880"/>
            <a:ext cx="15544800" cy="2286000"/>
          </a:xfrm>
          <a:prstGeom prst="rect">
            <a:avLst/>
          </a:prstGeom>
          <a:noFill/>
        </p:spPr>
        <p:txBody>
          <a:bodyPr wrap="square" anchor="t" lIns="0" rIns="0" tIns="0" bIns="0">
            <a:spAutoFit/>
          </a:bodyPr>
          <a:lstStyle/>
          <a:p>
            <a:pPr algn="ctr">
              <a:lnSpc>
                <a:spcPct val="110000"/>
              </a:lnSpc>
            </a:pPr>
            <a:r>
              <a:rPr sz="7800" b="1" i="0">
                <a:solidFill>
                  <a:srgbClr val="FFFFFF"/>
                </a:solidFill>
                <a:latin typeface="Plus Jakarta Sans"/>
              </a:rPr>
              <a:t>esta listo.</a:t>
            </a:r>
          </a:p>
        </p:txBody>
      </p:sp>
      <p:sp>
        <p:nvSpPr>
          <p:cNvPr id="5" name="TextBox 4"/>
          <p:cNvSpPr txBox="1"/>
          <p:nvPr/>
        </p:nvSpPr>
        <p:spPr>
          <a:xfrm>
            <a:off x="1371600" y="7315200"/>
            <a:ext cx="15544800" cy="1097280"/>
          </a:xfrm>
          <a:prstGeom prst="rect">
            <a:avLst/>
          </a:prstGeom>
          <a:noFill/>
        </p:spPr>
        <p:txBody>
          <a:bodyPr wrap="square" anchor="t" lIns="0" rIns="0" tIns="0" bIns="0">
            <a:spAutoFit/>
          </a:bodyPr>
          <a:lstStyle/>
          <a:p>
            <a:pPr algn="ctr">
              <a:lnSpc>
                <a:spcPct val="115000"/>
              </a:lnSpc>
            </a:pPr>
            <a:r>
              <a:rPr sz="3000" b="0" i="0">
                <a:solidFill>
                  <a:srgbClr val="FFFFFF"/>
                </a:solidFill>
                <a:latin typeface="Plus Jakarta Sans"/>
              </a:rPr>
              <a:t>Si no puede, todavia no. No hay puntos intermedios.</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CCE5FF"/>
                </a:solidFill>
                <a:latin typeface="Figtree"/>
              </a:rPr>
              <a:t>Sovra Partners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