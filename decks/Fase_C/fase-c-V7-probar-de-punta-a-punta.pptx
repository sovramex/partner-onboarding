
<file path=[Content_Types].xml><?xml version="1.0" encoding="utf-8"?>
<Types xmlns="http://schemas.openxmlformats.org/package/2006/content-types">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Inter-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italic.fntdata"/><Relationship Id="rId14" Type="http://schemas.openxmlformats.org/officeDocument/2006/relationships/font" Target="fonts/Inter-bold.fntdata"/><Relationship Id="rId16" Type="http://schemas.openxmlformats.org/officeDocument/2006/relationships/font" Target="fonts/Inter-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18.4s · 46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testing de Fase C es la prueba de fuego. Cada tramite priorizado tiene que pasar el ciclo completo, desde que el ciudadano lo encuentra en la guia publica hasta que recibe su documento final. Si alguno de los pasos falla, el tramite no esta listo.</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24.8s · 62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protocolo son siete pasos en orden. Uno, el ciudadano encuentra el tramite en la guia. Dos, se registra o autentica. Tres, completa el formulario y adjunta los documentos. Cuatro, el operador recibe el expediente en su bandeja. Cinco, el operador gestiona las etapas hasta resolverlo. Seis, el ciudadano recibe la notificacion del resultado. Siete, el documento de salida se genera correctamente.</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17.6s · 44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Cada paso tiene que probarse explicitamente. No es suficiente con que el formulario se complete. Hay que ver que el expediente le llega al operador correcto, que la notificacion se dispara, que el documento sale con todos los datos en el lugar que corresponde.</a:t>
            </a:r>
            <a:endParaRPr/>
          </a:p>
        </p:txBody>
      </p:sp>
      <p:sp>
        <p:nvSpPr>
          <p:cNvPr id="112" name="Google Shape;112;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36.0s · 90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Hay una regla incomoda pero critica. La prueba del lado ciudadano no la puede hacer alguien que participo en el modelado. Si quien modelo el tramite tambien lo prueba, conoce todos los atajos y todas las preguntas trampa. Va a completar el tramite en tres minutos y vas a creer que esta listo. Pidele a alguien que no estuvo en el modelado, cuanto mas alejado mejor, que complete el tramite como si nunca lo hubiera visto. Si tropieza, ahi esta el problema. Si no puede sin ayuda, no esta listo.</a:t>
            </a:r>
            <a:endParaRPr/>
          </a:p>
        </p:txBody>
      </p:sp>
      <p:sp>
        <p:nvSpPr>
          <p:cNvPr id="128" name="Google Shape;128;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5" name="Google Shape;145;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46.8s · 117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La prueba del lado operador tambien necesita a alguien real. No al tecnico del gobierno que entiende como funciona la plataforma. Al operador de carne y hueso que va a gestionar el tramite todos los dias una vez que lance. Si el operador se confunde con las etapas o no encuentra donde esta el expediente, hay que redisenar antes de avanzar. Estandariza el naming de los usuarios de prueba para que no se mezclen con usuarios reales. Y manten un reporte simple por cada tramite probado: paso a paso, que paso, que fallo, que bug se abrio. Ese reporte es lo que despues le muestras al dueno del proyecto del gobierno cuando preguntan si esta todo listo.</a:t>
            </a:r>
            <a:endParaRPr/>
          </a:p>
        </p:txBody>
      </p:sp>
      <p:sp>
        <p:nvSpPr>
          <p:cNvPr id="146" name="Google Shape;146;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20.8s · 52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Antes de cerrar Fase C, el criterio es cero bugs criticos abiertos. Los bugs menores se pueden aceptar, pero cada uno tiene que tener responsable y fecha de resolucion. Y si un tramite tiene un bug critico que no logras resolver, esa es la senal para escalar a Sovra antes de avanzar.</a:t>
            </a:r>
            <a:endParaRPr/>
          </a:p>
        </p:txBody>
      </p:sp>
      <p:sp>
        <p:nvSpPr>
          <p:cNvPr id="164" name="Google Shape;16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8.4s · 21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la persona externa puede completar el tramite sin ayuda, esta listo. Si no puede, todavia no. No hay puntos intermedios.</a:t>
            </a:r>
            <a:endParaRPr/>
          </a:p>
        </p:txBody>
      </p:sp>
      <p:sp>
        <p:nvSpPr>
          <p:cNvPr id="179" name="Google Shape;179;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EA580C"/>
                </a:solidFill>
                <a:latin typeface="Inter"/>
                <a:ea typeface="Inter"/>
                <a:cs typeface="Inter"/>
                <a:sym typeface="Inter"/>
              </a:rPr>
              <a:t>FASE C</a:t>
            </a:r>
            <a:endParaRPr/>
          </a:p>
        </p:txBody>
      </p:sp>
      <p:sp>
        <p:nvSpPr>
          <p:cNvPr id="87" name="Google Shape;87;p13"/>
          <p:cNvSpPr txBox="1"/>
          <p:nvPr/>
        </p:nvSpPr>
        <p:spPr>
          <a:xfrm>
            <a:off x="1371600" y="3840480"/>
            <a:ext cx="15544800" cy="12315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Probar de punta a punta</a:t>
            </a:r>
            <a:endParaRPr/>
          </a:p>
        </p:txBody>
      </p:sp>
      <p:sp>
        <p:nvSpPr>
          <p:cNvPr id="88" name="Google Shape;88;p13"/>
          <p:cNvSpPr txBox="1"/>
          <p:nvPr/>
        </p:nvSpPr>
        <p:spPr>
          <a:xfrm>
            <a:off x="1371600" y="51634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La prueba de fuego. Cada </a:t>
            </a:r>
            <a:r>
              <a:rPr lang="en-US" sz="2200">
                <a:solidFill>
                  <a:srgbClr val="888888"/>
                </a:solidFill>
                <a:latin typeface="Inter"/>
                <a:ea typeface="Inter"/>
                <a:cs typeface="Inter"/>
                <a:sym typeface="Inter"/>
              </a:rPr>
              <a:t>trámite</a:t>
            </a:r>
            <a:r>
              <a:rPr b="0" i="0" lang="en-US" sz="2200" u="none" cap="none" strike="noStrike">
                <a:solidFill>
                  <a:srgbClr val="888888"/>
                </a:solidFill>
                <a:latin typeface="Inter"/>
                <a:ea typeface="Inter"/>
                <a:cs typeface="Inter"/>
                <a:sym typeface="Inter"/>
              </a:rPr>
              <a:t> priorizado tiene que pasar el ciclo completo.</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762000"/>
            <a:ext cx="15544800" cy="738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800">
                <a:solidFill>
                  <a:srgbClr val="0A0915"/>
                </a:solidFill>
                <a:latin typeface="Inter"/>
                <a:ea typeface="Inter"/>
                <a:cs typeface="Inter"/>
                <a:sym typeface="Inter"/>
              </a:rPr>
              <a:t>El protocolo: seis pasos en orden</a:t>
            </a:r>
            <a:endParaRPr b="1" sz="4800">
              <a:solidFill>
                <a:srgbClr val="0A0915"/>
              </a:solidFill>
              <a:latin typeface="Inter"/>
              <a:ea typeface="Inter"/>
              <a:cs typeface="Inter"/>
              <a:sym typeface="Inter"/>
            </a:endParaRPr>
          </a:p>
        </p:txBody>
      </p:sp>
      <p:grpSp>
        <p:nvGrpSpPr>
          <p:cNvPr id="96" name="Google Shape;96;p14"/>
          <p:cNvGrpSpPr/>
          <p:nvPr/>
        </p:nvGrpSpPr>
        <p:grpSpPr>
          <a:xfrm>
            <a:off x="1371600" y="2286000"/>
            <a:ext cx="15544950" cy="6477000"/>
            <a:chOff x="1371600" y="2286000"/>
            <a:chExt cx="15544950" cy="6477000"/>
          </a:xfrm>
        </p:grpSpPr>
        <p:sp>
          <p:nvSpPr>
            <p:cNvPr id="97" name="Google Shape;97;p14"/>
            <p:cNvSpPr/>
            <p:nvPr/>
          </p:nvSpPr>
          <p:spPr>
            <a:xfrm>
              <a:off x="1371600" y="2286000"/>
              <a:ext cx="4857900" cy="3048000"/>
            </a:xfrm>
            <a:prstGeom prst="roundRect">
              <a:avLst>
                <a:gd fmla="val 75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p14"/>
            <p:cNvSpPr txBox="1"/>
            <p:nvPr/>
          </p:nvSpPr>
          <p:spPr>
            <a:xfrm>
              <a:off x="1657350" y="2571750"/>
              <a:ext cx="4286400" cy="247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000">
                  <a:solidFill>
                    <a:srgbClr val="EA580C"/>
                  </a:solidFill>
                  <a:latin typeface="Inter"/>
                  <a:ea typeface="Inter"/>
                  <a:cs typeface="Inter"/>
                  <a:sym typeface="Inter"/>
                </a:rPr>
                <a:t>01</a:t>
              </a:r>
              <a:endParaRPr b="1" sz="4000">
                <a:solidFill>
                  <a:srgbClr val="EA580C"/>
                </a:solidFill>
                <a:latin typeface="Inter"/>
                <a:ea typeface="Inter"/>
                <a:cs typeface="Inter"/>
                <a:sym typeface="Inter"/>
              </a:endParaRPr>
            </a:p>
            <a:p>
              <a:pPr indent="0" lvl="0" marL="0" rtl="0" algn="l">
                <a:spcBef>
                  <a:spcPts val="1500"/>
                </a:spcBef>
                <a:spcAft>
                  <a:spcPts val="0"/>
                </a:spcAft>
                <a:buNone/>
              </a:pPr>
              <a:r>
                <a:rPr b="1" lang="en-US" sz="2400">
                  <a:solidFill>
                    <a:srgbClr val="0A0915"/>
                  </a:solidFill>
                  <a:latin typeface="Inter"/>
                  <a:ea typeface="Inter"/>
                  <a:cs typeface="Inter"/>
                  <a:sym typeface="Inter"/>
                </a:rPr>
                <a:t>Encuentro</a:t>
              </a:r>
              <a:endParaRPr b="1" sz="2400">
                <a:solidFill>
                  <a:srgbClr val="0A0915"/>
                </a:solidFill>
                <a:latin typeface="Inter"/>
                <a:ea typeface="Inter"/>
                <a:cs typeface="Inter"/>
                <a:sym typeface="Inter"/>
              </a:endParaRPr>
            </a:p>
            <a:p>
              <a:pPr indent="0" lvl="0" marL="0" rtl="0" algn="l">
                <a:spcBef>
                  <a:spcPts val="750"/>
                </a:spcBef>
                <a:spcAft>
                  <a:spcPts val="0"/>
                </a:spcAft>
                <a:buNone/>
              </a:pPr>
              <a:r>
                <a:rPr b="0" lang="en-US" sz="1600">
                  <a:solidFill>
                    <a:srgbClr val="475569"/>
                  </a:solidFill>
                  <a:latin typeface="Inter"/>
                  <a:ea typeface="Inter"/>
                  <a:cs typeface="Inter"/>
                  <a:sym typeface="Inter"/>
                </a:rPr>
                <a:t>El ciudadano encuentra el trámite en la guía.</a:t>
              </a:r>
              <a:endParaRPr b="0" sz="1600">
                <a:solidFill>
                  <a:srgbClr val="475569"/>
                </a:solidFill>
                <a:latin typeface="Inter"/>
                <a:ea typeface="Inter"/>
                <a:cs typeface="Inter"/>
                <a:sym typeface="Inter"/>
              </a:endParaRPr>
            </a:p>
          </p:txBody>
        </p:sp>
        <p:sp>
          <p:nvSpPr>
            <p:cNvPr id="99" name="Google Shape;99;p14"/>
            <p:cNvSpPr/>
            <p:nvPr/>
          </p:nvSpPr>
          <p:spPr>
            <a:xfrm>
              <a:off x="6715125" y="2286000"/>
              <a:ext cx="4857900" cy="3048000"/>
            </a:xfrm>
            <a:prstGeom prst="roundRect">
              <a:avLst>
                <a:gd fmla="val 75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0" name="Google Shape;100;p14"/>
            <p:cNvSpPr txBox="1"/>
            <p:nvPr/>
          </p:nvSpPr>
          <p:spPr>
            <a:xfrm>
              <a:off x="7000875" y="2571750"/>
              <a:ext cx="4286400" cy="247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000">
                  <a:solidFill>
                    <a:srgbClr val="EA580C"/>
                  </a:solidFill>
                  <a:latin typeface="Inter"/>
                  <a:ea typeface="Inter"/>
                  <a:cs typeface="Inter"/>
                  <a:sym typeface="Inter"/>
                </a:rPr>
                <a:t>02</a:t>
              </a:r>
              <a:endParaRPr b="1" sz="4000">
                <a:solidFill>
                  <a:srgbClr val="EA580C"/>
                </a:solidFill>
                <a:latin typeface="Inter"/>
                <a:ea typeface="Inter"/>
                <a:cs typeface="Inter"/>
                <a:sym typeface="Inter"/>
              </a:endParaRPr>
            </a:p>
            <a:p>
              <a:pPr indent="0" lvl="0" marL="0" rtl="0" algn="l">
                <a:spcBef>
                  <a:spcPts val="1500"/>
                </a:spcBef>
                <a:spcAft>
                  <a:spcPts val="0"/>
                </a:spcAft>
                <a:buNone/>
              </a:pPr>
              <a:r>
                <a:rPr b="1" lang="en-US" sz="2400">
                  <a:solidFill>
                    <a:srgbClr val="0A0915"/>
                  </a:solidFill>
                  <a:latin typeface="Inter"/>
                  <a:ea typeface="Inter"/>
                  <a:cs typeface="Inter"/>
                  <a:sym typeface="Inter"/>
                </a:rPr>
                <a:t>Autenticación</a:t>
              </a:r>
              <a:endParaRPr b="1" sz="2400">
                <a:solidFill>
                  <a:srgbClr val="0A0915"/>
                </a:solidFill>
                <a:latin typeface="Inter"/>
                <a:ea typeface="Inter"/>
                <a:cs typeface="Inter"/>
                <a:sym typeface="Inter"/>
              </a:endParaRPr>
            </a:p>
            <a:p>
              <a:pPr indent="0" lvl="0" marL="0" rtl="0" algn="l">
                <a:spcBef>
                  <a:spcPts val="750"/>
                </a:spcBef>
                <a:spcAft>
                  <a:spcPts val="0"/>
                </a:spcAft>
                <a:buNone/>
              </a:pPr>
              <a:r>
                <a:rPr b="0" lang="en-US" sz="1600">
                  <a:solidFill>
                    <a:srgbClr val="475569"/>
                  </a:solidFill>
                  <a:latin typeface="Inter"/>
                  <a:ea typeface="Inter"/>
                  <a:cs typeface="Inter"/>
                  <a:sym typeface="Inter"/>
                </a:rPr>
                <a:t>Se registra o autentica en el sistema.</a:t>
              </a:r>
              <a:endParaRPr b="0" sz="1600">
                <a:solidFill>
                  <a:srgbClr val="475569"/>
                </a:solidFill>
                <a:latin typeface="Inter"/>
                <a:ea typeface="Inter"/>
                <a:cs typeface="Inter"/>
                <a:sym typeface="Inter"/>
              </a:endParaRPr>
            </a:p>
          </p:txBody>
        </p:sp>
        <p:sp>
          <p:nvSpPr>
            <p:cNvPr id="101" name="Google Shape;101;p14"/>
            <p:cNvSpPr/>
            <p:nvPr/>
          </p:nvSpPr>
          <p:spPr>
            <a:xfrm>
              <a:off x="12058650" y="2286000"/>
              <a:ext cx="4857900" cy="3048000"/>
            </a:xfrm>
            <a:prstGeom prst="roundRect">
              <a:avLst>
                <a:gd fmla="val 75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2" name="Google Shape;102;p14"/>
            <p:cNvSpPr txBox="1"/>
            <p:nvPr/>
          </p:nvSpPr>
          <p:spPr>
            <a:xfrm>
              <a:off x="12344400" y="2571750"/>
              <a:ext cx="4286400" cy="247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000">
                  <a:solidFill>
                    <a:srgbClr val="EA580C"/>
                  </a:solidFill>
                  <a:latin typeface="Inter"/>
                  <a:ea typeface="Inter"/>
                  <a:cs typeface="Inter"/>
                  <a:sym typeface="Inter"/>
                </a:rPr>
                <a:t>03</a:t>
              </a:r>
              <a:endParaRPr b="1" sz="4000">
                <a:solidFill>
                  <a:srgbClr val="EA580C"/>
                </a:solidFill>
                <a:latin typeface="Inter"/>
                <a:ea typeface="Inter"/>
                <a:cs typeface="Inter"/>
                <a:sym typeface="Inter"/>
              </a:endParaRPr>
            </a:p>
            <a:p>
              <a:pPr indent="0" lvl="0" marL="0" rtl="0" algn="l">
                <a:spcBef>
                  <a:spcPts val="1500"/>
                </a:spcBef>
                <a:spcAft>
                  <a:spcPts val="0"/>
                </a:spcAft>
                <a:buNone/>
              </a:pPr>
              <a:r>
                <a:rPr b="1" lang="en-US" sz="2400">
                  <a:solidFill>
                    <a:srgbClr val="0A0915"/>
                  </a:solidFill>
                  <a:latin typeface="Inter"/>
                  <a:ea typeface="Inter"/>
                  <a:cs typeface="Inter"/>
                  <a:sym typeface="Inter"/>
                </a:rPr>
                <a:t>Formulario</a:t>
              </a:r>
              <a:endParaRPr b="1" sz="2400">
                <a:solidFill>
                  <a:srgbClr val="0A0915"/>
                </a:solidFill>
                <a:latin typeface="Inter"/>
                <a:ea typeface="Inter"/>
                <a:cs typeface="Inter"/>
                <a:sym typeface="Inter"/>
              </a:endParaRPr>
            </a:p>
            <a:p>
              <a:pPr indent="0" lvl="0" marL="0" rtl="0" algn="l">
                <a:spcBef>
                  <a:spcPts val="750"/>
                </a:spcBef>
                <a:spcAft>
                  <a:spcPts val="0"/>
                </a:spcAft>
                <a:buNone/>
              </a:pPr>
              <a:r>
                <a:rPr b="0" lang="en-US" sz="1600">
                  <a:solidFill>
                    <a:srgbClr val="475569"/>
                  </a:solidFill>
                  <a:latin typeface="Inter"/>
                  <a:ea typeface="Inter"/>
                  <a:cs typeface="Inter"/>
                  <a:sym typeface="Inter"/>
                </a:rPr>
                <a:t>Completa el formulario y adjunta los documentos.</a:t>
              </a:r>
              <a:endParaRPr b="0" sz="1600">
                <a:solidFill>
                  <a:srgbClr val="475569"/>
                </a:solidFill>
                <a:latin typeface="Inter"/>
                <a:ea typeface="Inter"/>
                <a:cs typeface="Inter"/>
                <a:sym typeface="Inter"/>
              </a:endParaRPr>
            </a:p>
          </p:txBody>
        </p:sp>
        <p:sp>
          <p:nvSpPr>
            <p:cNvPr id="103" name="Google Shape;103;p14"/>
            <p:cNvSpPr/>
            <p:nvPr/>
          </p:nvSpPr>
          <p:spPr>
            <a:xfrm>
              <a:off x="1371600" y="5715000"/>
              <a:ext cx="4857900" cy="3048000"/>
            </a:xfrm>
            <a:prstGeom prst="roundRect">
              <a:avLst>
                <a:gd fmla="val 75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4" name="Google Shape;104;p14"/>
            <p:cNvSpPr txBox="1"/>
            <p:nvPr/>
          </p:nvSpPr>
          <p:spPr>
            <a:xfrm>
              <a:off x="1657350" y="6000750"/>
              <a:ext cx="4286400" cy="247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000">
                  <a:solidFill>
                    <a:srgbClr val="EA580C"/>
                  </a:solidFill>
                  <a:latin typeface="Inter"/>
                  <a:ea typeface="Inter"/>
                  <a:cs typeface="Inter"/>
                  <a:sym typeface="Inter"/>
                </a:rPr>
                <a:t>04</a:t>
              </a:r>
              <a:endParaRPr b="1" sz="4000">
                <a:solidFill>
                  <a:srgbClr val="EA580C"/>
                </a:solidFill>
                <a:latin typeface="Inter"/>
                <a:ea typeface="Inter"/>
                <a:cs typeface="Inter"/>
                <a:sym typeface="Inter"/>
              </a:endParaRPr>
            </a:p>
            <a:p>
              <a:pPr indent="0" lvl="0" marL="0" rtl="0" algn="l">
                <a:spcBef>
                  <a:spcPts val="1500"/>
                </a:spcBef>
                <a:spcAft>
                  <a:spcPts val="0"/>
                </a:spcAft>
                <a:buNone/>
              </a:pPr>
              <a:r>
                <a:rPr b="1" lang="en-US" sz="2400">
                  <a:solidFill>
                    <a:srgbClr val="0A0915"/>
                  </a:solidFill>
                  <a:latin typeface="Inter"/>
                  <a:ea typeface="Inter"/>
                  <a:cs typeface="Inter"/>
                  <a:sym typeface="Inter"/>
                </a:rPr>
                <a:t>Recepción</a:t>
              </a:r>
              <a:endParaRPr b="1" sz="2400">
                <a:solidFill>
                  <a:srgbClr val="0A0915"/>
                </a:solidFill>
                <a:latin typeface="Inter"/>
                <a:ea typeface="Inter"/>
                <a:cs typeface="Inter"/>
                <a:sym typeface="Inter"/>
              </a:endParaRPr>
            </a:p>
            <a:p>
              <a:pPr indent="0" lvl="0" marL="0" rtl="0" algn="l">
                <a:spcBef>
                  <a:spcPts val="750"/>
                </a:spcBef>
                <a:spcAft>
                  <a:spcPts val="0"/>
                </a:spcAft>
                <a:buNone/>
              </a:pPr>
              <a:r>
                <a:rPr b="0" lang="en-US" sz="1600">
                  <a:solidFill>
                    <a:srgbClr val="475569"/>
                  </a:solidFill>
                  <a:latin typeface="Inter"/>
                  <a:ea typeface="Inter"/>
                  <a:cs typeface="Inter"/>
                  <a:sym typeface="Inter"/>
                </a:rPr>
                <a:t>El operador recibe el expediente en su bandeja.</a:t>
              </a:r>
              <a:endParaRPr b="0" sz="1600">
                <a:solidFill>
                  <a:srgbClr val="475569"/>
                </a:solidFill>
                <a:latin typeface="Inter"/>
                <a:ea typeface="Inter"/>
                <a:cs typeface="Inter"/>
                <a:sym typeface="Inter"/>
              </a:endParaRPr>
            </a:p>
          </p:txBody>
        </p:sp>
        <p:sp>
          <p:nvSpPr>
            <p:cNvPr id="105" name="Google Shape;105;p14"/>
            <p:cNvSpPr/>
            <p:nvPr/>
          </p:nvSpPr>
          <p:spPr>
            <a:xfrm>
              <a:off x="6715125" y="5715000"/>
              <a:ext cx="4857900" cy="3048000"/>
            </a:xfrm>
            <a:prstGeom prst="roundRect">
              <a:avLst>
                <a:gd fmla="val 75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6" name="Google Shape;106;p14"/>
            <p:cNvSpPr txBox="1"/>
            <p:nvPr/>
          </p:nvSpPr>
          <p:spPr>
            <a:xfrm>
              <a:off x="7000875" y="6000750"/>
              <a:ext cx="4286400" cy="247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000">
                  <a:solidFill>
                    <a:srgbClr val="EA580C"/>
                  </a:solidFill>
                  <a:latin typeface="Inter"/>
                  <a:ea typeface="Inter"/>
                  <a:cs typeface="Inter"/>
                  <a:sym typeface="Inter"/>
                </a:rPr>
                <a:t>05</a:t>
              </a:r>
              <a:endParaRPr b="1" sz="4000">
                <a:solidFill>
                  <a:srgbClr val="EA580C"/>
                </a:solidFill>
                <a:latin typeface="Inter"/>
                <a:ea typeface="Inter"/>
                <a:cs typeface="Inter"/>
                <a:sym typeface="Inter"/>
              </a:endParaRPr>
            </a:p>
            <a:p>
              <a:pPr indent="0" lvl="0" marL="0" rtl="0" algn="l">
                <a:spcBef>
                  <a:spcPts val="1500"/>
                </a:spcBef>
                <a:spcAft>
                  <a:spcPts val="0"/>
                </a:spcAft>
                <a:buNone/>
              </a:pPr>
              <a:r>
                <a:rPr b="1" lang="en-US" sz="2400">
                  <a:solidFill>
                    <a:srgbClr val="0A0915"/>
                  </a:solidFill>
                  <a:latin typeface="Inter"/>
                  <a:ea typeface="Inter"/>
                  <a:cs typeface="Inter"/>
                  <a:sym typeface="Inter"/>
                </a:rPr>
                <a:t>Gestión</a:t>
              </a:r>
              <a:endParaRPr b="1" sz="2400">
                <a:solidFill>
                  <a:srgbClr val="0A0915"/>
                </a:solidFill>
                <a:latin typeface="Inter"/>
                <a:ea typeface="Inter"/>
                <a:cs typeface="Inter"/>
                <a:sym typeface="Inter"/>
              </a:endParaRPr>
            </a:p>
            <a:p>
              <a:pPr indent="0" lvl="0" marL="0" rtl="0" algn="l">
                <a:spcBef>
                  <a:spcPts val="750"/>
                </a:spcBef>
                <a:spcAft>
                  <a:spcPts val="0"/>
                </a:spcAft>
                <a:buNone/>
              </a:pPr>
              <a:r>
                <a:rPr b="0" lang="en-US" sz="1600">
                  <a:solidFill>
                    <a:srgbClr val="475569"/>
                  </a:solidFill>
                  <a:latin typeface="Inter"/>
                  <a:ea typeface="Inter"/>
                  <a:cs typeface="Inter"/>
                  <a:sym typeface="Inter"/>
                </a:rPr>
                <a:t>El operador gestiona las etapas hasta resolverlo.</a:t>
              </a:r>
              <a:endParaRPr b="0" sz="1600">
                <a:solidFill>
                  <a:srgbClr val="475569"/>
                </a:solidFill>
                <a:latin typeface="Inter"/>
                <a:ea typeface="Inter"/>
                <a:cs typeface="Inter"/>
                <a:sym typeface="Inter"/>
              </a:endParaRPr>
            </a:p>
          </p:txBody>
        </p:sp>
        <p:sp>
          <p:nvSpPr>
            <p:cNvPr id="107" name="Google Shape;107;p14"/>
            <p:cNvSpPr/>
            <p:nvPr/>
          </p:nvSpPr>
          <p:spPr>
            <a:xfrm>
              <a:off x="12058650" y="5715000"/>
              <a:ext cx="4857900" cy="3048000"/>
            </a:xfrm>
            <a:prstGeom prst="roundRect">
              <a:avLst>
                <a:gd fmla="val 75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14"/>
            <p:cNvSpPr txBox="1"/>
            <p:nvPr/>
          </p:nvSpPr>
          <p:spPr>
            <a:xfrm>
              <a:off x="12344400" y="6000750"/>
              <a:ext cx="4286400" cy="247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000">
                  <a:solidFill>
                    <a:srgbClr val="EA580C"/>
                  </a:solidFill>
                  <a:latin typeface="Inter"/>
                  <a:ea typeface="Inter"/>
                  <a:cs typeface="Inter"/>
                  <a:sym typeface="Inter"/>
                </a:rPr>
                <a:t>06</a:t>
              </a:r>
              <a:endParaRPr b="1" sz="4000">
                <a:solidFill>
                  <a:srgbClr val="EA580C"/>
                </a:solidFill>
                <a:latin typeface="Inter"/>
                <a:ea typeface="Inter"/>
                <a:cs typeface="Inter"/>
                <a:sym typeface="Inter"/>
              </a:endParaRPr>
            </a:p>
            <a:p>
              <a:pPr indent="0" lvl="0" marL="0" rtl="0" algn="l">
                <a:spcBef>
                  <a:spcPts val="1500"/>
                </a:spcBef>
                <a:spcAft>
                  <a:spcPts val="0"/>
                </a:spcAft>
                <a:buNone/>
              </a:pPr>
              <a:r>
                <a:rPr b="1" lang="en-US" sz="2400">
                  <a:solidFill>
                    <a:srgbClr val="0A0915"/>
                  </a:solidFill>
                  <a:latin typeface="Inter"/>
                  <a:ea typeface="Inter"/>
                  <a:cs typeface="Inter"/>
                  <a:sym typeface="Inter"/>
                </a:rPr>
                <a:t>Notificación</a:t>
              </a:r>
              <a:endParaRPr b="1" sz="2400">
                <a:solidFill>
                  <a:srgbClr val="0A0915"/>
                </a:solidFill>
                <a:latin typeface="Inter"/>
                <a:ea typeface="Inter"/>
                <a:cs typeface="Inter"/>
                <a:sym typeface="Inter"/>
              </a:endParaRPr>
            </a:p>
            <a:p>
              <a:pPr indent="0" lvl="0" marL="0" rtl="0" algn="l">
                <a:spcBef>
                  <a:spcPts val="750"/>
                </a:spcBef>
                <a:spcAft>
                  <a:spcPts val="0"/>
                </a:spcAft>
                <a:buNone/>
              </a:pPr>
              <a:r>
                <a:rPr b="0" lang="en-US" sz="1600">
                  <a:solidFill>
                    <a:srgbClr val="475569"/>
                  </a:solidFill>
                  <a:latin typeface="Inter"/>
                  <a:ea typeface="Inter"/>
                  <a:cs typeface="Inter"/>
                  <a:sym typeface="Inter"/>
                </a:rPr>
                <a:t>El ciudadano recibe la notificación del resultado.</a:t>
              </a:r>
              <a:endParaRPr b="0" sz="1600">
                <a:solidFill>
                  <a:srgbClr val="475569"/>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5"/>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15" name="Google Shape;115;p15"/>
          <p:cNvGrpSpPr/>
          <p:nvPr/>
        </p:nvGrpSpPr>
        <p:grpSpPr>
          <a:xfrm>
            <a:off x="1371600" y="762000"/>
            <a:ext cx="15544800" cy="7620000"/>
            <a:chOff x="1371600" y="762000"/>
            <a:chExt cx="15544800" cy="7620000"/>
          </a:xfrm>
        </p:grpSpPr>
        <p:grpSp>
          <p:nvGrpSpPr>
            <p:cNvPr id="116" name="Google Shape;116;p15"/>
            <p:cNvGrpSpPr/>
            <p:nvPr/>
          </p:nvGrpSpPr>
          <p:grpSpPr>
            <a:xfrm>
              <a:off x="1371600" y="762000"/>
              <a:ext cx="15544800" cy="1714500"/>
              <a:chOff x="1371600" y="762000"/>
              <a:chExt cx="15544800" cy="1714500"/>
            </a:xfrm>
          </p:grpSpPr>
          <p:sp>
            <p:nvSpPr>
              <p:cNvPr id="117" name="Google Shape;117;p15"/>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PASO 07: VERIFICACIÓN FINAL</a:t>
                </a:r>
                <a:endParaRPr b="1" sz="1800">
                  <a:solidFill>
                    <a:srgbClr val="EA580C"/>
                  </a:solidFill>
                  <a:latin typeface="Inter"/>
                  <a:ea typeface="Inter"/>
                  <a:cs typeface="Inter"/>
                  <a:sym typeface="Inter"/>
                </a:endParaRPr>
              </a:p>
            </p:txBody>
          </p:sp>
          <p:sp>
            <p:nvSpPr>
              <p:cNvPr id="118" name="Google Shape;118;p15"/>
              <p:cNvSpPr txBox="1"/>
              <p:nvPr/>
            </p:nvSpPr>
            <p:spPr>
              <a:xfrm>
                <a:off x="1371600" y="1333500"/>
                <a:ext cx="155448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760">
                    <a:solidFill>
                      <a:srgbClr val="0A0915"/>
                    </a:solidFill>
                    <a:latin typeface="Inter"/>
                    <a:ea typeface="Inter"/>
                    <a:cs typeface="Inter"/>
                    <a:sym typeface="Inter"/>
                  </a:rPr>
                  <a:t>El documento de salida se genera correctamente</a:t>
                </a:r>
                <a:endParaRPr b="1" sz="4760">
                  <a:solidFill>
                    <a:srgbClr val="0A0915"/>
                  </a:solidFill>
                  <a:latin typeface="Inter"/>
                  <a:ea typeface="Inter"/>
                  <a:cs typeface="Inter"/>
                  <a:sym typeface="Inter"/>
                </a:endParaRPr>
              </a:p>
            </p:txBody>
          </p:sp>
        </p:grpSp>
        <p:grpSp>
          <p:nvGrpSpPr>
            <p:cNvPr id="119" name="Google Shape;119;p15"/>
            <p:cNvGrpSpPr/>
            <p:nvPr/>
          </p:nvGrpSpPr>
          <p:grpSpPr>
            <a:xfrm>
              <a:off x="1371600" y="3048000"/>
              <a:ext cx="15544800" cy="3810000"/>
              <a:chOff x="1371600" y="3048000"/>
              <a:chExt cx="15544800" cy="3810000"/>
            </a:xfrm>
          </p:grpSpPr>
          <p:sp>
            <p:nvSpPr>
              <p:cNvPr id="120" name="Google Shape;120;p15"/>
              <p:cNvSpPr/>
              <p:nvPr/>
            </p:nvSpPr>
            <p:spPr>
              <a:xfrm>
                <a:off x="1371600" y="3048000"/>
                <a:ext cx="15544800" cy="3810000"/>
              </a:xfrm>
              <a:prstGeom prst="roundRect">
                <a:avLst>
                  <a:gd fmla="val 6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5"/>
              <p:cNvSpPr txBox="1"/>
              <p:nvPr/>
            </p:nvSpPr>
            <p:spPr>
              <a:xfrm>
                <a:off x="1752600" y="3429000"/>
                <a:ext cx="14782800" cy="3048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2800">
                    <a:solidFill>
                      <a:srgbClr val="0A0915"/>
                    </a:solidFill>
                    <a:latin typeface="Inter"/>
                    <a:ea typeface="Inter"/>
                    <a:cs typeface="Inter"/>
                    <a:sym typeface="Inter"/>
                  </a:rPr>
                  <a:t>No alcanza con que el formulario se complete. La prueba de punta a punta exige validar que:</a:t>
                </a:r>
                <a:endParaRPr b="0" sz="2800">
                  <a:solidFill>
                    <a:srgbClr val="0A0915"/>
                  </a:solidFill>
                  <a:latin typeface="Inter"/>
                  <a:ea typeface="Inter"/>
                  <a:cs typeface="Inter"/>
                  <a:sym typeface="Inter"/>
                </a:endParaRPr>
              </a:p>
              <a:p>
                <a:pPr indent="-406400" lvl="0" marL="457200" rtl="0" algn="l">
                  <a:spcBef>
                    <a:spcPts val="1500"/>
                  </a:spcBef>
                  <a:spcAft>
                    <a:spcPts val="0"/>
                  </a:spcAft>
                  <a:buClr>
                    <a:srgbClr val="EA580C"/>
                  </a:buClr>
                  <a:buSzPts val="2800"/>
                  <a:buFont typeface="Inter"/>
                  <a:buChar char="●"/>
                </a:pPr>
                <a:r>
                  <a:rPr b="0" lang="en-US" sz="2800">
                    <a:solidFill>
                      <a:srgbClr val="475569"/>
                    </a:solidFill>
                    <a:latin typeface="Inter"/>
                    <a:ea typeface="Inter"/>
                    <a:cs typeface="Inter"/>
                    <a:sym typeface="Inter"/>
                  </a:rPr>
                  <a:t>El expediente le llega al </a:t>
                </a:r>
                <a:r>
                  <a:rPr b="1" lang="en-US" sz="2800">
                    <a:solidFill>
                      <a:srgbClr val="475569"/>
                    </a:solidFill>
                    <a:latin typeface="Inter"/>
                    <a:ea typeface="Inter"/>
                    <a:cs typeface="Inter"/>
                    <a:sym typeface="Inter"/>
                  </a:rPr>
                  <a:t>operador correcto</a:t>
                </a:r>
                <a:r>
                  <a:rPr b="0" lang="en-US" sz="2800">
                    <a:solidFill>
                      <a:srgbClr val="475569"/>
                    </a:solidFill>
                    <a:latin typeface="Inter"/>
                    <a:ea typeface="Inter"/>
                    <a:cs typeface="Inter"/>
                    <a:sym typeface="Inter"/>
                  </a:rPr>
                  <a:t>.</a:t>
                </a:r>
                <a:endParaRPr b="0" sz="2800">
                  <a:solidFill>
                    <a:srgbClr val="EA580C"/>
                  </a:solidFill>
                  <a:latin typeface="Inter"/>
                  <a:ea typeface="Inter"/>
                  <a:cs typeface="Inter"/>
                  <a:sym typeface="Inter"/>
                </a:endParaRPr>
              </a:p>
              <a:p>
                <a:pPr indent="-406400" lvl="0" marL="457200" rtl="0" algn="l">
                  <a:spcBef>
                    <a:spcPts val="1125"/>
                  </a:spcBef>
                  <a:spcAft>
                    <a:spcPts val="0"/>
                  </a:spcAft>
                  <a:buClr>
                    <a:srgbClr val="EA580C"/>
                  </a:buClr>
                  <a:buSzPts val="2800"/>
                  <a:buFont typeface="Inter"/>
                  <a:buChar char="●"/>
                </a:pPr>
                <a:r>
                  <a:rPr b="0" lang="en-US" sz="2800">
                    <a:solidFill>
                      <a:srgbClr val="475569"/>
                    </a:solidFill>
                    <a:latin typeface="Inter"/>
                    <a:ea typeface="Inter"/>
                    <a:cs typeface="Inter"/>
                    <a:sym typeface="Inter"/>
                  </a:rPr>
                  <a:t>La </a:t>
                </a:r>
                <a:r>
                  <a:rPr b="1" lang="en-US" sz="2800">
                    <a:solidFill>
                      <a:srgbClr val="475569"/>
                    </a:solidFill>
                    <a:latin typeface="Inter"/>
                    <a:ea typeface="Inter"/>
                    <a:cs typeface="Inter"/>
                    <a:sym typeface="Inter"/>
                  </a:rPr>
                  <a:t>notificación</a:t>
                </a:r>
                <a:r>
                  <a:rPr b="0" lang="en-US" sz="2800">
                    <a:solidFill>
                      <a:srgbClr val="475569"/>
                    </a:solidFill>
                    <a:latin typeface="Inter"/>
                    <a:ea typeface="Inter"/>
                    <a:cs typeface="Inter"/>
                    <a:sym typeface="Inter"/>
                  </a:rPr>
                  <a:t> se dispara automáticamente.</a:t>
                </a:r>
                <a:endParaRPr b="0" sz="2800">
                  <a:solidFill>
                    <a:srgbClr val="EA580C"/>
                  </a:solidFill>
                  <a:latin typeface="Inter"/>
                  <a:ea typeface="Inter"/>
                  <a:cs typeface="Inter"/>
                  <a:sym typeface="Inter"/>
                </a:endParaRPr>
              </a:p>
              <a:p>
                <a:pPr indent="-406400" lvl="0" marL="457200" rtl="0" algn="l">
                  <a:spcBef>
                    <a:spcPts val="1125"/>
                  </a:spcBef>
                  <a:spcAft>
                    <a:spcPts val="0"/>
                  </a:spcAft>
                  <a:buClr>
                    <a:srgbClr val="EA580C"/>
                  </a:buClr>
                  <a:buSzPts val="2800"/>
                  <a:buFont typeface="Inter"/>
                  <a:buChar char="●"/>
                </a:pPr>
                <a:r>
                  <a:rPr b="0" lang="en-US" sz="2800">
                    <a:solidFill>
                      <a:srgbClr val="475569"/>
                    </a:solidFill>
                    <a:latin typeface="Inter"/>
                    <a:ea typeface="Inter"/>
                    <a:cs typeface="Inter"/>
                    <a:sym typeface="Inter"/>
                  </a:rPr>
                  <a:t>El </a:t>
                </a:r>
                <a:r>
                  <a:rPr b="1" lang="en-US" sz="2800">
                    <a:solidFill>
                      <a:srgbClr val="475569"/>
                    </a:solidFill>
                    <a:latin typeface="Inter"/>
                    <a:ea typeface="Inter"/>
                    <a:cs typeface="Inter"/>
                    <a:sym typeface="Inter"/>
                  </a:rPr>
                  <a:t>documento final</a:t>
                </a:r>
                <a:r>
                  <a:rPr b="0" lang="en-US" sz="2800">
                    <a:solidFill>
                      <a:srgbClr val="475569"/>
                    </a:solidFill>
                    <a:latin typeface="Inter"/>
                    <a:ea typeface="Inter"/>
                    <a:cs typeface="Inter"/>
                    <a:sym typeface="Inter"/>
                  </a:rPr>
                  <a:t> contiene todos los datos en su lugar.</a:t>
                </a:r>
                <a:endParaRPr b="0" sz="2800">
                  <a:solidFill>
                    <a:srgbClr val="EA580C"/>
                  </a:solidFill>
                  <a:latin typeface="Inter"/>
                  <a:ea typeface="Inter"/>
                  <a:cs typeface="Inter"/>
                  <a:sym typeface="Inter"/>
                </a:endParaRPr>
              </a:p>
            </p:txBody>
          </p:sp>
        </p:grpSp>
        <p:grpSp>
          <p:nvGrpSpPr>
            <p:cNvPr id="122" name="Google Shape;122;p15"/>
            <p:cNvGrpSpPr/>
            <p:nvPr/>
          </p:nvGrpSpPr>
          <p:grpSpPr>
            <a:xfrm>
              <a:off x="1371600" y="7239000"/>
              <a:ext cx="15544800" cy="1143000"/>
              <a:chOff x="1371600" y="7239000"/>
              <a:chExt cx="15544800" cy="1143000"/>
            </a:xfrm>
          </p:grpSpPr>
          <p:sp>
            <p:nvSpPr>
              <p:cNvPr id="123" name="Google Shape;123;p15"/>
              <p:cNvSpPr/>
              <p:nvPr/>
            </p:nvSpPr>
            <p:spPr>
              <a:xfrm>
                <a:off x="1371600" y="7239000"/>
                <a:ext cx="15544800" cy="1143000"/>
              </a:xfrm>
              <a:prstGeom prst="roundRect">
                <a:avLst>
                  <a:gd fmla="val 10000" name="adj"/>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4" name="Google Shape;124;p15"/>
              <p:cNvSpPr txBox="1"/>
              <p:nvPr/>
            </p:nvSpPr>
            <p:spPr>
              <a:xfrm>
                <a:off x="1752600" y="7239000"/>
                <a:ext cx="14782800" cy="1143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i="1" lang="en-US" sz="2000">
                    <a:solidFill>
                      <a:srgbClr val="9A3412"/>
                    </a:solidFill>
                    <a:latin typeface="Inter"/>
                    <a:ea typeface="Inter"/>
                    <a:cs typeface="Inter"/>
                    <a:sym typeface="Inter"/>
                  </a:rPr>
                  <a:t>"La calidad del proceso se mide en el resultado que recibe el ciudadano."</a:t>
                </a:r>
                <a:endParaRPr b="1" i="1" sz="2000">
                  <a:solidFill>
                    <a:srgbClr val="9A3412"/>
                  </a:solidFill>
                  <a:latin typeface="Inter"/>
                  <a:ea typeface="Inter"/>
                  <a:cs typeface="Inter"/>
                  <a:sym typeface="Inter"/>
                </a:endParaRPr>
              </a:p>
            </p:txBody>
          </p:sp>
        </p:gr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16"/>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1" name="Google Shape;131;p16"/>
          <p:cNvSpPr txBox="1"/>
          <p:nvPr/>
        </p:nvSpPr>
        <p:spPr>
          <a:xfrm>
            <a:off x="1371600" y="762000"/>
            <a:ext cx="15544800" cy="738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800">
                <a:solidFill>
                  <a:srgbClr val="0A0915"/>
                </a:solidFill>
                <a:latin typeface="Inter"/>
                <a:ea typeface="Inter"/>
                <a:cs typeface="Inter"/>
                <a:sym typeface="Inter"/>
              </a:rPr>
              <a:t>Quien prueba del lado ciudadano</a:t>
            </a:r>
            <a:endParaRPr b="1" sz="4800">
              <a:solidFill>
                <a:srgbClr val="0A0915"/>
              </a:solidFill>
              <a:latin typeface="Inter"/>
              <a:ea typeface="Inter"/>
              <a:cs typeface="Inter"/>
              <a:sym typeface="Inter"/>
            </a:endParaRPr>
          </a:p>
        </p:txBody>
      </p:sp>
      <p:sp>
        <p:nvSpPr>
          <p:cNvPr id="132" name="Google Shape;132;p16"/>
          <p:cNvSpPr/>
          <p:nvPr/>
        </p:nvSpPr>
        <p:spPr>
          <a:xfrm>
            <a:off x="1828800" y="2667000"/>
            <a:ext cx="6667500" cy="4572000"/>
          </a:xfrm>
          <a:prstGeom prst="roundRect">
            <a:avLst>
              <a:gd fmla="val 5000" name="adj"/>
            </a:avLst>
          </a:prstGeom>
          <a:solidFill>
            <a:srgbClr val="FEF2F2"/>
          </a:solidFill>
          <a:ln cap="flat" cmpd="sng" w="19050">
            <a:solidFill>
              <a:srgbClr val="FEE2E2"/>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3" name="Google Shape;133;p16"/>
          <p:cNvSpPr txBox="1"/>
          <p:nvPr/>
        </p:nvSpPr>
        <p:spPr>
          <a:xfrm>
            <a:off x="2286000" y="3048000"/>
            <a:ext cx="762000" cy="715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650">
                <a:solidFill>
                  <a:srgbClr val="DC2626"/>
                </a:solidFill>
                <a:latin typeface="Inter"/>
                <a:ea typeface="Inter"/>
                <a:cs typeface="Inter"/>
                <a:sym typeface="Inter"/>
              </a:rPr>
              <a:t>✗</a:t>
            </a:r>
            <a:endParaRPr b="1" sz="4650">
              <a:solidFill>
                <a:srgbClr val="DC2626"/>
              </a:solidFill>
              <a:latin typeface="Inter"/>
              <a:ea typeface="Inter"/>
              <a:cs typeface="Inter"/>
              <a:sym typeface="Inter"/>
            </a:endParaRPr>
          </a:p>
        </p:txBody>
      </p:sp>
      <p:sp>
        <p:nvSpPr>
          <p:cNvPr id="134" name="Google Shape;134;p16"/>
          <p:cNvSpPr txBox="1"/>
          <p:nvPr/>
        </p:nvSpPr>
        <p:spPr>
          <a:xfrm>
            <a:off x="2286000" y="4000500"/>
            <a:ext cx="5715000" cy="492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Quien modeló el trámite</a:t>
            </a:r>
            <a:endParaRPr b="1" sz="3200">
              <a:solidFill>
                <a:srgbClr val="0A0915"/>
              </a:solidFill>
              <a:latin typeface="Inter"/>
              <a:ea typeface="Inter"/>
              <a:cs typeface="Inter"/>
              <a:sym typeface="Inter"/>
            </a:endParaRPr>
          </a:p>
        </p:txBody>
      </p:sp>
      <p:sp>
        <p:nvSpPr>
          <p:cNvPr id="135" name="Google Shape;135;p16"/>
          <p:cNvSpPr txBox="1"/>
          <p:nvPr/>
        </p:nvSpPr>
        <p:spPr>
          <a:xfrm>
            <a:off x="2286000" y="4953000"/>
            <a:ext cx="5715000" cy="923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2000">
                <a:solidFill>
                  <a:srgbClr val="475569"/>
                </a:solidFill>
                <a:latin typeface="Inter"/>
                <a:ea typeface="Inter"/>
                <a:cs typeface="Inter"/>
                <a:sym typeface="Inter"/>
              </a:rPr>
              <a:t>Conoce los atajos y las preguntas trampa. Lo completa en tres minutos y crees que está listo.</a:t>
            </a:r>
            <a:endParaRPr b="0" sz="2000">
              <a:solidFill>
                <a:srgbClr val="475569"/>
              </a:solidFill>
              <a:latin typeface="Inter"/>
              <a:ea typeface="Inter"/>
              <a:cs typeface="Inter"/>
              <a:sym typeface="Inter"/>
            </a:endParaRPr>
          </a:p>
        </p:txBody>
      </p:sp>
      <p:sp>
        <p:nvSpPr>
          <p:cNvPr id="136" name="Google Shape;136;p16"/>
          <p:cNvSpPr/>
          <p:nvPr/>
        </p:nvSpPr>
        <p:spPr>
          <a:xfrm>
            <a:off x="9791700" y="2667000"/>
            <a:ext cx="6667500" cy="4572000"/>
          </a:xfrm>
          <a:prstGeom prst="roundRect">
            <a:avLst>
              <a:gd fmla="val 5000" name="adj"/>
            </a:avLst>
          </a:prstGeom>
          <a:solidFill>
            <a:srgbClr val="ECFDF5"/>
          </a:solidFill>
          <a:ln cap="flat" cmpd="sng" w="19050">
            <a:solidFill>
              <a:srgbClr val="A7F3D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7" name="Google Shape;137;p16"/>
          <p:cNvSpPr txBox="1"/>
          <p:nvPr/>
        </p:nvSpPr>
        <p:spPr>
          <a:xfrm>
            <a:off x="10248900" y="3048000"/>
            <a:ext cx="762000" cy="715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650">
                <a:solidFill>
                  <a:srgbClr val="10B981"/>
                </a:solidFill>
                <a:latin typeface="Inter"/>
                <a:ea typeface="Inter"/>
                <a:cs typeface="Inter"/>
                <a:sym typeface="Inter"/>
              </a:rPr>
              <a:t>✓</a:t>
            </a:r>
            <a:endParaRPr b="1" sz="4650">
              <a:solidFill>
                <a:srgbClr val="10B981"/>
              </a:solidFill>
              <a:latin typeface="Inter"/>
              <a:ea typeface="Inter"/>
              <a:cs typeface="Inter"/>
              <a:sym typeface="Inter"/>
            </a:endParaRPr>
          </a:p>
        </p:txBody>
      </p:sp>
      <p:sp>
        <p:nvSpPr>
          <p:cNvPr id="138" name="Google Shape;138;p16"/>
          <p:cNvSpPr txBox="1"/>
          <p:nvPr/>
        </p:nvSpPr>
        <p:spPr>
          <a:xfrm>
            <a:off x="10248900" y="4000500"/>
            <a:ext cx="5715000" cy="911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960">
                <a:solidFill>
                  <a:srgbClr val="0A0915"/>
                </a:solidFill>
                <a:latin typeface="Inter"/>
                <a:ea typeface="Inter"/>
                <a:cs typeface="Inter"/>
                <a:sym typeface="Inter"/>
              </a:rPr>
              <a:t>Alguien que no estuvo en el modelado</a:t>
            </a:r>
            <a:endParaRPr b="1" sz="2960">
              <a:solidFill>
                <a:srgbClr val="0A0915"/>
              </a:solidFill>
              <a:latin typeface="Inter"/>
              <a:ea typeface="Inter"/>
              <a:cs typeface="Inter"/>
              <a:sym typeface="Inter"/>
            </a:endParaRPr>
          </a:p>
        </p:txBody>
      </p:sp>
      <p:sp>
        <p:nvSpPr>
          <p:cNvPr id="139" name="Google Shape;139;p16"/>
          <p:cNvSpPr txBox="1"/>
          <p:nvPr/>
        </p:nvSpPr>
        <p:spPr>
          <a:xfrm>
            <a:off x="10248900" y="4953000"/>
            <a:ext cx="5715000" cy="1067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2000">
                <a:solidFill>
                  <a:srgbClr val="475569"/>
                </a:solidFill>
                <a:latin typeface="Inter"/>
                <a:ea typeface="Inter"/>
                <a:cs typeface="Inter"/>
                <a:sym typeface="Inter"/>
              </a:rPr>
              <a:t>Cuanto más alejado, mejor. Si tropieza, ahí está el problema.</a:t>
            </a:r>
            <a:endParaRPr b="0" sz="2000">
              <a:solidFill>
                <a:srgbClr val="475569"/>
              </a:solidFill>
              <a:latin typeface="Inter"/>
              <a:ea typeface="Inter"/>
              <a:cs typeface="Inter"/>
              <a:sym typeface="Inter"/>
            </a:endParaRPr>
          </a:p>
          <a:p>
            <a:pPr indent="0" lvl="0" marL="0" rtl="0" algn="l">
              <a:spcBef>
                <a:spcPts val="1125"/>
              </a:spcBef>
              <a:spcAft>
                <a:spcPts val="0"/>
              </a:spcAft>
              <a:buNone/>
            </a:pPr>
            <a:r>
              <a:rPr b="0" lang="en-US" sz="2000">
                <a:solidFill>
                  <a:srgbClr val="475569"/>
                </a:solidFill>
                <a:latin typeface="Inter"/>
                <a:ea typeface="Inter"/>
                <a:cs typeface="Inter"/>
                <a:sym typeface="Inter"/>
              </a:rPr>
              <a:t>Si no puede sin ayuda, no está listo.</a:t>
            </a:r>
            <a:endParaRPr b="0" sz="2000">
              <a:solidFill>
                <a:srgbClr val="475569"/>
              </a:solidFill>
              <a:latin typeface="Inter"/>
              <a:ea typeface="Inter"/>
              <a:cs typeface="Inter"/>
              <a:sym typeface="Inter"/>
            </a:endParaRPr>
          </a:p>
        </p:txBody>
      </p:sp>
      <p:grpSp>
        <p:nvGrpSpPr>
          <p:cNvPr id="140" name="Google Shape;140;p16"/>
          <p:cNvGrpSpPr/>
          <p:nvPr/>
        </p:nvGrpSpPr>
        <p:grpSpPr>
          <a:xfrm>
            <a:off x="1828800" y="8001000"/>
            <a:ext cx="14630400" cy="1143000"/>
            <a:chOff x="1828800" y="8001000"/>
            <a:chExt cx="14630400" cy="1143000"/>
          </a:xfrm>
        </p:grpSpPr>
        <p:sp>
          <p:nvSpPr>
            <p:cNvPr id="141" name="Google Shape;141;p16"/>
            <p:cNvSpPr/>
            <p:nvPr/>
          </p:nvSpPr>
          <p:spPr>
            <a:xfrm>
              <a:off x="1828800" y="8001000"/>
              <a:ext cx="14630400" cy="1143000"/>
            </a:xfrm>
            <a:prstGeom prst="roundRect">
              <a:avLst>
                <a:gd fmla="val 10000" name="adj"/>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2" name="Google Shape;142;p16"/>
            <p:cNvSpPr txBox="1"/>
            <p:nvPr/>
          </p:nvSpPr>
          <p:spPr>
            <a:xfrm>
              <a:off x="2209800" y="8001000"/>
              <a:ext cx="13868400" cy="1143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i="1" lang="en-US" sz="2400">
                  <a:solidFill>
                    <a:srgbClr val="9A3412"/>
                  </a:solidFill>
                  <a:latin typeface="Inter"/>
                  <a:ea typeface="Inter"/>
                  <a:cs typeface="Inter"/>
                  <a:sym typeface="Inter"/>
                </a:rPr>
                <a:t>"La realidad del ciudadano no tiene manual de instrucciones."</a:t>
              </a:r>
              <a:endParaRPr b="1" i="1" sz="2400">
                <a:solidFill>
                  <a:srgbClr val="9A3412"/>
                </a:solidFill>
                <a:latin typeface="Inter"/>
                <a:ea typeface="Inter"/>
                <a:cs typeface="Inter"/>
                <a:sym typeface="Inte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7"/>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9" name="Google Shape;149;p17"/>
          <p:cNvSpPr txBox="1"/>
          <p:nvPr/>
        </p:nvSpPr>
        <p:spPr>
          <a:xfrm>
            <a:off x="1371600" y="762000"/>
            <a:ext cx="15544800" cy="6834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i="0" lang="en-US" sz="4440">
                <a:solidFill>
                  <a:srgbClr val="0A0915"/>
                </a:solidFill>
                <a:latin typeface="Inter"/>
                <a:ea typeface="Inter"/>
                <a:cs typeface="Inter"/>
                <a:sym typeface="Inter"/>
              </a:rPr>
              <a:t>Quien prueba del lado operador</a:t>
            </a:r>
            <a:endParaRPr b="1" i="0" sz="4440">
              <a:solidFill>
                <a:srgbClr val="0A0915"/>
              </a:solidFill>
              <a:latin typeface="Inter"/>
              <a:ea typeface="Inter"/>
              <a:cs typeface="Inter"/>
              <a:sym typeface="Inter"/>
            </a:endParaRPr>
          </a:p>
        </p:txBody>
      </p:sp>
      <p:sp>
        <p:nvSpPr>
          <p:cNvPr id="150" name="Google Shape;150;p17"/>
          <p:cNvSpPr/>
          <p:nvPr/>
        </p:nvSpPr>
        <p:spPr>
          <a:xfrm>
            <a:off x="1828800" y="2667000"/>
            <a:ext cx="6667500" cy="4572000"/>
          </a:xfrm>
          <a:prstGeom prst="roundRect">
            <a:avLst>
              <a:gd fmla="val 5000" name="adj"/>
            </a:avLst>
          </a:prstGeom>
          <a:solidFill>
            <a:srgbClr val="FEF2F2"/>
          </a:solidFill>
          <a:ln cap="flat" cmpd="sng" w="19050">
            <a:solidFill>
              <a:srgbClr val="FEE2E2"/>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1" name="Google Shape;151;p17"/>
          <p:cNvSpPr txBox="1"/>
          <p:nvPr/>
        </p:nvSpPr>
        <p:spPr>
          <a:xfrm>
            <a:off x="2286000" y="3048000"/>
            <a:ext cx="762000" cy="715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650">
                <a:solidFill>
                  <a:srgbClr val="DC2626"/>
                </a:solidFill>
                <a:latin typeface="Inter"/>
                <a:ea typeface="Inter"/>
                <a:cs typeface="Inter"/>
                <a:sym typeface="Inter"/>
              </a:rPr>
              <a:t>✗</a:t>
            </a:r>
            <a:endParaRPr b="1" sz="4650">
              <a:solidFill>
                <a:srgbClr val="DC2626"/>
              </a:solidFill>
              <a:latin typeface="Inter"/>
              <a:ea typeface="Inter"/>
              <a:cs typeface="Inter"/>
              <a:sym typeface="Inter"/>
            </a:endParaRPr>
          </a:p>
        </p:txBody>
      </p:sp>
      <p:sp>
        <p:nvSpPr>
          <p:cNvPr id="152" name="Google Shape;152;p17"/>
          <p:cNvSpPr txBox="1"/>
          <p:nvPr/>
        </p:nvSpPr>
        <p:spPr>
          <a:xfrm>
            <a:off x="2286000" y="4000500"/>
            <a:ext cx="5715000" cy="492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El técnico del gobierno</a:t>
            </a:r>
            <a:endParaRPr b="1" sz="3200">
              <a:solidFill>
                <a:srgbClr val="0A0915"/>
              </a:solidFill>
              <a:latin typeface="Inter"/>
              <a:ea typeface="Inter"/>
              <a:cs typeface="Inter"/>
              <a:sym typeface="Inter"/>
            </a:endParaRPr>
          </a:p>
        </p:txBody>
      </p:sp>
      <p:sp>
        <p:nvSpPr>
          <p:cNvPr id="153" name="Google Shape;153;p17"/>
          <p:cNvSpPr txBox="1"/>
          <p:nvPr/>
        </p:nvSpPr>
        <p:spPr>
          <a:xfrm>
            <a:off x="2286000" y="4953000"/>
            <a:ext cx="5715000" cy="615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2000">
                <a:solidFill>
                  <a:srgbClr val="475569"/>
                </a:solidFill>
                <a:latin typeface="Inter"/>
                <a:ea typeface="Inter"/>
                <a:cs typeface="Inter"/>
                <a:sym typeface="Inter"/>
              </a:rPr>
              <a:t>Entiende cómo funciona la plataforma. No tropieza donde tropezaría la realidad.</a:t>
            </a:r>
            <a:endParaRPr b="0" sz="2000">
              <a:solidFill>
                <a:srgbClr val="475569"/>
              </a:solidFill>
              <a:latin typeface="Inter"/>
              <a:ea typeface="Inter"/>
              <a:cs typeface="Inter"/>
              <a:sym typeface="Inter"/>
            </a:endParaRPr>
          </a:p>
        </p:txBody>
      </p:sp>
      <p:sp>
        <p:nvSpPr>
          <p:cNvPr id="154" name="Google Shape;154;p17"/>
          <p:cNvSpPr/>
          <p:nvPr/>
        </p:nvSpPr>
        <p:spPr>
          <a:xfrm>
            <a:off x="9791700" y="2667000"/>
            <a:ext cx="6667500" cy="4572000"/>
          </a:xfrm>
          <a:prstGeom prst="roundRect">
            <a:avLst>
              <a:gd fmla="val 5000" name="adj"/>
            </a:avLst>
          </a:prstGeom>
          <a:solidFill>
            <a:srgbClr val="ECFDF5"/>
          </a:solidFill>
          <a:ln cap="flat" cmpd="sng" w="19050">
            <a:solidFill>
              <a:srgbClr val="A7F3D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5" name="Google Shape;155;p17"/>
          <p:cNvSpPr txBox="1"/>
          <p:nvPr/>
        </p:nvSpPr>
        <p:spPr>
          <a:xfrm>
            <a:off x="10248900" y="3048000"/>
            <a:ext cx="762000" cy="715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650">
                <a:solidFill>
                  <a:srgbClr val="10B981"/>
                </a:solidFill>
                <a:latin typeface="Inter"/>
                <a:ea typeface="Inter"/>
                <a:cs typeface="Inter"/>
                <a:sym typeface="Inter"/>
              </a:rPr>
              <a:t>✓</a:t>
            </a:r>
            <a:endParaRPr b="1" sz="4650">
              <a:solidFill>
                <a:srgbClr val="10B981"/>
              </a:solidFill>
              <a:latin typeface="Inter"/>
              <a:ea typeface="Inter"/>
              <a:cs typeface="Inter"/>
              <a:sym typeface="Inter"/>
            </a:endParaRPr>
          </a:p>
        </p:txBody>
      </p:sp>
      <p:sp>
        <p:nvSpPr>
          <p:cNvPr id="156" name="Google Shape;156;p17"/>
          <p:cNvSpPr txBox="1"/>
          <p:nvPr/>
        </p:nvSpPr>
        <p:spPr>
          <a:xfrm>
            <a:off x="10248900" y="4000500"/>
            <a:ext cx="5715000" cy="492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El operador real</a:t>
            </a:r>
            <a:endParaRPr b="1" sz="3200">
              <a:solidFill>
                <a:srgbClr val="0A0915"/>
              </a:solidFill>
              <a:latin typeface="Inter"/>
              <a:ea typeface="Inter"/>
              <a:cs typeface="Inter"/>
              <a:sym typeface="Inter"/>
            </a:endParaRPr>
          </a:p>
        </p:txBody>
      </p:sp>
      <p:sp>
        <p:nvSpPr>
          <p:cNvPr id="157" name="Google Shape;157;p17"/>
          <p:cNvSpPr txBox="1"/>
          <p:nvPr/>
        </p:nvSpPr>
        <p:spPr>
          <a:xfrm>
            <a:off x="10248900" y="4953000"/>
            <a:ext cx="5715000" cy="1385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2000">
                <a:solidFill>
                  <a:srgbClr val="475569"/>
                </a:solidFill>
                <a:latin typeface="Inter"/>
                <a:ea typeface="Inter"/>
                <a:cs typeface="Inter"/>
                <a:sym typeface="Inter"/>
              </a:rPr>
              <a:t>El de carne y hueso que va a gestionar el trámite todos los días.</a:t>
            </a:r>
            <a:endParaRPr b="0" sz="2000">
              <a:solidFill>
                <a:srgbClr val="475569"/>
              </a:solidFill>
              <a:latin typeface="Inter"/>
              <a:ea typeface="Inter"/>
              <a:cs typeface="Inter"/>
              <a:sym typeface="Inter"/>
            </a:endParaRPr>
          </a:p>
          <a:p>
            <a:pPr indent="0" lvl="0" marL="0" rtl="0" algn="l">
              <a:spcBef>
                <a:spcPts val="1200"/>
              </a:spcBef>
              <a:spcAft>
                <a:spcPts val="0"/>
              </a:spcAft>
              <a:buNone/>
            </a:pPr>
            <a:r>
              <a:rPr b="0" lang="en-US" sz="2000">
                <a:solidFill>
                  <a:srgbClr val="475569"/>
                </a:solidFill>
                <a:latin typeface="Inter"/>
                <a:ea typeface="Inter"/>
                <a:cs typeface="Inter"/>
                <a:sym typeface="Inter"/>
              </a:rPr>
              <a:t>Si se confunde con las etapas, hay que rediseñar antes de avanzar.</a:t>
            </a:r>
            <a:endParaRPr b="0" sz="2000">
              <a:solidFill>
                <a:srgbClr val="475569"/>
              </a:solidFill>
              <a:latin typeface="Inter"/>
              <a:ea typeface="Inter"/>
              <a:cs typeface="Inter"/>
              <a:sym typeface="Inter"/>
            </a:endParaRPr>
          </a:p>
        </p:txBody>
      </p:sp>
      <p:grpSp>
        <p:nvGrpSpPr>
          <p:cNvPr id="158" name="Google Shape;158;p17"/>
          <p:cNvGrpSpPr/>
          <p:nvPr/>
        </p:nvGrpSpPr>
        <p:grpSpPr>
          <a:xfrm>
            <a:off x="1828800" y="8001000"/>
            <a:ext cx="14630400" cy="1143000"/>
            <a:chOff x="1828800" y="8001000"/>
            <a:chExt cx="14630400" cy="1143000"/>
          </a:xfrm>
        </p:grpSpPr>
        <p:sp>
          <p:nvSpPr>
            <p:cNvPr id="159" name="Google Shape;159;p17"/>
            <p:cNvSpPr/>
            <p:nvPr/>
          </p:nvSpPr>
          <p:spPr>
            <a:xfrm>
              <a:off x="1828800" y="8001000"/>
              <a:ext cx="14630400" cy="1143000"/>
            </a:xfrm>
            <a:prstGeom prst="roundRect">
              <a:avLst>
                <a:gd fmla="val 10000" name="adj"/>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17"/>
            <p:cNvSpPr txBox="1"/>
            <p:nvPr/>
          </p:nvSpPr>
          <p:spPr>
            <a:xfrm>
              <a:off x="2209800" y="8001000"/>
              <a:ext cx="13868400" cy="1143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b="1" i="1" lang="en-US" sz="2400">
                  <a:solidFill>
                    <a:srgbClr val="9A3412"/>
                  </a:solidFill>
                  <a:latin typeface="Inter"/>
                  <a:ea typeface="Inter"/>
                  <a:cs typeface="Inter"/>
                  <a:sym typeface="Inter"/>
                </a:rPr>
                <a:t>"La calidad del proceso se mide en el operador que lo ejecuta."</a:t>
              </a:r>
              <a:endParaRPr b="1" i="1" sz="2400">
                <a:solidFill>
                  <a:srgbClr val="9A3412"/>
                </a:solidFill>
                <a:latin typeface="Inter"/>
                <a:ea typeface="Inter"/>
                <a:cs typeface="Inter"/>
                <a:sym typeface="Inte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18"/>
          <p:cNvSpPr/>
          <p:nvPr/>
        </p:nvSpPr>
        <p:spPr>
          <a:xfrm>
            <a:off x="0" y="0"/>
            <a:ext cx="18288000" cy="228600"/>
          </a:xfrm>
          <a:prstGeom prst="rect">
            <a:avLst/>
          </a:prstGeom>
          <a:solidFill>
            <a:srgbClr val="EA580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67" name="Google Shape;167;p18"/>
          <p:cNvGrpSpPr/>
          <p:nvPr/>
        </p:nvGrpSpPr>
        <p:grpSpPr>
          <a:xfrm>
            <a:off x="1371600" y="762000"/>
            <a:ext cx="15544800" cy="1714500"/>
            <a:chOff x="1371600" y="762000"/>
            <a:chExt cx="15544800" cy="1714500"/>
          </a:xfrm>
        </p:grpSpPr>
        <p:sp>
          <p:nvSpPr>
            <p:cNvPr id="168" name="Google Shape;168;p18"/>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EA580C"/>
                  </a:solidFill>
                  <a:latin typeface="Inter"/>
                  <a:ea typeface="Inter"/>
                  <a:cs typeface="Inter"/>
                  <a:sym typeface="Inter"/>
                </a:rPr>
                <a:t>PASO 08: CIERRE DE FASE C</a:t>
              </a:r>
              <a:endParaRPr b="1" sz="1800">
                <a:solidFill>
                  <a:srgbClr val="EA580C"/>
                </a:solidFill>
                <a:latin typeface="Inter"/>
                <a:ea typeface="Inter"/>
                <a:cs typeface="Inter"/>
                <a:sym typeface="Inter"/>
              </a:endParaRPr>
            </a:p>
          </p:txBody>
        </p:sp>
        <p:sp>
          <p:nvSpPr>
            <p:cNvPr id="169" name="Google Shape;169;p18"/>
            <p:cNvSpPr txBox="1"/>
            <p:nvPr/>
          </p:nvSpPr>
          <p:spPr>
            <a:xfrm>
              <a:off x="1371600" y="1333500"/>
              <a:ext cx="155448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4800">
                  <a:solidFill>
                    <a:srgbClr val="0A0915"/>
                  </a:solidFill>
                  <a:latin typeface="Inter"/>
                  <a:ea typeface="Inter"/>
                  <a:cs typeface="Inter"/>
                  <a:sym typeface="Inter"/>
                </a:rPr>
                <a:t>Cero bugs críticos abiertos</a:t>
              </a:r>
              <a:endParaRPr b="1" sz="4800">
                <a:solidFill>
                  <a:srgbClr val="0A0915"/>
                </a:solidFill>
                <a:latin typeface="Inter"/>
                <a:ea typeface="Inter"/>
                <a:cs typeface="Inter"/>
                <a:sym typeface="Inter"/>
              </a:endParaRPr>
            </a:p>
          </p:txBody>
        </p:sp>
      </p:grpSp>
      <p:grpSp>
        <p:nvGrpSpPr>
          <p:cNvPr id="170" name="Google Shape;170;p18"/>
          <p:cNvGrpSpPr/>
          <p:nvPr/>
        </p:nvGrpSpPr>
        <p:grpSpPr>
          <a:xfrm>
            <a:off x="1371600" y="3048000"/>
            <a:ext cx="15544800" cy="3810000"/>
            <a:chOff x="1371600" y="3048000"/>
            <a:chExt cx="15544800" cy="3810000"/>
          </a:xfrm>
        </p:grpSpPr>
        <p:sp>
          <p:nvSpPr>
            <p:cNvPr id="171" name="Google Shape;171;p18"/>
            <p:cNvSpPr/>
            <p:nvPr/>
          </p:nvSpPr>
          <p:spPr>
            <a:xfrm>
              <a:off x="1371600" y="3048000"/>
              <a:ext cx="15544800" cy="3810000"/>
            </a:xfrm>
            <a:prstGeom prst="roundRect">
              <a:avLst>
                <a:gd fmla="val 6000"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2" name="Google Shape;172;p18"/>
            <p:cNvSpPr txBox="1"/>
            <p:nvPr/>
          </p:nvSpPr>
          <p:spPr>
            <a:xfrm>
              <a:off x="1752600" y="3429000"/>
              <a:ext cx="14782800" cy="3048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2800">
                  <a:solidFill>
                    <a:srgbClr val="0A0915"/>
                  </a:solidFill>
                  <a:latin typeface="Inter"/>
                  <a:ea typeface="Inter"/>
                  <a:cs typeface="Inter"/>
                  <a:sym typeface="Inter"/>
                </a:rPr>
                <a:t>Para avanzar al despliegue final, la calidad técnica es innegociable:</a:t>
              </a:r>
              <a:endParaRPr b="0" sz="2800">
                <a:solidFill>
                  <a:srgbClr val="0A0915"/>
                </a:solidFill>
                <a:latin typeface="Inter"/>
                <a:ea typeface="Inter"/>
                <a:cs typeface="Inter"/>
                <a:sym typeface="Inter"/>
              </a:endParaRPr>
            </a:p>
            <a:p>
              <a:pPr indent="-406400" lvl="0" marL="457200" rtl="0" algn="l">
                <a:spcBef>
                  <a:spcPts val="1500"/>
                </a:spcBef>
                <a:spcAft>
                  <a:spcPts val="0"/>
                </a:spcAft>
                <a:buClr>
                  <a:srgbClr val="475569"/>
                </a:buClr>
                <a:buSzPts val="2800"/>
                <a:buFont typeface="Inter"/>
                <a:buChar char="●"/>
              </a:pPr>
              <a:r>
                <a:rPr b="1" lang="en-US" sz="2800">
                  <a:solidFill>
                    <a:srgbClr val="0A0915"/>
                  </a:solidFill>
                  <a:latin typeface="Inter"/>
                  <a:ea typeface="Inter"/>
                  <a:cs typeface="Inter"/>
                  <a:sym typeface="Inter"/>
                </a:rPr>
                <a:t>Bugs menores:</a:t>
              </a:r>
              <a:r>
                <a:rPr b="0" lang="en-US" sz="2800">
                  <a:solidFill>
                    <a:srgbClr val="475569"/>
                  </a:solidFill>
                  <a:latin typeface="Inter"/>
                  <a:ea typeface="Inter"/>
                  <a:cs typeface="Inter"/>
                  <a:sym typeface="Inter"/>
                </a:rPr>
                <a:t> Se pueden aceptar si cuentan con un responsable asignado y una fecha firme de resolución.</a:t>
              </a:r>
              <a:endParaRPr b="0" sz="2800">
                <a:solidFill>
                  <a:srgbClr val="475569"/>
                </a:solidFill>
                <a:latin typeface="Inter"/>
                <a:ea typeface="Inter"/>
                <a:cs typeface="Inter"/>
                <a:sym typeface="Inter"/>
              </a:endParaRPr>
            </a:p>
            <a:p>
              <a:pPr indent="-406400" lvl="0" marL="457200" rtl="0" algn="l">
                <a:spcBef>
                  <a:spcPts val="1125"/>
                </a:spcBef>
                <a:spcAft>
                  <a:spcPts val="0"/>
                </a:spcAft>
                <a:buClr>
                  <a:srgbClr val="475569"/>
                </a:buClr>
                <a:buSzPts val="2800"/>
                <a:buFont typeface="Inter"/>
                <a:buChar char="●"/>
              </a:pPr>
              <a:r>
                <a:rPr b="1" lang="en-US" sz="2800">
                  <a:solidFill>
                    <a:srgbClr val="0A0915"/>
                  </a:solidFill>
                  <a:latin typeface="Inter"/>
                  <a:ea typeface="Inter"/>
                  <a:cs typeface="Inter"/>
                  <a:sym typeface="Inter"/>
                </a:rPr>
                <a:t>Bugs críticos:</a:t>
              </a:r>
              <a:r>
                <a:rPr b="0" lang="en-US" sz="2800">
                  <a:solidFill>
                    <a:srgbClr val="475569"/>
                  </a:solidFill>
                  <a:latin typeface="Inter"/>
                  <a:ea typeface="Inter"/>
                  <a:cs typeface="Inter"/>
                  <a:sym typeface="Inter"/>
                </a:rPr>
                <a:t> Si un trámite presenta un error bloqueante que no logras resolver, es el momento de escalar.</a:t>
              </a:r>
              <a:endParaRPr b="0" sz="2800">
                <a:solidFill>
                  <a:srgbClr val="475569"/>
                </a:solidFill>
                <a:latin typeface="Inter"/>
                <a:ea typeface="Inter"/>
                <a:cs typeface="Inter"/>
                <a:sym typeface="Inter"/>
              </a:endParaRPr>
            </a:p>
          </p:txBody>
        </p:sp>
      </p:grpSp>
      <p:grpSp>
        <p:nvGrpSpPr>
          <p:cNvPr id="173" name="Google Shape;173;p18"/>
          <p:cNvGrpSpPr/>
          <p:nvPr/>
        </p:nvGrpSpPr>
        <p:grpSpPr>
          <a:xfrm>
            <a:off x="1371600" y="7239000"/>
            <a:ext cx="15544800" cy="1333500"/>
            <a:chOff x="1371600" y="7239000"/>
            <a:chExt cx="15544800" cy="1333500"/>
          </a:xfrm>
        </p:grpSpPr>
        <p:sp>
          <p:nvSpPr>
            <p:cNvPr id="174" name="Google Shape;174;p18"/>
            <p:cNvSpPr/>
            <p:nvPr/>
          </p:nvSpPr>
          <p:spPr>
            <a:xfrm>
              <a:off x="1371600" y="7239000"/>
              <a:ext cx="15544800" cy="1333500"/>
            </a:xfrm>
            <a:prstGeom prst="roundRect">
              <a:avLst>
                <a:gd fmla="val 8571" name="adj"/>
              </a:avLst>
            </a:prstGeom>
            <a:solidFill>
              <a:srgbClr val="FFF7ED"/>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5" name="Google Shape;175;p18"/>
            <p:cNvSpPr txBox="1"/>
            <p:nvPr/>
          </p:nvSpPr>
          <p:spPr>
            <a:xfrm>
              <a:off x="1752600" y="7239000"/>
              <a:ext cx="14782800" cy="1333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i="1" lang="en-US" sz="2200">
                  <a:solidFill>
                    <a:srgbClr val="9A3412"/>
                  </a:solidFill>
                  <a:latin typeface="Inter"/>
                  <a:ea typeface="Inter"/>
                  <a:cs typeface="Inter"/>
                  <a:sym typeface="Inter"/>
                </a:rPr>
                <a:t>"Si no logras resolver un bug crítico, esa es la señal para escalar a Sovra antes de avanzar."</a:t>
              </a:r>
              <a:endParaRPr b="1" i="1" sz="2200">
                <a:solidFill>
                  <a:srgbClr val="9A3412"/>
                </a:solidFill>
                <a:latin typeface="Inter"/>
                <a:ea typeface="Inter"/>
                <a:cs typeface="Inter"/>
                <a:sym typeface="Inte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19"/>
          <p:cNvSpPr/>
          <p:nvPr/>
        </p:nvSpPr>
        <p:spPr>
          <a:xfrm>
            <a:off x="0" y="0"/>
            <a:ext cx="18288000" cy="10287000"/>
          </a:xfrm>
          <a:prstGeom prst="rect">
            <a:avLst/>
          </a:prstGeom>
          <a:solidFill>
            <a:srgbClr val="EA580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 name="Google Shape;182;p19"/>
          <p:cNvSpPr txBox="1"/>
          <p:nvPr/>
        </p:nvSpPr>
        <p:spPr>
          <a:xfrm>
            <a:off x="1371600" y="3200400"/>
            <a:ext cx="15544800" cy="6465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Si la persona externa puede completar el </a:t>
            </a:r>
            <a:r>
              <a:rPr lang="en-US" sz="4200">
                <a:solidFill>
                  <a:srgbClr val="FFFFFF"/>
                </a:solidFill>
                <a:latin typeface="Inter"/>
                <a:ea typeface="Inter"/>
                <a:cs typeface="Inter"/>
                <a:sym typeface="Inter"/>
              </a:rPr>
              <a:t>trámite</a:t>
            </a:r>
            <a:r>
              <a:rPr b="0" i="0" lang="en-US" sz="4200" u="none" cap="none" strike="noStrike">
                <a:solidFill>
                  <a:srgbClr val="FFFFFF"/>
                </a:solidFill>
                <a:latin typeface="Inter"/>
                <a:ea typeface="Inter"/>
                <a:cs typeface="Inter"/>
                <a:sym typeface="Inter"/>
              </a:rPr>
              <a:t> sin ayuda,</a:t>
            </a:r>
            <a:endParaRPr/>
          </a:p>
        </p:txBody>
      </p:sp>
      <p:sp>
        <p:nvSpPr>
          <p:cNvPr id="183" name="Google Shape;183;p19"/>
          <p:cNvSpPr txBox="1"/>
          <p:nvPr/>
        </p:nvSpPr>
        <p:spPr>
          <a:xfrm>
            <a:off x="1371600" y="4754880"/>
            <a:ext cx="15544800" cy="1200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esta listo</a:t>
            </a:r>
            <a:endParaRPr/>
          </a:p>
        </p:txBody>
      </p:sp>
      <p:sp>
        <p:nvSpPr>
          <p:cNvPr id="184" name="Google Shape;184;p19"/>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Si no puede, todavia no. No hay puntos intermedios.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