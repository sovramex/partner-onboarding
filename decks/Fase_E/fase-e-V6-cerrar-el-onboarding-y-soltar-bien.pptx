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10287000" cx="18288000"/>
  <p:notesSz cx="6858000" cy="9144000"/>
  <p:embeddedFontLst>
    <p:embeddedFont>
      <p:font typeface="Inter"/>
      <p:regular r:id="rId15"/>
      <p:bold r:id="rId16"/>
      <p:italic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regular.fntdata"/><Relationship Id="rId14" Type="http://schemas.openxmlformats.org/officeDocument/2006/relationships/slide" Target="slides/slide9.xml"/><Relationship Id="rId17" Type="http://schemas.openxmlformats.org/officeDocument/2006/relationships/font" Target="fonts/Inter-italic.fntdata"/><Relationship Id="rId16" Type="http://schemas.openxmlformats.org/officeDocument/2006/relationships/font" Target="fonts/Inter-bold.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Inter-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Llegaste al final de todo el onboarding. Cinco fases, doce semanas, un gobierno operando una plataforma que hace tres meses no existía para ellos.</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8.8s · 22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 un buen momento para parar y mirar atrás. Pero también es el momento más sensible: cómo sueltas define cómo te recuerdan.</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41.6s · 104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Soltar bien tiene tres componentes. El primero es operacional: el gobierno opera con autonomía en Nivel 1, tu equipo entra solo cuando se escala, y los criterios para escalar están claros. El segundo es relacional: el coordinador y el dueño del proyecto saben que pueden seguir hablándote, pero también saben que tú ya no estás en su día a día. La transición tiene que ser explícita, no por desaparición. El tercero es político: el dueño del proyecto tiene en la mano los números y la narrativa para defender el proyecto frente a quien sea. Si lo dejas sin esas herramientas, el proyecto queda huérfano.</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6" name="Google Shape;12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6.0s · 15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todavía estás resolviendo cosas de día a día, no soltaste, te disfrazaste de soltado.</a:t>
            </a:r>
            <a:endParaRPr/>
          </a:p>
        </p:txBody>
      </p:sp>
      <p:sp>
        <p:nvSpPr>
          <p:cNvPr id="127" name="Google Shape;127;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 name="Google Shape;13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44.0s · 110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Ahora viene la pregunta que casi todos los partners se hacen: ¿y qué pasa contigo después de los noventa días? Hay dos caminos típicos. Uno es seguir como partner del mismo gobierno, ahora en fase de operación cotidiana, con un contrato distinto y un ritmo distinto. El gobierno que confió en ti para implementar es el que más probabilidades tiene de volver a llamarte para la siguiente fase: expansión a más trámites, integración con otros sistemas, soporte continuado. El otro camino es ir hacia otro gobierno, con un proyecto nuevo desde Fase A. Las lecciones que documentaste en este proyecto se vuelven el capital con el que entras al próximo.</a:t>
            </a:r>
            <a:endParaRPr/>
          </a:p>
        </p:txBody>
      </p:sp>
      <p:sp>
        <p:nvSpPr>
          <p:cNvPr id="138" name="Google Shape;138;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29.6s · 74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todavía no terminaste la certificación oficial de partner de SovraGov, el portal de certificación es tu siguiente parada. Ahí profundizas en cada módulo de la plataforma con detalle operativo: formularios, etapas, catálogos, pagos, citas, inspectores. Lo que en el onboarding viste como metodología, en certificación lo ves a nivel de cada acción concreta. Es lo que te falta para operar con la misma autonomía con la que ahora opera el gobierno que acompañaste.</a:t>
            </a:r>
            <a:endParaRPr/>
          </a:p>
        </p:txBody>
      </p:sp>
      <p:sp>
        <p:nvSpPr>
          <p:cNvPr id="153" name="Google Shape;153;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24.4s · 61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ya estás certificado, lo que sigue es la operación cotidiana: nuevos gobiernos en el pipeline, esta misma guía aplicada a contextos distintos, y la red de partners de Sovra con la que vas a cruzarte cada vez más. Cada implementación nueva es más rápida que la anterior, no porque la plataforma cambie, sino porque tú ya sabes dónde se tropieza.</a:t>
            </a:r>
            <a:endParaRPr/>
          </a:p>
        </p:txBody>
      </p:sp>
      <p:sp>
        <p:nvSpPr>
          <p:cNvPr id="164" name="Google Shape;164;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6" name="Google Shape;17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22.8s · 57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Algo más. Lo que acabas de hacer no es trivial. La mayoría de los proyectos de transformación digital en gobierno fracasan o se diluyen en el tiempo. Tú llevaste uno a producción con métricas, lecciones documentadas y un plan de continuidad. Eso es excepcional, aunque parezca obvio desde adentro. Tómate un minuto antes de moverte al siguiente.</a:t>
            </a:r>
            <a:endParaRPr/>
          </a:p>
        </p:txBody>
      </p:sp>
      <p:sp>
        <p:nvSpPr>
          <p:cNvPr id="177" name="Google Shape;177;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 name="Google Shape;183;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8.4s · 21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onboarding no termina cuando lanzaste. Termina cuando el gobierno opera sin ti y tú quedaste libre para el próximo proyecto.</a:t>
            </a:r>
            <a:endParaRPr/>
          </a:p>
        </p:txBody>
      </p:sp>
      <p:sp>
        <p:nvSpPr>
          <p:cNvPr id="184" name="Google Shape;184;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CA8A0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CA8A04"/>
                </a:solidFill>
                <a:latin typeface="Inter"/>
                <a:ea typeface="Inter"/>
                <a:cs typeface="Inter"/>
                <a:sym typeface="Inter"/>
              </a:rPr>
              <a:t>FASE E</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Cerrar el onboarding</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y soltar bien</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Cinco fases, doce semanas, un gobierno operando una plataforma que hace tres meses no existía para ellos.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762000"/>
            <a:ext cx="15544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2000">
                <a:solidFill>
                  <a:srgbClr val="CA8A04"/>
                </a:solidFill>
                <a:latin typeface="Inter"/>
                <a:ea typeface="Inter"/>
                <a:cs typeface="Inter"/>
                <a:sym typeface="Inter"/>
              </a:rPr>
              <a:t>EL MOMENTO MÁS SENSIBLE</a:t>
            </a:r>
            <a:endParaRPr b="1" sz="2000">
              <a:solidFill>
                <a:srgbClr val="CA8A04"/>
              </a:solidFill>
              <a:latin typeface="Inter"/>
              <a:ea typeface="Inter"/>
              <a:cs typeface="Inter"/>
              <a:sym typeface="Inter"/>
            </a:endParaRPr>
          </a:p>
        </p:txBody>
      </p:sp>
      <p:sp>
        <p:nvSpPr>
          <p:cNvPr id="96" name="Google Shape;96;p14"/>
          <p:cNvSpPr txBox="1"/>
          <p:nvPr/>
        </p:nvSpPr>
        <p:spPr>
          <a:xfrm>
            <a:off x="1371600" y="1333500"/>
            <a:ext cx="15544800" cy="18225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920">
                <a:solidFill>
                  <a:srgbClr val="0A0915"/>
                </a:solidFill>
                <a:latin typeface="Inter"/>
                <a:ea typeface="Inter"/>
                <a:cs typeface="Inter"/>
                <a:sym typeface="Inter"/>
              </a:rPr>
              <a:t>Cómo sueltas define</a:t>
            </a:r>
            <a:endParaRPr b="1" sz="5920">
              <a:solidFill>
                <a:srgbClr val="0A0915"/>
              </a:solidFill>
              <a:latin typeface="Inter"/>
              <a:ea typeface="Inter"/>
              <a:cs typeface="Inter"/>
              <a:sym typeface="Inter"/>
            </a:endParaRPr>
          </a:p>
          <a:p>
            <a:pPr indent="0" lvl="0" marL="0" rtl="0" algn="ctr">
              <a:spcBef>
                <a:spcPts val="0"/>
              </a:spcBef>
              <a:spcAft>
                <a:spcPts val="0"/>
              </a:spcAft>
              <a:buNone/>
            </a:pPr>
            <a:r>
              <a:rPr b="1" lang="en-US" sz="5920">
                <a:solidFill>
                  <a:srgbClr val="0A0915"/>
                </a:solidFill>
                <a:latin typeface="Inter"/>
                <a:ea typeface="Inter"/>
                <a:cs typeface="Inter"/>
                <a:sym typeface="Inter"/>
              </a:rPr>
              <a:t>cómo te recuerdan</a:t>
            </a:r>
            <a:endParaRPr b="1" sz="5920">
              <a:solidFill>
                <a:srgbClr val="0A0915"/>
              </a:solidFill>
              <a:latin typeface="Inter"/>
              <a:ea typeface="Inter"/>
              <a:cs typeface="Inter"/>
              <a:sym typeface="Inter"/>
            </a:endParaRPr>
          </a:p>
        </p:txBody>
      </p:sp>
      <p:sp>
        <p:nvSpPr>
          <p:cNvPr id="97" name="Google Shape;97;p14"/>
          <p:cNvSpPr/>
          <p:nvPr/>
        </p:nvSpPr>
        <p:spPr>
          <a:xfrm>
            <a:off x="8191500" y="3619500"/>
            <a:ext cx="1905000" cy="57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8" name="Google Shape;98;p14"/>
          <p:cNvGrpSpPr/>
          <p:nvPr/>
        </p:nvGrpSpPr>
        <p:grpSpPr>
          <a:xfrm>
            <a:off x="2286000" y="4381500"/>
            <a:ext cx="13716000" cy="3619500"/>
            <a:chOff x="2286000" y="4381500"/>
            <a:chExt cx="13716000" cy="3619500"/>
          </a:xfrm>
        </p:grpSpPr>
        <p:sp>
          <p:nvSpPr>
            <p:cNvPr id="99" name="Google Shape;99;p14"/>
            <p:cNvSpPr/>
            <p:nvPr/>
          </p:nvSpPr>
          <p:spPr>
            <a:xfrm>
              <a:off x="2286000" y="4381500"/>
              <a:ext cx="6477000" cy="3619500"/>
            </a:xfrm>
            <a:prstGeom prst="roundRect">
              <a:avLst>
                <a:gd fmla="val 10526"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14"/>
            <p:cNvSpPr/>
            <p:nvPr/>
          </p:nvSpPr>
          <p:spPr>
            <a:xfrm>
              <a:off x="2286000" y="4381500"/>
              <a:ext cx="6477000" cy="1143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4"/>
            <p:cNvSpPr txBox="1"/>
            <p:nvPr/>
          </p:nvSpPr>
          <p:spPr>
            <a:xfrm>
              <a:off x="2762250" y="4953000"/>
              <a:ext cx="55245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CA8A04"/>
                  </a:solidFill>
                  <a:latin typeface="Inter"/>
                  <a:ea typeface="Inter"/>
                  <a:cs typeface="Inter"/>
                  <a:sym typeface="Inter"/>
                </a:rPr>
                <a:t>Oportunidad</a:t>
              </a:r>
              <a:endParaRPr b="1" sz="2400">
                <a:solidFill>
                  <a:srgbClr val="CA8A04"/>
                </a:solidFill>
                <a:latin typeface="Inter"/>
                <a:ea typeface="Inter"/>
                <a:cs typeface="Inter"/>
                <a:sym typeface="Inter"/>
              </a:endParaRPr>
            </a:p>
            <a:p>
              <a:pPr indent="0" lvl="0" marL="0" rtl="0" algn="l">
                <a:spcBef>
                  <a:spcPts val="1500"/>
                </a:spcBef>
                <a:spcAft>
                  <a:spcPts val="0"/>
                </a:spcAft>
                <a:buNone/>
              </a:pPr>
              <a:r>
                <a:rPr b="0" lang="en-US" sz="2400">
                  <a:solidFill>
                    <a:srgbClr val="0A0915"/>
                  </a:solidFill>
                  <a:latin typeface="Inter"/>
                  <a:ea typeface="Inter"/>
                  <a:cs typeface="Inter"/>
                  <a:sym typeface="Inter"/>
                </a:rPr>
                <a:t>Es un buen momento para parar y mirar atrás.</a:t>
              </a:r>
              <a:endParaRPr b="0" sz="2400">
                <a:solidFill>
                  <a:srgbClr val="0A0915"/>
                </a:solidFill>
                <a:latin typeface="Inter"/>
                <a:ea typeface="Inter"/>
                <a:cs typeface="Inter"/>
                <a:sym typeface="Inter"/>
              </a:endParaRPr>
            </a:p>
          </p:txBody>
        </p:sp>
        <p:sp>
          <p:nvSpPr>
            <p:cNvPr id="102" name="Google Shape;102;p14"/>
            <p:cNvSpPr/>
            <p:nvPr/>
          </p:nvSpPr>
          <p:spPr>
            <a:xfrm>
              <a:off x="9525000" y="4381500"/>
              <a:ext cx="6477000" cy="3619500"/>
            </a:xfrm>
            <a:prstGeom prst="roundRect">
              <a:avLst>
                <a:gd fmla="val 10526"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4"/>
            <p:cNvSpPr/>
            <p:nvPr/>
          </p:nvSpPr>
          <p:spPr>
            <a:xfrm>
              <a:off x="9525000" y="4381500"/>
              <a:ext cx="6477000" cy="1143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14"/>
            <p:cNvSpPr txBox="1"/>
            <p:nvPr/>
          </p:nvSpPr>
          <p:spPr>
            <a:xfrm>
              <a:off x="10001250" y="4953000"/>
              <a:ext cx="5524500" cy="2667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CA8A04"/>
                  </a:solidFill>
                  <a:latin typeface="Inter"/>
                  <a:ea typeface="Inter"/>
                  <a:cs typeface="Inter"/>
                  <a:sym typeface="Inter"/>
                </a:rPr>
                <a:t>Riesgo</a:t>
              </a:r>
              <a:endParaRPr b="1" sz="2400">
                <a:solidFill>
                  <a:srgbClr val="CA8A04"/>
                </a:solidFill>
                <a:latin typeface="Inter"/>
                <a:ea typeface="Inter"/>
                <a:cs typeface="Inter"/>
                <a:sym typeface="Inter"/>
              </a:endParaRPr>
            </a:p>
            <a:p>
              <a:pPr indent="0" lvl="0" marL="0" rtl="0" algn="l">
                <a:spcBef>
                  <a:spcPts val="1500"/>
                </a:spcBef>
                <a:spcAft>
                  <a:spcPts val="0"/>
                </a:spcAft>
                <a:buNone/>
              </a:pPr>
              <a:r>
                <a:rPr b="0" lang="en-US" sz="2400">
                  <a:solidFill>
                    <a:srgbClr val="0A0915"/>
                  </a:solidFill>
                  <a:latin typeface="Inter"/>
                  <a:ea typeface="Inter"/>
                  <a:cs typeface="Inter"/>
                  <a:sym typeface="Inter"/>
                </a:rPr>
                <a:t>También es el momento más fácil de arruinar.</a:t>
              </a:r>
              <a:endParaRPr b="0" sz="2400">
                <a:solidFill>
                  <a:srgbClr val="0A0915"/>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Soltar bien tiene tres componentes</a:t>
            </a:r>
            <a:endParaRPr b="1" sz="5400">
              <a:solidFill>
                <a:srgbClr val="0A0915"/>
              </a:solidFill>
              <a:latin typeface="Inter"/>
              <a:ea typeface="Inter"/>
              <a:cs typeface="Inter"/>
              <a:sym typeface="Inter"/>
            </a:endParaRPr>
          </a:p>
        </p:txBody>
      </p:sp>
      <p:grpSp>
        <p:nvGrpSpPr>
          <p:cNvPr id="112" name="Google Shape;112;p15"/>
          <p:cNvGrpSpPr/>
          <p:nvPr/>
        </p:nvGrpSpPr>
        <p:grpSpPr>
          <a:xfrm>
            <a:off x="1143000" y="2667000"/>
            <a:ext cx="4953000" cy="5715000"/>
            <a:chOff x="1143000" y="2667000"/>
            <a:chExt cx="4953000" cy="5715000"/>
          </a:xfrm>
        </p:grpSpPr>
        <p:sp>
          <p:nvSpPr>
            <p:cNvPr id="113" name="Google Shape;113;p15"/>
            <p:cNvSpPr/>
            <p:nvPr/>
          </p:nvSpPr>
          <p:spPr>
            <a:xfrm>
              <a:off x="1143000" y="2667000"/>
              <a:ext cx="4953000" cy="5715000"/>
            </a:xfrm>
            <a:prstGeom prst="roundRect">
              <a:avLst>
                <a:gd fmla="val 769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4" name="Google Shape;114;p15"/>
            <p:cNvSpPr/>
            <p:nvPr/>
          </p:nvSpPr>
          <p:spPr>
            <a:xfrm>
              <a:off x="1143000" y="2667000"/>
              <a:ext cx="4953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5"/>
            <p:cNvSpPr txBox="1"/>
            <p:nvPr/>
          </p:nvSpPr>
          <p:spPr>
            <a:xfrm>
              <a:off x="1524000" y="3143250"/>
              <a:ext cx="4191000" cy="476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3600">
                  <a:solidFill>
                    <a:srgbClr val="CA8A04"/>
                  </a:solidFill>
                  <a:latin typeface="Material Icons"/>
                  <a:ea typeface="Material Icons"/>
                  <a:cs typeface="Material Icons"/>
                  <a:sym typeface="Material Icons"/>
                </a:rPr>
                <a:t></a:t>
              </a:r>
              <a:endParaRPr b="0" sz="3600">
                <a:solidFill>
                  <a:srgbClr val="CA8A04"/>
                </a:solidFill>
                <a:latin typeface="Material Icons"/>
                <a:ea typeface="Material Icons"/>
                <a:cs typeface="Material Icons"/>
                <a:sym typeface="Material Icons"/>
              </a:endParaRPr>
            </a:p>
            <a:p>
              <a:pPr indent="0" lvl="0" marL="0" rtl="0" algn="l">
                <a:spcBef>
                  <a:spcPts val="1500"/>
                </a:spcBef>
                <a:spcAft>
                  <a:spcPts val="0"/>
                </a:spcAft>
                <a:buNone/>
              </a:pPr>
              <a:r>
                <a:rPr b="1" lang="en-US" sz="3200">
                  <a:solidFill>
                    <a:srgbClr val="CA8A04"/>
                  </a:solidFill>
                  <a:latin typeface="Inter"/>
                  <a:ea typeface="Inter"/>
                  <a:cs typeface="Inter"/>
                  <a:sym typeface="Inter"/>
                </a:rPr>
                <a:t>Operacional</a:t>
              </a:r>
              <a:endParaRPr b="1" sz="3200">
                <a:solidFill>
                  <a:srgbClr val="CA8A04"/>
                </a:solidFill>
                <a:latin typeface="Inter"/>
                <a:ea typeface="Inter"/>
                <a:cs typeface="Inter"/>
                <a:sym typeface="Inter"/>
              </a:endParaRPr>
            </a:p>
            <a:p>
              <a:pPr indent="0" lvl="0" marL="0" rtl="0" algn="l">
                <a:spcBef>
                  <a:spcPts val="2250"/>
                </a:spcBef>
                <a:spcAft>
                  <a:spcPts val="0"/>
                </a:spcAft>
                <a:buNone/>
              </a:pPr>
              <a:r>
                <a:rPr b="0" lang="en-US" sz="2000">
                  <a:solidFill>
                    <a:srgbClr val="0A0915"/>
                  </a:solidFill>
                  <a:latin typeface="Inter"/>
                  <a:ea typeface="Inter"/>
                  <a:cs typeface="Inter"/>
                  <a:sym typeface="Inter"/>
                </a:rPr>
                <a:t>El gobierno opera </a:t>
              </a:r>
              <a:r>
                <a:rPr b="1" lang="en-US" sz="2000">
                  <a:solidFill>
                    <a:srgbClr val="0A0915"/>
                  </a:solidFill>
                  <a:latin typeface="Inter"/>
                  <a:ea typeface="Inter"/>
                  <a:cs typeface="Inter"/>
                  <a:sym typeface="Inter"/>
                </a:rPr>
                <a:t>Nivel 1 con autonomía</a:t>
              </a:r>
              <a:r>
                <a:rPr b="0" lang="en-US" sz="2000">
                  <a:solidFill>
                    <a:srgbClr val="0A0915"/>
                  </a:solidFill>
                  <a:latin typeface="Inter"/>
                  <a:ea typeface="Inter"/>
                  <a:cs typeface="Inter"/>
                  <a:sym typeface="Inter"/>
                </a:rPr>
                <a:t>. Tu equipo entra solo cuando se escala, con criterios claros.</a:t>
              </a:r>
              <a:endParaRPr b="0" sz="2000">
                <a:solidFill>
                  <a:srgbClr val="0A0915"/>
                </a:solidFill>
                <a:latin typeface="Inter"/>
                <a:ea typeface="Inter"/>
                <a:cs typeface="Inter"/>
                <a:sym typeface="Inter"/>
              </a:endParaRPr>
            </a:p>
          </p:txBody>
        </p:sp>
      </p:grpSp>
      <p:grpSp>
        <p:nvGrpSpPr>
          <p:cNvPr id="116" name="Google Shape;116;p15"/>
          <p:cNvGrpSpPr/>
          <p:nvPr/>
        </p:nvGrpSpPr>
        <p:grpSpPr>
          <a:xfrm>
            <a:off x="6667500" y="2667000"/>
            <a:ext cx="4953000" cy="5715000"/>
            <a:chOff x="6667500" y="2667000"/>
            <a:chExt cx="4953000" cy="5715000"/>
          </a:xfrm>
        </p:grpSpPr>
        <p:sp>
          <p:nvSpPr>
            <p:cNvPr id="117" name="Google Shape;117;p15"/>
            <p:cNvSpPr/>
            <p:nvPr/>
          </p:nvSpPr>
          <p:spPr>
            <a:xfrm>
              <a:off x="6667500" y="2667000"/>
              <a:ext cx="4953000" cy="5715000"/>
            </a:xfrm>
            <a:prstGeom prst="roundRect">
              <a:avLst>
                <a:gd fmla="val 769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15"/>
            <p:cNvSpPr/>
            <p:nvPr/>
          </p:nvSpPr>
          <p:spPr>
            <a:xfrm>
              <a:off x="6667500" y="2667000"/>
              <a:ext cx="4953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9" name="Google Shape;119;p15"/>
            <p:cNvSpPr txBox="1"/>
            <p:nvPr/>
          </p:nvSpPr>
          <p:spPr>
            <a:xfrm>
              <a:off x="7048500" y="3143250"/>
              <a:ext cx="4191000" cy="476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3600">
                  <a:solidFill>
                    <a:srgbClr val="CA8A04"/>
                  </a:solidFill>
                  <a:latin typeface="Material Icons"/>
                  <a:ea typeface="Material Icons"/>
                  <a:cs typeface="Material Icons"/>
                  <a:sym typeface="Material Icons"/>
                </a:rPr>
                <a:t></a:t>
              </a:r>
              <a:endParaRPr b="0" sz="3600">
                <a:solidFill>
                  <a:srgbClr val="CA8A04"/>
                </a:solidFill>
                <a:latin typeface="Material Icons"/>
                <a:ea typeface="Material Icons"/>
                <a:cs typeface="Material Icons"/>
                <a:sym typeface="Material Icons"/>
              </a:endParaRPr>
            </a:p>
            <a:p>
              <a:pPr indent="0" lvl="0" marL="0" rtl="0" algn="l">
                <a:spcBef>
                  <a:spcPts val="1500"/>
                </a:spcBef>
                <a:spcAft>
                  <a:spcPts val="0"/>
                </a:spcAft>
                <a:buNone/>
              </a:pPr>
              <a:r>
                <a:rPr b="1" lang="en-US" sz="3200">
                  <a:solidFill>
                    <a:srgbClr val="CA8A04"/>
                  </a:solidFill>
                  <a:latin typeface="Inter"/>
                  <a:ea typeface="Inter"/>
                  <a:cs typeface="Inter"/>
                  <a:sym typeface="Inter"/>
                </a:rPr>
                <a:t>Relacional</a:t>
              </a:r>
              <a:endParaRPr b="1" sz="3200">
                <a:solidFill>
                  <a:srgbClr val="CA8A04"/>
                </a:solidFill>
                <a:latin typeface="Inter"/>
                <a:ea typeface="Inter"/>
                <a:cs typeface="Inter"/>
                <a:sym typeface="Inter"/>
              </a:endParaRPr>
            </a:p>
            <a:p>
              <a:pPr indent="0" lvl="0" marL="0" rtl="0" algn="l">
                <a:spcBef>
                  <a:spcPts val="2250"/>
                </a:spcBef>
                <a:spcAft>
                  <a:spcPts val="0"/>
                </a:spcAft>
                <a:buNone/>
              </a:pPr>
              <a:r>
                <a:rPr b="0" lang="en-US" sz="2000">
                  <a:solidFill>
                    <a:srgbClr val="0A0915"/>
                  </a:solidFill>
                  <a:latin typeface="Inter"/>
                  <a:ea typeface="Inter"/>
                  <a:cs typeface="Inter"/>
                  <a:sym typeface="Inter"/>
                </a:rPr>
                <a:t>El coordinador y el dueño saben que </a:t>
              </a:r>
              <a:r>
                <a:rPr b="1" lang="en-US" sz="2000">
                  <a:solidFill>
                    <a:srgbClr val="0A0915"/>
                  </a:solidFill>
                  <a:latin typeface="Inter"/>
                  <a:ea typeface="Inter"/>
                  <a:cs typeface="Inter"/>
                  <a:sym typeface="Inter"/>
                </a:rPr>
                <a:t>pueden hablarte</a:t>
              </a:r>
              <a:r>
                <a:rPr b="0" lang="en-US" sz="2000">
                  <a:solidFill>
                    <a:srgbClr val="0A0915"/>
                  </a:solidFill>
                  <a:latin typeface="Inter"/>
                  <a:ea typeface="Inter"/>
                  <a:cs typeface="Inter"/>
                  <a:sym typeface="Inter"/>
                </a:rPr>
                <a:t>, pero también que ya no estás en su día a día.</a:t>
              </a:r>
              <a:endParaRPr b="0" sz="2000">
                <a:solidFill>
                  <a:srgbClr val="0A0915"/>
                </a:solidFill>
                <a:latin typeface="Inter"/>
                <a:ea typeface="Inter"/>
                <a:cs typeface="Inter"/>
                <a:sym typeface="Inter"/>
              </a:endParaRPr>
            </a:p>
          </p:txBody>
        </p:sp>
      </p:grpSp>
      <p:grpSp>
        <p:nvGrpSpPr>
          <p:cNvPr id="120" name="Google Shape;120;p15"/>
          <p:cNvGrpSpPr/>
          <p:nvPr/>
        </p:nvGrpSpPr>
        <p:grpSpPr>
          <a:xfrm>
            <a:off x="12192000" y="2667000"/>
            <a:ext cx="4953000" cy="5715000"/>
            <a:chOff x="12192000" y="2667000"/>
            <a:chExt cx="4953000" cy="5715000"/>
          </a:xfrm>
        </p:grpSpPr>
        <p:sp>
          <p:nvSpPr>
            <p:cNvPr id="121" name="Google Shape;121;p15"/>
            <p:cNvSpPr/>
            <p:nvPr/>
          </p:nvSpPr>
          <p:spPr>
            <a:xfrm>
              <a:off x="12192000" y="2667000"/>
              <a:ext cx="4953000" cy="5715000"/>
            </a:xfrm>
            <a:prstGeom prst="roundRect">
              <a:avLst>
                <a:gd fmla="val 769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2" name="Google Shape;122;p15"/>
            <p:cNvSpPr/>
            <p:nvPr/>
          </p:nvSpPr>
          <p:spPr>
            <a:xfrm>
              <a:off x="12192000" y="2667000"/>
              <a:ext cx="4953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5"/>
            <p:cNvSpPr txBox="1"/>
            <p:nvPr/>
          </p:nvSpPr>
          <p:spPr>
            <a:xfrm>
              <a:off x="12573000" y="3143250"/>
              <a:ext cx="4191000" cy="476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3600">
                  <a:solidFill>
                    <a:srgbClr val="CA8A04"/>
                  </a:solidFill>
                  <a:latin typeface="Material Icons"/>
                  <a:ea typeface="Material Icons"/>
                  <a:cs typeface="Material Icons"/>
                  <a:sym typeface="Material Icons"/>
                </a:rPr>
                <a:t></a:t>
              </a:r>
              <a:endParaRPr b="0" sz="3600">
                <a:solidFill>
                  <a:srgbClr val="CA8A04"/>
                </a:solidFill>
                <a:latin typeface="Material Icons"/>
                <a:ea typeface="Material Icons"/>
                <a:cs typeface="Material Icons"/>
                <a:sym typeface="Material Icons"/>
              </a:endParaRPr>
            </a:p>
            <a:p>
              <a:pPr indent="0" lvl="0" marL="0" rtl="0" algn="l">
                <a:spcBef>
                  <a:spcPts val="1500"/>
                </a:spcBef>
                <a:spcAft>
                  <a:spcPts val="0"/>
                </a:spcAft>
                <a:buNone/>
              </a:pPr>
              <a:r>
                <a:rPr b="1" lang="en-US" sz="3200">
                  <a:solidFill>
                    <a:srgbClr val="CA8A04"/>
                  </a:solidFill>
                  <a:latin typeface="Inter"/>
                  <a:ea typeface="Inter"/>
                  <a:cs typeface="Inter"/>
                  <a:sym typeface="Inter"/>
                </a:rPr>
                <a:t>Político</a:t>
              </a:r>
              <a:endParaRPr b="1" sz="3200">
                <a:solidFill>
                  <a:srgbClr val="CA8A04"/>
                </a:solidFill>
                <a:latin typeface="Inter"/>
                <a:ea typeface="Inter"/>
                <a:cs typeface="Inter"/>
                <a:sym typeface="Inter"/>
              </a:endParaRPr>
            </a:p>
            <a:p>
              <a:pPr indent="0" lvl="0" marL="0" rtl="0" algn="l">
                <a:spcBef>
                  <a:spcPts val="2250"/>
                </a:spcBef>
                <a:spcAft>
                  <a:spcPts val="0"/>
                </a:spcAft>
                <a:buNone/>
              </a:pPr>
              <a:r>
                <a:rPr b="0" lang="en-US" sz="2000">
                  <a:solidFill>
                    <a:srgbClr val="0A0915"/>
                  </a:solidFill>
                  <a:latin typeface="Inter"/>
                  <a:ea typeface="Inter"/>
                  <a:cs typeface="Inter"/>
                  <a:sym typeface="Inter"/>
                </a:rPr>
                <a:t>El dueño tiene los </a:t>
              </a:r>
              <a:r>
                <a:rPr b="1" lang="en-US" sz="2000">
                  <a:solidFill>
                    <a:srgbClr val="0A0915"/>
                  </a:solidFill>
                  <a:latin typeface="Inter"/>
                  <a:ea typeface="Inter"/>
                  <a:cs typeface="Inter"/>
                  <a:sym typeface="Inter"/>
                </a:rPr>
                <a:t>números y la narrativa</a:t>
              </a:r>
              <a:r>
                <a:rPr b="0" lang="en-US" sz="2000">
                  <a:solidFill>
                    <a:srgbClr val="0A0915"/>
                  </a:solidFill>
                  <a:latin typeface="Inter"/>
                  <a:ea typeface="Inter"/>
                  <a:cs typeface="Inter"/>
                  <a:sym typeface="Inter"/>
                </a:rPr>
                <a:t> para defender el proyecto frente a quien sea.</a:t>
              </a:r>
              <a:endParaRPr b="0" sz="2000">
                <a:solidFill>
                  <a:srgbClr val="0A0915"/>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6"/>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30" name="Google Shape;130;p16"/>
          <p:cNvGrpSpPr/>
          <p:nvPr/>
        </p:nvGrpSpPr>
        <p:grpSpPr>
          <a:xfrm>
            <a:off x="3429000" y="2286000"/>
            <a:ext cx="11430000" cy="5715000"/>
            <a:chOff x="3429000" y="2286000"/>
            <a:chExt cx="11430000" cy="5715000"/>
          </a:xfrm>
        </p:grpSpPr>
        <p:sp>
          <p:nvSpPr>
            <p:cNvPr id="131" name="Google Shape;131;p16"/>
            <p:cNvSpPr/>
            <p:nvPr/>
          </p:nvSpPr>
          <p:spPr>
            <a:xfrm>
              <a:off x="3429000" y="2286000"/>
              <a:ext cx="11430000" cy="5715000"/>
            </a:xfrm>
            <a:prstGeom prst="roundRect">
              <a:avLst>
                <a:gd fmla="val 6666"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6"/>
            <p:cNvSpPr/>
            <p:nvPr/>
          </p:nvSpPr>
          <p:spPr>
            <a:xfrm>
              <a:off x="3429000" y="2286000"/>
              <a:ext cx="11430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6"/>
            <p:cNvSpPr txBox="1"/>
            <p:nvPr/>
          </p:nvSpPr>
          <p:spPr>
            <a:xfrm>
              <a:off x="4000500" y="2857500"/>
              <a:ext cx="10287000" cy="457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CA8A04"/>
                  </a:solidFill>
                  <a:latin typeface="Inter"/>
                  <a:ea typeface="Inter"/>
                  <a:cs typeface="Inter"/>
                  <a:sym typeface="Inter"/>
                </a:rPr>
                <a:t>Señal de alarma</a:t>
              </a:r>
              <a:endParaRPr b="1" sz="2000">
                <a:solidFill>
                  <a:srgbClr val="CA8A04"/>
                </a:solidFill>
                <a:latin typeface="Inter"/>
                <a:ea typeface="Inter"/>
                <a:cs typeface="Inter"/>
                <a:sym typeface="Inter"/>
              </a:endParaRPr>
            </a:p>
            <a:p>
              <a:pPr indent="0" lvl="0" marL="0" rtl="0" algn="ctr">
                <a:spcBef>
                  <a:spcPts val="2250"/>
                </a:spcBef>
                <a:spcAft>
                  <a:spcPts val="0"/>
                </a:spcAft>
                <a:buNone/>
              </a:pPr>
              <a:r>
                <a:rPr b="1" lang="en-US" sz="5200">
                  <a:solidFill>
                    <a:srgbClr val="0A0915"/>
                  </a:solidFill>
                  <a:latin typeface="Inter"/>
                  <a:ea typeface="Inter"/>
                  <a:cs typeface="Inter"/>
                  <a:sym typeface="Inter"/>
                </a:rPr>
                <a:t>Si todavía estás resolviendo cosas del día a día, </a:t>
              </a:r>
              <a:r>
                <a:rPr b="1" lang="en-US" sz="5200">
                  <a:solidFill>
                    <a:srgbClr val="CA8A04"/>
                  </a:solidFill>
                  <a:latin typeface="Inter"/>
                  <a:ea typeface="Inter"/>
                  <a:cs typeface="Inter"/>
                  <a:sym typeface="Inter"/>
                </a:rPr>
                <a:t>no soltaste</a:t>
              </a:r>
              <a:endParaRPr b="1" sz="5200">
                <a:solidFill>
                  <a:srgbClr val="0A0915"/>
                </a:solidFill>
                <a:latin typeface="Inter"/>
                <a:ea typeface="Inter"/>
                <a:cs typeface="Inter"/>
                <a:sym typeface="Inter"/>
              </a:endParaRPr>
            </a:p>
            <a:p>
              <a:pPr indent="0" lvl="0" marL="0" rtl="0" algn="ctr">
                <a:spcBef>
                  <a:spcPts val="3000"/>
                </a:spcBef>
                <a:spcAft>
                  <a:spcPts val="0"/>
                </a:spcAft>
                <a:buNone/>
              </a:pPr>
              <a:r>
                <a:rPr b="0" i="1" lang="en-US" sz="2400">
                  <a:solidFill>
                    <a:srgbClr val="4B5563"/>
                  </a:solidFill>
                  <a:latin typeface="Inter"/>
                  <a:ea typeface="Inter"/>
                  <a:cs typeface="Inter"/>
                  <a:sym typeface="Inter"/>
                </a:rPr>
                <a:t>"Te disfrazaste de soltado. La transición tiene que ser explícita, no por desaparición."</a:t>
              </a:r>
              <a:endParaRPr b="0" i="1" sz="2400">
                <a:solidFill>
                  <a:srgbClr val="4B5563"/>
                </a:solidFill>
                <a:latin typeface="Inter"/>
                <a:ea typeface="Inter"/>
                <a:cs typeface="Inter"/>
                <a:sym typeface="Inter"/>
              </a:endParaRPr>
            </a:p>
          </p:txBody>
        </p:sp>
      </p:grpSp>
      <p:sp>
        <p:nvSpPr>
          <p:cNvPr id="134" name="Google Shape;134;p16"/>
          <p:cNvSpPr txBox="1"/>
          <p:nvPr/>
        </p:nvSpPr>
        <p:spPr>
          <a:xfrm>
            <a:off x="8191500" y="1040130"/>
            <a:ext cx="19050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6000">
                <a:solidFill>
                  <a:srgbClr val="CA8A04"/>
                </a:solidFill>
                <a:latin typeface="Material Icons"/>
                <a:ea typeface="Material Icons"/>
                <a:cs typeface="Material Icons"/>
                <a:sym typeface="Material Icons"/>
              </a:rPr>
              <a:t></a:t>
            </a:r>
            <a:endParaRPr sz="6000">
              <a:solidFill>
                <a:srgbClr val="CA8A04"/>
              </a:solidFill>
              <a:latin typeface="Material Icons"/>
              <a:ea typeface="Material Icons"/>
              <a:cs typeface="Material Icons"/>
              <a:sym typeface="Material Ico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7"/>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7"/>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400">
                <a:solidFill>
                  <a:srgbClr val="0A0915"/>
                </a:solidFill>
                <a:latin typeface="Inter"/>
                <a:ea typeface="Inter"/>
                <a:cs typeface="Inter"/>
                <a:sym typeface="Inter"/>
              </a:rPr>
              <a:t>¿Y qué pasa contigo después de los 90 días?</a:t>
            </a:r>
            <a:endParaRPr b="1" sz="5400">
              <a:solidFill>
                <a:srgbClr val="0A0915"/>
              </a:solidFill>
              <a:latin typeface="Inter"/>
              <a:ea typeface="Inter"/>
              <a:cs typeface="Inter"/>
              <a:sym typeface="Inter"/>
            </a:endParaRPr>
          </a:p>
        </p:txBody>
      </p:sp>
      <p:grpSp>
        <p:nvGrpSpPr>
          <p:cNvPr id="142" name="Google Shape;142;p17"/>
          <p:cNvGrpSpPr/>
          <p:nvPr/>
        </p:nvGrpSpPr>
        <p:grpSpPr>
          <a:xfrm>
            <a:off x="1905000" y="2857500"/>
            <a:ext cx="6667500" cy="5238900"/>
            <a:chOff x="1905000" y="2857500"/>
            <a:chExt cx="6667500" cy="5238900"/>
          </a:xfrm>
        </p:grpSpPr>
        <p:sp>
          <p:nvSpPr>
            <p:cNvPr id="143" name="Google Shape;143;p17"/>
            <p:cNvSpPr/>
            <p:nvPr/>
          </p:nvSpPr>
          <p:spPr>
            <a:xfrm>
              <a:off x="1905000" y="2857500"/>
              <a:ext cx="6667500" cy="5238900"/>
            </a:xfrm>
            <a:prstGeom prst="roundRect">
              <a:avLst>
                <a:gd fmla="val 727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p:nvPr/>
          </p:nvSpPr>
          <p:spPr>
            <a:xfrm>
              <a:off x="1905000" y="2857500"/>
              <a:ext cx="66675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txBox="1"/>
            <p:nvPr/>
          </p:nvSpPr>
          <p:spPr>
            <a:xfrm>
              <a:off x="2381250" y="3429000"/>
              <a:ext cx="5715000" cy="419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4800">
                  <a:solidFill>
                    <a:srgbClr val="CA8A04"/>
                  </a:solidFill>
                  <a:latin typeface="Material Icons"/>
                  <a:ea typeface="Material Icons"/>
                  <a:cs typeface="Material Icons"/>
                  <a:sym typeface="Material Icons"/>
                </a:rPr>
                <a:t></a:t>
              </a:r>
              <a:endParaRPr sz="4800">
                <a:solidFill>
                  <a:srgbClr val="CA8A04"/>
                </a:solidFill>
                <a:latin typeface="Material Icons"/>
                <a:ea typeface="Material Icons"/>
                <a:cs typeface="Material Icons"/>
                <a:sym typeface="Material Icons"/>
              </a:endParaRPr>
            </a:p>
            <a:p>
              <a:pPr indent="0" lvl="0" marL="0" rtl="0" algn="l">
                <a:spcBef>
                  <a:spcPts val="1500"/>
                </a:spcBef>
                <a:spcAft>
                  <a:spcPts val="0"/>
                </a:spcAft>
                <a:buNone/>
              </a:pPr>
              <a:r>
                <a:rPr b="1" lang="en-US" sz="2400">
                  <a:solidFill>
                    <a:srgbClr val="888888"/>
                  </a:solidFill>
                  <a:latin typeface="Inter"/>
                  <a:ea typeface="Inter"/>
                  <a:cs typeface="Inter"/>
                  <a:sym typeface="Inter"/>
                </a:rPr>
                <a:t>Camino 1 — Mismo gobierno</a:t>
              </a:r>
              <a:endParaRPr b="1" sz="2400">
                <a:solidFill>
                  <a:srgbClr val="888888"/>
                </a:solidFill>
                <a:latin typeface="Inter"/>
                <a:ea typeface="Inter"/>
                <a:cs typeface="Inter"/>
                <a:sym typeface="Inter"/>
              </a:endParaRPr>
            </a:p>
            <a:p>
              <a:pPr indent="0" lvl="0" marL="0" rtl="0" algn="l">
                <a:spcBef>
                  <a:spcPts val="2250"/>
                </a:spcBef>
                <a:spcAft>
                  <a:spcPts val="0"/>
                </a:spcAft>
                <a:buNone/>
              </a:pPr>
              <a:r>
                <a:rPr b="0" lang="en-US" sz="3200">
                  <a:solidFill>
                    <a:srgbClr val="0A0915"/>
                  </a:solidFill>
                  <a:latin typeface="Inter"/>
                  <a:ea typeface="Inter"/>
                  <a:cs typeface="Inter"/>
                  <a:sym typeface="Inter"/>
                </a:rPr>
                <a:t>Sigues como partner en operación cotidiana. </a:t>
              </a:r>
              <a:r>
                <a:rPr b="1" lang="en-US" sz="3200">
                  <a:solidFill>
                    <a:srgbClr val="CA8A04"/>
                  </a:solidFill>
                  <a:latin typeface="Inter"/>
                  <a:ea typeface="Inter"/>
                  <a:cs typeface="Inter"/>
                  <a:sym typeface="Inter"/>
                </a:rPr>
                <a:t>Expansión, integraciones, soporte continuado.</a:t>
              </a:r>
              <a:r>
                <a:rPr b="0" lang="en-US" sz="3200">
                  <a:solidFill>
                    <a:srgbClr val="0A0915"/>
                  </a:solidFill>
                  <a:latin typeface="Inter"/>
                  <a:ea typeface="Inter"/>
                  <a:cs typeface="Inter"/>
                  <a:sym typeface="Inter"/>
                </a:rPr>
                <a:t> Otro contrato, otro ritmo.</a:t>
              </a:r>
              <a:endParaRPr b="0" sz="3200">
                <a:solidFill>
                  <a:srgbClr val="0A0915"/>
                </a:solidFill>
                <a:latin typeface="Inter"/>
                <a:ea typeface="Inter"/>
                <a:cs typeface="Inter"/>
                <a:sym typeface="Inter"/>
              </a:endParaRPr>
            </a:p>
          </p:txBody>
        </p:sp>
      </p:grpSp>
      <p:grpSp>
        <p:nvGrpSpPr>
          <p:cNvPr id="146" name="Google Shape;146;p17"/>
          <p:cNvGrpSpPr/>
          <p:nvPr/>
        </p:nvGrpSpPr>
        <p:grpSpPr>
          <a:xfrm>
            <a:off x="9715500" y="2857500"/>
            <a:ext cx="6667500" cy="5238900"/>
            <a:chOff x="9715500" y="2857500"/>
            <a:chExt cx="6667500" cy="5238900"/>
          </a:xfrm>
        </p:grpSpPr>
        <p:sp>
          <p:nvSpPr>
            <p:cNvPr id="147" name="Google Shape;147;p17"/>
            <p:cNvSpPr/>
            <p:nvPr/>
          </p:nvSpPr>
          <p:spPr>
            <a:xfrm>
              <a:off x="9715500" y="2857500"/>
              <a:ext cx="6667500" cy="5238900"/>
            </a:xfrm>
            <a:prstGeom prst="roundRect">
              <a:avLst>
                <a:gd fmla="val 727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8" name="Google Shape;148;p17"/>
            <p:cNvSpPr/>
            <p:nvPr/>
          </p:nvSpPr>
          <p:spPr>
            <a:xfrm>
              <a:off x="9715500" y="2857500"/>
              <a:ext cx="66675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7"/>
            <p:cNvSpPr txBox="1"/>
            <p:nvPr/>
          </p:nvSpPr>
          <p:spPr>
            <a:xfrm>
              <a:off x="10191750" y="3429000"/>
              <a:ext cx="5715000" cy="419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4440">
                  <a:solidFill>
                    <a:srgbClr val="CA8A04"/>
                  </a:solidFill>
                  <a:latin typeface="Material Icons"/>
                  <a:ea typeface="Material Icons"/>
                  <a:cs typeface="Material Icons"/>
                  <a:sym typeface="Material Icons"/>
                </a:rPr>
                <a:t></a:t>
              </a:r>
              <a:endParaRPr sz="4440">
                <a:solidFill>
                  <a:srgbClr val="CA8A04"/>
                </a:solidFill>
                <a:latin typeface="Material Icons"/>
                <a:ea typeface="Material Icons"/>
                <a:cs typeface="Material Icons"/>
                <a:sym typeface="Material Icons"/>
              </a:endParaRPr>
            </a:p>
            <a:p>
              <a:pPr indent="0" lvl="0" marL="0" rtl="0" algn="l">
                <a:spcBef>
                  <a:spcPts val="1500"/>
                </a:spcBef>
                <a:spcAft>
                  <a:spcPts val="0"/>
                </a:spcAft>
                <a:buNone/>
              </a:pPr>
              <a:r>
                <a:rPr b="1" lang="en-US" sz="2220">
                  <a:solidFill>
                    <a:srgbClr val="888888"/>
                  </a:solidFill>
                  <a:latin typeface="Inter"/>
                  <a:ea typeface="Inter"/>
                  <a:cs typeface="Inter"/>
                  <a:sym typeface="Inter"/>
                </a:rPr>
                <a:t>Camino 2 — Nuevo gobierno</a:t>
              </a:r>
              <a:endParaRPr b="1" sz="2220">
                <a:solidFill>
                  <a:srgbClr val="888888"/>
                </a:solidFill>
                <a:latin typeface="Inter"/>
                <a:ea typeface="Inter"/>
                <a:cs typeface="Inter"/>
                <a:sym typeface="Inter"/>
              </a:endParaRPr>
            </a:p>
            <a:p>
              <a:pPr indent="0" lvl="0" marL="0" rtl="0" algn="l">
                <a:spcBef>
                  <a:spcPts val="2250"/>
                </a:spcBef>
                <a:spcAft>
                  <a:spcPts val="0"/>
                </a:spcAft>
                <a:buNone/>
              </a:pPr>
              <a:r>
                <a:rPr b="0" lang="en-US" sz="2960">
                  <a:solidFill>
                    <a:srgbClr val="0A0915"/>
                  </a:solidFill>
                  <a:latin typeface="Inter"/>
                  <a:ea typeface="Inter"/>
                  <a:cs typeface="Inter"/>
                  <a:sym typeface="Inter"/>
                </a:rPr>
                <a:t>Vas hacia otro gobierno con un proyecto nuevo desde Fase A.</a:t>
              </a:r>
              <a:endParaRPr b="0" sz="2960">
                <a:solidFill>
                  <a:srgbClr val="0A0915"/>
                </a:solidFill>
                <a:latin typeface="Inter"/>
                <a:ea typeface="Inter"/>
                <a:cs typeface="Inter"/>
                <a:sym typeface="Inter"/>
              </a:endParaRPr>
            </a:p>
            <a:p>
              <a:pPr indent="0" lvl="0" marL="0" rtl="0" algn="l">
                <a:spcBef>
                  <a:spcPts val="1500"/>
                </a:spcBef>
                <a:spcAft>
                  <a:spcPts val="0"/>
                </a:spcAft>
                <a:buNone/>
              </a:pPr>
              <a:r>
                <a:rPr b="1" lang="en-US" sz="2960">
                  <a:solidFill>
                    <a:srgbClr val="CA8A04"/>
                  </a:solidFill>
                  <a:latin typeface="Inter"/>
                  <a:ea typeface="Inter"/>
                  <a:cs typeface="Inter"/>
                  <a:sym typeface="Inter"/>
                </a:rPr>
                <a:t>Las lecciones documentadas son tu capital de entrada.</a:t>
              </a:r>
              <a:endParaRPr b="1" sz="2960">
                <a:solidFill>
                  <a:srgbClr val="CA8A04"/>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8"/>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56" name="Google Shape;156;p18"/>
          <p:cNvGrpSpPr/>
          <p:nvPr/>
        </p:nvGrpSpPr>
        <p:grpSpPr>
          <a:xfrm>
            <a:off x="3429000" y="2286000"/>
            <a:ext cx="11430000" cy="6096000"/>
            <a:chOff x="3429000" y="2286000"/>
            <a:chExt cx="11430000" cy="6096000"/>
          </a:xfrm>
        </p:grpSpPr>
        <p:sp>
          <p:nvSpPr>
            <p:cNvPr id="157" name="Google Shape;157;p18"/>
            <p:cNvSpPr/>
            <p:nvPr/>
          </p:nvSpPr>
          <p:spPr>
            <a:xfrm>
              <a:off x="3429000" y="2286000"/>
              <a:ext cx="11430000" cy="6096000"/>
            </a:xfrm>
            <a:prstGeom prst="roundRect">
              <a:avLst>
                <a:gd fmla="val 625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8" name="Google Shape;158;p18"/>
            <p:cNvSpPr/>
            <p:nvPr/>
          </p:nvSpPr>
          <p:spPr>
            <a:xfrm>
              <a:off x="3429000" y="2286000"/>
              <a:ext cx="11430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18"/>
            <p:cNvSpPr txBox="1"/>
            <p:nvPr/>
          </p:nvSpPr>
          <p:spPr>
            <a:xfrm>
              <a:off x="4000500" y="2857500"/>
              <a:ext cx="10287000" cy="495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CA8A04"/>
                  </a:solidFill>
                  <a:latin typeface="Inter"/>
                  <a:ea typeface="Inter"/>
                  <a:cs typeface="Inter"/>
                  <a:sym typeface="Inter"/>
                </a:rPr>
                <a:t>Tu siguiente parada</a:t>
              </a:r>
              <a:endParaRPr b="1" sz="2000">
                <a:solidFill>
                  <a:srgbClr val="CA8A04"/>
                </a:solidFill>
                <a:latin typeface="Inter"/>
                <a:ea typeface="Inter"/>
                <a:cs typeface="Inter"/>
                <a:sym typeface="Inter"/>
              </a:endParaRPr>
            </a:p>
            <a:p>
              <a:pPr indent="0" lvl="0" marL="0" rtl="0" algn="ctr">
                <a:spcBef>
                  <a:spcPts val="1800"/>
                </a:spcBef>
                <a:spcAft>
                  <a:spcPts val="0"/>
                </a:spcAft>
                <a:buNone/>
              </a:pPr>
              <a:r>
                <a:rPr b="1" lang="en-US" sz="5200">
                  <a:solidFill>
                    <a:srgbClr val="0A0915"/>
                  </a:solidFill>
                  <a:latin typeface="Inter"/>
                  <a:ea typeface="Inter"/>
                  <a:cs typeface="Inter"/>
                  <a:sym typeface="Inter"/>
                </a:rPr>
                <a:t>Si todavía no terminaste la certificación, </a:t>
              </a:r>
              <a:r>
                <a:rPr b="1" lang="en-US" sz="5200">
                  <a:solidFill>
                    <a:srgbClr val="CA8A04"/>
                  </a:solidFill>
                  <a:latin typeface="Inter"/>
                  <a:ea typeface="Inter"/>
                  <a:cs typeface="Inter"/>
                  <a:sym typeface="Inter"/>
                </a:rPr>
                <a:t>el portal es lo que sigue</a:t>
              </a:r>
              <a:endParaRPr b="1" sz="5200">
                <a:solidFill>
                  <a:srgbClr val="0A0915"/>
                </a:solidFill>
                <a:latin typeface="Inter"/>
                <a:ea typeface="Inter"/>
                <a:cs typeface="Inter"/>
                <a:sym typeface="Inter"/>
              </a:endParaRPr>
            </a:p>
            <a:p>
              <a:pPr indent="0" lvl="0" marL="0" rtl="0" algn="ctr">
                <a:spcBef>
                  <a:spcPts val="3000"/>
                </a:spcBef>
                <a:spcAft>
                  <a:spcPts val="0"/>
                </a:spcAft>
                <a:buNone/>
              </a:pPr>
              <a:r>
                <a:rPr b="0" i="1" lang="en-US" sz="2400">
                  <a:solidFill>
                    <a:srgbClr val="4B5563"/>
                  </a:solidFill>
                  <a:latin typeface="Inter"/>
                  <a:ea typeface="Inter"/>
                  <a:cs typeface="Inter"/>
                  <a:sym typeface="Inter"/>
                </a:rPr>
                <a:t>Profundizas cada módulo con detalle operativo: formularios, etapas, catálogos, pagos, citas, inspectores. Lo que viste como metodología, ahora lo ves a nivel de cada acción concreta.</a:t>
              </a:r>
              <a:endParaRPr b="0" i="1" sz="2400">
                <a:solidFill>
                  <a:srgbClr val="4B5563"/>
                </a:solidFill>
                <a:latin typeface="Inter"/>
                <a:ea typeface="Inter"/>
                <a:cs typeface="Inter"/>
                <a:sym typeface="Inter"/>
              </a:endParaRPr>
            </a:p>
          </p:txBody>
        </p:sp>
      </p:grpSp>
      <p:sp>
        <p:nvSpPr>
          <p:cNvPr id="160" name="Google Shape;160;p18"/>
          <p:cNvSpPr txBox="1"/>
          <p:nvPr/>
        </p:nvSpPr>
        <p:spPr>
          <a:xfrm>
            <a:off x="8191500" y="1230630"/>
            <a:ext cx="19050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6000">
                <a:solidFill>
                  <a:srgbClr val="CA8A04"/>
                </a:solidFill>
                <a:latin typeface="Material Icons"/>
                <a:ea typeface="Material Icons"/>
                <a:cs typeface="Material Icons"/>
                <a:sym typeface="Material Icons"/>
              </a:rPr>
              <a:t></a:t>
            </a:r>
            <a:endParaRPr sz="6000">
              <a:solidFill>
                <a:srgbClr val="CA8A04"/>
              </a:solidFill>
              <a:latin typeface="Material Icons"/>
              <a:ea typeface="Material Icons"/>
              <a:cs typeface="Material Icons"/>
              <a:sym typeface="Material Ico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9"/>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7" name="Google Shape;167;p19"/>
          <p:cNvGrpSpPr/>
          <p:nvPr/>
        </p:nvGrpSpPr>
        <p:grpSpPr>
          <a:xfrm>
            <a:off x="2476500" y="1905000"/>
            <a:ext cx="13335000" cy="6477000"/>
            <a:chOff x="2476500" y="1905000"/>
            <a:chExt cx="13335000" cy="6477000"/>
          </a:xfrm>
        </p:grpSpPr>
        <p:sp>
          <p:nvSpPr>
            <p:cNvPr id="168" name="Google Shape;168;p19"/>
            <p:cNvSpPr/>
            <p:nvPr/>
          </p:nvSpPr>
          <p:spPr>
            <a:xfrm>
              <a:off x="2476500" y="1905000"/>
              <a:ext cx="13335000" cy="6477000"/>
            </a:xfrm>
            <a:prstGeom prst="roundRect">
              <a:avLst>
                <a:gd fmla="val 5882"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9" name="Google Shape;169;p19"/>
            <p:cNvSpPr/>
            <p:nvPr/>
          </p:nvSpPr>
          <p:spPr>
            <a:xfrm>
              <a:off x="2476500" y="1905000"/>
              <a:ext cx="13335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0" name="Google Shape;170;p19"/>
            <p:cNvSpPr txBox="1"/>
            <p:nvPr/>
          </p:nvSpPr>
          <p:spPr>
            <a:xfrm>
              <a:off x="3429000" y="2476500"/>
              <a:ext cx="11430000" cy="5334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CA8A04"/>
                  </a:solidFill>
                  <a:latin typeface="Inter"/>
                  <a:ea typeface="Inter"/>
                  <a:cs typeface="Inter"/>
                  <a:sym typeface="Inter"/>
                </a:rPr>
                <a:t>Si ya estás certificado</a:t>
              </a:r>
              <a:endParaRPr b="1" sz="2400">
                <a:solidFill>
                  <a:srgbClr val="CA8A04"/>
                </a:solidFill>
                <a:latin typeface="Inter"/>
                <a:ea typeface="Inter"/>
                <a:cs typeface="Inter"/>
                <a:sym typeface="Inter"/>
              </a:endParaRPr>
            </a:p>
            <a:p>
              <a:pPr indent="0" lvl="0" marL="0" rtl="0" algn="ctr">
                <a:spcBef>
                  <a:spcPts val="1800"/>
                </a:spcBef>
                <a:spcAft>
                  <a:spcPts val="0"/>
                </a:spcAft>
                <a:buNone/>
              </a:pPr>
              <a:r>
                <a:rPr b="1" lang="en-US" sz="6400">
                  <a:solidFill>
                    <a:srgbClr val="0A0915"/>
                  </a:solidFill>
                  <a:latin typeface="Inter"/>
                  <a:ea typeface="Inter"/>
                  <a:cs typeface="Inter"/>
                  <a:sym typeface="Inter"/>
                </a:rPr>
                <a:t>Operación cotidiana</a:t>
              </a:r>
              <a:br>
                <a:rPr b="1" lang="en-US" sz="6400">
                  <a:solidFill>
                    <a:srgbClr val="0A0915"/>
                  </a:solidFill>
                  <a:latin typeface="Inter"/>
                  <a:ea typeface="Inter"/>
                  <a:cs typeface="Inter"/>
                  <a:sym typeface="Inter"/>
                </a:rPr>
              </a:br>
              <a:r>
                <a:rPr b="1" lang="en-US" sz="6400">
                  <a:solidFill>
                    <a:srgbClr val="CA8A04"/>
                  </a:solidFill>
                  <a:latin typeface="Inter"/>
                  <a:ea typeface="Inter"/>
                  <a:cs typeface="Inter"/>
                  <a:sym typeface="Inter"/>
                </a:rPr>
                <a:t>y la red de partners de Sovra</a:t>
              </a:r>
              <a:endParaRPr b="1" sz="6400">
                <a:solidFill>
                  <a:srgbClr val="0A0915"/>
                </a:solidFill>
                <a:latin typeface="Inter"/>
                <a:ea typeface="Inter"/>
                <a:cs typeface="Inter"/>
                <a:sym typeface="Inter"/>
              </a:endParaRPr>
            </a:p>
            <a:p>
              <a:pPr indent="0" lvl="0" marL="0" rtl="0" algn="ctr">
                <a:spcBef>
                  <a:spcPts val="3000"/>
                </a:spcBef>
                <a:spcAft>
                  <a:spcPts val="0"/>
                </a:spcAft>
                <a:buNone/>
              </a:pPr>
              <a:r>
                <a:rPr b="0" lang="en-US" sz="2600">
                  <a:solidFill>
                    <a:srgbClr val="4B5563"/>
                  </a:solidFill>
                  <a:latin typeface="Inter"/>
                  <a:ea typeface="Inter"/>
                  <a:cs typeface="Inter"/>
                  <a:sym typeface="Inter"/>
                </a:rPr>
                <a:t>Nuevos gobiernos en el pipeline, esta misma guía aplicada a contextos distintos. Cada implementación nueva es más rápida — </a:t>
              </a:r>
              <a:r>
                <a:rPr b="1" lang="en-US" sz="2600">
                  <a:solidFill>
                    <a:srgbClr val="0A0915"/>
                  </a:solidFill>
                  <a:latin typeface="Inter"/>
                  <a:ea typeface="Inter"/>
                  <a:cs typeface="Inter"/>
                  <a:sym typeface="Inter"/>
                </a:rPr>
                <a:t>no porque la plataforma cambie, sino porque tú ya sabes dónde se tropieza.</a:t>
              </a:r>
              <a:endParaRPr b="0" sz="2600">
                <a:solidFill>
                  <a:srgbClr val="4B5563"/>
                </a:solidFill>
                <a:latin typeface="Inter"/>
                <a:ea typeface="Inter"/>
                <a:cs typeface="Inter"/>
                <a:sym typeface="Inter"/>
              </a:endParaRPr>
            </a:p>
          </p:txBody>
        </p:sp>
      </p:grpSp>
      <p:grpSp>
        <p:nvGrpSpPr>
          <p:cNvPr id="171" name="Google Shape;171;p19"/>
          <p:cNvGrpSpPr/>
          <p:nvPr/>
        </p:nvGrpSpPr>
        <p:grpSpPr>
          <a:xfrm>
            <a:off x="8191500" y="952500"/>
            <a:ext cx="1905000" cy="1040130"/>
            <a:chOff x="8191500" y="952500"/>
            <a:chExt cx="1905000" cy="1040130"/>
          </a:xfrm>
        </p:grpSpPr>
        <p:sp>
          <p:nvSpPr>
            <p:cNvPr id="172" name="Google Shape;172;p19"/>
            <p:cNvSpPr/>
            <p:nvPr/>
          </p:nvSpPr>
          <p:spPr>
            <a:xfrm>
              <a:off x="8191500" y="952500"/>
              <a:ext cx="19050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3" name="Google Shape;173;p19"/>
            <p:cNvSpPr txBox="1"/>
            <p:nvPr/>
          </p:nvSpPr>
          <p:spPr>
            <a:xfrm>
              <a:off x="8191500" y="1040130"/>
              <a:ext cx="19050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6000">
                  <a:solidFill>
                    <a:srgbClr val="CA8A04"/>
                  </a:solidFill>
                  <a:latin typeface="Material Icons"/>
                  <a:ea typeface="Material Icons"/>
                  <a:cs typeface="Material Icons"/>
                  <a:sym typeface="Material Icons"/>
                </a:rPr>
                <a:t></a:t>
              </a:r>
              <a:endParaRPr sz="6000">
                <a:solidFill>
                  <a:srgbClr val="CA8A04"/>
                </a:solidFill>
                <a:latin typeface="Material Icons"/>
                <a:ea typeface="Material Icons"/>
                <a:cs typeface="Material Icons"/>
                <a:sym typeface="Material Icons"/>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0"/>
          <p:cNvSpPr txBox="1"/>
          <p:nvPr/>
        </p:nvSpPr>
        <p:spPr>
          <a:xfrm>
            <a:off x="7772400" y="1371600"/>
            <a:ext cx="2743200" cy="27432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8000" u="none" cap="none" strike="noStrike">
                <a:solidFill>
                  <a:srgbClr val="CA8A04"/>
                </a:solidFill>
                <a:latin typeface="Inter"/>
                <a:ea typeface="Inter"/>
                <a:cs typeface="Inter"/>
                <a:sym typeface="Inter"/>
              </a:rPr>
              <a:t>“</a:t>
            </a:r>
            <a:endParaRPr/>
          </a:p>
        </p:txBody>
      </p:sp>
      <p:sp>
        <p:nvSpPr>
          <p:cNvPr id="180" name="Google Shape;180;p20"/>
          <p:cNvSpPr txBox="1"/>
          <p:nvPr/>
        </p:nvSpPr>
        <p:spPr>
          <a:xfrm>
            <a:off x="1371600" y="4114800"/>
            <a:ext cx="15544800" cy="36576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La mayoría de los proyectos de transformación digital</a:t>
            </a:r>
            <a:endParaRPr/>
          </a:p>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en gobierno fracasan o se diluyen.</a:t>
            </a:r>
            <a:endParaRPr/>
          </a:p>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Tú llevaste uno a producción</a:t>
            </a:r>
            <a:endParaRPr/>
          </a:p>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con métricas, lecciones y plan de continuidad.</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1"/>
          <p:cNvSpPr/>
          <p:nvPr/>
        </p:nvSpPr>
        <p:spPr>
          <a:xfrm>
            <a:off x="0" y="0"/>
            <a:ext cx="18288000" cy="10287000"/>
          </a:xfrm>
          <a:prstGeom prst="rect">
            <a:avLst/>
          </a:prstGeom>
          <a:solidFill>
            <a:srgbClr val="CA8A0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21"/>
          <p:cNvSpPr txBox="1"/>
          <p:nvPr/>
        </p:nvSpPr>
        <p:spPr>
          <a:xfrm>
            <a:off x="1371600" y="32004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El onboarding no termina cuando lanzaste</a:t>
            </a:r>
            <a:endParaRPr/>
          </a:p>
        </p:txBody>
      </p:sp>
      <p:sp>
        <p:nvSpPr>
          <p:cNvPr id="188" name="Google Shape;188;p21"/>
          <p:cNvSpPr txBox="1"/>
          <p:nvPr/>
        </p:nvSpPr>
        <p:spPr>
          <a:xfrm>
            <a:off x="1371600" y="4000505"/>
            <a:ext cx="15544800" cy="25212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Termina cuando el gobierno opera sin ti</a:t>
            </a:r>
            <a:endParaRPr/>
          </a:p>
        </p:txBody>
      </p:sp>
      <p:sp>
        <p:nvSpPr>
          <p:cNvPr id="189" name="Google Shape;189;p21"/>
          <p:cNvSpPr txBox="1"/>
          <p:nvPr/>
        </p:nvSpPr>
        <p:spPr>
          <a:xfrm>
            <a:off x="1371600" y="6521700"/>
            <a:ext cx="15544800" cy="4617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y tú quedaste libre para el próximo proyecto.</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