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Llegaste al final de todo el onboarding. Cinco fases, doce semanas, un gobierno operando una plataforma que hace tres meses no existía para ellos.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8.8s · 22 palabras]</a:t>
            </a:r>
          </a:p>
          <a:p/>
          <a:p>
            <a:r>
              <a:t>Es un buen momento para parar y mirar atrás. Pero también es el momento más sensible: cómo sueltas define cómo te recuerdan.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41.6s · 104 palabras]</a:t>
            </a:r>
          </a:p>
          <a:p/>
          <a:p>
            <a:r>
              <a:t>Soltar bien tiene tres componentes. El primero es operacional: el gobierno opera con autonomía en Nivel 1, tu equipo entra solo cuando se escala, y los criterios para escalar están claros. El segundo es relacional: el coordinador y el dueño del proyecto saben que pueden seguir hablándote, pero también saben que tú ya no estás en su día a día. La transición tiene que ser explícita, no por desaparición. El tercero es político: el dueño del proyecto tiene en la mano los números y la narrativa para defender el proyecto frente a quien sea. Si lo dejas sin esas herramientas, el proyecto queda huérfano.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6.0s · 15 palabras]</a:t>
            </a:r>
          </a:p>
          <a:p/>
          <a:p>
            <a:r>
              <a:t>Si todavía estás resolviendo cosas de día a día, no soltaste, te disfrazaste de soltado.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44.0s · 110 palabras]</a:t>
            </a:r>
          </a:p>
          <a:p/>
          <a:p>
            <a:r>
              <a:t>Ahora viene la pregunta que casi todos los partners se hacen: ¿y qué pasa contigo después de los noventa días? Hay dos caminos típicos. Uno es seguir como partner del mismo gobierno, ahora en fase de operación cotidiana, con un contrato distinto y un ritmo distinto. El gobierno que confió en ti para implementar es el que más probabilidades tiene de volver a llamarte para la siguiente fase: expansión a más trámites, integración con otros sistemas, soporte continuado. El otro camino es ir hacia otro gobierno, con un proyecto nuevo desde Fase A. Las lecciones que documentaste en este proyecto se vuelven el capital con el que entras al próximo.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29.6s · 74 palabras]</a:t>
            </a:r>
          </a:p>
          <a:p/>
          <a:p>
            <a:r>
              <a:t>Si todavía no terminaste la certificación oficial de partner de SovraGov, el portal de certificación es tu siguiente parada. Ahí profundizas en cada módulo de la plataforma con detalle operativo: formularios, etapas, catálogos, pagos, citas, inspectores. Lo que en el onboarding viste como metodología, en certificación lo ves a nivel de cada acción concreta. Es lo que te falta para operar con la misma autonomía con la que ahora opera el gobierno que acompañaste.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24.4s · 61 palabras]</a:t>
            </a:r>
          </a:p>
          <a:p/>
          <a:p>
            <a:r>
              <a:t>Si ya estás certificado, lo que sigue es la operación cotidiana: nuevos gobiernos en el pipeline, esta misma guía aplicada a contextos distintos, y la red de partners de Sovra con la que vas a cruzarte cada vez más. Cada implementación nueva es más rápida que la anterior, no porque la plataforma cambie, sino porque tú ya sabes dónde se tropieza.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22.8s · 57 palabras]</a:t>
            </a:r>
          </a:p>
          <a:p/>
          <a:p>
            <a:r>
              <a:t>Algo más. Lo que acabas de hacer no es trivial. La mayoría de los proyectos de transformación digital en gobierno fracasan o se diluyen en el tiempo. Tú llevaste uno a producción con métricas, lecciones documentadas y un plan de continuidad. Eso es excepcional, aunque parezca obvio desde adentro. Tómate un minuto antes de moverte al siguiente.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8.4s · 21 palabras]</a:t>
            </a:r>
          </a:p>
          <a:p/>
          <a:p>
            <a:r>
              <a:t>El onboarding no termina cuando lanzaste. Termina cuando el gobierno opera sin ti y tú quedaste libre para el próximo proyecto.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CA8A04"/>
                </a:solidFill>
                <a:latin typeface="Figtree"/>
              </a:rPr>
              <a:t>FASE E</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Cerrar el onboarding</a:t>
            </a:r>
          </a:p>
          <a:p>
            <a:pPr algn="l">
              <a:lnSpc>
                <a:spcPct val="110000"/>
              </a:lnSpc>
            </a:pPr>
            <a:r>
              <a:rPr sz="8000" b="1" i="0">
                <a:solidFill>
                  <a:srgbClr val="0A0915"/>
                </a:solidFill>
                <a:latin typeface="Plus Jakarta Sans"/>
              </a:rPr>
              <a:t>y soltar bien.</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Cinco fases, doce semanas, un gobierno operando una plataforma que hace tres meses no existía para ellos.</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CA8A04"/>
                </a:solidFill>
                <a:latin typeface="Figtree"/>
              </a:rPr>
              <a:t>El momento más sensible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Cómo sueltas define</a:t>
            </a:r>
          </a:p>
          <a:p>
            <a:pPr algn="ctr">
              <a:lnSpc>
                <a:spcPct val="115000"/>
              </a:lnSpc>
            </a:pPr>
            <a:r>
              <a:rPr sz="5600" b="1" i="0">
                <a:solidFill>
                  <a:srgbClr val="0A0915"/>
                </a:solidFill>
                <a:latin typeface="Plus Jakarta Sans"/>
              </a:rPr>
              <a:t>cómo te recuerdan.</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Es un buen momento para parar y mirar atrás. También es el momento más fácil de arruinar.</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Soltar bien tiene tres componentes.</a:t>
            </a:r>
          </a:p>
        </p:txBody>
      </p:sp>
      <p:sp>
        <p:nvSpPr>
          <p:cNvPr id="3" name="Rounded Rectangle 2"/>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4572000"/>
            <a:ext cx="5029200" cy="13716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CA8A04"/>
                </a:solidFill>
                <a:latin typeface="Plus Jakarta Sans"/>
              </a:rPr>
              <a:t>Operacional</a:t>
            </a:r>
          </a:p>
        </p:txBody>
      </p:sp>
      <p:sp>
        <p:nvSpPr>
          <p:cNvPr id="6" name="TextBox 5"/>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El gobierno opera Nivel 1 con autonomía. Tu equipo entra solo cuando se escala, con criterios claros.</a:t>
            </a:r>
          </a:p>
        </p:txBody>
      </p:sp>
      <p:sp>
        <p:nvSpPr>
          <p:cNvPr id="7" name="Rounded Rectangle 6"/>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29400" y="4572000"/>
            <a:ext cx="5029200" cy="13716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CA8A04"/>
                </a:solidFill>
                <a:latin typeface="Plus Jakarta Sans"/>
              </a:rPr>
              <a:t>Relacional</a:t>
            </a:r>
          </a:p>
        </p:txBody>
      </p:sp>
      <p:sp>
        <p:nvSpPr>
          <p:cNvPr id="10" name="TextBox 9"/>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El coordinador y el dueño saben que pueden hablarte, pero también que ya no estás en su día a día.</a:t>
            </a:r>
          </a:p>
        </p:txBody>
      </p:sp>
      <p:sp>
        <p:nvSpPr>
          <p:cNvPr id="11" name="Rounded Rectangle 10"/>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15800" y="4572000"/>
            <a:ext cx="5029200" cy="13716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CA8A04"/>
                </a:solidFill>
                <a:latin typeface="Plus Jakarta Sans"/>
              </a:rPr>
              <a:t>Político</a:t>
            </a:r>
          </a:p>
        </p:txBody>
      </p:sp>
      <p:sp>
        <p:nvSpPr>
          <p:cNvPr id="14" name="TextBox 13"/>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El dueño tiene los números y la narrativa para defender el proyecto frente a quien sea.</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CA8A04"/>
                </a:solidFill>
                <a:latin typeface="Figtree"/>
              </a:rPr>
              <a:t>Señal de alarma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Si todavía estás resolviendo cosas del día a día,</a:t>
            </a:r>
          </a:p>
          <a:p>
            <a:pPr algn="ctr">
              <a:lnSpc>
                <a:spcPct val="115000"/>
              </a:lnSpc>
            </a:pPr>
            <a:r>
              <a:rPr sz="5600" b="1" i="0">
                <a:solidFill>
                  <a:srgbClr val="0A0915"/>
                </a:solidFill>
                <a:latin typeface="Plus Jakarta Sans"/>
              </a:rPr>
              <a:t>no soltaste.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Te disfrazaste de soltado. La transición tiene que ser explícita, no por desaparición.</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¿Y qué pasa contigo</a:t>
            </a:r>
          </a:p>
          <a:p>
            <a:pPr algn="ctr">
              <a:lnSpc>
                <a:spcPct val="115000"/>
              </a:lnSpc>
            </a:pPr>
            <a:r>
              <a:rPr sz="4400" b="1" i="0">
                <a:solidFill>
                  <a:srgbClr val="0A0915"/>
                </a:solidFill>
                <a:latin typeface="Plus Jakarta Sans"/>
              </a:rPr>
              <a:t>después de los 90 días?</a:t>
            </a:r>
          </a:p>
        </p:txBody>
      </p:sp>
      <p:sp>
        <p:nvSpPr>
          <p:cNvPr id="3" name="Rounded Rectangle 2"/>
          <p:cNvSpPr/>
          <p:nvPr/>
        </p:nvSpPr>
        <p:spPr>
          <a:xfrm>
            <a:off x="1828800" y="4572000"/>
            <a:ext cx="6400800" cy="411480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029200"/>
            <a:ext cx="5486400" cy="731520"/>
          </a:xfrm>
          <a:prstGeom prst="rect">
            <a:avLst/>
          </a:prstGeom>
          <a:noFill/>
        </p:spPr>
        <p:txBody>
          <a:bodyPr wrap="square" anchor="t" lIns="0" rIns="0" tIns="0" bIns="0">
            <a:spAutoFit/>
          </a:bodyPr>
          <a:lstStyle/>
          <a:p>
            <a:pPr algn="l">
              <a:lnSpc>
                <a:spcPct val="115000"/>
              </a:lnSpc>
            </a:pPr>
            <a:r>
              <a:rPr sz="1800" b="1" i="0">
                <a:solidFill>
                  <a:srgbClr val="888888"/>
                </a:solidFill>
                <a:latin typeface="Figtree"/>
              </a:rPr>
              <a:t>Camino 1 — Mismo gobierno</a:t>
            </a:r>
          </a:p>
        </p:txBody>
      </p:sp>
      <p:sp>
        <p:nvSpPr>
          <p:cNvPr id="5" name="TextBox 4"/>
          <p:cNvSpPr txBox="1"/>
          <p:nvPr/>
        </p:nvSpPr>
        <p:spPr>
          <a:xfrm>
            <a:off x="2286000" y="6035040"/>
            <a:ext cx="5486400" cy="2286000"/>
          </a:xfrm>
          <a:prstGeom prst="rect">
            <a:avLst/>
          </a:prstGeom>
          <a:noFill/>
        </p:spPr>
        <p:txBody>
          <a:bodyPr wrap="square" anchor="t" lIns="0" rIns="0" tIns="0" bIns="0">
            <a:spAutoFit/>
          </a:bodyPr>
          <a:lstStyle/>
          <a:p>
            <a:pPr algn="l">
              <a:lnSpc>
                <a:spcPct val="130000"/>
              </a:lnSpc>
            </a:pPr>
            <a:r>
              <a:rPr sz="2800" b="0" i="0">
                <a:solidFill>
                  <a:srgbClr val="0A0915"/>
                </a:solidFill>
                <a:latin typeface="Plus Jakarta Sans"/>
              </a:rPr>
              <a:t>Sigues como partner en operación cotidiana. Expansión, integraciones, soporte continuado. Otro contrato, otro ritmo.</a:t>
            </a:r>
          </a:p>
        </p:txBody>
      </p:sp>
      <p:sp>
        <p:nvSpPr>
          <p:cNvPr id="6" name="Rounded Rectangle 5"/>
          <p:cNvSpPr/>
          <p:nvPr/>
        </p:nvSpPr>
        <p:spPr>
          <a:xfrm>
            <a:off x="10058400" y="4572000"/>
            <a:ext cx="6400800" cy="41148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5029200"/>
            <a:ext cx="5486400" cy="731520"/>
          </a:xfrm>
          <a:prstGeom prst="rect">
            <a:avLst/>
          </a:prstGeom>
          <a:noFill/>
        </p:spPr>
        <p:txBody>
          <a:bodyPr wrap="square" anchor="t" lIns="0" rIns="0" tIns="0" bIns="0">
            <a:spAutoFit/>
          </a:bodyPr>
          <a:lstStyle/>
          <a:p>
            <a:pPr algn="l">
              <a:lnSpc>
                <a:spcPct val="115000"/>
              </a:lnSpc>
            </a:pPr>
            <a:r>
              <a:rPr sz="1800" b="1" i="0">
                <a:solidFill>
                  <a:srgbClr val="888888"/>
                </a:solidFill>
                <a:latin typeface="Figtree"/>
              </a:rPr>
              <a:t>Camino 2 — Nuevo gobierno</a:t>
            </a:r>
          </a:p>
        </p:txBody>
      </p:sp>
      <p:sp>
        <p:nvSpPr>
          <p:cNvPr id="8" name="TextBox 7"/>
          <p:cNvSpPr txBox="1"/>
          <p:nvPr/>
        </p:nvSpPr>
        <p:spPr>
          <a:xfrm>
            <a:off x="10515600" y="6035040"/>
            <a:ext cx="5486400" cy="2286000"/>
          </a:xfrm>
          <a:prstGeom prst="rect">
            <a:avLst/>
          </a:prstGeom>
          <a:noFill/>
        </p:spPr>
        <p:txBody>
          <a:bodyPr wrap="square" anchor="t" lIns="0" rIns="0" tIns="0" bIns="0">
            <a:spAutoFit/>
          </a:bodyPr>
          <a:lstStyle/>
          <a:p>
            <a:pPr algn="l">
              <a:lnSpc>
                <a:spcPct val="130000"/>
              </a:lnSpc>
            </a:pPr>
            <a:r>
              <a:rPr sz="2800" b="0" i="0">
                <a:solidFill>
                  <a:srgbClr val="0A0915"/>
                </a:solidFill>
                <a:latin typeface="Plus Jakarta Sans"/>
              </a:rPr>
              <a:t>Vas hacia otro gobierno con un proyecto nuevo desde Fase A.</a:t>
            </a:r>
          </a:p>
          <a:p>
            <a:pPr algn="l">
              <a:lnSpc>
                <a:spcPct val="130000"/>
              </a:lnSpc>
            </a:pPr>
            <a:r>
              <a:rPr sz="2800" b="0" i="0">
                <a:solidFill>
                  <a:srgbClr val="0A0915"/>
                </a:solidFill>
                <a:latin typeface="Plus Jakarta Sans"/>
              </a:rPr>
              <a:t>Las lecciones documentadas son tu capital de entrada.</a:t>
            </a:r>
          </a:p>
        </p:txBody>
      </p:sp>
      <p:sp>
        <p:nvSpPr>
          <p:cNvPr id="9" name="TextBox 8"/>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CA8A04"/>
                </a:solidFill>
                <a:latin typeface="Figtree"/>
              </a:rPr>
              <a:t>Tu siguiente parada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Si todavía no terminaste la certificación,</a:t>
            </a:r>
          </a:p>
          <a:p>
            <a:pPr algn="ctr">
              <a:lnSpc>
                <a:spcPct val="115000"/>
              </a:lnSpc>
            </a:pPr>
            <a:r>
              <a:rPr sz="5600" b="1" i="0">
                <a:solidFill>
                  <a:srgbClr val="0A0915"/>
                </a:solidFill>
                <a:latin typeface="Plus Jakarta Sans"/>
              </a:rPr>
              <a:t>el portal es lo que sigue.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Profundizas cada módulo con detalle operativo: formularios, etapas, catálogos, pagos, citas, inspectores. Lo que viste como metodología, ahora lo ves a nivel de cada acción concreta.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CA8A04"/>
                </a:solidFill>
                <a:latin typeface="Figtree"/>
              </a:rPr>
              <a:t>Si ya estás certificado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Operación cotidiana</a:t>
            </a:r>
          </a:p>
          <a:p>
            <a:pPr algn="ctr">
              <a:lnSpc>
                <a:spcPct val="115000"/>
              </a:lnSpc>
            </a:pPr>
            <a:r>
              <a:rPr sz="5600" b="1" i="0">
                <a:solidFill>
                  <a:srgbClr val="0A0915"/>
                </a:solidFill>
                <a:latin typeface="Plus Jakarta Sans"/>
              </a:rPr>
              <a:t>y la red de partners de Sovra.</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Nuevos gobiernos en el pipeline, esta misma guía aplicada a contextos distintos. Cada implementación nueva es más rápida — no porque la plataforma cambie, sino porque tú ya sabes dónde se tropieza.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0" y="1371600"/>
            <a:ext cx="2743200" cy="2743200"/>
          </a:xfrm>
          <a:prstGeom prst="rect">
            <a:avLst/>
          </a:prstGeom>
          <a:noFill/>
        </p:spPr>
        <p:txBody>
          <a:bodyPr wrap="square" anchor="t" lIns="0" rIns="0" tIns="0" bIns="0">
            <a:spAutoFit/>
          </a:bodyPr>
          <a:lstStyle/>
          <a:p>
            <a:pPr algn="ctr">
              <a:lnSpc>
                <a:spcPct val="115000"/>
              </a:lnSpc>
            </a:pPr>
            <a:r>
              <a:rPr sz="18000" b="1" i="0">
                <a:solidFill>
                  <a:srgbClr val="CA8A04"/>
                </a:solidFill>
                <a:latin typeface="Plus Jakarta Sans"/>
              </a:rPr>
              <a:t>“</a:t>
            </a:r>
          </a:p>
        </p:txBody>
      </p:sp>
      <p:sp>
        <p:nvSpPr>
          <p:cNvPr id="3" name="TextBox 2"/>
          <p:cNvSpPr txBox="1"/>
          <p:nvPr/>
        </p:nvSpPr>
        <p:spPr>
          <a:xfrm>
            <a:off x="1371600" y="4114800"/>
            <a:ext cx="15544800" cy="3657600"/>
          </a:xfrm>
          <a:prstGeom prst="rect">
            <a:avLst/>
          </a:prstGeom>
          <a:noFill/>
        </p:spPr>
        <p:txBody>
          <a:bodyPr wrap="square" anchor="t" lIns="0" rIns="0" tIns="0" bIns="0">
            <a:spAutoFit/>
          </a:bodyPr>
          <a:lstStyle/>
          <a:p>
            <a:pPr algn="ctr">
              <a:lnSpc>
                <a:spcPct val="130000"/>
              </a:lnSpc>
            </a:pPr>
            <a:r>
              <a:rPr sz="4400" b="1" i="0">
                <a:solidFill>
                  <a:srgbClr val="0A0915"/>
                </a:solidFill>
                <a:latin typeface="Plus Jakarta Sans"/>
              </a:rPr>
              <a:t>La mayoría de los proyectos de transformación digital</a:t>
            </a:r>
          </a:p>
          <a:p>
            <a:pPr algn="ctr">
              <a:lnSpc>
                <a:spcPct val="130000"/>
              </a:lnSpc>
            </a:pPr>
            <a:r>
              <a:rPr sz="4400" b="1" i="0">
                <a:solidFill>
                  <a:srgbClr val="0A0915"/>
                </a:solidFill>
                <a:latin typeface="Plus Jakarta Sans"/>
              </a:rPr>
              <a:t>en gobierno fracasan o se diluyen.</a:t>
            </a:r>
          </a:p>
          <a:p>
            <a:pPr algn="ctr">
              <a:lnSpc>
                <a:spcPct val="130000"/>
              </a:lnSpc>
            </a:pPr>
            <a:r>
              <a:rPr sz="4400" b="1" i="0">
                <a:solidFill>
                  <a:srgbClr val="0A0915"/>
                </a:solidFill>
                <a:latin typeface="Plus Jakarta Sans"/>
              </a:rPr>
              <a:t>Tú llevaste uno a producción</a:t>
            </a:r>
          </a:p>
          <a:p>
            <a:pPr algn="ctr">
              <a:lnSpc>
                <a:spcPct val="130000"/>
              </a:lnSpc>
            </a:pPr>
            <a:r>
              <a:rPr sz="4400" b="1" i="0">
                <a:solidFill>
                  <a:srgbClr val="0A0915"/>
                </a:solidFill>
                <a:latin typeface="Plus Jakarta Sans"/>
              </a:rPr>
              <a:t>con métricas, lecciones y plan de continuidad.</a:t>
            </a:r>
          </a:p>
        </p:txBody>
      </p:sp>
      <p:sp>
        <p:nvSpPr>
          <p:cNvPr id="4" name="TextBox 3"/>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El onboarding no termina cuando lanzaste.</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Termina cuando el gobierno opera sin ti</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y tú quedaste libre para el próximo proyecto.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