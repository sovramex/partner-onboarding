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Inter"/>
      <p:regular r:id="rId15"/>
      <p:bold r:id="rId16"/>
      <p:italic r:id="rId17"/>
      <p:boldItalic r:id="rId18"/>
    </p:embeddedFont>
    <p:embeddedFont>
      <p:font typeface="Inter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slide" Target="slides/slide6.xml"/><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regular.fntdata"/><Relationship Id="rId14" Type="http://schemas.openxmlformats.org/officeDocument/2006/relationships/slide" Target="slides/slide9.xml"/><Relationship Id="rId17" Type="http://schemas.openxmlformats.org/officeDocument/2006/relationships/font" Target="fonts/Inter-italic.fntdata"/><Relationship Id="rId16" Type="http://schemas.openxmlformats.org/officeDocument/2006/relationships/font" Target="fonts/Inter-bold.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18.8s · 47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reporte final es el documento que cierra el ciclo de noventa días. No es un trámite administrativo. Es la herramienta con la que el dueño del proyecto del gobierno va a defender la implementación frente a su jefe, a la prensa, o a la siguiente gestión.</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10.4s · 26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está bien hecho, el proyecto sobrevive cualquier cambio político. Si está mal hecho, el próximo funcionario que llegue va a cuestionar todo lo que hicieron.</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31.2s · 78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agenda tiene cinco bloques y conviene respetar el orden. Primero presentas el reporte final con las métricas de adopción, operación y calidad. Después un resumen de las lecciones aprendidas, sin entrar en el detalle del documento completo. Después el plan de continuidad: qué sigue, quién opera, cómo es el soporte después de los noventa días. Después defines roles post-implementación. Y al final, celebras lo logrado. Esto no es opcional: el gobierno merece reconocimiento explícito por el trabajo.</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10.0s · 25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reunión de cierre la lideras tú como líder del partner, y participan el dueño del proyecto y el coordinador. Dura una o dos horas.</a:t>
            </a:r>
            <a:endParaRPr/>
          </a:p>
        </p:txBody>
      </p:sp>
      <p:sp>
        <p:nvSpPr>
          <p:cNvPr id="137" name="Google Shape;13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24.4s · 61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un error que se repite mucho: declarar éxito sin métricas. El partner llega al cierre, dice fue un gran proyecto, estamos muy contentos, el gobierno asiente, y dos meses después nadie puede contestar cuánto se logró. El antídoto es un one-pager de resultados. Una página, números concretos, lenguaje que el dueño del proyecto pueda usar para hablar con su jefe.</a:t>
            </a:r>
            <a:endParaRPr/>
          </a:p>
        </p:txBody>
      </p:sp>
      <p:sp>
        <p:nvSpPr>
          <p:cNvPr id="148" name="Google Shape;14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14.8s · 37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Las métricas más poderosas son las de impacto, no las operativas. Ahorramos doce mil horas de fila al ciudadano pega más fuerte que procesamos tres mil trámites. Tu trabajo es ayudar al gobierno a contar esa historia.</a:t>
            </a:r>
            <a:endParaRPr/>
          </a:p>
        </p:txBody>
      </p:sp>
      <p:sp>
        <p:nvSpPr>
          <p:cNvPr id="159" name="Google Shape;159;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32.0s · 80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plan de continuidad responde tres preguntas. Quién opera, quién da soporte, quién escala. Si esas tres preguntas no tienen nombre y apellido al final de la reunión, el proyecto no está cerrado. Y hay que socializarlo: el equipo de Nivel 1 tiene que saber que ahora son ellos, el dueño del proyecto tiene que saber a quién llama si algo se rompe, y la siguiente capa del gobierno tiene que conocer que esta plataforma existe y a quién pertenece.</a:t>
            </a:r>
            <a:endParaRPr/>
          </a:p>
        </p:txBody>
      </p:sp>
      <p:sp>
        <p:nvSpPr>
          <p:cNvPr id="166" name="Google Shape;16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13.2s · 33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entregables que salen de esa reunión son cuatro: el reporte final, el plan de continuidad documentado, los roles post-noventa días socializados, y el one-pager. Sin esos cuatro, no cerraste. Solo cumpliste actividades.</a:t>
            </a:r>
            <a:endParaRPr/>
          </a:p>
        </p:txBody>
      </p:sp>
      <p:sp>
        <p:nvSpPr>
          <p:cNvPr id="192" name="Google Shape;19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8.8s · 22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reporte final no es el cierre del proyecto. Es la herramienta política que lo deja vivo después que tú te vas.</a:t>
            </a:r>
            <a:endParaRPr/>
          </a:p>
        </p:txBody>
      </p:sp>
      <p:sp>
        <p:nvSpPr>
          <p:cNvPr id="217" name="Google Shape;21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CA8A04"/>
                </a:solidFill>
                <a:latin typeface="Inter"/>
                <a:ea typeface="Inter"/>
                <a:cs typeface="Inter"/>
                <a:sym typeface="Inter"/>
              </a:rPr>
              <a:t>FASE E</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Cerrar el ciclo</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con un reporte final</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No es un trámite administrativo. Es la herramienta con la que el dueño del proyecto defiende lo hecho.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831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400">
                <a:solidFill>
                  <a:srgbClr val="0A0915"/>
                </a:solidFill>
                <a:latin typeface="Inter"/>
                <a:ea typeface="Inter"/>
                <a:cs typeface="Inter"/>
                <a:sym typeface="Inter"/>
              </a:rPr>
              <a:t>Cómo se mide un reporte final</a:t>
            </a:r>
            <a:endParaRPr b="1" sz="5400">
              <a:solidFill>
                <a:srgbClr val="0A0915"/>
              </a:solidFill>
              <a:latin typeface="Inter"/>
              <a:ea typeface="Inter"/>
              <a:cs typeface="Inter"/>
              <a:sym typeface="Inter"/>
            </a:endParaRPr>
          </a:p>
        </p:txBody>
      </p:sp>
      <p:sp>
        <p:nvSpPr>
          <p:cNvPr id="96" name="Google Shape;96;p14"/>
          <p:cNvSpPr/>
          <p:nvPr/>
        </p:nvSpPr>
        <p:spPr>
          <a:xfrm>
            <a:off x="1371600" y="2286000"/>
            <a:ext cx="7620000" cy="5715000"/>
          </a:xfrm>
          <a:prstGeom prst="roundRect">
            <a:avLst>
              <a:gd fmla="val 6666" name="adj"/>
            </a:avLst>
          </a:prstGeom>
          <a:solidFill>
            <a:srgbClr val="F9FAFB"/>
          </a:solidFill>
          <a:ln cap="flat" cmpd="sng" w="19050">
            <a:solidFill>
              <a:srgbClr val="E5E7EB"/>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txBox="1"/>
          <p:nvPr/>
        </p:nvSpPr>
        <p:spPr>
          <a:xfrm>
            <a:off x="1847850" y="2849880"/>
            <a:ext cx="952500" cy="923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6000">
                <a:solidFill>
                  <a:srgbClr val="10B981"/>
                </a:solidFill>
                <a:latin typeface="Material Icons"/>
                <a:ea typeface="Material Icons"/>
                <a:cs typeface="Material Icons"/>
                <a:sym typeface="Material Icons"/>
              </a:rPr>
              <a:t></a:t>
            </a:r>
            <a:endParaRPr b="0" sz="6000">
              <a:solidFill>
                <a:srgbClr val="10B981"/>
              </a:solidFill>
              <a:latin typeface="Material Icons"/>
              <a:ea typeface="Material Icons"/>
              <a:cs typeface="Material Icons"/>
              <a:sym typeface="Material Icons"/>
            </a:endParaRPr>
          </a:p>
        </p:txBody>
      </p:sp>
      <p:sp>
        <p:nvSpPr>
          <p:cNvPr id="98" name="Google Shape;98;p14"/>
          <p:cNvSpPr txBox="1"/>
          <p:nvPr/>
        </p:nvSpPr>
        <p:spPr>
          <a:xfrm>
            <a:off x="2952750" y="2952750"/>
            <a:ext cx="476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10B981"/>
                </a:solidFill>
                <a:latin typeface="Inter"/>
                <a:ea typeface="Inter"/>
                <a:cs typeface="Inter"/>
                <a:sym typeface="Inter"/>
              </a:rPr>
              <a:t>Bien hecho</a:t>
            </a:r>
            <a:endParaRPr b="1" sz="2400">
              <a:solidFill>
                <a:srgbClr val="10B981"/>
              </a:solidFill>
              <a:latin typeface="Inter"/>
              <a:ea typeface="Inter"/>
              <a:cs typeface="Inter"/>
              <a:sym typeface="Inter"/>
            </a:endParaRPr>
          </a:p>
        </p:txBody>
      </p:sp>
      <p:sp>
        <p:nvSpPr>
          <p:cNvPr id="99" name="Google Shape;99;p14"/>
          <p:cNvSpPr txBox="1"/>
          <p:nvPr/>
        </p:nvSpPr>
        <p:spPr>
          <a:xfrm>
            <a:off x="1847850" y="4000500"/>
            <a:ext cx="6667500" cy="2505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3600">
                <a:solidFill>
                  <a:srgbClr val="1F2937"/>
                </a:solidFill>
                <a:latin typeface="Inter Medium"/>
                <a:ea typeface="Inter Medium"/>
                <a:cs typeface="Inter Medium"/>
                <a:sym typeface="Inter Medium"/>
              </a:rPr>
              <a:t>El proyecto </a:t>
            </a:r>
            <a:r>
              <a:rPr b="1" lang="en-US" sz="3600">
                <a:solidFill>
                  <a:srgbClr val="10B981"/>
                </a:solidFill>
                <a:latin typeface="Inter"/>
                <a:ea typeface="Inter"/>
                <a:cs typeface="Inter"/>
                <a:sym typeface="Inter"/>
              </a:rPr>
              <a:t>sobrevive</a:t>
            </a:r>
            <a:r>
              <a:rPr b="0" lang="en-US" sz="3600">
                <a:solidFill>
                  <a:srgbClr val="1F2937"/>
                </a:solidFill>
                <a:latin typeface="Inter Medium"/>
                <a:ea typeface="Inter Medium"/>
                <a:cs typeface="Inter Medium"/>
                <a:sym typeface="Inter Medium"/>
              </a:rPr>
              <a:t> cualquier cambio político.</a:t>
            </a:r>
            <a:endParaRPr b="0" sz="3600">
              <a:solidFill>
                <a:srgbClr val="1F2937"/>
              </a:solidFill>
              <a:latin typeface="Inter Medium"/>
              <a:ea typeface="Inter Medium"/>
              <a:cs typeface="Inter Medium"/>
              <a:sym typeface="Inter Medium"/>
            </a:endParaRPr>
          </a:p>
          <a:p>
            <a:pPr indent="0" lvl="0" marL="0" rtl="0" algn="l">
              <a:spcBef>
                <a:spcPts val="2250"/>
              </a:spcBef>
              <a:spcAft>
                <a:spcPts val="0"/>
              </a:spcAft>
              <a:buNone/>
            </a:pPr>
            <a:r>
              <a:rPr b="0" lang="en-US" sz="3600">
                <a:solidFill>
                  <a:srgbClr val="1F2937"/>
                </a:solidFill>
                <a:latin typeface="Inter Medium"/>
                <a:ea typeface="Inter Medium"/>
                <a:cs typeface="Inter Medium"/>
                <a:sym typeface="Inter Medium"/>
              </a:rPr>
              <a:t>La narrativa queda en pie sola.</a:t>
            </a:r>
            <a:endParaRPr b="0" sz="3600">
              <a:solidFill>
                <a:srgbClr val="1F2937"/>
              </a:solidFill>
              <a:latin typeface="Inter Medium"/>
              <a:ea typeface="Inter Medium"/>
              <a:cs typeface="Inter Medium"/>
              <a:sym typeface="Inter Medium"/>
            </a:endParaRPr>
          </a:p>
        </p:txBody>
      </p:sp>
      <p:sp>
        <p:nvSpPr>
          <p:cNvPr id="100" name="Google Shape;100;p14"/>
          <p:cNvSpPr/>
          <p:nvPr/>
        </p:nvSpPr>
        <p:spPr>
          <a:xfrm>
            <a:off x="9296400" y="2286000"/>
            <a:ext cx="7620000" cy="5715000"/>
          </a:xfrm>
          <a:prstGeom prst="roundRect">
            <a:avLst>
              <a:gd fmla="val 6666" name="adj"/>
            </a:avLst>
          </a:prstGeom>
          <a:solidFill>
            <a:srgbClr val="CA8A04"/>
          </a:solidFill>
          <a:ln>
            <a:noFill/>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9772650" y="2849880"/>
            <a:ext cx="952500" cy="9234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6000">
                <a:solidFill>
                  <a:srgbClr val="FFFFFF"/>
                </a:solidFill>
                <a:latin typeface="Material Icons"/>
                <a:ea typeface="Material Icons"/>
                <a:cs typeface="Material Icons"/>
                <a:sym typeface="Material Icons"/>
              </a:rPr>
              <a:t></a:t>
            </a:r>
            <a:endParaRPr b="0" sz="6000">
              <a:solidFill>
                <a:srgbClr val="FFFFFF"/>
              </a:solidFill>
              <a:latin typeface="Material Icons"/>
              <a:ea typeface="Material Icons"/>
              <a:cs typeface="Material Icons"/>
              <a:sym typeface="Material Icons"/>
            </a:endParaRPr>
          </a:p>
        </p:txBody>
      </p:sp>
      <p:sp>
        <p:nvSpPr>
          <p:cNvPr id="102" name="Google Shape;102;p14"/>
          <p:cNvSpPr txBox="1"/>
          <p:nvPr/>
        </p:nvSpPr>
        <p:spPr>
          <a:xfrm>
            <a:off x="10877550" y="2952750"/>
            <a:ext cx="4762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Mal hecho</a:t>
            </a:r>
            <a:endParaRPr b="1" sz="2400">
              <a:solidFill>
                <a:srgbClr val="FFFFFF"/>
              </a:solidFill>
              <a:latin typeface="Inter"/>
              <a:ea typeface="Inter"/>
              <a:cs typeface="Inter"/>
              <a:sym typeface="Inter"/>
            </a:endParaRPr>
          </a:p>
        </p:txBody>
      </p:sp>
      <p:sp>
        <p:nvSpPr>
          <p:cNvPr id="103" name="Google Shape;103;p14"/>
          <p:cNvSpPr txBox="1"/>
          <p:nvPr/>
        </p:nvSpPr>
        <p:spPr>
          <a:xfrm>
            <a:off x="9772650" y="4000500"/>
            <a:ext cx="6667500" cy="2505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3600">
                <a:solidFill>
                  <a:srgbClr val="FFFFFF"/>
                </a:solidFill>
                <a:latin typeface="Inter Medium"/>
                <a:ea typeface="Inter Medium"/>
                <a:cs typeface="Inter Medium"/>
                <a:sym typeface="Inter Medium"/>
              </a:rPr>
              <a:t>El próximo funcionario que llegue...</a:t>
            </a:r>
            <a:endParaRPr b="0" sz="3600">
              <a:solidFill>
                <a:srgbClr val="FFFFFF"/>
              </a:solidFill>
              <a:latin typeface="Inter Medium"/>
              <a:ea typeface="Inter Medium"/>
              <a:cs typeface="Inter Medium"/>
              <a:sym typeface="Inter Medium"/>
            </a:endParaRPr>
          </a:p>
          <a:p>
            <a:pPr indent="0" lvl="0" marL="0" rtl="0" algn="l">
              <a:spcBef>
                <a:spcPts val="2250"/>
              </a:spcBef>
              <a:spcAft>
                <a:spcPts val="0"/>
              </a:spcAft>
              <a:buNone/>
            </a:pPr>
            <a:r>
              <a:rPr b="1" lang="en-US" sz="3600">
                <a:solidFill>
                  <a:srgbClr val="FEF3C7"/>
                </a:solidFill>
                <a:latin typeface="Inter"/>
                <a:ea typeface="Inter"/>
                <a:cs typeface="Inter"/>
                <a:sym typeface="Inter"/>
              </a:rPr>
              <a:t>va a cuestionar</a:t>
            </a:r>
            <a:r>
              <a:rPr b="0" lang="en-US" sz="3600">
                <a:solidFill>
                  <a:srgbClr val="FFFFFF"/>
                </a:solidFill>
                <a:latin typeface="Inter Medium"/>
                <a:ea typeface="Inter Medium"/>
                <a:cs typeface="Inter Medium"/>
                <a:sym typeface="Inter Medium"/>
              </a:rPr>
              <a:t> todo lo que hicieron.</a:t>
            </a:r>
            <a:endParaRPr b="0" sz="3600">
              <a:solidFill>
                <a:srgbClr val="FFFFFF"/>
              </a:solidFill>
              <a:latin typeface="Inter Medium"/>
              <a:ea typeface="Inter Medium"/>
              <a:cs typeface="Inter Medium"/>
              <a:sym typeface="Inter Medium"/>
            </a:endParaRPr>
          </a:p>
        </p:txBody>
      </p:sp>
      <p:sp>
        <p:nvSpPr>
          <p:cNvPr id="104" name="Google Shape;104;p14"/>
          <p:cNvSpPr txBox="1"/>
          <p:nvPr/>
        </p:nvSpPr>
        <p:spPr>
          <a:xfrm>
            <a:off x="1371600" y="8572500"/>
            <a:ext cx="15544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6B7280"/>
                </a:solidFill>
                <a:latin typeface="Inter"/>
                <a:ea typeface="Inter"/>
                <a:cs typeface="Inter"/>
                <a:sym typeface="Inter"/>
              </a:rPr>
              <a:t>Un reporte final sólido es el escudo técnico que trasciende mandatos.</a:t>
            </a:r>
            <a:endParaRPr b="0" sz="2000">
              <a:solidFill>
                <a:srgbClr val="6B728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800">
                <a:solidFill>
                  <a:srgbClr val="0A0915"/>
                </a:solidFill>
                <a:latin typeface="Inter"/>
                <a:ea typeface="Inter"/>
                <a:cs typeface="Inter"/>
                <a:sym typeface="Inter"/>
              </a:rPr>
              <a:t>La reunión de cierre: 5 bloques en orden</a:t>
            </a:r>
            <a:endParaRPr b="1" sz="4800">
              <a:solidFill>
                <a:srgbClr val="0A0915"/>
              </a:solidFill>
              <a:latin typeface="Inter"/>
              <a:ea typeface="Inter"/>
              <a:cs typeface="Inter"/>
              <a:sym typeface="Inter"/>
            </a:endParaRPr>
          </a:p>
        </p:txBody>
      </p:sp>
      <p:grpSp>
        <p:nvGrpSpPr>
          <p:cNvPr id="112" name="Google Shape;112;p15"/>
          <p:cNvGrpSpPr/>
          <p:nvPr/>
        </p:nvGrpSpPr>
        <p:grpSpPr>
          <a:xfrm>
            <a:off x="1371600" y="2286000"/>
            <a:ext cx="15544800" cy="1143000"/>
            <a:chOff x="1371600" y="2286000"/>
            <a:chExt cx="15544800" cy="1143000"/>
          </a:xfrm>
        </p:grpSpPr>
        <p:sp>
          <p:nvSpPr>
            <p:cNvPr id="113" name="Google Shape;113;p15"/>
            <p:cNvSpPr/>
            <p:nvPr/>
          </p:nvSpPr>
          <p:spPr>
            <a:xfrm>
              <a:off x="1371600" y="2286000"/>
              <a:ext cx="15544800" cy="1143000"/>
            </a:xfrm>
            <a:prstGeom prst="roundRect">
              <a:avLst>
                <a:gd fmla="val 13333"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5"/>
            <p:cNvSpPr txBox="1"/>
            <p:nvPr/>
          </p:nvSpPr>
          <p:spPr>
            <a:xfrm>
              <a:off x="1371600" y="2286000"/>
              <a:ext cx="1524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CA8A04"/>
                  </a:solidFill>
                  <a:latin typeface="Inter"/>
                  <a:ea typeface="Inter"/>
                  <a:cs typeface="Inter"/>
                  <a:sym typeface="Inter"/>
                </a:rPr>
                <a:t>01</a:t>
              </a:r>
              <a:endParaRPr b="1" sz="4000">
                <a:solidFill>
                  <a:srgbClr val="CA8A04"/>
                </a:solidFill>
                <a:latin typeface="Inter"/>
                <a:ea typeface="Inter"/>
                <a:cs typeface="Inter"/>
                <a:sym typeface="Inter"/>
              </a:endParaRPr>
            </a:p>
          </p:txBody>
        </p:sp>
        <p:sp>
          <p:nvSpPr>
            <p:cNvPr id="115" name="Google Shape;115;p15"/>
            <p:cNvSpPr txBox="1"/>
            <p:nvPr/>
          </p:nvSpPr>
          <p:spPr>
            <a:xfrm>
              <a:off x="2895600" y="2286000"/>
              <a:ext cx="1363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Reporte final</a:t>
              </a:r>
              <a:endParaRPr b="1" sz="2400">
                <a:solidFill>
                  <a:srgbClr val="0A0915"/>
                </a:solidFill>
                <a:latin typeface="Inter"/>
                <a:ea typeface="Inter"/>
                <a:cs typeface="Inter"/>
                <a:sym typeface="Inter"/>
              </a:endParaRPr>
            </a:p>
            <a:p>
              <a:pPr indent="0" lvl="0" marL="0" rtl="0" algn="l">
                <a:spcBef>
                  <a:spcPts val="0"/>
                </a:spcBef>
                <a:spcAft>
                  <a:spcPts val="0"/>
                </a:spcAft>
                <a:buNone/>
              </a:pPr>
              <a:r>
                <a:rPr lang="en-US" sz="1800">
                  <a:solidFill>
                    <a:srgbClr val="6B7280"/>
                  </a:solidFill>
                  <a:latin typeface="Inter"/>
                  <a:ea typeface="Inter"/>
                  <a:cs typeface="Inter"/>
                  <a:sym typeface="Inter"/>
                </a:rPr>
                <a:t>Métricas de adopción, operación y calidad.</a:t>
              </a:r>
              <a:endParaRPr sz="1800">
                <a:solidFill>
                  <a:srgbClr val="6B7280"/>
                </a:solidFill>
                <a:latin typeface="Inter"/>
                <a:ea typeface="Inter"/>
                <a:cs typeface="Inter"/>
                <a:sym typeface="Inter"/>
              </a:endParaRPr>
            </a:p>
          </p:txBody>
        </p:sp>
      </p:grpSp>
      <p:grpSp>
        <p:nvGrpSpPr>
          <p:cNvPr id="116" name="Google Shape;116;p15"/>
          <p:cNvGrpSpPr/>
          <p:nvPr/>
        </p:nvGrpSpPr>
        <p:grpSpPr>
          <a:xfrm>
            <a:off x="1371600" y="3619500"/>
            <a:ext cx="15544800" cy="1143000"/>
            <a:chOff x="1371600" y="3619500"/>
            <a:chExt cx="15544800" cy="1143000"/>
          </a:xfrm>
        </p:grpSpPr>
        <p:sp>
          <p:nvSpPr>
            <p:cNvPr id="117" name="Google Shape;117;p15"/>
            <p:cNvSpPr/>
            <p:nvPr/>
          </p:nvSpPr>
          <p:spPr>
            <a:xfrm>
              <a:off x="1371600" y="3619500"/>
              <a:ext cx="15544800" cy="1143000"/>
            </a:xfrm>
            <a:prstGeom prst="roundRect">
              <a:avLst>
                <a:gd fmla="val 13333"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5"/>
            <p:cNvSpPr txBox="1"/>
            <p:nvPr/>
          </p:nvSpPr>
          <p:spPr>
            <a:xfrm>
              <a:off x="1371600" y="3619500"/>
              <a:ext cx="1524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CA8A04"/>
                  </a:solidFill>
                  <a:latin typeface="Inter"/>
                  <a:ea typeface="Inter"/>
                  <a:cs typeface="Inter"/>
                  <a:sym typeface="Inter"/>
                </a:rPr>
                <a:t>02</a:t>
              </a:r>
              <a:endParaRPr b="1" sz="4000">
                <a:solidFill>
                  <a:srgbClr val="CA8A04"/>
                </a:solidFill>
                <a:latin typeface="Inter"/>
                <a:ea typeface="Inter"/>
                <a:cs typeface="Inter"/>
                <a:sym typeface="Inter"/>
              </a:endParaRPr>
            </a:p>
          </p:txBody>
        </p:sp>
        <p:sp>
          <p:nvSpPr>
            <p:cNvPr id="119" name="Google Shape;119;p15"/>
            <p:cNvSpPr txBox="1"/>
            <p:nvPr/>
          </p:nvSpPr>
          <p:spPr>
            <a:xfrm>
              <a:off x="2895600" y="3619500"/>
              <a:ext cx="1363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Lecciones aprendidas</a:t>
              </a:r>
              <a:endParaRPr b="1" sz="2400">
                <a:solidFill>
                  <a:srgbClr val="0A0915"/>
                </a:solidFill>
                <a:latin typeface="Inter"/>
                <a:ea typeface="Inter"/>
                <a:cs typeface="Inter"/>
                <a:sym typeface="Inter"/>
              </a:endParaRPr>
            </a:p>
            <a:p>
              <a:pPr indent="0" lvl="0" marL="0" rtl="0" algn="l">
                <a:spcBef>
                  <a:spcPts val="0"/>
                </a:spcBef>
                <a:spcAft>
                  <a:spcPts val="0"/>
                </a:spcAft>
                <a:buNone/>
              </a:pPr>
              <a:r>
                <a:rPr lang="en-US" sz="1800">
                  <a:solidFill>
                    <a:srgbClr val="6B7280"/>
                  </a:solidFill>
                  <a:latin typeface="Inter"/>
                  <a:ea typeface="Inter"/>
                  <a:cs typeface="Inter"/>
                  <a:sym typeface="Inter"/>
                </a:rPr>
                <a:t>Resumen ejecutivo sin entrar en el documento completo.</a:t>
              </a:r>
              <a:endParaRPr sz="1800">
                <a:solidFill>
                  <a:srgbClr val="6B7280"/>
                </a:solidFill>
                <a:latin typeface="Inter"/>
                <a:ea typeface="Inter"/>
                <a:cs typeface="Inter"/>
                <a:sym typeface="Inter"/>
              </a:endParaRPr>
            </a:p>
          </p:txBody>
        </p:sp>
      </p:grpSp>
      <p:grpSp>
        <p:nvGrpSpPr>
          <p:cNvPr id="120" name="Google Shape;120;p15"/>
          <p:cNvGrpSpPr/>
          <p:nvPr/>
        </p:nvGrpSpPr>
        <p:grpSpPr>
          <a:xfrm>
            <a:off x="1371600" y="4953000"/>
            <a:ext cx="15544800" cy="1143000"/>
            <a:chOff x="1371600" y="4953000"/>
            <a:chExt cx="15544800" cy="1143000"/>
          </a:xfrm>
        </p:grpSpPr>
        <p:sp>
          <p:nvSpPr>
            <p:cNvPr id="121" name="Google Shape;121;p15"/>
            <p:cNvSpPr/>
            <p:nvPr/>
          </p:nvSpPr>
          <p:spPr>
            <a:xfrm>
              <a:off x="1371600" y="4953000"/>
              <a:ext cx="15544800" cy="1143000"/>
            </a:xfrm>
            <a:prstGeom prst="roundRect">
              <a:avLst>
                <a:gd fmla="val 13333"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1371600" y="4953000"/>
              <a:ext cx="1524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CA8A04"/>
                  </a:solidFill>
                  <a:latin typeface="Inter"/>
                  <a:ea typeface="Inter"/>
                  <a:cs typeface="Inter"/>
                  <a:sym typeface="Inter"/>
                </a:rPr>
                <a:t>03</a:t>
              </a:r>
              <a:endParaRPr b="1" sz="4000">
                <a:solidFill>
                  <a:srgbClr val="CA8A04"/>
                </a:solidFill>
                <a:latin typeface="Inter"/>
                <a:ea typeface="Inter"/>
                <a:cs typeface="Inter"/>
                <a:sym typeface="Inter"/>
              </a:endParaRPr>
            </a:p>
          </p:txBody>
        </p:sp>
        <p:sp>
          <p:nvSpPr>
            <p:cNvPr id="123" name="Google Shape;123;p15"/>
            <p:cNvSpPr txBox="1"/>
            <p:nvPr/>
          </p:nvSpPr>
          <p:spPr>
            <a:xfrm>
              <a:off x="2895600" y="4953000"/>
              <a:ext cx="1363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Plan de continuidad</a:t>
              </a:r>
              <a:endParaRPr b="1" sz="2400">
                <a:solidFill>
                  <a:srgbClr val="0A0915"/>
                </a:solidFill>
                <a:latin typeface="Inter"/>
                <a:ea typeface="Inter"/>
                <a:cs typeface="Inter"/>
                <a:sym typeface="Inter"/>
              </a:endParaRPr>
            </a:p>
            <a:p>
              <a:pPr indent="0" lvl="0" marL="0" rtl="0" algn="l">
                <a:spcBef>
                  <a:spcPts val="0"/>
                </a:spcBef>
                <a:spcAft>
                  <a:spcPts val="0"/>
                </a:spcAft>
                <a:buNone/>
              </a:pPr>
              <a:r>
                <a:rPr lang="en-US" sz="1800">
                  <a:solidFill>
                    <a:srgbClr val="6B7280"/>
                  </a:solidFill>
                  <a:latin typeface="Inter"/>
                  <a:ea typeface="Inter"/>
                  <a:cs typeface="Inter"/>
                  <a:sym typeface="Inter"/>
                </a:rPr>
                <a:t>Qué sigue, quién opera y soporte post-90 días.</a:t>
              </a:r>
              <a:endParaRPr sz="1800">
                <a:solidFill>
                  <a:srgbClr val="6B7280"/>
                </a:solidFill>
                <a:latin typeface="Inter"/>
                <a:ea typeface="Inter"/>
                <a:cs typeface="Inter"/>
                <a:sym typeface="Inter"/>
              </a:endParaRPr>
            </a:p>
          </p:txBody>
        </p:sp>
      </p:grpSp>
      <p:grpSp>
        <p:nvGrpSpPr>
          <p:cNvPr id="124" name="Google Shape;124;p15"/>
          <p:cNvGrpSpPr/>
          <p:nvPr/>
        </p:nvGrpSpPr>
        <p:grpSpPr>
          <a:xfrm>
            <a:off x="1371600" y="6286500"/>
            <a:ext cx="15544800" cy="1143000"/>
            <a:chOff x="1371600" y="6286500"/>
            <a:chExt cx="15544800" cy="1143000"/>
          </a:xfrm>
        </p:grpSpPr>
        <p:sp>
          <p:nvSpPr>
            <p:cNvPr id="125" name="Google Shape;125;p15"/>
            <p:cNvSpPr/>
            <p:nvPr/>
          </p:nvSpPr>
          <p:spPr>
            <a:xfrm>
              <a:off x="1371600" y="6286500"/>
              <a:ext cx="15544800" cy="1143000"/>
            </a:xfrm>
            <a:prstGeom prst="roundRect">
              <a:avLst>
                <a:gd fmla="val 13333"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5"/>
            <p:cNvSpPr txBox="1"/>
            <p:nvPr/>
          </p:nvSpPr>
          <p:spPr>
            <a:xfrm>
              <a:off x="1371600" y="6286500"/>
              <a:ext cx="1524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CA8A04"/>
                  </a:solidFill>
                  <a:latin typeface="Inter"/>
                  <a:ea typeface="Inter"/>
                  <a:cs typeface="Inter"/>
                  <a:sym typeface="Inter"/>
                </a:rPr>
                <a:t>04</a:t>
              </a:r>
              <a:endParaRPr b="1" sz="4000">
                <a:solidFill>
                  <a:srgbClr val="CA8A04"/>
                </a:solidFill>
                <a:latin typeface="Inter"/>
                <a:ea typeface="Inter"/>
                <a:cs typeface="Inter"/>
                <a:sym typeface="Inter"/>
              </a:endParaRPr>
            </a:p>
          </p:txBody>
        </p:sp>
        <p:sp>
          <p:nvSpPr>
            <p:cNvPr id="127" name="Google Shape;127;p15"/>
            <p:cNvSpPr txBox="1"/>
            <p:nvPr/>
          </p:nvSpPr>
          <p:spPr>
            <a:xfrm>
              <a:off x="2895600" y="6286500"/>
              <a:ext cx="1363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Roles post-implementación</a:t>
              </a:r>
              <a:endParaRPr b="1" sz="2400">
                <a:solidFill>
                  <a:srgbClr val="0A0915"/>
                </a:solidFill>
                <a:latin typeface="Inter"/>
                <a:ea typeface="Inter"/>
                <a:cs typeface="Inter"/>
                <a:sym typeface="Inter"/>
              </a:endParaRPr>
            </a:p>
            <a:p>
              <a:pPr indent="0" lvl="0" marL="0" rtl="0" algn="l">
                <a:spcBef>
                  <a:spcPts val="0"/>
                </a:spcBef>
                <a:spcAft>
                  <a:spcPts val="0"/>
                </a:spcAft>
                <a:buNone/>
              </a:pPr>
              <a:r>
                <a:rPr lang="en-US" sz="1800">
                  <a:solidFill>
                    <a:srgbClr val="6B7280"/>
                  </a:solidFill>
                  <a:latin typeface="Inter"/>
                  <a:ea typeface="Inter"/>
                  <a:cs typeface="Inter"/>
                  <a:sym typeface="Inter"/>
                </a:rPr>
                <a:t>Definición clara de responsabilidades futuras.</a:t>
              </a:r>
              <a:endParaRPr sz="1800">
                <a:solidFill>
                  <a:srgbClr val="6B7280"/>
                </a:solidFill>
                <a:latin typeface="Inter"/>
                <a:ea typeface="Inter"/>
                <a:cs typeface="Inter"/>
                <a:sym typeface="Inter"/>
              </a:endParaRPr>
            </a:p>
          </p:txBody>
        </p:sp>
      </p:grpSp>
      <p:grpSp>
        <p:nvGrpSpPr>
          <p:cNvPr id="128" name="Google Shape;128;p15"/>
          <p:cNvGrpSpPr/>
          <p:nvPr/>
        </p:nvGrpSpPr>
        <p:grpSpPr>
          <a:xfrm>
            <a:off x="1371600" y="7620000"/>
            <a:ext cx="15544800" cy="1201420"/>
            <a:chOff x="1371600" y="7620000"/>
            <a:chExt cx="15544800" cy="1201420"/>
          </a:xfrm>
        </p:grpSpPr>
        <p:sp>
          <p:nvSpPr>
            <p:cNvPr id="129" name="Google Shape;129;p15"/>
            <p:cNvSpPr/>
            <p:nvPr/>
          </p:nvSpPr>
          <p:spPr>
            <a:xfrm>
              <a:off x="1371600" y="7620000"/>
              <a:ext cx="15544800" cy="1143000"/>
            </a:xfrm>
            <a:prstGeom prst="roundRect">
              <a:avLst>
                <a:gd fmla="val 13333" name="adj"/>
              </a:avLst>
            </a:prstGeom>
            <a:solidFill>
              <a:srgbClr val="FFFBEB"/>
            </a:solidFill>
            <a:ln cap="flat" cmpd="sng" w="1905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5"/>
            <p:cNvSpPr txBox="1"/>
            <p:nvPr/>
          </p:nvSpPr>
          <p:spPr>
            <a:xfrm>
              <a:off x="1371600" y="7620000"/>
              <a:ext cx="1524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000">
                  <a:solidFill>
                    <a:srgbClr val="CA8A04"/>
                  </a:solidFill>
                  <a:latin typeface="Inter"/>
                  <a:ea typeface="Inter"/>
                  <a:cs typeface="Inter"/>
                  <a:sym typeface="Inter"/>
                </a:rPr>
                <a:t>05</a:t>
              </a:r>
              <a:endParaRPr b="1" sz="4000">
                <a:solidFill>
                  <a:srgbClr val="CA8A04"/>
                </a:solidFill>
                <a:latin typeface="Inter"/>
                <a:ea typeface="Inter"/>
                <a:cs typeface="Inter"/>
                <a:sym typeface="Inter"/>
              </a:endParaRPr>
            </a:p>
          </p:txBody>
        </p:sp>
        <p:sp>
          <p:nvSpPr>
            <p:cNvPr id="131" name="Google Shape;131;p15"/>
            <p:cNvSpPr txBox="1"/>
            <p:nvPr/>
          </p:nvSpPr>
          <p:spPr>
            <a:xfrm>
              <a:off x="2895600" y="7620000"/>
              <a:ext cx="136398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Celebrar lo logrado</a:t>
              </a:r>
              <a:endParaRPr b="1" sz="2400">
                <a:solidFill>
                  <a:srgbClr val="0A0915"/>
                </a:solidFill>
                <a:latin typeface="Inter"/>
                <a:ea typeface="Inter"/>
                <a:cs typeface="Inter"/>
                <a:sym typeface="Inter"/>
              </a:endParaRPr>
            </a:p>
            <a:p>
              <a:pPr indent="0" lvl="0" marL="0" rtl="0" algn="l">
                <a:spcBef>
                  <a:spcPts val="0"/>
                </a:spcBef>
                <a:spcAft>
                  <a:spcPts val="0"/>
                </a:spcAft>
                <a:buNone/>
              </a:pPr>
              <a:r>
                <a:rPr lang="en-US" sz="1800">
                  <a:solidFill>
                    <a:srgbClr val="D97706"/>
                  </a:solidFill>
                  <a:latin typeface="Inter"/>
                  <a:ea typeface="Inter"/>
                  <a:cs typeface="Inter"/>
                  <a:sym typeface="Inter"/>
                </a:rPr>
                <a:t>El gobierno merece reconocimiento explícito.</a:t>
              </a:r>
              <a:endParaRPr sz="1800">
                <a:solidFill>
                  <a:srgbClr val="D97706"/>
                </a:solidFill>
                <a:latin typeface="Inter"/>
                <a:ea typeface="Inter"/>
                <a:cs typeface="Inter"/>
                <a:sym typeface="Inter"/>
              </a:endParaRPr>
            </a:p>
          </p:txBody>
        </p:sp>
        <p:sp>
          <p:nvSpPr>
            <p:cNvPr id="132" name="Google Shape;132;p15"/>
            <p:cNvSpPr txBox="1"/>
            <p:nvPr/>
          </p:nvSpPr>
          <p:spPr>
            <a:xfrm>
              <a:off x="15240000" y="7678420"/>
              <a:ext cx="9525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000">
                  <a:solidFill>
                    <a:srgbClr val="CA8A04"/>
                  </a:solidFill>
                  <a:latin typeface="Material Icons"/>
                  <a:ea typeface="Material Icons"/>
                  <a:cs typeface="Material Icons"/>
                  <a:sym typeface="Material Icons"/>
                </a:rPr>
                <a:t></a:t>
              </a:r>
              <a:endParaRPr sz="4000">
                <a:solidFill>
                  <a:srgbClr val="CA8A04"/>
                </a:solidFill>
                <a:latin typeface="Material Icons"/>
                <a:ea typeface="Material Icons"/>
                <a:cs typeface="Material Icons"/>
                <a:sym typeface="Material Icons"/>
              </a:endParaRPr>
            </a:p>
          </p:txBody>
        </p:sp>
      </p:grpSp>
      <p:sp>
        <p:nvSpPr>
          <p:cNvPr id="133" name="Google Shape;133;p15"/>
          <p:cNvSpPr txBox="1"/>
          <p:nvPr/>
        </p:nvSpPr>
        <p:spPr>
          <a:xfrm>
            <a:off x="1371600" y="9144000"/>
            <a:ext cx="155448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9CA3AF"/>
                </a:solidFill>
                <a:latin typeface="Inter"/>
                <a:ea typeface="Inter"/>
                <a:cs typeface="Inter"/>
                <a:sym typeface="Inter"/>
              </a:rPr>
              <a:t>Respetar el orden de la agenda no es opcional.</a:t>
            </a:r>
            <a:endParaRPr sz="1800">
              <a:solidFill>
                <a:srgbClr val="9CA3AF"/>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0" name="Google Shape;140;p16"/>
          <p:cNvGrpSpPr/>
          <p:nvPr/>
        </p:nvGrpSpPr>
        <p:grpSpPr>
          <a:xfrm>
            <a:off x="1371600" y="2286000"/>
            <a:ext cx="15544800" cy="4762500"/>
            <a:chOff x="1371600" y="2286000"/>
            <a:chExt cx="15544800" cy="4762500"/>
          </a:xfrm>
        </p:grpSpPr>
        <p:sp>
          <p:nvSpPr>
            <p:cNvPr id="141" name="Google Shape;141;p16"/>
            <p:cNvSpPr/>
            <p:nvPr/>
          </p:nvSpPr>
          <p:spPr>
            <a:xfrm>
              <a:off x="1371600" y="2286000"/>
              <a:ext cx="7620000" cy="4762500"/>
            </a:xfrm>
            <a:prstGeom prst="roundRect">
              <a:avLst>
                <a:gd fmla="val 8000"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1847850" y="2762250"/>
              <a:ext cx="6667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CA8A04"/>
                  </a:solidFill>
                  <a:latin typeface="Inter"/>
                  <a:ea typeface="Inter"/>
                  <a:cs typeface="Inter"/>
                  <a:sym typeface="Inter"/>
                </a:rPr>
                <a:t>Quién participa</a:t>
              </a:r>
              <a:endParaRPr b="1" sz="2400">
                <a:solidFill>
                  <a:srgbClr val="CA8A04"/>
                </a:solidFill>
                <a:latin typeface="Inter"/>
                <a:ea typeface="Inter"/>
                <a:cs typeface="Inter"/>
                <a:sym typeface="Inter"/>
              </a:endParaRPr>
            </a:p>
            <a:p>
              <a:pPr indent="0" lvl="0" marL="0" rtl="0" algn="l">
                <a:spcBef>
                  <a:spcPts val="1500"/>
                </a:spcBef>
                <a:spcAft>
                  <a:spcPts val="0"/>
                </a:spcAft>
                <a:buNone/>
              </a:pPr>
              <a:r>
                <a:rPr b="1" lang="en-US" sz="4200">
                  <a:solidFill>
                    <a:srgbClr val="0A0915"/>
                  </a:solidFill>
                  <a:latin typeface="Inter"/>
                  <a:ea typeface="Inter"/>
                  <a:cs typeface="Inter"/>
                  <a:sym typeface="Inter"/>
                </a:rPr>
                <a:t>Tú como líder del partner lideras la reunión</a:t>
              </a:r>
              <a:endParaRPr b="1" sz="4200">
                <a:solidFill>
                  <a:srgbClr val="0A0915"/>
                </a:solidFill>
                <a:latin typeface="Inter"/>
                <a:ea typeface="Inter"/>
                <a:cs typeface="Inter"/>
                <a:sym typeface="Inter"/>
              </a:endParaRPr>
            </a:p>
            <a:p>
              <a:pPr indent="0" lvl="0" marL="0" rtl="0" algn="l">
                <a:spcBef>
                  <a:spcPts val="2250"/>
                </a:spcBef>
                <a:spcAft>
                  <a:spcPts val="0"/>
                </a:spcAft>
                <a:buNone/>
              </a:pPr>
              <a:r>
                <a:rPr b="0" lang="en-US" sz="2400">
                  <a:solidFill>
                    <a:srgbClr val="CA8A04"/>
                  </a:solidFill>
                  <a:latin typeface="Material Icons"/>
                  <a:ea typeface="Material Icons"/>
                  <a:cs typeface="Material Icons"/>
                  <a:sym typeface="Material Icons"/>
                </a:rPr>
                <a:t></a:t>
              </a:r>
              <a:r>
                <a:rPr b="0" lang="en-US" sz="2000">
                  <a:solidFill>
                    <a:srgbClr val="4B5563"/>
                  </a:solidFill>
                  <a:latin typeface="Inter"/>
                  <a:ea typeface="Inter"/>
                  <a:cs typeface="Inter"/>
                  <a:sym typeface="Inter"/>
                </a:rPr>
                <a:t>Participan el dueño del proyecto y el coordinador.</a:t>
              </a:r>
              <a:endParaRPr b="0" sz="2000">
                <a:solidFill>
                  <a:srgbClr val="4B5563"/>
                </a:solidFill>
                <a:latin typeface="Inter"/>
                <a:ea typeface="Inter"/>
                <a:cs typeface="Inter"/>
                <a:sym typeface="Inter"/>
              </a:endParaRPr>
            </a:p>
            <a:p>
              <a:pPr indent="0" lvl="0" marL="0" rtl="0" algn="l">
                <a:spcBef>
                  <a:spcPts val="750"/>
                </a:spcBef>
                <a:spcAft>
                  <a:spcPts val="750"/>
                </a:spcAft>
                <a:buNone/>
              </a:pPr>
              <a:r>
                <a:rPr b="0" lang="en-US" sz="2400">
                  <a:solidFill>
                    <a:srgbClr val="CA8A04"/>
                  </a:solidFill>
                  <a:latin typeface="Material Icons"/>
                  <a:ea typeface="Material Icons"/>
                  <a:cs typeface="Material Icons"/>
                  <a:sym typeface="Material Icons"/>
                </a:rPr>
                <a:t></a:t>
              </a:r>
              <a:r>
                <a:rPr b="0" lang="en-US" sz="2000">
                  <a:solidFill>
                    <a:srgbClr val="4B5563"/>
                  </a:solidFill>
                  <a:latin typeface="Inter"/>
                  <a:ea typeface="Inter"/>
                  <a:cs typeface="Inter"/>
                  <a:sym typeface="Inter"/>
                </a:rPr>
                <a:t>Dura una o dos horas.</a:t>
              </a:r>
              <a:endParaRPr b="0" sz="2000">
                <a:solidFill>
                  <a:srgbClr val="4B5563"/>
                </a:solidFill>
                <a:latin typeface="Inter"/>
                <a:ea typeface="Inter"/>
                <a:cs typeface="Inter"/>
                <a:sym typeface="Inter"/>
              </a:endParaRPr>
            </a:p>
          </p:txBody>
        </p:sp>
        <p:sp>
          <p:nvSpPr>
            <p:cNvPr id="143" name="Google Shape;143;p16"/>
            <p:cNvSpPr/>
            <p:nvPr/>
          </p:nvSpPr>
          <p:spPr>
            <a:xfrm>
              <a:off x="9486900" y="2286000"/>
              <a:ext cx="7429500" cy="4762500"/>
            </a:xfrm>
            <a:prstGeom prst="roundRect">
              <a:avLst>
                <a:gd fmla="val 8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9963150" y="2762250"/>
              <a:ext cx="6477000" cy="381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FFFFFF"/>
                  </a:solidFill>
                  <a:latin typeface="Material Icons"/>
                  <a:ea typeface="Material Icons"/>
                  <a:cs typeface="Material Icons"/>
                  <a:sym typeface="Material Icons"/>
                </a:rPr>
                <a:t></a:t>
              </a:r>
              <a:endParaRPr sz="6000">
                <a:solidFill>
                  <a:srgbClr val="FFFFFF"/>
                </a:solidFill>
                <a:latin typeface="Material Icons"/>
                <a:ea typeface="Material Icons"/>
                <a:cs typeface="Material Icons"/>
                <a:sym typeface="Material Icons"/>
              </a:endParaRPr>
            </a:p>
            <a:p>
              <a:pPr indent="0" lvl="0" marL="0" rtl="0" algn="l">
                <a:spcBef>
                  <a:spcPts val="1500"/>
                </a:spcBef>
                <a:spcAft>
                  <a:spcPts val="0"/>
                </a:spcAft>
                <a:buNone/>
              </a:pPr>
              <a:r>
                <a:rPr b="1" lang="en-US" sz="3600">
                  <a:solidFill>
                    <a:srgbClr val="FFFFFF"/>
                  </a:solidFill>
                  <a:latin typeface="Inter"/>
                  <a:ea typeface="Inter"/>
                  <a:cs typeface="Inter"/>
                  <a:sym typeface="Inter"/>
                </a:rPr>
                <a:t>Regla de oro</a:t>
              </a:r>
              <a:endParaRPr b="1" sz="3600">
                <a:solidFill>
                  <a:srgbClr val="FFFFFF"/>
                </a:solidFill>
                <a:latin typeface="Inter"/>
                <a:ea typeface="Inter"/>
                <a:cs typeface="Inter"/>
                <a:sym typeface="Inter"/>
              </a:endParaRPr>
            </a:p>
            <a:p>
              <a:pPr indent="0" lvl="0" marL="0" rtl="0" algn="l">
                <a:spcBef>
                  <a:spcPts val="1500"/>
                </a:spcBef>
                <a:spcAft>
                  <a:spcPts val="0"/>
                </a:spcAft>
                <a:buNone/>
              </a:pPr>
              <a:r>
                <a:rPr b="0" lang="en-US" sz="2800">
                  <a:solidFill>
                    <a:srgbClr val="FEF3C7"/>
                  </a:solidFill>
                  <a:latin typeface="Inter Medium"/>
                  <a:ea typeface="Inter Medium"/>
                  <a:cs typeface="Inter Medium"/>
                  <a:sym typeface="Inter Medium"/>
                </a:rPr>
                <a:t>Respetar el orden de la agenda no es opcional.</a:t>
              </a:r>
              <a:endParaRPr b="0" sz="2800">
                <a:solidFill>
                  <a:srgbClr val="FEF3C7"/>
                </a:solidFill>
                <a:latin typeface="Inter Medium"/>
                <a:ea typeface="Inter Medium"/>
                <a:cs typeface="Inter Medium"/>
                <a:sym typeface="Inter Medium"/>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7"/>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txBox="1"/>
          <p:nvPr/>
        </p:nvSpPr>
        <p:spPr>
          <a:xfrm>
            <a:off x="1371600" y="952500"/>
            <a:ext cx="15544800" cy="831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400">
                <a:solidFill>
                  <a:srgbClr val="0A0915"/>
                </a:solidFill>
                <a:latin typeface="Inter"/>
                <a:ea typeface="Inter"/>
                <a:cs typeface="Inter"/>
                <a:sym typeface="Inter"/>
              </a:rPr>
              <a:t>El error que se repite mucho</a:t>
            </a:r>
            <a:endParaRPr b="1" sz="5400">
              <a:solidFill>
                <a:srgbClr val="0A0915"/>
              </a:solidFill>
              <a:latin typeface="Inter"/>
              <a:ea typeface="Inter"/>
              <a:cs typeface="Inter"/>
              <a:sym typeface="Inter"/>
            </a:endParaRPr>
          </a:p>
        </p:txBody>
      </p:sp>
      <p:sp>
        <p:nvSpPr>
          <p:cNvPr id="152" name="Google Shape;152;p17"/>
          <p:cNvSpPr/>
          <p:nvPr/>
        </p:nvSpPr>
        <p:spPr>
          <a:xfrm>
            <a:off x="1828800" y="2667000"/>
            <a:ext cx="6667500" cy="5524500"/>
          </a:xfrm>
          <a:prstGeom prst="roundRect">
            <a:avLst>
              <a:gd fmla="val 6896" name="adj"/>
            </a:avLst>
          </a:prstGeom>
          <a:solidFill>
            <a:srgbClr val="FEF2F2"/>
          </a:solidFill>
          <a:ln cap="flat" cmpd="sng" w="19050">
            <a:solidFill>
              <a:srgbClr val="FEE2E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7"/>
          <p:cNvSpPr txBox="1"/>
          <p:nvPr/>
        </p:nvSpPr>
        <p:spPr>
          <a:xfrm>
            <a:off x="2400300" y="3238500"/>
            <a:ext cx="55245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000">
                <a:solidFill>
                  <a:srgbClr val="DC2626"/>
                </a:solidFill>
                <a:latin typeface="Inter"/>
                <a:ea typeface="Inter"/>
                <a:cs typeface="Inter"/>
                <a:sym typeface="Inter"/>
              </a:rPr>
              <a:t>✗</a:t>
            </a:r>
            <a:endParaRPr b="1" sz="6000">
              <a:solidFill>
                <a:srgbClr val="DC2626"/>
              </a:solidFill>
              <a:latin typeface="Inter"/>
              <a:ea typeface="Inter"/>
              <a:cs typeface="Inter"/>
              <a:sym typeface="Inter"/>
            </a:endParaRPr>
          </a:p>
          <a:p>
            <a:pPr indent="0" lvl="0" marL="0" rtl="0" algn="l">
              <a:spcBef>
                <a:spcPts val="1500"/>
              </a:spcBef>
              <a:spcAft>
                <a:spcPts val="0"/>
              </a:spcAft>
              <a:buNone/>
            </a:pPr>
            <a:r>
              <a:rPr b="1" lang="en-US" sz="3600">
                <a:solidFill>
                  <a:srgbClr val="0A0915"/>
                </a:solidFill>
                <a:latin typeface="Inter"/>
                <a:ea typeface="Inter"/>
                <a:cs typeface="Inter"/>
                <a:sym typeface="Inter"/>
              </a:rPr>
              <a:t>Declarar éxito sin métricas</a:t>
            </a:r>
            <a:endParaRPr b="1" sz="3600">
              <a:solidFill>
                <a:srgbClr val="0A0915"/>
              </a:solidFill>
              <a:latin typeface="Inter"/>
              <a:ea typeface="Inter"/>
              <a:cs typeface="Inter"/>
              <a:sym typeface="Inter"/>
            </a:endParaRPr>
          </a:p>
          <a:p>
            <a:pPr indent="0" lvl="0" marL="0" rtl="0" algn="l">
              <a:spcBef>
                <a:spcPts val="2250"/>
              </a:spcBef>
              <a:spcAft>
                <a:spcPts val="0"/>
              </a:spcAft>
              <a:buNone/>
            </a:pPr>
            <a:r>
              <a:rPr b="0" i="1" lang="en-US" sz="2200">
                <a:solidFill>
                  <a:srgbClr val="888888"/>
                </a:solidFill>
                <a:latin typeface="Inter"/>
                <a:ea typeface="Inter"/>
                <a:cs typeface="Inter"/>
                <a:sym typeface="Inter"/>
              </a:rPr>
              <a:t>"Fue un gran proyecto, estamos muy contentos."</a:t>
            </a:r>
            <a:endParaRPr b="0" i="1" sz="2200">
              <a:solidFill>
                <a:srgbClr val="888888"/>
              </a:solidFill>
              <a:latin typeface="Inter"/>
              <a:ea typeface="Inter"/>
              <a:cs typeface="Inter"/>
              <a:sym typeface="Inter"/>
            </a:endParaRPr>
          </a:p>
          <a:p>
            <a:pPr indent="0" lvl="0" marL="0" rtl="0" algn="l">
              <a:spcBef>
                <a:spcPts val="1125"/>
              </a:spcBef>
              <a:spcAft>
                <a:spcPts val="0"/>
              </a:spcAft>
              <a:buNone/>
            </a:pPr>
            <a:r>
              <a:rPr b="0" lang="en-US" sz="2200">
                <a:solidFill>
                  <a:srgbClr val="888888"/>
                </a:solidFill>
                <a:latin typeface="Inter"/>
                <a:ea typeface="Inter"/>
                <a:cs typeface="Inter"/>
                <a:sym typeface="Inter"/>
              </a:rPr>
              <a:t>Dos meses después nadie puede contestar cuánto se logró.</a:t>
            </a:r>
            <a:endParaRPr b="0" sz="2200">
              <a:solidFill>
                <a:srgbClr val="888888"/>
              </a:solidFill>
              <a:latin typeface="Inter"/>
              <a:ea typeface="Inter"/>
              <a:cs typeface="Inter"/>
              <a:sym typeface="Inter"/>
            </a:endParaRPr>
          </a:p>
        </p:txBody>
      </p:sp>
      <p:sp>
        <p:nvSpPr>
          <p:cNvPr id="154" name="Google Shape;154;p17"/>
          <p:cNvSpPr/>
          <p:nvPr/>
        </p:nvSpPr>
        <p:spPr>
          <a:xfrm>
            <a:off x="9791700" y="2667000"/>
            <a:ext cx="6667500" cy="5524500"/>
          </a:xfrm>
          <a:prstGeom prst="roundRect">
            <a:avLst>
              <a:gd fmla="val 6896" name="adj"/>
            </a:avLst>
          </a:prstGeom>
          <a:solidFill>
            <a:srgbClr val="ECFDF5"/>
          </a:solidFill>
          <a:ln cap="flat" cmpd="sng" w="19050">
            <a:solidFill>
              <a:srgbClr val="A7F3D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7"/>
          <p:cNvSpPr txBox="1"/>
          <p:nvPr/>
        </p:nvSpPr>
        <p:spPr>
          <a:xfrm>
            <a:off x="10363200" y="3238500"/>
            <a:ext cx="55245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000">
                <a:solidFill>
                  <a:srgbClr val="10B981"/>
                </a:solidFill>
                <a:latin typeface="Inter"/>
                <a:ea typeface="Inter"/>
                <a:cs typeface="Inter"/>
                <a:sym typeface="Inter"/>
              </a:rPr>
              <a:t>✓</a:t>
            </a:r>
            <a:endParaRPr b="1" sz="6000">
              <a:solidFill>
                <a:srgbClr val="10B981"/>
              </a:solidFill>
              <a:latin typeface="Inter"/>
              <a:ea typeface="Inter"/>
              <a:cs typeface="Inter"/>
              <a:sym typeface="Inter"/>
            </a:endParaRPr>
          </a:p>
          <a:p>
            <a:pPr indent="0" lvl="0" marL="0" rtl="0" algn="l">
              <a:spcBef>
                <a:spcPts val="1500"/>
              </a:spcBef>
              <a:spcAft>
                <a:spcPts val="0"/>
              </a:spcAft>
              <a:buNone/>
            </a:pPr>
            <a:r>
              <a:rPr b="1" lang="en-US" sz="3600">
                <a:solidFill>
                  <a:srgbClr val="0A0915"/>
                </a:solidFill>
                <a:latin typeface="Inter"/>
                <a:ea typeface="Inter"/>
                <a:cs typeface="Inter"/>
                <a:sym typeface="Inter"/>
              </a:rPr>
              <a:t>One-pager de resultados</a:t>
            </a:r>
            <a:endParaRPr b="1" sz="3600">
              <a:solidFill>
                <a:srgbClr val="0A0915"/>
              </a:solidFill>
              <a:latin typeface="Inter"/>
              <a:ea typeface="Inter"/>
              <a:cs typeface="Inter"/>
              <a:sym typeface="Inter"/>
            </a:endParaRPr>
          </a:p>
          <a:p>
            <a:pPr indent="0" lvl="0" marL="0" rtl="0" algn="l">
              <a:spcBef>
                <a:spcPts val="2250"/>
              </a:spcBef>
              <a:spcAft>
                <a:spcPts val="0"/>
              </a:spcAft>
              <a:buNone/>
            </a:pPr>
            <a:r>
              <a:rPr b="0" lang="en-US" sz="2200">
                <a:solidFill>
                  <a:srgbClr val="6B7280"/>
                </a:solidFill>
                <a:latin typeface="Inter"/>
                <a:ea typeface="Inter"/>
                <a:cs typeface="Inter"/>
                <a:sym typeface="Inter"/>
              </a:rPr>
              <a:t>Una página, números concretos, lenguaje que el dueño del proyecto pueda usar con su jefe.</a:t>
            </a:r>
            <a:endParaRPr b="0" sz="2200">
              <a:solidFill>
                <a:srgbClr val="6B728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nvSpPr>
        <p:spPr>
          <a:xfrm>
            <a:off x="7772400" y="1371600"/>
            <a:ext cx="2743200" cy="2743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8000" u="none" cap="none" strike="noStrike">
                <a:solidFill>
                  <a:srgbClr val="CA8A04"/>
                </a:solidFill>
                <a:latin typeface="Inter"/>
                <a:ea typeface="Inter"/>
                <a:cs typeface="Inter"/>
                <a:sym typeface="Inter"/>
              </a:rPr>
              <a:t>“</a:t>
            </a:r>
            <a:endParaRPr/>
          </a:p>
        </p:txBody>
      </p:sp>
      <p:sp>
        <p:nvSpPr>
          <p:cNvPr id="162" name="Google Shape;162;p18"/>
          <p:cNvSpPr txBox="1"/>
          <p:nvPr/>
        </p:nvSpPr>
        <p:spPr>
          <a:xfrm>
            <a:off x="1371600" y="4114800"/>
            <a:ext cx="15544800" cy="3657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"Ahorramos 12 mil horas de fila al ciudadano"</a:t>
            </a:r>
            <a:endParaRPr/>
          </a:p>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pega más fuerte que</a:t>
            </a:r>
            <a:endParaRPr/>
          </a:p>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"procesamos 3 mil trámites".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19"/>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9"/>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800">
                <a:solidFill>
                  <a:srgbClr val="0A0915"/>
                </a:solidFill>
                <a:latin typeface="Inter"/>
                <a:ea typeface="Inter"/>
                <a:cs typeface="Inter"/>
                <a:sym typeface="Inter"/>
              </a:rPr>
              <a:t>El plan de continuidad responde </a:t>
            </a:r>
            <a:r>
              <a:rPr b="1" lang="en-US" sz="4800">
                <a:solidFill>
                  <a:srgbClr val="CA8A04"/>
                </a:solidFill>
                <a:latin typeface="Inter"/>
                <a:ea typeface="Inter"/>
                <a:cs typeface="Inter"/>
                <a:sym typeface="Inter"/>
              </a:rPr>
              <a:t>tres preguntas</a:t>
            </a:r>
            <a:endParaRPr b="1" sz="4800">
              <a:solidFill>
                <a:srgbClr val="0A0915"/>
              </a:solidFill>
              <a:latin typeface="Inter"/>
              <a:ea typeface="Inter"/>
              <a:cs typeface="Inter"/>
              <a:sym typeface="Inter"/>
            </a:endParaRPr>
          </a:p>
        </p:txBody>
      </p:sp>
      <p:sp>
        <p:nvSpPr>
          <p:cNvPr id="170" name="Google Shape;170;p19"/>
          <p:cNvSpPr txBox="1"/>
          <p:nvPr/>
        </p:nvSpPr>
        <p:spPr>
          <a:xfrm>
            <a:off x="3429000" y="1905000"/>
            <a:ext cx="114300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1" lang="en-US" sz="2000">
                <a:solidFill>
                  <a:srgbClr val="6B7280"/>
                </a:solidFill>
                <a:latin typeface="Inter"/>
                <a:ea typeface="Inter"/>
                <a:cs typeface="Inter"/>
                <a:sym typeface="Inter"/>
              </a:rPr>
              <a:t>"Si no tienen nombre y apellido al final de la reunión, el proyecto no está cerrado."</a:t>
            </a:r>
            <a:endParaRPr b="0" i="1" sz="2000">
              <a:solidFill>
                <a:srgbClr val="6B7280"/>
              </a:solidFill>
              <a:latin typeface="Inter"/>
              <a:ea typeface="Inter"/>
              <a:cs typeface="Inter"/>
              <a:sym typeface="Inter"/>
            </a:endParaRPr>
          </a:p>
        </p:txBody>
      </p:sp>
      <p:grpSp>
        <p:nvGrpSpPr>
          <p:cNvPr id="171" name="Google Shape;171;p19"/>
          <p:cNvGrpSpPr/>
          <p:nvPr/>
        </p:nvGrpSpPr>
        <p:grpSpPr>
          <a:xfrm>
            <a:off x="1143000" y="3048000"/>
            <a:ext cx="4953000" cy="5715000"/>
            <a:chOff x="1143000" y="3048000"/>
            <a:chExt cx="4953000" cy="5715000"/>
          </a:xfrm>
        </p:grpSpPr>
        <p:sp>
          <p:nvSpPr>
            <p:cNvPr id="172" name="Google Shape;172;p19"/>
            <p:cNvSpPr/>
            <p:nvPr/>
          </p:nvSpPr>
          <p:spPr>
            <a:xfrm>
              <a:off x="1143000" y="3048000"/>
              <a:ext cx="4953000" cy="5715000"/>
            </a:xfrm>
            <a:prstGeom prst="roundRect">
              <a:avLst>
                <a:gd fmla="val 4615"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p:nvPr/>
          </p:nvSpPr>
          <p:spPr>
            <a:xfrm>
              <a:off x="1143000" y="30480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9"/>
            <p:cNvSpPr txBox="1"/>
            <p:nvPr/>
          </p:nvSpPr>
          <p:spPr>
            <a:xfrm>
              <a:off x="1524000" y="3481578"/>
              <a:ext cx="419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600">
                  <a:solidFill>
                    <a:srgbClr val="CA8A04"/>
                  </a:solidFill>
                  <a:latin typeface="Material Icons"/>
                  <a:ea typeface="Material Icons"/>
                  <a:cs typeface="Material Icons"/>
                  <a:sym typeface="Material Icons"/>
                </a:rPr>
                <a:t></a:t>
              </a:r>
              <a:endParaRPr b="0" sz="3600">
                <a:solidFill>
                  <a:srgbClr val="CA8A04"/>
                </a:solidFill>
                <a:latin typeface="Material Icons"/>
                <a:ea typeface="Material Icons"/>
                <a:cs typeface="Material Icons"/>
                <a:sym typeface="Material Icons"/>
              </a:endParaRPr>
            </a:p>
          </p:txBody>
        </p:sp>
        <p:sp>
          <p:nvSpPr>
            <p:cNvPr id="175" name="Google Shape;175;p19"/>
            <p:cNvSpPr txBox="1"/>
            <p:nvPr/>
          </p:nvSpPr>
          <p:spPr>
            <a:xfrm>
              <a:off x="1524000" y="4191000"/>
              <a:ext cx="4191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¿Quién opera?</a:t>
              </a:r>
              <a:endParaRPr b="1" sz="2800">
                <a:solidFill>
                  <a:srgbClr val="0A0915"/>
                </a:solidFill>
                <a:latin typeface="Inter"/>
                <a:ea typeface="Inter"/>
                <a:cs typeface="Inter"/>
                <a:sym typeface="Inter"/>
              </a:endParaRPr>
            </a:p>
          </p:txBody>
        </p:sp>
        <p:sp>
          <p:nvSpPr>
            <p:cNvPr id="176" name="Google Shape;176;p19"/>
            <p:cNvSpPr txBox="1"/>
            <p:nvPr/>
          </p:nvSpPr>
          <p:spPr>
            <a:xfrm>
              <a:off x="1524000" y="5143500"/>
              <a:ext cx="4191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B5563"/>
                  </a:solidFill>
                  <a:latin typeface="Inter"/>
                  <a:ea typeface="Inter"/>
                  <a:cs typeface="Inter"/>
                  <a:sym typeface="Inter"/>
                </a:rPr>
                <a:t>El Nivel 1 del gobierno tiene que tener la total claridad de que la responsabilidad de operación ahora recae sobre ellos.</a:t>
              </a:r>
              <a:endParaRPr b="0" sz="1800">
                <a:solidFill>
                  <a:srgbClr val="4B5563"/>
                </a:solidFill>
                <a:latin typeface="Inter"/>
                <a:ea typeface="Inter"/>
                <a:cs typeface="Inter"/>
                <a:sym typeface="Inter"/>
              </a:endParaRPr>
            </a:p>
          </p:txBody>
        </p:sp>
      </p:grpSp>
      <p:grpSp>
        <p:nvGrpSpPr>
          <p:cNvPr id="177" name="Google Shape;177;p19"/>
          <p:cNvGrpSpPr/>
          <p:nvPr/>
        </p:nvGrpSpPr>
        <p:grpSpPr>
          <a:xfrm>
            <a:off x="6667500" y="3048000"/>
            <a:ext cx="4953000" cy="5715000"/>
            <a:chOff x="6667500" y="3048000"/>
            <a:chExt cx="4953000" cy="5715000"/>
          </a:xfrm>
        </p:grpSpPr>
        <p:sp>
          <p:nvSpPr>
            <p:cNvPr id="178" name="Google Shape;178;p19"/>
            <p:cNvSpPr/>
            <p:nvPr/>
          </p:nvSpPr>
          <p:spPr>
            <a:xfrm>
              <a:off x="6667500" y="3048000"/>
              <a:ext cx="4953000" cy="5715000"/>
            </a:xfrm>
            <a:prstGeom prst="roundRect">
              <a:avLst>
                <a:gd fmla="val 4615"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9"/>
            <p:cNvSpPr/>
            <p:nvPr/>
          </p:nvSpPr>
          <p:spPr>
            <a:xfrm>
              <a:off x="6667500" y="30480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9"/>
            <p:cNvSpPr txBox="1"/>
            <p:nvPr/>
          </p:nvSpPr>
          <p:spPr>
            <a:xfrm>
              <a:off x="7048500" y="3481578"/>
              <a:ext cx="419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600">
                  <a:solidFill>
                    <a:srgbClr val="CA8A04"/>
                  </a:solidFill>
                  <a:latin typeface="Material Icons"/>
                  <a:ea typeface="Material Icons"/>
                  <a:cs typeface="Material Icons"/>
                  <a:sym typeface="Material Icons"/>
                </a:rPr>
                <a:t></a:t>
              </a:r>
              <a:endParaRPr b="0" sz="3600">
                <a:solidFill>
                  <a:srgbClr val="CA8A04"/>
                </a:solidFill>
                <a:latin typeface="Material Icons"/>
                <a:ea typeface="Material Icons"/>
                <a:cs typeface="Material Icons"/>
                <a:sym typeface="Material Icons"/>
              </a:endParaRPr>
            </a:p>
          </p:txBody>
        </p:sp>
        <p:sp>
          <p:nvSpPr>
            <p:cNvPr id="181" name="Google Shape;181;p19"/>
            <p:cNvSpPr txBox="1"/>
            <p:nvPr/>
          </p:nvSpPr>
          <p:spPr>
            <a:xfrm>
              <a:off x="7048500" y="4191000"/>
              <a:ext cx="4191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¿Quién da soporte?</a:t>
              </a:r>
              <a:endParaRPr b="1" sz="2800">
                <a:solidFill>
                  <a:srgbClr val="0A0915"/>
                </a:solidFill>
                <a:latin typeface="Inter"/>
                <a:ea typeface="Inter"/>
                <a:cs typeface="Inter"/>
                <a:sym typeface="Inter"/>
              </a:endParaRPr>
            </a:p>
          </p:txBody>
        </p:sp>
        <p:sp>
          <p:nvSpPr>
            <p:cNvPr id="182" name="Google Shape;182;p19"/>
            <p:cNvSpPr txBox="1"/>
            <p:nvPr/>
          </p:nvSpPr>
          <p:spPr>
            <a:xfrm>
              <a:off x="7048500" y="5143500"/>
              <a:ext cx="4191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B5563"/>
                  </a:solidFill>
                  <a:latin typeface="Inter"/>
                  <a:ea typeface="Inter"/>
                  <a:cs typeface="Inter"/>
                  <a:sym typeface="Inter"/>
                </a:rPr>
                <a:t>El dueño del proyecto debe tener identificado el contacto directo para resolución técnica si algo falla.</a:t>
              </a:r>
              <a:endParaRPr b="0" sz="1800">
                <a:solidFill>
                  <a:srgbClr val="4B5563"/>
                </a:solidFill>
                <a:latin typeface="Inter"/>
                <a:ea typeface="Inter"/>
                <a:cs typeface="Inter"/>
                <a:sym typeface="Inter"/>
              </a:endParaRPr>
            </a:p>
          </p:txBody>
        </p:sp>
      </p:grpSp>
      <p:grpSp>
        <p:nvGrpSpPr>
          <p:cNvPr id="183" name="Google Shape;183;p19"/>
          <p:cNvGrpSpPr/>
          <p:nvPr/>
        </p:nvGrpSpPr>
        <p:grpSpPr>
          <a:xfrm>
            <a:off x="12192000" y="3048000"/>
            <a:ext cx="4953000" cy="5715000"/>
            <a:chOff x="12192000" y="3048000"/>
            <a:chExt cx="4953000" cy="5715000"/>
          </a:xfrm>
        </p:grpSpPr>
        <p:sp>
          <p:nvSpPr>
            <p:cNvPr id="184" name="Google Shape;184;p19"/>
            <p:cNvSpPr/>
            <p:nvPr/>
          </p:nvSpPr>
          <p:spPr>
            <a:xfrm>
              <a:off x="12192000" y="3048000"/>
              <a:ext cx="4953000" cy="5715000"/>
            </a:xfrm>
            <a:prstGeom prst="roundRect">
              <a:avLst>
                <a:gd fmla="val 4615"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19"/>
            <p:cNvSpPr/>
            <p:nvPr/>
          </p:nvSpPr>
          <p:spPr>
            <a:xfrm>
              <a:off x="12192000" y="3048000"/>
              <a:ext cx="4953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txBox="1"/>
            <p:nvPr/>
          </p:nvSpPr>
          <p:spPr>
            <a:xfrm>
              <a:off x="12573000" y="3481578"/>
              <a:ext cx="4191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600">
                  <a:solidFill>
                    <a:srgbClr val="CA8A04"/>
                  </a:solidFill>
                  <a:latin typeface="Material Icons"/>
                  <a:ea typeface="Material Icons"/>
                  <a:cs typeface="Material Icons"/>
                  <a:sym typeface="Material Icons"/>
                </a:rPr>
                <a:t></a:t>
              </a:r>
              <a:endParaRPr b="0" sz="3600">
                <a:solidFill>
                  <a:srgbClr val="CA8A04"/>
                </a:solidFill>
                <a:latin typeface="Material Icons"/>
                <a:ea typeface="Material Icons"/>
                <a:cs typeface="Material Icons"/>
                <a:sym typeface="Material Icons"/>
              </a:endParaRPr>
            </a:p>
          </p:txBody>
        </p:sp>
        <p:sp>
          <p:nvSpPr>
            <p:cNvPr id="187" name="Google Shape;187;p19"/>
            <p:cNvSpPr txBox="1"/>
            <p:nvPr/>
          </p:nvSpPr>
          <p:spPr>
            <a:xfrm>
              <a:off x="12573000" y="4191000"/>
              <a:ext cx="4191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¿Quién escala?</a:t>
              </a:r>
              <a:endParaRPr b="1" sz="2800">
                <a:solidFill>
                  <a:srgbClr val="0A0915"/>
                </a:solidFill>
                <a:latin typeface="Inter"/>
                <a:ea typeface="Inter"/>
                <a:cs typeface="Inter"/>
                <a:sym typeface="Inter"/>
              </a:endParaRPr>
            </a:p>
          </p:txBody>
        </p:sp>
        <p:sp>
          <p:nvSpPr>
            <p:cNvPr id="188" name="Google Shape;188;p19"/>
            <p:cNvSpPr txBox="1"/>
            <p:nvPr/>
          </p:nvSpPr>
          <p:spPr>
            <a:xfrm>
              <a:off x="12573000" y="5143500"/>
              <a:ext cx="4191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4B5563"/>
                  </a:solidFill>
                  <a:latin typeface="Inter"/>
                  <a:ea typeface="Inter"/>
                  <a:cs typeface="Inter"/>
                  <a:sym typeface="Inter"/>
                </a:rPr>
                <a:t>La siguiente capa jerárquica del gobierno debe conocer la existencia y valor de esta plataforma para su escalabilidad.</a:t>
              </a:r>
              <a:endParaRPr b="0" sz="1800">
                <a:solidFill>
                  <a:srgbClr val="4B5563"/>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p:nvPr/>
        </p:nvSpPr>
        <p:spPr>
          <a:xfrm>
            <a:off x="0" y="0"/>
            <a:ext cx="18288000" cy="228600"/>
          </a:xfrm>
          <a:prstGeom prst="rect">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5" name="Google Shape;195;p20"/>
          <p:cNvGrpSpPr/>
          <p:nvPr/>
        </p:nvGrpSpPr>
        <p:grpSpPr>
          <a:xfrm>
            <a:off x="1371600" y="762000"/>
            <a:ext cx="15544800" cy="952500"/>
            <a:chOff x="1371600" y="762000"/>
            <a:chExt cx="15544800" cy="952500"/>
          </a:xfrm>
        </p:grpSpPr>
        <p:sp>
          <p:nvSpPr>
            <p:cNvPr id="196" name="Google Shape;196;p20"/>
            <p:cNvSpPr/>
            <p:nvPr/>
          </p:nvSpPr>
          <p:spPr>
            <a:xfrm>
              <a:off x="1371600" y="762000"/>
              <a:ext cx="15544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0"/>
            <p:cNvSpPr txBox="1"/>
            <p:nvPr/>
          </p:nvSpPr>
          <p:spPr>
            <a:xfrm>
              <a:off x="1371600" y="762000"/>
              <a:ext cx="15544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400">
                  <a:solidFill>
                    <a:srgbClr val="0A0915"/>
                  </a:solidFill>
                  <a:latin typeface="Inter"/>
                  <a:ea typeface="Inter"/>
                  <a:cs typeface="Inter"/>
                  <a:sym typeface="Inter"/>
                </a:rPr>
                <a:t>Los cuatro entregables de esa reunión</a:t>
              </a:r>
              <a:endParaRPr b="1" sz="5400">
                <a:solidFill>
                  <a:srgbClr val="0A0915"/>
                </a:solidFill>
                <a:latin typeface="Inter"/>
                <a:ea typeface="Inter"/>
                <a:cs typeface="Inter"/>
                <a:sym typeface="Inter"/>
              </a:endParaRPr>
            </a:p>
          </p:txBody>
        </p:sp>
      </p:grpSp>
      <p:grpSp>
        <p:nvGrpSpPr>
          <p:cNvPr id="198" name="Google Shape;198;p20"/>
          <p:cNvGrpSpPr/>
          <p:nvPr/>
        </p:nvGrpSpPr>
        <p:grpSpPr>
          <a:xfrm>
            <a:off x="1143000" y="2667000"/>
            <a:ext cx="3810000" cy="4762500"/>
            <a:chOff x="1143000" y="2667000"/>
            <a:chExt cx="3810000" cy="4762500"/>
          </a:xfrm>
        </p:grpSpPr>
        <p:sp>
          <p:nvSpPr>
            <p:cNvPr id="199" name="Google Shape;199;p20"/>
            <p:cNvSpPr/>
            <p:nvPr/>
          </p:nvSpPr>
          <p:spPr>
            <a:xfrm>
              <a:off x="1143000" y="2667000"/>
              <a:ext cx="3810000" cy="4762500"/>
            </a:xfrm>
            <a:prstGeom prst="roundRect">
              <a:avLst>
                <a:gd fmla="val 6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0"/>
            <p:cNvSpPr/>
            <p:nvPr/>
          </p:nvSpPr>
          <p:spPr>
            <a:xfrm>
              <a:off x="1143000" y="2667000"/>
              <a:ext cx="3810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20"/>
            <p:cNvSpPr txBox="1"/>
            <p:nvPr/>
          </p:nvSpPr>
          <p:spPr>
            <a:xfrm>
              <a:off x="1333500" y="3048000"/>
              <a:ext cx="3429000" cy="400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4800">
                  <a:solidFill>
                    <a:srgbClr val="CA8A04"/>
                  </a:solidFill>
                  <a:latin typeface="Material Icons"/>
                  <a:ea typeface="Material Icons"/>
                  <a:cs typeface="Material Icons"/>
                  <a:sym typeface="Material Icons"/>
                </a:rPr>
                <a:t></a:t>
              </a:r>
              <a:endParaRPr sz="4800">
                <a:solidFill>
                  <a:srgbClr val="CA8A04"/>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El reporte final</a:t>
              </a:r>
              <a:endParaRPr b="1" sz="2400">
                <a:solidFill>
                  <a:srgbClr val="0A0915"/>
                </a:solidFill>
                <a:latin typeface="Inter"/>
                <a:ea typeface="Inter"/>
                <a:cs typeface="Inter"/>
                <a:sym typeface="Inter"/>
              </a:endParaRPr>
            </a:p>
            <a:p>
              <a:pPr indent="0" lvl="0" marL="0" rtl="0" algn="ctr">
                <a:spcBef>
                  <a:spcPts val="1125"/>
                </a:spcBef>
                <a:spcAft>
                  <a:spcPts val="0"/>
                </a:spcAft>
                <a:buNone/>
              </a:pPr>
              <a:r>
                <a:rPr b="0" lang="en-US" sz="1600">
                  <a:solidFill>
                    <a:srgbClr val="4B5563"/>
                  </a:solidFill>
                  <a:latin typeface="Inter"/>
                  <a:ea typeface="Inter"/>
                  <a:cs typeface="Inter"/>
                  <a:sym typeface="Inter"/>
                </a:rPr>
                <a:t>La visión integral y cierre formal del proceso realizado.</a:t>
              </a:r>
              <a:endParaRPr b="0" sz="1600">
                <a:solidFill>
                  <a:srgbClr val="4B5563"/>
                </a:solidFill>
                <a:latin typeface="Inter"/>
                <a:ea typeface="Inter"/>
                <a:cs typeface="Inter"/>
                <a:sym typeface="Inter"/>
              </a:endParaRPr>
            </a:p>
          </p:txBody>
        </p:sp>
      </p:grpSp>
      <p:grpSp>
        <p:nvGrpSpPr>
          <p:cNvPr id="202" name="Google Shape;202;p20"/>
          <p:cNvGrpSpPr/>
          <p:nvPr/>
        </p:nvGrpSpPr>
        <p:grpSpPr>
          <a:xfrm>
            <a:off x="5238750" y="2667000"/>
            <a:ext cx="3810000" cy="4762500"/>
            <a:chOff x="5238750" y="2667000"/>
            <a:chExt cx="3810000" cy="4762500"/>
          </a:xfrm>
        </p:grpSpPr>
        <p:sp>
          <p:nvSpPr>
            <p:cNvPr id="203" name="Google Shape;203;p20"/>
            <p:cNvSpPr/>
            <p:nvPr/>
          </p:nvSpPr>
          <p:spPr>
            <a:xfrm>
              <a:off x="5238750" y="2667000"/>
              <a:ext cx="3810000" cy="4762500"/>
            </a:xfrm>
            <a:prstGeom prst="roundRect">
              <a:avLst>
                <a:gd fmla="val 6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0"/>
            <p:cNvSpPr/>
            <p:nvPr/>
          </p:nvSpPr>
          <p:spPr>
            <a:xfrm>
              <a:off x="5238750" y="2667000"/>
              <a:ext cx="3810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20"/>
            <p:cNvSpPr txBox="1"/>
            <p:nvPr/>
          </p:nvSpPr>
          <p:spPr>
            <a:xfrm>
              <a:off x="5429250" y="3048000"/>
              <a:ext cx="3429000" cy="400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4800">
                  <a:solidFill>
                    <a:srgbClr val="CA8A04"/>
                  </a:solidFill>
                  <a:latin typeface="Material Icons"/>
                  <a:ea typeface="Material Icons"/>
                  <a:cs typeface="Material Icons"/>
                  <a:sym typeface="Material Icons"/>
                </a:rPr>
                <a:t></a:t>
              </a:r>
              <a:endParaRPr sz="4800">
                <a:solidFill>
                  <a:srgbClr val="CA8A04"/>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Plan de continuidad</a:t>
              </a:r>
              <a:endParaRPr b="1" sz="2400">
                <a:solidFill>
                  <a:srgbClr val="0A0915"/>
                </a:solidFill>
                <a:latin typeface="Inter"/>
                <a:ea typeface="Inter"/>
                <a:cs typeface="Inter"/>
                <a:sym typeface="Inter"/>
              </a:endParaRPr>
            </a:p>
            <a:p>
              <a:pPr indent="0" lvl="0" marL="0" rtl="0" algn="ctr">
                <a:spcBef>
                  <a:spcPts val="1125"/>
                </a:spcBef>
                <a:spcAft>
                  <a:spcPts val="0"/>
                </a:spcAft>
                <a:buNone/>
              </a:pPr>
              <a:r>
                <a:rPr b="0" lang="en-US" sz="1600">
                  <a:solidFill>
                    <a:srgbClr val="4B5563"/>
                  </a:solidFill>
                  <a:latin typeface="Inter"/>
                  <a:ea typeface="Inter"/>
                  <a:cs typeface="Inter"/>
                  <a:sym typeface="Inter"/>
                </a:rPr>
                <a:t>Documento guía para asegurar la permanencia del proyecto.</a:t>
              </a:r>
              <a:endParaRPr b="0" sz="1600">
                <a:solidFill>
                  <a:srgbClr val="4B5563"/>
                </a:solidFill>
                <a:latin typeface="Inter"/>
                <a:ea typeface="Inter"/>
                <a:cs typeface="Inter"/>
                <a:sym typeface="Inter"/>
              </a:endParaRPr>
            </a:p>
          </p:txBody>
        </p:sp>
      </p:grpSp>
      <p:grpSp>
        <p:nvGrpSpPr>
          <p:cNvPr id="206" name="Google Shape;206;p20"/>
          <p:cNvGrpSpPr/>
          <p:nvPr/>
        </p:nvGrpSpPr>
        <p:grpSpPr>
          <a:xfrm>
            <a:off x="9334500" y="2667000"/>
            <a:ext cx="3810000" cy="4762500"/>
            <a:chOff x="9334500" y="2667000"/>
            <a:chExt cx="3810000" cy="4762500"/>
          </a:xfrm>
        </p:grpSpPr>
        <p:sp>
          <p:nvSpPr>
            <p:cNvPr id="207" name="Google Shape;207;p20"/>
            <p:cNvSpPr/>
            <p:nvPr/>
          </p:nvSpPr>
          <p:spPr>
            <a:xfrm>
              <a:off x="9334500" y="2667000"/>
              <a:ext cx="3810000" cy="4762500"/>
            </a:xfrm>
            <a:prstGeom prst="roundRect">
              <a:avLst>
                <a:gd fmla="val 6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20"/>
            <p:cNvSpPr/>
            <p:nvPr/>
          </p:nvSpPr>
          <p:spPr>
            <a:xfrm>
              <a:off x="9334500" y="2667000"/>
              <a:ext cx="3810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9" name="Google Shape;209;p20"/>
            <p:cNvSpPr txBox="1"/>
            <p:nvPr/>
          </p:nvSpPr>
          <p:spPr>
            <a:xfrm>
              <a:off x="9525000" y="3048000"/>
              <a:ext cx="3429000" cy="400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4800">
                  <a:solidFill>
                    <a:srgbClr val="CA8A04"/>
                  </a:solidFill>
                  <a:latin typeface="Material Icons"/>
                  <a:ea typeface="Material Icons"/>
                  <a:cs typeface="Material Icons"/>
                  <a:sym typeface="Material Icons"/>
                </a:rPr>
                <a:t></a:t>
              </a:r>
              <a:endParaRPr sz="4800">
                <a:solidFill>
                  <a:srgbClr val="CA8A04"/>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Roles post-90 días</a:t>
              </a:r>
              <a:endParaRPr b="1" sz="2400">
                <a:solidFill>
                  <a:srgbClr val="0A0915"/>
                </a:solidFill>
                <a:latin typeface="Inter"/>
                <a:ea typeface="Inter"/>
                <a:cs typeface="Inter"/>
                <a:sym typeface="Inter"/>
              </a:endParaRPr>
            </a:p>
            <a:p>
              <a:pPr indent="0" lvl="0" marL="0" rtl="0" algn="ctr">
                <a:spcBef>
                  <a:spcPts val="1125"/>
                </a:spcBef>
                <a:spcAft>
                  <a:spcPts val="0"/>
                </a:spcAft>
                <a:buNone/>
              </a:pPr>
              <a:r>
                <a:rPr b="0" lang="en-US" sz="1600">
                  <a:solidFill>
                    <a:srgbClr val="4B5563"/>
                  </a:solidFill>
                  <a:latin typeface="Inter"/>
                  <a:ea typeface="Inter"/>
                  <a:cs typeface="Inter"/>
                  <a:sym typeface="Inter"/>
                </a:rPr>
                <a:t>Definición socializada de responsables a mediano plazo.</a:t>
              </a:r>
              <a:endParaRPr b="0" sz="1600">
                <a:solidFill>
                  <a:srgbClr val="4B5563"/>
                </a:solidFill>
                <a:latin typeface="Inter"/>
                <a:ea typeface="Inter"/>
                <a:cs typeface="Inter"/>
                <a:sym typeface="Inter"/>
              </a:endParaRPr>
            </a:p>
          </p:txBody>
        </p:sp>
      </p:grpSp>
      <p:grpSp>
        <p:nvGrpSpPr>
          <p:cNvPr id="210" name="Google Shape;210;p20"/>
          <p:cNvGrpSpPr/>
          <p:nvPr/>
        </p:nvGrpSpPr>
        <p:grpSpPr>
          <a:xfrm>
            <a:off x="13430250" y="2667000"/>
            <a:ext cx="3810000" cy="4762500"/>
            <a:chOff x="13430250" y="2667000"/>
            <a:chExt cx="3810000" cy="4762500"/>
          </a:xfrm>
        </p:grpSpPr>
        <p:sp>
          <p:nvSpPr>
            <p:cNvPr id="211" name="Google Shape;211;p20"/>
            <p:cNvSpPr/>
            <p:nvPr/>
          </p:nvSpPr>
          <p:spPr>
            <a:xfrm>
              <a:off x="13430250" y="2667000"/>
              <a:ext cx="3810000" cy="4762500"/>
            </a:xfrm>
            <a:prstGeom prst="roundRect">
              <a:avLst>
                <a:gd fmla="val 6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20"/>
            <p:cNvSpPr/>
            <p:nvPr/>
          </p:nvSpPr>
          <p:spPr>
            <a:xfrm>
              <a:off x="13430250" y="2667000"/>
              <a:ext cx="3810000" cy="114300"/>
            </a:xfrm>
            <a:prstGeom prst="roundRect">
              <a:avLst>
                <a:gd fmla="val 50000" name="adj"/>
              </a:avLst>
            </a:prstGeom>
            <a:solidFill>
              <a:srgbClr val="CA8A0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0"/>
            <p:cNvSpPr txBox="1"/>
            <p:nvPr/>
          </p:nvSpPr>
          <p:spPr>
            <a:xfrm>
              <a:off x="13620750" y="3048000"/>
              <a:ext cx="3429000" cy="400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4800">
                  <a:solidFill>
                    <a:srgbClr val="CA8A04"/>
                  </a:solidFill>
                  <a:latin typeface="Material Icons"/>
                  <a:ea typeface="Material Icons"/>
                  <a:cs typeface="Material Icons"/>
                  <a:sym typeface="Material Icons"/>
                </a:rPr>
                <a:t></a:t>
              </a:r>
              <a:endParaRPr sz="4800">
                <a:solidFill>
                  <a:srgbClr val="CA8A04"/>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One-pager de resultados</a:t>
              </a:r>
              <a:endParaRPr b="1" sz="2400">
                <a:solidFill>
                  <a:srgbClr val="0A0915"/>
                </a:solidFill>
                <a:latin typeface="Inter"/>
                <a:ea typeface="Inter"/>
                <a:cs typeface="Inter"/>
                <a:sym typeface="Inter"/>
              </a:endParaRPr>
            </a:p>
            <a:p>
              <a:pPr indent="0" lvl="0" marL="0" rtl="0" algn="ctr">
                <a:spcBef>
                  <a:spcPts val="1125"/>
                </a:spcBef>
                <a:spcAft>
                  <a:spcPts val="0"/>
                </a:spcAft>
                <a:buNone/>
              </a:pPr>
              <a:r>
                <a:rPr b="0" lang="en-US" sz="1600">
                  <a:solidFill>
                    <a:srgbClr val="4B5563"/>
                  </a:solidFill>
                  <a:latin typeface="Inter"/>
                  <a:ea typeface="Inter"/>
                  <a:cs typeface="Inter"/>
                  <a:sym typeface="Inter"/>
                </a:rPr>
                <a:t>Métricas clave en un formato directo y político.</a:t>
              </a:r>
              <a:endParaRPr b="0" sz="1600">
                <a:solidFill>
                  <a:srgbClr val="4B5563"/>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p:nvPr/>
        </p:nvSpPr>
        <p:spPr>
          <a:xfrm>
            <a:off x="0" y="0"/>
            <a:ext cx="18288000" cy="10287000"/>
          </a:xfrm>
          <a:prstGeom prst="rect">
            <a:avLst/>
          </a:prstGeom>
          <a:solidFill>
            <a:srgbClr val="CA8A0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1"/>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El reporte final no es el cierre del proyecto</a:t>
            </a:r>
            <a:endParaRPr/>
          </a:p>
        </p:txBody>
      </p:sp>
      <p:sp>
        <p:nvSpPr>
          <p:cNvPr id="221" name="Google Shape;221;p21"/>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Es la herramienta política</a:t>
            </a:r>
            <a:endParaRPr/>
          </a:p>
        </p:txBody>
      </p:sp>
      <p:sp>
        <p:nvSpPr>
          <p:cNvPr id="222" name="Google Shape;222;p21"/>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que lo deja vivo después que tú te vas.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