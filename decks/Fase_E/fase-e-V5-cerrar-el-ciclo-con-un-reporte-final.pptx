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18.8s · 47 palabras]</a:t>
            </a:r>
          </a:p>
          <a:p/>
          <a:p>
            <a:r>
              <a:t>El reporte final es el documento que cierra el ciclo de noventa días. No es un trámite administrativo. Es la herramienta con la que el dueño del proyecto del gobierno va a defender la implementación frente a su jefe, a la prensa, o a la siguiente gestión.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10.4s · 26 palabras]</a:t>
            </a:r>
          </a:p>
          <a:p/>
          <a:p>
            <a:r>
              <a:t>Si está bien hecho, el proyecto sobrevive cualquier cambio político. Si está mal hecho, el próximo funcionario que llegue va a cuestionar todo lo que hicieron.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31.2s · 78 palabras]</a:t>
            </a:r>
          </a:p>
          <a:p/>
          <a:p>
            <a:r>
              <a:t>La agenda tiene cinco bloques y conviene respetar el orden. Primero presentas el reporte final con las métricas de adopción, operación y calidad. Después un resumen de las lecciones aprendidas, sin entrar en el detalle del documento completo. Después el plan de continuidad: qué sigue, quién opera, cómo es el soporte después de los noventa días. Después defines roles post-implementación. Y al final, celebras lo logrado. Esto no es opcional: el gobierno merece reconocimiento explícito por el trabajo.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10.0s · 25 palabras]</a:t>
            </a:r>
          </a:p>
          <a:p/>
          <a:p>
            <a:r>
              <a:t>La reunión de cierre la lideras tú como líder del partner, y participan el dueño del proyecto y el coordinador. Dura una o dos horas.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24.4s · 61 palabras]</a:t>
            </a:r>
          </a:p>
          <a:p/>
          <a:p>
            <a:r>
              <a:t>Hay un error que se repite mucho: declarar éxito sin métricas. El partner llega al cierre, dice fue un gran proyecto, estamos muy contentos, el gobierno asiente, y dos meses después nadie puede contestar cuánto se logró. El antídoto es un one-pager de resultados. Una página, números concretos, lenguaje que el dueño del proyecto pueda usar para hablar con su jefe.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14.8s · 37 palabras]</a:t>
            </a:r>
          </a:p>
          <a:p/>
          <a:p>
            <a:r>
              <a:t>Las métricas más poderosas son las de impacto, no las operativas. Ahorramos doce mil horas de fila al ciudadano pega más fuerte que procesamos tres mil trámites. Tu trabajo es ayudar al gobierno a contar esa historia.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32.0s · 80 palabras]</a:t>
            </a:r>
          </a:p>
          <a:p/>
          <a:p>
            <a:r>
              <a:t>El plan de continuidad responde tres preguntas. Quién opera, quién da soporte, quién escala. Si esas tres preguntas no tienen nombre y apellido al final de la reunión, el proyecto no está cerrado. Y hay que socializarlo: el equipo de Nivel 1 tiene que saber que ahora son ellos, el dueño del proyecto tiene que saber a quién llama si algo se rompe, y la siguiente capa del gobierno tiene que conocer que esta plataforma existe y a quién pertenece.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13.2s · 33 palabras]</a:t>
            </a:r>
          </a:p>
          <a:p/>
          <a:p>
            <a:r>
              <a:t>Los entregables que salen de esa reunión son cuatro: el reporte final, el plan de continuidad documentado, los roles post-noventa días socializados, y el one-pager. Sin esos cuatro, no cerraste. Solo cumpliste actividades.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8.8s · 22 palabras]</a:t>
            </a:r>
          </a:p>
          <a:p/>
          <a:p>
            <a:r>
              <a:t>El reporte final no es el cierre del proyecto. Es la herramienta política que lo deja vivo después que tú te vas.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CA8A04"/>
                </a:solidFill>
                <a:latin typeface="Figtree"/>
              </a:rPr>
              <a:t>FASE E</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Cerrar el ciclo</a:t>
            </a:r>
          </a:p>
          <a:p>
            <a:pPr algn="l">
              <a:lnSpc>
                <a:spcPct val="110000"/>
              </a:lnSpc>
            </a:pPr>
            <a:r>
              <a:rPr sz="8000" b="1" i="0">
                <a:solidFill>
                  <a:srgbClr val="0A0915"/>
                </a:solidFill>
                <a:latin typeface="Plus Jakarta Sans"/>
              </a:rPr>
              <a:t>con un reporte final.</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No es un trámite administrativo. Es la herramienta con la que el dueño del proyecto defiende lo hecho.</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Cómo se mide un reporte final.</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Bien hecho</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El proyecto sobrevive cualquier cambio político.</a:t>
            </a:r>
          </a:p>
          <a:p>
            <a:pPr algn="l">
              <a:lnSpc>
                <a:spcPct val="130000"/>
              </a:lnSpc>
            </a:pPr>
            <a:r>
              <a:rPr sz="2800" b="0" i="0">
                <a:solidFill>
                  <a:srgbClr val="0A0915"/>
                </a:solidFill>
                <a:latin typeface="Plus Jakarta Sans"/>
              </a:rPr>
              <a:t>La narrativa queda en pie sola.</a:t>
            </a:r>
          </a:p>
        </p:txBody>
      </p:sp>
      <p:sp>
        <p:nvSpPr>
          <p:cNvPr id="6" name="Rounded Rectangle 5"/>
          <p:cNvSpPr/>
          <p:nvPr/>
        </p:nvSpPr>
        <p:spPr>
          <a:xfrm>
            <a:off x="10058400" y="4572000"/>
            <a:ext cx="6400800" cy="41148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Mal hecho</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El próximo funcionario que llegue</a:t>
            </a:r>
          </a:p>
          <a:p>
            <a:pPr algn="l">
              <a:lnSpc>
                <a:spcPct val="130000"/>
              </a:lnSpc>
            </a:pPr>
            <a:r>
              <a:rPr sz="2800" b="0" i="0">
                <a:solidFill>
                  <a:srgbClr val="FFFFFF"/>
                </a:solidFill>
                <a:latin typeface="Plus Jakarta Sans"/>
              </a:rPr>
              <a:t>va a cuestionar todo lo que hicieron.</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La reunión de cierre — cinco bloques en orden.</a:t>
            </a:r>
          </a:p>
        </p:txBody>
      </p:sp>
      <p:sp>
        <p:nvSpPr>
          <p:cNvPr id="3" name="Rounded Rectangle 2"/>
          <p:cNvSpPr/>
          <p:nvPr/>
        </p:nvSpPr>
        <p:spPr>
          <a:xfrm>
            <a:off x="1371600" y="388620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1. Reporte final con métricas de adopción, operación y calidad.</a:t>
            </a:r>
          </a:p>
        </p:txBody>
      </p:sp>
      <p:sp>
        <p:nvSpPr>
          <p:cNvPr id="5" name="Rounded Rectangle 4"/>
          <p:cNvSpPr/>
          <p:nvPr/>
        </p:nvSpPr>
        <p:spPr>
          <a:xfrm>
            <a:off x="1371600" y="470916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2. Resumen de lecciones aprendidas — sin entrar en el documento completo.</a:t>
            </a:r>
          </a:p>
        </p:txBody>
      </p:sp>
      <p:sp>
        <p:nvSpPr>
          <p:cNvPr id="7" name="Rounded Rectangle 6"/>
          <p:cNvSpPr/>
          <p:nvPr/>
        </p:nvSpPr>
        <p:spPr>
          <a:xfrm>
            <a:off x="1371600" y="553212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3. Plan de continuidad: qué sigue, quién opera, cómo es el soporte post-90 días.</a:t>
            </a:r>
          </a:p>
        </p:txBody>
      </p:sp>
      <p:sp>
        <p:nvSpPr>
          <p:cNvPr id="9" name="Rounded Rectangle 8"/>
          <p:cNvSpPr/>
          <p:nvPr/>
        </p:nvSpPr>
        <p:spPr>
          <a:xfrm>
            <a:off x="1371600" y="635508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4. Definición de roles post-implementación.</a:t>
            </a:r>
          </a:p>
        </p:txBody>
      </p:sp>
      <p:sp>
        <p:nvSpPr>
          <p:cNvPr id="11" name="Rounded Rectangle 10"/>
          <p:cNvSpPr/>
          <p:nvPr/>
        </p:nvSpPr>
        <p:spPr>
          <a:xfrm>
            <a:off x="1371600" y="717804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5. Celebrar lo logrado — el gobierno merece reconocimiento explícito.</a:t>
            </a:r>
          </a:p>
        </p:txBody>
      </p:sp>
      <p:sp>
        <p:nvSpPr>
          <p:cNvPr id="13" name="TextBox 12"/>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Quién participa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Tú como líder del partner lideras la reunión.</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Participan el dueño del proyecto y el coordinador. Dura una o dos horas. Respetar el orden de la agenda no es opcional.</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El error que se repite mucho.</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Declarar éxito sin métricas</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"Fue un gran proyecto, estamos muy contentos."</a:t>
            </a:r>
          </a:p>
          <a:p>
            <a:pPr algn="l">
              <a:lnSpc>
                <a:spcPct val="140000"/>
              </a:lnSpc>
            </a:pPr>
            <a:r>
              <a:rPr sz="1800" b="0" i="0">
                <a:solidFill>
                  <a:srgbClr val="888888"/>
                </a:solidFill>
                <a:latin typeface="Figtree"/>
              </a:rPr>
              <a:t>Dos meses después nadie puede contestar cuánto se logró.</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One-pager de resultados</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Una página, números concretos, lenguaje que el dueño del proyecto pueda usar con su jefe.</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0" y="1371600"/>
            <a:ext cx="2743200" cy="2743200"/>
          </a:xfrm>
          <a:prstGeom prst="rect">
            <a:avLst/>
          </a:prstGeom>
          <a:noFill/>
        </p:spPr>
        <p:txBody>
          <a:bodyPr wrap="square" anchor="t" lIns="0" rIns="0" tIns="0" bIns="0">
            <a:spAutoFit/>
          </a:bodyPr>
          <a:lstStyle/>
          <a:p>
            <a:pPr algn="ctr">
              <a:lnSpc>
                <a:spcPct val="115000"/>
              </a:lnSpc>
            </a:pPr>
            <a:r>
              <a:rPr sz="18000" b="1" i="0">
                <a:solidFill>
                  <a:srgbClr val="CA8A04"/>
                </a:solidFill>
                <a:latin typeface="Plus Jakarta Sans"/>
              </a:rPr>
              <a:t>“</a:t>
            </a:r>
          </a:p>
        </p:txBody>
      </p:sp>
      <p:sp>
        <p:nvSpPr>
          <p:cNvPr id="3" name="TextBox 2"/>
          <p:cNvSpPr txBox="1"/>
          <p:nvPr/>
        </p:nvSpPr>
        <p:spPr>
          <a:xfrm>
            <a:off x="1371600" y="4114800"/>
            <a:ext cx="15544800" cy="3657600"/>
          </a:xfrm>
          <a:prstGeom prst="rect">
            <a:avLst/>
          </a:prstGeom>
          <a:noFill/>
        </p:spPr>
        <p:txBody>
          <a:bodyPr wrap="square" anchor="t" lIns="0" rIns="0" tIns="0" bIns="0">
            <a:spAutoFit/>
          </a:bodyPr>
          <a:lstStyle/>
          <a:p>
            <a:pPr algn="ctr">
              <a:lnSpc>
                <a:spcPct val="130000"/>
              </a:lnSpc>
            </a:pPr>
            <a:r>
              <a:rPr sz="4400" b="1" i="0">
                <a:solidFill>
                  <a:srgbClr val="0A0915"/>
                </a:solidFill>
                <a:latin typeface="Plus Jakarta Sans"/>
              </a:rPr>
              <a:t>"Ahorramos 12 mil horas de fila al ciudadano"</a:t>
            </a:r>
          </a:p>
          <a:p>
            <a:pPr algn="ctr">
              <a:lnSpc>
                <a:spcPct val="130000"/>
              </a:lnSpc>
            </a:pPr>
            <a:r>
              <a:rPr sz="4400" b="1" i="0">
                <a:solidFill>
                  <a:srgbClr val="0A0915"/>
                </a:solidFill>
                <a:latin typeface="Plus Jakarta Sans"/>
              </a:rPr>
              <a:t>pega más fuerte que</a:t>
            </a:r>
          </a:p>
          <a:p>
            <a:pPr algn="ctr">
              <a:lnSpc>
                <a:spcPct val="130000"/>
              </a:lnSpc>
            </a:pPr>
            <a:r>
              <a:rPr sz="4400" b="1" i="0">
                <a:solidFill>
                  <a:srgbClr val="0A0915"/>
                </a:solidFill>
                <a:latin typeface="Plus Jakarta Sans"/>
              </a:rPr>
              <a:t>"procesamos 3 mil trámites".</a:t>
            </a:r>
          </a:p>
        </p:txBody>
      </p:sp>
      <p:sp>
        <p:nvSpPr>
          <p:cNvPr id="4" name="TextBox 3"/>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El plan de continuidad</a:t>
            </a:r>
          </a:p>
          <a:p>
            <a:pPr algn="ctr">
              <a:lnSpc>
                <a:spcPct val="115000"/>
              </a:lnSpc>
            </a:pPr>
            <a:r>
              <a:rPr sz="4400" b="1" i="0">
                <a:solidFill>
                  <a:srgbClr val="0A0915"/>
                </a:solidFill>
                <a:latin typeface="Plus Jakarta Sans"/>
              </a:rPr>
              <a:t>responde tres preguntas.</a:t>
            </a:r>
          </a:p>
        </p:txBody>
      </p:sp>
      <p:sp>
        <p:nvSpPr>
          <p:cNvPr id="3" name="TextBox 2"/>
          <p:cNvSpPr txBox="1"/>
          <p:nvPr/>
        </p:nvSpPr>
        <p:spPr>
          <a:xfrm>
            <a:off x="1371600" y="2560320"/>
            <a:ext cx="15544800" cy="731520"/>
          </a:xfrm>
          <a:prstGeom prst="rect">
            <a:avLst/>
          </a:prstGeom>
          <a:noFill/>
        </p:spPr>
        <p:txBody>
          <a:bodyPr wrap="square" anchor="t" lIns="0" rIns="0" tIns="0" bIns="0">
            <a:spAutoFit/>
          </a:bodyPr>
          <a:lstStyle/>
          <a:p>
            <a:pPr algn="ctr">
              <a:lnSpc>
                <a:spcPct val="115000"/>
              </a:lnSpc>
            </a:pPr>
            <a:r>
              <a:rPr sz="2200" b="0" i="0">
                <a:solidFill>
                  <a:srgbClr val="888888"/>
                </a:solidFill>
                <a:latin typeface="Figtree"/>
              </a:rPr>
              <a:t>Si no tienen nombre y apellido al final de la reunión, el proyecto no está cerrado.</a:t>
            </a:r>
          </a:p>
        </p:txBody>
      </p:sp>
      <p:sp>
        <p:nvSpPr>
          <p:cNvPr id="4" name="Rounded Rectangle 3"/>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30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¿Quién opera?</a:t>
            </a:r>
          </a:p>
        </p:txBody>
      </p:sp>
      <p:sp>
        <p:nvSpPr>
          <p:cNvPr id="7" name="TextBox 6"/>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Nivel 1 del gobierno tiene que saber que ahora son ellos.</a:t>
            </a:r>
          </a:p>
        </p:txBody>
      </p:sp>
      <p:sp>
        <p:nvSpPr>
          <p:cNvPr id="8" name="Rounded Rectangle 7"/>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94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¿Quién da soporte?</a:t>
            </a:r>
          </a:p>
        </p:txBody>
      </p:sp>
      <p:sp>
        <p:nvSpPr>
          <p:cNvPr id="11" name="TextBox 10"/>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El dueño del proyecto tiene que saber a quién llama si algo se rompe.</a:t>
            </a:r>
          </a:p>
        </p:txBody>
      </p:sp>
      <p:sp>
        <p:nvSpPr>
          <p:cNvPr id="12" name="Rounded Rectangle 11"/>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21158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¿Quién escala?</a:t>
            </a:r>
          </a:p>
        </p:txBody>
      </p:sp>
      <p:sp>
        <p:nvSpPr>
          <p:cNvPr id="15" name="TextBox 14"/>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La siguiente capa del gobierno tiene que conocer que esta plataforma existe.</a:t>
            </a:r>
          </a:p>
        </p:txBody>
      </p:sp>
      <p:sp>
        <p:nvSpPr>
          <p:cNvPr id="16" name="TextBox 1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Los cuatro entregables de esa reunión.</a:t>
            </a:r>
          </a:p>
        </p:txBody>
      </p:sp>
      <p:sp>
        <p:nvSpPr>
          <p:cNvPr id="3" name="Rounded Rectangle 2"/>
          <p:cNvSpPr/>
          <p:nvPr/>
        </p:nvSpPr>
        <p:spPr>
          <a:xfrm>
            <a:off x="1371600" y="388620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reporte final.</a:t>
            </a:r>
          </a:p>
        </p:txBody>
      </p:sp>
      <p:sp>
        <p:nvSpPr>
          <p:cNvPr id="5" name="Rounded Rectangle 4"/>
          <p:cNvSpPr/>
          <p:nvPr/>
        </p:nvSpPr>
        <p:spPr>
          <a:xfrm>
            <a:off x="1371600" y="470916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plan de continuidad documentado.</a:t>
            </a:r>
          </a:p>
        </p:txBody>
      </p:sp>
      <p:sp>
        <p:nvSpPr>
          <p:cNvPr id="7" name="Rounded Rectangle 6"/>
          <p:cNvSpPr/>
          <p:nvPr/>
        </p:nvSpPr>
        <p:spPr>
          <a:xfrm>
            <a:off x="1371600" y="553212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Los roles post-90 días socializados.</a:t>
            </a:r>
          </a:p>
        </p:txBody>
      </p:sp>
      <p:sp>
        <p:nvSpPr>
          <p:cNvPr id="9" name="Rounded Rectangle 8"/>
          <p:cNvSpPr/>
          <p:nvPr/>
        </p:nvSpPr>
        <p:spPr>
          <a:xfrm>
            <a:off x="1371600" y="635508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one-pager de resultados.</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El reporte final no es el cierre del proyecto.</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Es la herramienta política</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que lo deja vivo después que tú te vas.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