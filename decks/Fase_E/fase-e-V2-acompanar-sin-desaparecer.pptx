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10287000" cx="18288000"/>
  <p:notesSz cx="6858000" cy="9144000"/>
  <p:embeddedFontLst>
    <p:embeddedFont>
      <p:font typeface="Inter"/>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bold.fntdata"/><Relationship Id="rId14" Type="http://schemas.openxmlformats.org/officeDocument/2006/relationships/font" Target="fonts/Inter-regular.fntdata"/><Relationship Id="rId17" Type="http://schemas.openxmlformats.org/officeDocument/2006/relationships/font" Target="fonts/Inter-boldItalic.fntdata"/><Relationship Id="rId16" Type="http://schemas.openxmlformats.org/officeDocument/2006/relationships/font" Target="fonts/Inter-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5.6s · 14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error más común de Fase E tiene nombre propio: desaparecer después del lanzamiento.</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18.8s · 47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Pasa así. El partner cumplió el cronograma, llegó al go-live, todos celebraron, y al lunes siguiente el equipo del gobierno abre un caso raro y nadie del partner contesta hasta el jueves. Para entonces ya escalaron tres veces al dueño del proyecto y la confianza se resquebrajó.</a:t>
            </a:r>
            <a:endParaRPr/>
          </a:p>
        </p:txBody>
      </p:sp>
      <p:sp>
        <p:nvSpPr>
          <p:cNvPr id="92" name="Google Shape;92;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26.8s · 67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regla es simple: durante las primeras dos semanas, disponibilidad diaria. No semanal, no cuando puedan, diaria. Eso no significa estar ocho horas mirando la plataforma. Significa que cuando el equipo de Nivel 1 del gobierno pregunta algo a las diez de la mañana, alguien del partner contesta antes del mediodía. Que los SLAs definidos en Fase B se respetan. Que el canal de soporte está vivo.</a:t>
            </a:r>
            <a:endParaRPr/>
          </a:p>
        </p:txBody>
      </p:sp>
      <p:sp>
        <p:nvSpPr>
          <p:cNvPr id="108" name="Google Shape;108;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24.0s · 60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Las actividades de estas dos semanas son cinco y se hacen en paralelo. Monitoreas métricas diarias de usuarios, trámites y errores. Das soporte según el SLA acordado. Haces ajustes menores que aparecen cuando el sistema toca la realidad. Acompañas el lanzamiento público si el gobierno hizo uno. Y sigues la parte político-comunicacional, porque la narrativa también es parte del éxito.</a:t>
            </a:r>
            <a:endParaRPr/>
          </a:p>
        </p:txBody>
      </p:sp>
      <p:sp>
        <p:nvSpPr>
          <p:cNvPr id="126" name="Google Shape;126;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22.4s · 56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Lo que tienes que entregar al final de estas dos semanas es concreto. Un dashboard o reporte semanal de métricas compartido con el gobierno, todos los bugs post-lanzamiento resueltos, los ajustes funcionales implementados, y la comunicación de lanzamiento ejecutada si correspondía. Esto no es un checklist burocrático: es la evidencia de que estuviste presente cuando importaba.</a:t>
            </a:r>
            <a:endParaRPr/>
          </a:p>
        </p:txBody>
      </p:sp>
      <p:sp>
        <p:nvSpPr>
          <p:cNvPr id="161" name="Google Shape;161;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 name="Google Shape;18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20.4s · 51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Quién participa también cambia. El líder del partner coordina, el equipo de Nivel 1 del gobierno opera, y comunicación entra si hay lanzamiento público. Si tú como líder del partner intentas operar el Nivel 1, le robaste autonomía al gobierno. Si el gobierno te llama por todo, no estuvieron bien capacitados.</a:t>
            </a:r>
            <a:endParaRPr/>
          </a:p>
        </p:txBody>
      </p:sp>
      <p:sp>
        <p:nvSpPr>
          <p:cNvPr id="187" name="Google Shape;187;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6.0s · 15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Las primeras dos semanas son el test de que la transferencia de Fase D funcionó.</a:t>
            </a:r>
            <a:endParaRPr/>
          </a:p>
        </p:txBody>
      </p:sp>
      <p:sp>
        <p:nvSpPr>
          <p:cNvPr id="209" name="Google Shape;209;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 name="Google Shape;226;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4.0s · 10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Disponibilidad diaria no es estar siempre. Es contestar cuando preguntan.</a:t>
            </a:r>
            <a:endParaRPr/>
          </a:p>
        </p:txBody>
      </p:sp>
      <p:sp>
        <p:nvSpPr>
          <p:cNvPr id="227" name="Google Shape;227;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p:nvPr/>
        </p:nvSpPr>
        <p:spPr>
          <a:xfrm>
            <a:off x="0" y="0"/>
            <a:ext cx="18288000" cy="228600"/>
          </a:xfrm>
          <a:prstGeom prst="rect">
            <a:avLst/>
          </a:prstGeom>
          <a:solidFill>
            <a:srgbClr val="CA8A0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txBox="1"/>
          <p:nvPr/>
        </p:nvSpPr>
        <p:spPr>
          <a:xfrm>
            <a:off x="1371600" y="3200400"/>
            <a:ext cx="1554480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800" u="none" cap="none" strike="noStrike">
                <a:solidFill>
                  <a:srgbClr val="CA8A04"/>
                </a:solidFill>
                <a:latin typeface="Inter"/>
                <a:ea typeface="Inter"/>
                <a:cs typeface="Inter"/>
                <a:sym typeface="Inter"/>
              </a:rPr>
              <a:t>FASE E</a:t>
            </a:r>
            <a:endParaRPr/>
          </a:p>
        </p:txBody>
      </p:sp>
      <p:sp>
        <p:nvSpPr>
          <p:cNvPr id="87" name="Google Shape;87;p13"/>
          <p:cNvSpPr txBox="1"/>
          <p:nvPr/>
        </p:nvSpPr>
        <p:spPr>
          <a:xfrm>
            <a:off x="1371600" y="3840480"/>
            <a:ext cx="15544800" cy="2586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Acompañar</a:t>
            </a:r>
            <a:endParaRPr/>
          </a:p>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sin desaparecer</a:t>
            </a:r>
            <a:endParaRPr/>
          </a:p>
        </p:txBody>
      </p:sp>
      <p:sp>
        <p:nvSpPr>
          <p:cNvPr id="88" name="Google Shape;88;p13"/>
          <p:cNvSpPr txBox="1"/>
          <p:nvPr/>
        </p:nvSpPr>
        <p:spPr>
          <a:xfrm>
            <a:off x="1371600" y="6517900"/>
            <a:ext cx="15544800" cy="338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200" u="none" cap="none" strike="noStrike">
                <a:solidFill>
                  <a:srgbClr val="888888"/>
                </a:solidFill>
                <a:latin typeface="Inter"/>
                <a:ea typeface="Inter"/>
                <a:cs typeface="Inter"/>
                <a:sym typeface="Inter"/>
              </a:rPr>
              <a:t>El error más común de Fase E tiene nombre propio: desaparecer después del lanzamiento.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p:nvPr/>
        </p:nvSpPr>
        <p:spPr>
          <a:xfrm>
            <a:off x="0" y="0"/>
            <a:ext cx="18288000" cy="228600"/>
          </a:xfrm>
          <a:prstGeom prst="rect">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5" name="Google Shape;95;p14"/>
          <p:cNvGrpSpPr/>
          <p:nvPr/>
        </p:nvGrpSpPr>
        <p:grpSpPr>
          <a:xfrm>
            <a:off x="1371600" y="762000"/>
            <a:ext cx="15544800" cy="2000400"/>
            <a:chOff x="1371600" y="762000"/>
            <a:chExt cx="15544800" cy="2000400"/>
          </a:xfrm>
        </p:grpSpPr>
        <p:sp>
          <p:nvSpPr>
            <p:cNvPr id="96" name="Google Shape;96;p14"/>
            <p:cNvSpPr txBox="1"/>
            <p:nvPr/>
          </p:nvSpPr>
          <p:spPr>
            <a:xfrm>
              <a:off x="1371600" y="762000"/>
              <a:ext cx="155448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CA8A04"/>
                  </a:solidFill>
                  <a:latin typeface="Inter"/>
                  <a:ea typeface="Inter"/>
                  <a:cs typeface="Inter"/>
                  <a:sym typeface="Inter"/>
                </a:rPr>
                <a:t>Cómo pasa</a:t>
              </a:r>
              <a:endParaRPr b="1" sz="1800">
                <a:solidFill>
                  <a:srgbClr val="CA8A04"/>
                </a:solidFill>
                <a:latin typeface="Inter"/>
                <a:ea typeface="Inter"/>
                <a:cs typeface="Inter"/>
                <a:sym typeface="Inter"/>
              </a:endParaRPr>
            </a:p>
          </p:txBody>
        </p:sp>
        <p:sp>
          <p:nvSpPr>
            <p:cNvPr id="97" name="Google Shape;97;p14"/>
            <p:cNvSpPr txBox="1"/>
            <p:nvPr/>
          </p:nvSpPr>
          <p:spPr>
            <a:xfrm>
              <a:off x="1371600" y="1333500"/>
              <a:ext cx="15544800" cy="1428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4420">
                  <a:solidFill>
                    <a:srgbClr val="0A0915"/>
                  </a:solidFill>
                  <a:latin typeface="Inter"/>
                  <a:ea typeface="Inter"/>
                  <a:cs typeface="Inter"/>
                  <a:sym typeface="Inter"/>
                </a:rPr>
                <a:t>El partner cumplió, todos celebraron,</a:t>
              </a:r>
              <a:endParaRPr b="1" sz="4420">
                <a:solidFill>
                  <a:srgbClr val="0A0915"/>
                </a:solidFill>
                <a:latin typeface="Inter"/>
                <a:ea typeface="Inter"/>
                <a:cs typeface="Inter"/>
                <a:sym typeface="Inter"/>
              </a:endParaRPr>
            </a:p>
            <a:p>
              <a:pPr indent="0" lvl="0" marL="0" rtl="0" algn="l">
                <a:spcBef>
                  <a:spcPts val="0"/>
                </a:spcBef>
                <a:spcAft>
                  <a:spcPts val="0"/>
                </a:spcAft>
                <a:buNone/>
              </a:pPr>
              <a:r>
                <a:rPr b="1" lang="en-US" sz="4420">
                  <a:solidFill>
                    <a:srgbClr val="0A0915"/>
                  </a:solidFill>
                  <a:latin typeface="Inter"/>
                  <a:ea typeface="Inter"/>
                  <a:cs typeface="Inter"/>
                  <a:sym typeface="Inter"/>
                </a:rPr>
                <a:t>y el lunes nadie contesta</a:t>
              </a:r>
              <a:endParaRPr b="1" sz="4420">
                <a:solidFill>
                  <a:srgbClr val="0A0915"/>
                </a:solidFill>
                <a:latin typeface="Inter"/>
                <a:ea typeface="Inter"/>
                <a:cs typeface="Inter"/>
                <a:sym typeface="Inter"/>
              </a:endParaRPr>
            </a:p>
          </p:txBody>
        </p:sp>
      </p:grpSp>
      <p:grpSp>
        <p:nvGrpSpPr>
          <p:cNvPr id="98" name="Google Shape;98;p14"/>
          <p:cNvGrpSpPr/>
          <p:nvPr/>
        </p:nvGrpSpPr>
        <p:grpSpPr>
          <a:xfrm>
            <a:off x="1371600" y="3429000"/>
            <a:ext cx="15544800" cy="3429000"/>
            <a:chOff x="1371600" y="3429000"/>
            <a:chExt cx="15544800" cy="3429000"/>
          </a:xfrm>
        </p:grpSpPr>
        <p:sp>
          <p:nvSpPr>
            <p:cNvPr id="99" name="Google Shape;99;p14"/>
            <p:cNvSpPr/>
            <p:nvPr/>
          </p:nvSpPr>
          <p:spPr>
            <a:xfrm>
              <a:off x="1371600" y="3429000"/>
              <a:ext cx="15544800" cy="3429000"/>
            </a:xfrm>
            <a:prstGeom prst="roundRect">
              <a:avLst>
                <a:gd fmla="val 11111" name="adj"/>
              </a:avLst>
            </a:prstGeom>
            <a:solidFill>
              <a:srgbClr val="FEE2E2"/>
            </a:solidFill>
            <a:ln cap="flat" cmpd="sng" w="19050">
              <a:solidFill>
                <a:srgbClr val="FECAC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4"/>
            <p:cNvSpPr txBox="1"/>
            <p:nvPr/>
          </p:nvSpPr>
          <p:spPr>
            <a:xfrm>
              <a:off x="1943100" y="4022090"/>
              <a:ext cx="11430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7400">
                  <a:solidFill>
                    <a:srgbClr val="DC2626"/>
                  </a:solidFill>
                  <a:latin typeface="Material Icons"/>
                  <a:ea typeface="Material Icons"/>
                  <a:cs typeface="Material Icons"/>
                  <a:sym typeface="Material Icons"/>
                </a:rPr>
                <a:t></a:t>
              </a:r>
              <a:endParaRPr sz="7400">
                <a:solidFill>
                  <a:srgbClr val="DC2626"/>
                </a:solidFill>
                <a:latin typeface="Material Icons"/>
                <a:ea typeface="Material Icons"/>
                <a:cs typeface="Material Icons"/>
                <a:sym typeface="Material Icons"/>
              </a:endParaRPr>
            </a:p>
          </p:txBody>
        </p:sp>
        <p:sp>
          <p:nvSpPr>
            <p:cNvPr id="101" name="Google Shape;101;p14"/>
            <p:cNvSpPr txBox="1"/>
            <p:nvPr/>
          </p:nvSpPr>
          <p:spPr>
            <a:xfrm>
              <a:off x="3429000" y="3905250"/>
              <a:ext cx="12858900" cy="2476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3200">
                  <a:solidFill>
                    <a:srgbClr val="0A0915"/>
                  </a:solidFill>
                  <a:latin typeface="Inter"/>
                  <a:ea typeface="Inter"/>
                  <a:cs typeface="Inter"/>
                  <a:sym typeface="Inter"/>
                </a:rPr>
                <a:t>El equipo del gobierno abre un caso raro y nadie del partner contesta hasta el jueves.</a:t>
              </a:r>
              <a:endParaRPr b="0" sz="3200">
                <a:solidFill>
                  <a:srgbClr val="0A0915"/>
                </a:solidFill>
                <a:latin typeface="Inter"/>
                <a:ea typeface="Inter"/>
                <a:cs typeface="Inter"/>
                <a:sym typeface="Inter"/>
              </a:endParaRPr>
            </a:p>
            <a:p>
              <a:pPr indent="0" lvl="0" marL="0" rtl="0" algn="l">
                <a:spcBef>
                  <a:spcPts val="1500"/>
                </a:spcBef>
                <a:spcAft>
                  <a:spcPts val="0"/>
                </a:spcAft>
                <a:buNone/>
              </a:pPr>
              <a:r>
                <a:rPr b="1" lang="en-US" sz="3200">
                  <a:solidFill>
                    <a:srgbClr val="B91C1C"/>
                  </a:solidFill>
                  <a:latin typeface="Inter"/>
                  <a:ea typeface="Inter"/>
                  <a:cs typeface="Inter"/>
                  <a:sym typeface="Inter"/>
                </a:rPr>
                <a:t>Para entonces ya escalaron tres veces al dueño del proyecto y la confianza se resquebrajó.</a:t>
              </a:r>
              <a:endParaRPr b="1" sz="3200">
                <a:solidFill>
                  <a:srgbClr val="B91C1C"/>
                </a:solidFill>
                <a:latin typeface="Inter"/>
                <a:ea typeface="Inter"/>
                <a:cs typeface="Inter"/>
                <a:sym typeface="Inter"/>
              </a:endParaRPr>
            </a:p>
          </p:txBody>
        </p:sp>
      </p:grpSp>
      <p:grpSp>
        <p:nvGrpSpPr>
          <p:cNvPr id="102" name="Google Shape;102;p14"/>
          <p:cNvGrpSpPr/>
          <p:nvPr/>
        </p:nvGrpSpPr>
        <p:grpSpPr>
          <a:xfrm>
            <a:off x="1371600" y="7620000"/>
            <a:ext cx="15544800" cy="1238250"/>
            <a:chOff x="1371600" y="7620000"/>
            <a:chExt cx="15544800" cy="1238250"/>
          </a:xfrm>
        </p:grpSpPr>
        <p:sp>
          <p:nvSpPr>
            <p:cNvPr id="103" name="Google Shape;103;p14"/>
            <p:cNvSpPr/>
            <p:nvPr/>
          </p:nvSpPr>
          <p:spPr>
            <a:xfrm>
              <a:off x="1371600" y="7620000"/>
              <a:ext cx="15544800" cy="381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 name="Google Shape;104;p14"/>
            <p:cNvSpPr txBox="1"/>
            <p:nvPr/>
          </p:nvSpPr>
          <p:spPr>
            <a:xfrm>
              <a:off x="1371600" y="7905750"/>
              <a:ext cx="155448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i="1" lang="en-US" sz="1800">
                  <a:solidFill>
                    <a:srgbClr val="6B7280"/>
                  </a:solidFill>
                  <a:latin typeface="Inter"/>
                  <a:ea typeface="Inter"/>
                  <a:cs typeface="Inter"/>
                  <a:sym typeface="Inter"/>
                </a:rPr>
                <a:t>"La confianza se rompe en silencio cuando el acompañamiento desaparece."</a:t>
              </a:r>
              <a:endParaRPr b="0" i="1" sz="1800">
                <a:solidFill>
                  <a:srgbClr val="6B7280"/>
                </a:solidFill>
                <a:latin typeface="Inter"/>
                <a:ea typeface="Inter"/>
                <a:cs typeface="Inter"/>
                <a:sym typeface="Inte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5"/>
          <p:cNvSpPr/>
          <p:nvPr/>
        </p:nvSpPr>
        <p:spPr>
          <a:xfrm>
            <a:off x="0" y="0"/>
            <a:ext cx="18288000" cy="228600"/>
          </a:xfrm>
          <a:prstGeom prst="rect">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15"/>
          <p:cNvSpPr txBox="1"/>
          <p:nvPr/>
        </p:nvSpPr>
        <p:spPr>
          <a:xfrm>
            <a:off x="1371600" y="762000"/>
            <a:ext cx="15544800" cy="14160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4600">
                <a:solidFill>
                  <a:srgbClr val="0A0915"/>
                </a:solidFill>
                <a:latin typeface="Inter"/>
                <a:ea typeface="Inter"/>
                <a:cs typeface="Inter"/>
                <a:sym typeface="Inter"/>
              </a:rPr>
              <a:t>Disponibilidad diaria,</a:t>
            </a:r>
            <a:endParaRPr b="1" sz="4600">
              <a:solidFill>
                <a:srgbClr val="0A0915"/>
              </a:solidFill>
              <a:latin typeface="Inter"/>
              <a:ea typeface="Inter"/>
              <a:cs typeface="Inter"/>
              <a:sym typeface="Inter"/>
            </a:endParaRPr>
          </a:p>
          <a:p>
            <a:pPr indent="0" lvl="0" marL="0" rtl="0" algn="l">
              <a:spcBef>
                <a:spcPts val="0"/>
              </a:spcBef>
              <a:spcAft>
                <a:spcPts val="0"/>
              </a:spcAft>
              <a:buNone/>
            </a:pPr>
            <a:r>
              <a:rPr b="1" lang="en-US" sz="4600">
                <a:solidFill>
                  <a:srgbClr val="0A0915"/>
                </a:solidFill>
                <a:latin typeface="Inter"/>
                <a:ea typeface="Inter"/>
                <a:cs typeface="Inter"/>
                <a:sym typeface="Inter"/>
              </a:rPr>
              <a:t>no semanal ni "cuando puedan"</a:t>
            </a:r>
            <a:endParaRPr b="1" sz="4600">
              <a:solidFill>
                <a:srgbClr val="0A0915"/>
              </a:solidFill>
              <a:latin typeface="Inter"/>
              <a:ea typeface="Inter"/>
              <a:cs typeface="Inter"/>
              <a:sym typeface="Inter"/>
            </a:endParaRPr>
          </a:p>
        </p:txBody>
      </p:sp>
      <p:sp>
        <p:nvSpPr>
          <p:cNvPr id="112" name="Google Shape;112;p15"/>
          <p:cNvSpPr/>
          <p:nvPr/>
        </p:nvSpPr>
        <p:spPr>
          <a:xfrm>
            <a:off x="1371600" y="2857500"/>
            <a:ext cx="7429500" cy="4572000"/>
          </a:xfrm>
          <a:prstGeom prst="roundRect">
            <a:avLst>
              <a:gd fmla="val 8333" name="adj"/>
            </a:avLst>
          </a:prstGeom>
          <a:solidFill>
            <a:srgbClr val="FEF2F2"/>
          </a:solidFill>
          <a:ln cap="flat" cmpd="sng" w="19050">
            <a:solidFill>
              <a:srgbClr val="FEE2E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15"/>
          <p:cNvSpPr txBox="1"/>
          <p:nvPr/>
        </p:nvSpPr>
        <p:spPr>
          <a:xfrm>
            <a:off x="1905000" y="3333750"/>
            <a:ext cx="762000" cy="715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4650">
                <a:solidFill>
                  <a:srgbClr val="DC2626"/>
                </a:solidFill>
                <a:latin typeface="Inter"/>
                <a:ea typeface="Inter"/>
                <a:cs typeface="Inter"/>
                <a:sym typeface="Inter"/>
              </a:rPr>
              <a:t>✗</a:t>
            </a:r>
            <a:endParaRPr b="1" sz="4650">
              <a:solidFill>
                <a:srgbClr val="DC2626"/>
              </a:solidFill>
              <a:latin typeface="Inter"/>
              <a:ea typeface="Inter"/>
              <a:cs typeface="Inter"/>
              <a:sym typeface="Inter"/>
            </a:endParaRPr>
          </a:p>
        </p:txBody>
      </p:sp>
      <p:sp>
        <p:nvSpPr>
          <p:cNvPr id="114" name="Google Shape;114;p15"/>
          <p:cNvSpPr txBox="1"/>
          <p:nvPr/>
        </p:nvSpPr>
        <p:spPr>
          <a:xfrm>
            <a:off x="1905000" y="4286250"/>
            <a:ext cx="6286500" cy="492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3200">
                <a:solidFill>
                  <a:srgbClr val="0A0915"/>
                </a:solidFill>
                <a:latin typeface="Inter"/>
                <a:ea typeface="Inter"/>
                <a:cs typeface="Inter"/>
                <a:sym typeface="Inter"/>
              </a:rPr>
              <a:t>Disponibilidad semanal</a:t>
            </a:r>
            <a:endParaRPr b="1" sz="3200">
              <a:solidFill>
                <a:srgbClr val="0A0915"/>
              </a:solidFill>
              <a:latin typeface="Inter"/>
              <a:ea typeface="Inter"/>
              <a:cs typeface="Inter"/>
              <a:sym typeface="Inter"/>
            </a:endParaRPr>
          </a:p>
        </p:txBody>
      </p:sp>
      <p:sp>
        <p:nvSpPr>
          <p:cNvPr id="115" name="Google Shape;115;p15"/>
          <p:cNvSpPr txBox="1"/>
          <p:nvPr/>
        </p:nvSpPr>
        <p:spPr>
          <a:xfrm>
            <a:off x="1905000" y="4953000"/>
            <a:ext cx="6286500" cy="8082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2000">
                <a:solidFill>
                  <a:srgbClr val="4B5563"/>
                </a:solidFill>
                <a:latin typeface="Inter"/>
                <a:ea typeface="Inter"/>
                <a:cs typeface="Inter"/>
                <a:sym typeface="Inter"/>
              </a:rPr>
              <a:t>Contestar tres días después de que preguntaron.</a:t>
            </a:r>
            <a:endParaRPr b="0" sz="2000">
              <a:solidFill>
                <a:srgbClr val="4B5563"/>
              </a:solidFill>
              <a:latin typeface="Inter"/>
              <a:ea typeface="Inter"/>
              <a:cs typeface="Inter"/>
              <a:sym typeface="Inter"/>
            </a:endParaRPr>
          </a:p>
          <a:p>
            <a:pPr indent="0" lvl="0" marL="0" rtl="0" algn="l">
              <a:spcBef>
                <a:spcPts val="1500"/>
              </a:spcBef>
              <a:spcAft>
                <a:spcPts val="0"/>
              </a:spcAft>
              <a:buNone/>
            </a:pPr>
            <a:r>
              <a:rPr b="1" lang="en-US" sz="2000">
                <a:solidFill>
                  <a:srgbClr val="B91C1C"/>
                </a:solidFill>
                <a:latin typeface="Inter"/>
                <a:ea typeface="Inter"/>
                <a:cs typeface="Inter"/>
                <a:sym typeface="Inter"/>
              </a:rPr>
              <a:t>La confianza se rompe en silencio.</a:t>
            </a:r>
            <a:endParaRPr b="1" sz="2000">
              <a:solidFill>
                <a:srgbClr val="B91C1C"/>
              </a:solidFill>
              <a:latin typeface="Inter"/>
              <a:ea typeface="Inter"/>
              <a:cs typeface="Inter"/>
              <a:sym typeface="Inter"/>
            </a:endParaRPr>
          </a:p>
        </p:txBody>
      </p:sp>
      <p:sp>
        <p:nvSpPr>
          <p:cNvPr id="116" name="Google Shape;116;p15"/>
          <p:cNvSpPr/>
          <p:nvPr/>
        </p:nvSpPr>
        <p:spPr>
          <a:xfrm>
            <a:off x="9486900" y="2857500"/>
            <a:ext cx="7429500" cy="4572000"/>
          </a:xfrm>
          <a:prstGeom prst="roundRect">
            <a:avLst>
              <a:gd fmla="val 8333" name="adj"/>
            </a:avLst>
          </a:prstGeom>
          <a:solidFill>
            <a:srgbClr val="ECFDF5"/>
          </a:solidFill>
          <a:ln cap="flat" cmpd="sng" w="19050">
            <a:solidFill>
              <a:srgbClr val="A7F3D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 name="Google Shape;117;p15"/>
          <p:cNvSpPr txBox="1"/>
          <p:nvPr/>
        </p:nvSpPr>
        <p:spPr>
          <a:xfrm>
            <a:off x="10020300" y="3333750"/>
            <a:ext cx="762000" cy="715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4650">
                <a:solidFill>
                  <a:srgbClr val="10B981"/>
                </a:solidFill>
                <a:latin typeface="Inter"/>
                <a:ea typeface="Inter"/>
                <a:cs typeface="Inter"/>
                <a:sym typeface="Inter"/>
              </a:rPr>
              <a:t>✓</a:t>
            </a:r>
            <a:endParaRPr b="1" sz="4650">
              <a:solidFill>
                <a:srgbClr val="10B981"/>
              </a:solidFill>
              <a:latin typeface="Inter"/>
              <a:ea typeface="Inter"/>
              <a:cs typeface="Inter"/>
              <a:sym typeface="Inter"/>
            </a:endParaRPr>
          </a:p>
        </p:txBody>
      </p:sp>
      <p:sp>
        <p:nvSpPr>
          <p:cNvPr id="118" name="Google Shape;118;p15"/>
          <p:cNvSpPr txBox="1"/>
          <p:nvPr/>
        </p:nvSpPr>
        <p:spPr>
          <a:xfrm>
            <a:off x="10020300" y="4286250"/>
            <a:ext cx="6286500" cy="492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3200">
                <a:solidFill>
                  <a:srgbClr val="0A0915"/>
                </a:solidFill>
                <a:latin typeface="Inter"/>
                <a:ea typeface="Inter"/>
                <a:cs typeface="Inter"/>
                <a:sym typeface="Inter"/>
              </a:rPr>
              <a:t>Disponibilidad diaria</a:t>
            </a:r>
            <a:endParaRPr b="1" sz="3200">
              <a:solidFill>
                <a:srgbClr val="0A0915"/>
              </a:solidFill>
              <a:latin typeface="Inter"/>
              <a:ea typeface="Inter"/>
              <a:cs typeface="Inter"/>
              <a:sym typeface="Inter"/>
            </a:endParaRPr>
          </a:p>
        </p:txBody>
      </p:sp>
      <p:sp>
        <p:nvSpPr>
          <p:cNvPr id="119" name="Google Shape;119;p15"/>
          <p:cNvSpPr txBox="1"/>
          <p:nvPr/>
        </p:nvSpPr>
        <p:spPr>
          <a:xfrm>
            <a:off x="10020300" y="4953000"/>
            <a:ext cx="6286500" cy="1116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2000">
                <a:solidFill>
                  <a:srgbClr val="4B5563"/>
                </a:solidFill>
                <a:latin typeface="Inter"/>
                <a:ea typeface="Inter"/>
                <a:cs typeface="Inter"/>
                <a:sym typeface="Inter"/>
              </a:rPr>
              <a:t>Cuando Nivel 1 pregunta a las 10, alguien contesta antes del mediodía.</a:t>
            </a:r>
            <a:endParaRPr b="0" sz="2000">
              <a:solidFill>
                <a:srgbClr val="4B5563"/>
              </a:solidFill>
              <a:latin typeface="Inter"/>
              <a:ea typeface="Inter"/>
              <a:cs typeface="Inter"/>
              <a:sym typeface="Inter"/>
            </a:endParaRPr>
          </a:p>
          <a:p>
            <a:pPr indent="0" lvl="0" marL="0" rtl="0" algn="l">
              <a:spcBef>
                <a:spcPts val="1500"/>
              </a:spcBef>
              <a:spcAft>
                <a:spcPts val="0"/>
              </a:spcAft>
              <a:buNone/>
            </a:pPr>
            <a:r>
              <a:rPr b="1" lang="en-US" sz="2000">
                <a:solidFill>
                  <a:srgbClr val="065F46"/>
                </a:solidFill>
                <a:latin typeface="Inter"/>
                <a:ea typeface="Inter"/>
                <a:cs typeface="Inter"/>
                <a:sym typeface="Inter"/>
              </a:rPr>
              <a:t>Los SLAs de Fase B se respetan.</a:t>
            </a:r>
            <a:endParaRPr b="1" sz="2000">
              <a:solidFill>
                <a:srgbClr val="065F46"/>
              </a:solidFill>
              <a:latin typeface="Inter"/>
              <a:ea typeface="Inter"/>
              <a:cs typeface="Inter"/>
              <a:sym typeface="Inter"/>
            </a:endParaRPr>
          </a:p>
        </p:txBody>
      </p:sp>
      <p:grpSp>
        <p:nvGrpSpPr>
          <p:cNvPr id="120" name="Google Shape;120;p15"/>
          <p:cNvGrpSpPr/>
          <p:nvPr/>
        </p:nvGrpSpPr>
        <p:grpSpPr>
          <a:xfrm>
            <a:off x="1371600" y="8382000"/>
            <a:ext cx="15544800" cy="857250"/>
            <a:chOff x="1371600" y="8382000"/>
            <a:chExt cx="15544800" cy="857250"/>
          </a:xfrm>
        </p:grpSpPr>
        <p:sp>
          <p:nvSpPr>
            <p:cNvPr id="121" name="Google Shape;121;p15"/>
            <p:cNvSpPr/>
            <p:nvPr/>
          </p:nvSpPr>
          <p:spPr>
            <a:xfrm>
              <a:off x="1371600" y="8382000"/>
              <a:ext cx="15544800" cy="381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15"/>
            <p:cNvSpPr txBox="1"/>
            <p:nvPr/>
          </p:nvSpPr>
          <p:spPr>
            <a:xfrm>
              <a:off x="1371600" y="8667750"/>
              <a:ext cx="155448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i="1" lang="en-US" sz="1800">
                  <a:solidFill>
                    <a:srgbClr val="6B7280"/>
                  </a:solidFill>
                  <a:latin typeface="Inter"/>
                  <a:ea typeface="Inter"/>
                  <a:cs typeface="Inter"/>
                  <a:sym typeface="Inter"/>
                </a:rPr>
                <a:t>"La confianza se construye con respuestas, no con silencios."</a:t>
              </a:r>
              <a:endParaRPr b="0" i="1" sz="1800">
                <a:solidFill>
                  <a:srgbClr val="6B7280"/>
                </a:solidFill>
                <a:latin typeface="Inter"/>
                <a:ea typeface="Inter"/>
                <a:cs typeface="Inter"/>
                <a:sym typeface="Inte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6"/>
          <p:cNvSpPr/>
          <p:nvPr/>
        </p:nvSpPr>
        <p:spPr>
          <a:xfrm>
            <a:off x="0" y="0"/>
            <a:ext cx="18288000" cy="228600"/>
          </a:xfrm>
          <a:prstGeom prst="rect">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 name="Google Shape;129;p16"/>
          <p:cNvSpPr txBox="1"/>
          <p:nvPr/>
        </p:nvSpPr>
        <p:spPr>
          <a:xfrm>
            <a:off x="1371600" y="762000"/>
            <a:ext cx="15544800" cy="13545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4400">
                <a:solidFill>
                  <a:srgbClr val="0A0915"/>
                </a:solidFill>
                <a:latin typeface="Inter"/>
                <a:ea typeface="Inter"/>
                <a:cs typeface="Inter"/>
                <a:sym typeface="Inter"/>
              </a:rPr>
              <a:t>Las cinco actividades de estas dos semanas se hacen en paralelo</a:t>
            </a:r>
            <a:endParaRPr b="1" sz="4400">
              <a:solidFill>
                <a:srgbClr val="0A0915"/>
              </a:solidFill>
              <a:latin typeface="Inter"/>
              <a:ea typeface="Inter"/>
              <a:cs typeface="Inter"/>
              <a:sym typeface="Inter"/>
            </a:endParaRPr>
          </a:p>
        </p:txBody>
      </p:sp>
      <p:grpSp>
        <p:nvGrpSpPr>
          <p:cNvPr id="130" name="Google Shape;130;p16"/>
          <p:cNvGrpSpPr/>
          <p:nvPr/>
        </p:nvGrpSpPr>
        <p:grpSpPr>
          <a:xfrm>
            <a:off x="1371600" y="3048000"/>
            <a:ext cx="2857500" cy="4000500"/>
            <a:chOff x="1371600" y="3048000"/>
            <a:chExt cx="2857500" cy="4000500"/>
          </a:xfrm>
        </p:grpSpPr>
        <p:sp>
          <p:nvSpPr>
            <p:cNvPr id="131" name="Google Shape;131;p16"/>
            <p:cNvSpPr/>
            <p:nvPr/>
          </p:nvSpPr>
          <p:spPr>
            <a:xfrm>
              <a:off x="1371600" y="3048000"/>
              <a:ext cx="2857500" cy="4000500"/>
            </a:xfrm>
            <a:prstGeom prst="roundRect">
              <a:avLst>
                <a:gd fmla="val 8000"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16"/>
            <p:cNvSpPr/>
            <p:nvPr/>
          </p:nvSpPr>
          <p:spPr>
            <a:xfrm>
              <a:off x="1371600" y="3048000"/>
              <a:ext cx="2857500" cy="95400"/>
            </a:xfrm>
            <a:prstGeom prst="roundRect">
              <a:avLst>
                <a:gd fmla="val 50000" name="adj"/>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6"/>
            <p:cNvSpPr txBox="1"/>
            <p:nvPr/>
          </p:nvSpPr>
          <p:spPr>
            <a:xfrm>
              <a:off x="1562100" y="3392170"/>
              <a:ext cx="2476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700">
                  <a:solidFill>
                    <a:srgbClr val="CA8A04"/>
                  </a:solidFill>
                  <a:latin typeface="Material Icons"/>
                  <a:ea typeface="Material Icons"/>
                  <a:cs typeface="Material Icons"/>
                  <a:sym typeface="Material Icons"/>
                </a:rPr>
                <a:t></a:t>
              </a:r>
              <a:endParaRPr sz="3700">
                <a:solidFill>
                  <a:srgbClr val="CA8A04"/>
                </a:solidFill>
                <a:latin typeface="Material Icons"/>
                <a:ea typeface="Material Icons"/>
                <a:cs typeface="Material Icons"/>
                <a:sym typeface="Material Icons"/>
              </a:endParaRPr>
            </a:p>
          </p:txBody>
        </p:sp>
        <p:sp>
          <p:nvSpPr>
            <p:cNvPr id="134" name="Google Shape;134;p16"/>
            <p:cNvSpPr txBox="1"/>
            <p:nvPr/>
          </p:nvSpPr>
          <p:spPr>
            <a:xfrm>
              <a:off x="1562100" y="4000500"/>
              <a:ext cx="2476500" cy="2667000"/>
            </a:xfrm>
            <a:prstGeom prst="rect">
              <a:avLst/>
            </a:prstGeom>
            <a:noFill/>
            <a:ln>
              <a:noFill/>
            </a:ln>
          </p:spPr>
          <p:txBody>
            <a:bodyPr anchorCtr="0" anchor="t" bIns="95250" lIns="95250" spcFirstLastPara="1" rIns="95250" wrap="square" tIns="95250">
              <a:noAutofit/>
            </a:bodyPr>
            <a:lstStyle/>
            <a:p>
              <a:pPr indent="0" lvl="0" marL="0" rtl="0" algn="l">
                <a:spcBef>
                  <a:spcPts val="0"/>
                </a:spcBef>
                <a:spcAft>
                  <a:spcPts val="0"/>
                </a:spcAft>
                <a:buNone/>
              </a:pPr>
              <a:r>
                <a:rPr b="1" lang="en-US" sz="1800">
                  <a:solidFill>
                    <a:srgbClr val="CA8A04"/>
                  </a:solidFill>
                  <a:latin typeface="Inter"/>
                  <a:ea typeface="Inter"/>
                  <a:cs typeface="Inter"/>
                  <a:sym typeface="Inter"/>
                </a:rPr>
                <a:t>Monitoreo</a:t>
              </a:r>
              <a:endParaRPr b="1" sz="1800">
                <a:solidFill>
                  <a:srgbClr val="CA8A04"/>
                </a:solidFill>
                <a:latin typeface="Inter"/>
                <a:ea typeface="Inter"/>
                <a:cs typeface="Inter"/>
                <a:sym typeface="Inter"/>
              </a:endParaRPr>
            </a:p>
            <a:p>
              <a:pPr indent="0" lvl="0" marL="0" rtl="0" algn="l">
                <a:spcBef>
                  <a:spcPts val="750"/>
                </a:spcBef>
                <a:spcAft>
                  <a:spcPts val="0"/>
                </a:spcAft>
                <a:buNone/>
              </a:pPr>
              <a:r>
                <a:rPr lang="en-US" sz="1800">
                  <a:solidFill>
                    <a:srgbClr val="0A0915"/>
                  </a:solidFill>
                  <a:latin typeface="Inter"/>
                  <a:ea typeface="Inter"/>
                  <a:cs typeface="Inter"/>
                  <a:sym typeface="Inter"/>
                </a:rPr>
                <a:t>Monitorear métricas diarias de usuarios, trámites y errores.</a:t>
              </a:r>
              <a:endParaRPr sz="1800">
                <a:solidFill>
                  <a:srgbClr val="0A0915"/>
                </a:solidFill>
                <a:latin typeface="Inter"/>
                <a:ea typeface="Inter"/>
                <a:cs typeface="Inter"/>
                <a:sym typeface="Inter"/>
              </a:endParaRPr>
            </a:p>
          </p:txBody>
        </p:sp>
      </p:grpSp>
      <p:grpSp>
        <p:nvGrpSpPr>
          <p:cNvPr id="135" name="Google Shape;135;p16"/>
          <p:cNvGrpSpPr/>
          <p:nvPr/>
        </p:nvGrpSpPr>
        <p:grpSpPr>
          <a:xfrm>
            <a:off x="4543425" y="3048000"/>
            <a:ext cx="2857500" cy="4000500"/>
            <a:chOff x="4543425" y="3048000"/>
            <a:chExt cx="2857500" cy="4000500"/>
          </a:xfrm>
        </p:grpSpPr>
        <p:sp>
          <p:nvSpPr>
            <p:cNvPr id="136" name="Google Shape;136;p16"/>
            <p:cNvSpPr/>
            <p:nvPr/>
          </p:nvSpPr>
          <p:spPr>
            <a:xfrm>
              <a:off x="4543425" y="3048000"/>
              <a:ext cx="2857500" cy="4000500"/>
            </a:xfrm>
            <a:prstGeom prst="roundRect">
              <a:avLst>
                <a:gd fmla="val 8000"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 name="Google Shape;137;p16"/>
            <p:cNvSpPr/>
            <p:nvPr/>
          </p:nvSpPr>
          <p:spPr>
            <a:xfrm>
              <a:off x="4543425" y="3048000"/>
              <a:ext cx="2857500" cy="95400"/>
            </a:xfrm>
            <a:prstGeom prst="roundRect">
              <a:avLst>
                <a:gd fmla="val 50000" name="adj"/>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p16"/>
            <p:cNvSpPr txBox="1"/>
            <p:nvPr/>
          </p:nvSpPr>
          <p:spPr>
            <a:xfrm>
              <a:off x="4733925" y="3392170"/>
              <a:ext cx="2476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700">
                  <a:solidFill>
                    <a:srgbClr val="CA8A04"/>
                  </a:solidFill>
                  <a:latin typeface="Material Icons"/>
                  <a:ea typeface="Material Icons"/>
                  <a:cs typeface="Material Icons"/>
                  <a:sym typeface="Material Icons"/>
                </a:rPr>
                <a:t></a:t>
              </a:r>
              <a:endParaRPr sz="3700">
                <a:solidFill>
                  <a:srgbClr val="CA8A04"/>
                </a:solidFill>
                <a:latin typeface="Material Icons"/>
                <a:ea typeface="Material Icons"/>
                <a:cs typeface="Material Icons"/>
                <a:sym typeface="Material Icons"/>
              </a:endParaRPr>
            </a:p>
          </p:txBody>
        </p:sp>
        <p:sp>
          <p:nvSpPr>
            <p:cNvPr id="139" name="Google Shape;139;p16"/>
            <p:cNvSpPr txBox="1"/>
            <p:nvPr/>
          </p:nvSpPr>
          <p:spPr>
            <a:xfrm>
              <a:off x="4733925" y="4000500"/>
              <a:ext cx="2476500" cy="2667000"/>
            </a:xfrm>
            <a:prstGeom prst="rect">
              <a:avLst/>
            </a:prstGeom>
            <a:noFill/>
            <a:ln>
              <a:noFill/>
            </a:ln>
          </p:spPr>
          <p:txBody>
            <a:bodyPr anchorCtr="0" anchor="t" bIns="95250" lIns="95250" spcFirstLastPara="1" rIns="95250" wrap="square" tIns="95250">
              <a:noAutofit/>
            </a:bodyPr>
            <a:lstStyle/>
            <a:p>
              <a:pPr indent="0" lvl="0" marL="0" rtl="0" algn="l">
                <a:spcBef>
                  <a:spcPts val="0"/>
                </a:spcBef>
                <a:spcAft>
                  <a:spcPts val="0"/>
                </a:spcAft>
                <a:buNone/>
              </a:pPr>
              <a:r>
                <a:rPr b="1" lang="en-US" sz="1800">
                  <a:solidFill>
                    <a:srgbClr val="CA8A04"/>
                  </a:solidFill>
                  <a:latin typeface="Inter"/>
                  <a:ea typeface="Inter"/>
                  <a:cs typeface="Inter"/>
                  <a:sym typeface="Inter"/>
                </a:rPr>
                <a:t>Soporte</a:t>
              </a:r>
              <a:endParaRPr b="1" sz="1800">
                <a:solidFill>
                  <a:srgbClr val="CA8A04"/>
                </a:solidFill>
                <a:latin typeface="Inter"/>
                <a:ea typeface="Inter"/>
                <a:cs typeface="Inter"/>
                <a:sym typeface="Inter"/>
              </a:endParaRPr>
            </a:p>
            <a:p>
              <a:pPr indent="0" lvl="0" marL="0" rtl="0" algn="l">
                <a:spcBef>
                  <a:spcPts val="750"/>
                </a:spcBef>
                <a:spcAft>
                  <a:spcPts val="0"/>
                </a:spcAft>
                <a:buNone/>
              </a:pPr>
              <a:r>
                <a:rPr lang="en-US" sz="1800">
                  <a:solidFill>
                    <a:srgbClr val="0A0915"/>
                  </a:solidFill>
                  <a:latin typeface="Inter"/>
                  <a:ea typeface="Inter"/>
                  <a:cs typeface="Inter"/>
                  <a:sym typeface="Inter"/>
                </a:rPr>
                <a:t>Dar soporte según el SLA acordado en Fase B.</a:t>
              </a:r>
              <a:endParaRPr sz="1800">
                <a:solidFill>
                  <a:srgbClr val="0A0915"/>
                </a:solidFill>
                <a:latin typeface="Inter"/>
                <a:ea typeface="Inter"/>
                <a:cs typeface="Inter"/>
                <a:sym typeface="Inter"/>
              </a:endParaRPr>
            </a:p>
          </p:txBody>
        </p:sp>
      </p:grpSp>
      <p:grpSp>
        <p:nvGrpSpPr>
          <p:cNvPr id="140" name="Google Shape;140;p16"/>
          <p:cNvGrpSpPr/>
          <p:nvPr/>
        </p:nvGrpSpPr>
        <p:grpSpPr>
          <a:xfrm>
            <a:off x="7715250" y="3048000"/>
            <a:ext cx="2857500" cy="4000500"/>
            <a:chOff x="7715250" y="3048000"/>
            <a:chExt cx="2857500" cy="4000500"/>
          </a:xfrm>
        </p:grpSpPr>
        <p:sp>
          <p:nvSpPr>
            <p:cNvPr id="141" name="Google Shape;141;p16"/>
            <p:cNvSpPr/>
            <p:nvPr/>
          </p:nvSpPr>
          <p:spPr>
            <a:xfrm>
              <a:off x="7715250" y="3048000"/>
              <a:ext cx="2857500" cy="4000500"/>
            </a:xfrm>
            <a:prstGeom prst="roundRect">
              <a:avLst>
                <a:gd fmla="val 8000"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6"/>
            <p:cNvSpPr/>
            <p:nvPr/>
          </p:nvSpPr>
          <p:spPr>
            <a:xfrm>
              <a:off x="7715250" y="3048000"/>
              <a:ext cx="2857500" cy="95400"/>
            </a:xfrm>
            <a:prstGeom prst="roundRect">
              <a:avLst>
                <a:gd fmla="val 50000" name="adj"/>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16"/>
            <p:cNvSpPr txBox="1"/>
            <p:nvPr/>
          </p:nvSpPr>
          <p:spPr>
            <a:xfrm>
              <a:off x="7905750" y="3392170"/>
              <a:ext cx="2476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700">
                  <a:solidFill>
                    <a:srgbClr val="CA8A04"/>
                  </a:solidFill>
                  <a:latin typeface="Material Icons"/>
                  <a:ea typeface="Material Icons"/>
                  <a:cs typeface="Material Icons"/>
                  <a:sym typeface="Material Icons"/>
                </a:rPr>
                <a:t></a:t>
              </a:r>
              <a:endParaRPr sz="3700">
                <a:solidFill>
                  <a:srgbClr val="CA8A04"/>
                </a:solidFill>
                <a:latin typeface="Material Icons"/>
                <a:ea typeface="Material Icons"/>
                <a:cs typeface="Material Icons"/>
                <a:sym typeface="Material Icons"/>
              </a:endParaRPr>
            </a:p>
          </p:txBody>
        </p:sp>
        <p:sp>
          <p:nvSpPr>
            <p:cNvPr id="144" name="Google Shape;144;p16"/>
            <p:cNvSpPr txBox="1"/>
            <p:nvPr/>
          </p:nvSpPr>
          <p:spPr>
            <a:xfrm>
              <a:off x="7905750" y="4000500"/>
              <a:ext cx="2476500" cy="2667000"/>
            </a:xfrm>
            <a:prstGeom prst="rect">
              <a:avLst/>
            </a:prstGeom>
            <a:noFill/>
            <a:ln>
              <a:noFill/>
            </a:ln>
          </p:spPr>
          <p:txBody>
            <a:bodyPr anchorCtr="0" anchor="t" bIns="95250" lIns="95250" spcFirstLastPara="1" rIns="95250" wrap="square" tIns="95250">
              <a:noAutofit/>
            </a:bodyPr>
            <a:lstStyle/>
            <a:p>
              <a:pPr indent="0" lvl="0" marL="0" rtl="0" algn="l">
                <a:spcBef>
                  <a:spcPts val="0"/>
                </a:spcBef>
                <a:spcAft>
                  <a:spcPts val="0"/>
                </a:spcAft>
                <a:buNone/>
              </a:pPr>
              <a:r>
                <a:rPr b="1" lang="en-US" sz="1800">
                  <a:solidFill>
                    <a:srgbClr val="CA8A04"/>
                  </a:solidFill>
                  <a:latin typeface="Inter"/>
                  <a:ea typeface="Inter"/>
                  <a:cs typeface="Inter"/>
                  <a:sym typeface="Inter"/>
                </a:rPr>
                <a:t>Ajustes</a:t>
              </a:r>
              <a:endParaRPr b="1" sz="1800">
                <a:solidFill>
                  <a:srgbClr val="CA8A04"/>
                </a:solidFill>
                <a:latin typeface="Inter"/>
                <a:ea typeface="Inter"/>
                <a:cs typeface="Inter"/>
                <a:sym typeface="Inter"/>
              </a:endParaRPr>
            </a:p>
            <a:p>
              <a:pPr indent="0" lvl="0" marL="0" rtl="0" algn="l">
                <a:spcBef>
                  <a:spcPts val="750"/>
                </a:spcBef>
                <a:spcAft>
                  <a:spcPts val="0"/>
                </a:spcAft>
                <a:buNone/>
              </a:pPr>
              <a:r>
                <a:rPr lang="en-US" sz="1800">
                  <a:solidFill>
                    <a:srgbClr val="0A0915"/>
                  </a:solidFill>
                  <a:latin typeface="Inter"/>
                  <a:ea typeface="Inter"/>
                  <a:cs typeface="Inter"/>
                  <a:sym typeface="Inter"/>
                </a:rPr>
                <a:t>Hacer ajustes menores que aparecen cuando el sistema toca la realidad.</a:t>
              </a:r>
              <a:endParaRPr sz="1800">
                <a:solidFill>
                  <a:srgbClr val="0A0915"/>
                </a:solidFill>
                <a:latin typeface="Inter"/>
                <a:ea typeface="Inter"/>
                <a:cs typeface="Inter"/>
                <a:sym typeface="Inter"/>
              </a:endParaRPr>
            </a:p>
          </p:txBody>
        </p:sp>
      </p:grpSp>
      <p:grpSp>
        <p:nvGrpSpPr>
          <p:cNvPr id="145" name="Google Shape;145;p16"/>
          <p:cNvGrpSpPr/>
          <p:nvPr/>
        </p:nvGrpSpPr>
        <p:grpSpPr>
          <a:xfrm>
            <a:off x="10887075" y="3048000"/>
            <a:ext cx="2857500" cy="4000500"/>
            <a:chOff x="10887075" y="3048000"/>
            <a:chExt cx="2857500" cy="4000500"/>
          </a:xfrm>
        </p:grpSpPr>
        <p:sp>
          <p:nvSpPr>
            <p:cNvPr id="146" name="Google Shape;146;p16"/>
            <p:cNvSpPr/>
            <p:nvPr/>
          </p:nvSpPr>
          <p:spPr>
            <a:xfrm>
              <a:off x="10887075" y="3048000"/>
              <a:ext cx="2857500" cy="4000500"/>
            </a:xfrm>
            <a:prstGeom prst="roundRect">
              <a:avLst>
                <a:gd fmla="val 8000"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16"/>
            <p:cNvSpPr/>
            <p:nvPr/>
          </p:nvSpPr>
          <p:spPr>
            <a:xfrm>
              <a:off x="10887075" y="3048000"/>
              <a:ext cx="2857500" cy="95400"/>
            </a:xfrm>
            <a:prstGeom prst="roundRect">
              <a:avLst>
                <a:gd fmla="val 50000" name="adj"/>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16"/>
            <p:cNvSpPr txBox="1"/>
            <p:nvPr/>
          </p:nvSpPr>
          <p:spPr>
            <a:xfrm>
              <a:off x="11077575" y="3392170"/>
              <a:ext cx="2476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700">
                  <a:solidFill>
                    <a:srgbClr val="CA8A04"/>
                  </a:solidFill>
                  <a:latin typeface="Material Icons"/>
                  <a:ea typeface="Material Icons"/>
                  <a:cs typeface="Material Icons"/>
                  <a:sym typeface="Material Icons"/>
                </a:rPr>
                <a:t></a:t>
              </a:r>
              <a:endParaRPr sz="3700">
                <a:solidFill>
                  <a:srgbClr val="CA8A04"/>
                </a:solidFill>
                <a:latin typeface="Material Icons"/>
                <a:ea typeface="Material Icons"/>
                <a:cs typeface="Material Icons"/>
                <a:sym typeface="Material Icons"/>
              </a:endParaRPr>
            </a:p>
          </p:txBody>
        </p:sp>
        <p:sp>
          <p:nvSpPr>
            <p:cNvPr id="149" name="Google Shape;149;p16"/>
            <p:cNvSpPr txBox="1"/>
            <p:nvPr/>
          </p:nvSpPr>
          <p:spPr>
            <a:xfrm>
              <a:off x="11077575" y="4000500"/>
              <a:ext cx="2476500" cy="2667000"/>
            </a:xfrm>
            <a:prstGeom prst="rect">
              <a:avLst/>
            </a:prstGeom>
            <a:noFill/>
            <a:ln>
              <a:noFill/>
            </a:ln>
          </p:spPr>
          <p:txBody>
            <a:bodyPr anchorCtr="0" anchor="t" bIns="95250" lIns="95250" spcFirstLastPara="1" rIns="95250" wrap="square" tIns="95250">
              <a:noAutofit/>
            </a:bodyPr>
            <a:lstStyle/>
            <a:p>
              <a:pPr indent="0" lvl="0" marL="0" rtl="0" algn="l">
                <a:spcBef>
                  <a:spcPts val="0"/>
                </a:spcBef>
                <a:spcAft>
                  <a:spcPts val="0"/>
                </a:spcAft>
                <a:buNone/>
              </a:pPr>
              <a:r>
                <a:rPr b="1" lang="en-US" sz="1800">
                  <a:solidFill>
                    <a:srgbClr val="CA8A04"/>
                  </a:solidFill>
                  <a:latin typeface="Inter"/>
                  <a:ea typeface="Inter"/>
                  <a:cs typeface="Inter"/>
                  <a:sym typeface="Inter"/>
                </a:rPr>
                <a:t>Lanzamiento</a:t>
              </a:r>
              <a:endParaRPr b="1" sz="1800">
                <a:solidFill>
                  <a:srgbClr val="CA8A04"/>
                </a:solidFill>
                <a:latin typeface="Inter"/>
                <a:ea typeface="Inter"/>
                <a:cs typeface="Inter"/>
                <a:sym typeface="Inter"/>
              </a:endParaRPr>
            </a:p>
            <a:p>
              <a:pPr indent="0" lvl="0" marL="0" rtl="0" algn="l">
                <a:spcBef>
                  <a:spcPts val="750"/>
                </a:spcBef>
                <a:spcAft>
                  <a:spcPts val="0"/>
                </a:spcAft>
                <a:buNone/>
              </a:pPr>
              <a:r>
                <a:rPr lang="en-US" sz="1800">
                  <a:solidFill>
                    <a:srgbClr val="0A0915"/>
                  </a:solidFill>
                  <a:latin typeface="Inter"/>
                  <a:ea typeface="Inter"/>
                  <a:cs typeface="Inter"/>
                  <a:sym typeface="Inter"/>
                </a:rPr>
                <a:t>Acompañar el lanzamiento público si el gobierno hizo uno.</a:t>
              </a:r>
              <a:endParaRPr sz="1800">
                <a:solidFill>
                  <a:srgbClr val="0A0915"/>
                </a:solidFill>
                <a:latin typeface="Inter"/>
                <a:ea typeface="Inter"/>
                <a:cs typeface="Inter"/>
                <a:sym typeface="Inter"/>
              </a:endParaRPr>
            </a:p>
          </p:txBody>
        </p:sp>
      </p:grpSp>
      <p:grpSp>
        <p:nvGrpSpPr>
          <p:cNvPr id="150" name="Google Shape;150;p16"/>
          <p:cNvGrpSpPr/>
          <p:nvPr/>
        </p:nvGrpSpPr>
        <p:grpSpPr>
          <a:xfrm>
            <a:off x="14058900" y="3048000"/>
            <a:ext cx="2857500" cy="4000500"/>
            <a:chOff x="14058900" y="3048000"/>
            <a:chExt cx="2857500" cy="4000500"/>
          </a:xfrm>
        </p:grpSpPr>
        <p:sp>
          <p:nvSpPr>
            <p:cNvPr id="151" name="Google Shape;151;p16"/>
            <p:cNvSpPr/>
            <p:nvPr/>
          </p:nvSpPr>
          <p:spPr>
            <a:xfrm>
              <a:off x="14058900" y="3048000"/>
              <a:ext cx="2857500" cy="4000500"/>
            </a:xfrm>
            <a:prstGeom prst="roundRect">
              <a:avLst>
                <a:gd fmla="val 8000"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 name="Google Shape;152;p16"/>
            <p:cNvSpPr/>
            <p:nvPr/>
          </p:nvSpPr>
          <p:spPr>
            <a:xfrm>
              <a:off x="14058900" y="3048000"/>
              <a:ext cx="2857500" cy="95400"/>
            </a:xfrm>
            <a:prstGeom prst="roundRect">
              <a:avLst>
                <a:gd fmla="val 50000" name="adj"/>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 name="Google Shape;153;p16"/>
            <p:cNvSpPr txBox="1"/>
            <p:nvPr/>
          </p:nvSpPr>
          <p:spPr>
            <a:xfrm>
              <a:off x="14249400" y="3392170"/>
              <a:ext cx="2476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700">
                  <a:solidFill>
                    <a:srgbClr val="CA8A04"/>
                  </a:solidFill>
                  <a:latin typeface="Material Icons"/>
                  <a:ea typeface="Material Icons"/>
                  <a:cs typeface="Material Icons"/>
                  <a:sym typeface="Material Icons"/>
                </a:rPr>
                <a:t></a:t>
              </a:r>
              <a:endParaRPr sz="3700">
                <a:solidFill>
                  <a:srgbClr val="CA8A04"/>
                </a:solidFill>
                <a:latin typeface="Material Icons"/>
                <a:ea typeface="Material Icons"/>
                <a:cs typeface="Material Icons"/>
                <a:sym typeface="Material Icons"/>
              </a:endParaRPr>
            </a:p>
          </p:txBody>
        </p:sp>
        <p:sp>
          <p:nvSpPr>
            <p:cNvPr id="154" name="Google Shape;154;p16"/>
            <p:cNvSpPr txBox="1"/>
            <p:nvPr/>
          </p:nvSpPr>
          <p:spPr>
            <a:xfrm>
              <a:off x="14249400" y="4000500"/>
              <a:ext cx="2476500" cy="2667000"/>
            </a:xfrm>
            <a:prstGeom prst="rect">
              <a:avLst/>
            </a:prstGeom>
            <a:noFill/>
            <a:ln>
              <a:noFill/>
            </a:ln>
          </p:spPr>
          <p:txBody>
            <a:bodyPr anchorCtr="0" anchor="t" bIns="95250" lIns="95250" spcFirstLastPara="1" rIns="95250" wrap="square" tIns="95250">
              <a:noAutofit/>
            </a:bodyPr>
            <a:lstStyle/>
            <a:p>
              <a:pPr indent="0" lvl="0" marL="0" rtl="0" algn="l">
                <a:spcBef>
                  <a:spcPts val="0"/>
                </a:spcBef>
                <a:spcAft>
                  <a:spcPts val="0"/>
                </a:spcAft>
                <a:buNone/>
              </a:pPr>
              <a:r>
                <a:rPr b="1" lang="en-US" sz="1530">
                  <a:solidFill>
                    <a:srgbClr val="CA8A04"/>
                  </a:solidFill>
                  <a:latin typeface="Inter"/>
                  <a:ea typeface="Inter"/>
                  <a:cs typeface="Inter"/>
                  <a:sym typeface="Inter"/>
                </a:rPr>
                <a:t>Narrativa</a:t>
              </a:r>
              <a:endParaRPr b="1" sz="1530">
                <a:solidFill>
                  <a:srgbClr val="CA8A04"/>
                </a:solidFill>
                <a:latin typeface="Inter"/>
                <a:ea typeface="Inter"/>
                <a:cs typeface="Inter"/>
                <a:sym typeface="Inter"/>
              </a:endParaRPr>
            </a:p>
            <a:p>
              <a:pPr indent="0" lvl="0" marL="0" rtl="0" algn="l">
                <a:spcBef>
                  <a:spcPts val="750"/>
                </a:spcBef>
                <a:spcAft>
                  <a:spcPts val="0"/>
                </a:spcAft>
                <a:buNone/>
              </a:pPr>
              <a:r>
                <a:rPr lang="en-US" sz="1530">
                  <a:solidFill>
                    <a:srgbClr val="0A0915"/>
                  </a:solidFill>
                  <a:latin typeface="Inter"/>
                  <a:ea typeface="Inter"/>
                  <a:cs typeface="Inter"/>
                  <a:sym typeface="Inter"/>
                </a:rPr>
                <a:t>Seguir la parte político-comunicacional — la narrativa es parte del éxito.</a:t>
              </a:r>
              <a:endParaRPr sz="1530">
                <a:solidFill>
                  <a:srgbClr val="0A0915"/>
                </a:solidFill>
                <a:latin typeface="Inter"/>
                <a:ea typeface="Inter"/>
                <a:cs typeface="Inter"/>
                <a:sym typeface="Inter"/>
              </a:endParaRPr>
            </a:p>
          </p:txBody>
        </p:sp>
      </p:grpSp>
      <p:grpSp>
        <p:nvGrpSpPr>
          <p:cNvPr id="155" name="Google Shape;155;p16"/>
          <p:cNvGrpSpPr/>
          <p:nvPr/>
        </p:nvGrpSpPr>
        <p:grpSpPr>
          <a:xfrm>
            <a:off x="1371600" y="8382000"/>
            <a:ext cx="15544800" cy="857250"/>
            <a:chOff x="1371600" y="8382000"/>
            <a:chExt cx="15544800" cy="857250"/>
          </a:xfrm>
        </p:grpSpPr>
        <p:sp>
          <p:nvSpPr>
            <p:cNvPr id="156" name="Google Shape;156;p16"/>
            <p:cNvSpPr/>
            <p:nvPr/>
          </p:nvSpPr>
          <p:spPr>
            <a:xfrm>
              <a:off x="1371600" y="8382000"/>
              <a:ext cx="15544800" cy="381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 name="Google Shape;157;p16"/>
            <p:cNvSpPr txBox="1"/>
            <p:nvPr/>
          </p:nvSpPr>
          <p:spPr>
            <a:xfrm>
              <a:off x="1371600" y="8667750"/>
              <a:ext cx="155448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US" sz="1800">
                  <a:solidFill>
                    <a:srgbClr val="6B7280"/>
                  </a:solidFill>
                  <a:latin typeface="Inter"/>
                  <a:ea typeface="Inter"/>
                  <a:cs typeface="Inter"/>
                  <a:sym typeface="Inter"/>
                </a:rPr>
                <a:t>"La ejecución en paralelo asegura que el sistema evolucione con el ciudadano."</a:t>
              </a:r>
              <a:endParaRPr i="1" sz="1800">
                <a:solidFill>
                  <a:srgbClr val="6B7280"/>
                </a:solidFill>
                <a:latin typeface="Inter"/>
                <a:ea typeface="Inter"/>
                <a:cs typeface="Inter"/>
                <a:sym typeface="Inte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7"/>
          <p:cNvSpPr/>
          <p:nvPr/>
        </p:nvSpPr>
        <p:spPr>
          <a:xfrm>
            <a:off x="0" y="0"/>
            <a:ext cx="18288000" cy="228600"/>
          </a:xfrm>
          <a:prstGeom prst="rect">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17"/>
          <p:cNvSpPr txBox="1"/>
          <p:nvPr/>
        </p:nvSpPr>
        <p:spPr>
          <a:xfrm>
            <a:off x="1371600" y="762000"/>
            <a:ext cx="15544800" cy="1428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4600">
                <a:solidFill>
                  <a:srgbClr val="0A0915"/>
                </a:solidFill>
                <a:latin typeface="Inter"/>
                <a:ea typeface="Inter"/>
                <a:cs typeface="Inter"/>
                <a:sym typeface="Inter"/>
              </a:rPr>
              <a:t>Entregables clave</a:t>
            </a:r>
            <a:endParaRPr b="1" sz="4600">
              <a:solidFill>
                <a:srgbClr val="0A0915"/>
              </a:solidFill>
              <a:latin typeface="Inter"/>
              <a:ea typeface="Inter"/>
              <a:cs typeface="Inter"/>
              <a:sym typeface="Inter"/>
            </a:endParaRPr>
          </a:p>
          <a:p>
            <a:pPr indent="0" lvl="0" marL="0" rtl="0" algn="l">
              <a:spcBef>
                <a:spcPts val="0"/>
              </a:spcBef>
              <a:spcAft>
                <a:spcPts val="0"/>
              </a:spcAft>
              <a:buNone/>
            </a:pPr>
            <a:r>
              <a:rPr b="0" lang="en-US" sz="3200">
                <a:solidFill>
                  <a:srgbClr val="4B5563"/>
                </a:solidFill>
                <a:latin typeface="Inter"/>
                <a:ea typeface="Inter"/>
                <a:cs typeface="Inter"/>
                <a:sym typeface="Inter"/>
              </a:rPr>
              <a:t>Cierre de las primeras dos semanas</a:t>
            </a:r>
            <a:endParaRPr b="0" sz="3200">
              <a:solidFill>
                <a:srgbClr val="4B5563"/>
              </a:solidFill>
              <a:latin typeface="Inter"/>
              <a:ea typeface="Inter"/>
              <a:cs typeface="Inter"/>
              <a:sym typeface="Inter"/>
            </a:endParaRPr>
          </a:p>
        </p:txBody>
      </p:sp>
      <p:grpSp>
        <p:nvGrpSpPr>
          <p:cNvPr id="165" name="Google Shape;165;p17"/>
          <p:cNvGrpSpPr/>
          <p:nvPr/>
        </p:nvGrpSpPr>
        <p:grpSpPr>
          <a:xfrm>
            <a:off x="1371600" y="2857500"/>
            <a:ext cx="3619500" cy="4762500"/>
            <a:chOff x="1371600" y="2857500"/>
            <a:chExt cx="3619500" cy="4762500"/>
          </a:xfrm>
        </p:grpSpPr>
        <p:sp>
          <p:nvSpPr>
            <p:cNvPr id="166" name="Google Shape;166;p17"/>
            <p:cNvSpPr/>
            <p:nvPr/>
          </p:nvSpPr>
          <p:spPr>
            <a:xfrm>
              <a:off x="1371600" y="2857500"/>
              <a:ext cx="3619500" cy="4762500"/>
            </a:xfrm>
            <a:prstGeom prst="roundRect">
              <a:avLst>
                <a:gd fmla="val 10526"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7" name="Google Shape;167;p17"/>
            <p:cNvSpPr/>
            <p:nvPr/>
          </p:nvSpPr>
          <p:spPr>
            <a:xfrm>
              <a:off x="1371600" y="2857500"/>
              <a:ext cx="3619500" cy="114300"/>
            </a:xfrm>
            <a:prstGeom prst="roundRect">
              <a:avLst>
                <a:gd fmla="val 50000" name="adj"/>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17"/>
            <p:cNvSpPr txBox="1"/>
            <p:nvPr/>
          </p:nvSpPr>
          <p:spPr>
            <a:xfrm>
              <a:off x="1752600" y="3333750"/>
              <a:ext cx="28575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000">
                  <a:solidFill>
                    <a:srgbClr val="CA8A04"/>
                  </a:solidFill>
                  <a:latin typeface="Material Icons"/>
                  <a:ea typeface="Material Icons"/>
                  <a:cs typeface="Material Icons"/>
                  <a:sym typeface="Material Icons"/>
                </a:rPr>
                <a:t></a:t>
              </a:r>
              <a:endParaRPr sz="4000">
                <a:solidFill>
                  <a:srgbClr val="CA8A04"/>
                </a:solidFill>
                <a:latin typeface="Material Icons"/>
                <a:ea typeface="Material Icons"/>
                <a:cs typeface="Material Icons"/>
                <a:sym typeface="Material Icons"/>
              </a:endParaRPr>
            </a:p>
            <a:p>
              <a:pPr indent="0" lvl="0" marL="0" rtl="0" algn="l">
                <a:spcBef>
                  <a:spcPts val="1500"/>
                </a:spcBef>
                <a:spcAft>
                  <a:spcPts val="0"/>
                </a:spcAft>
                <a:buNone/>
              </a:pPr>
              <a:r>
                <a:rPr b="1" lang="en-US" sz="2400">
                  <a:solidFill>
                    <a:srgbClr val="0A0915"/>
                  </a:solidFill>
                  <a:latin typeface="Inter"/>
                  <a:ea typeface="Inter"/>
                  <a:cs typeface="Inter"/>
                  <a:sym typeface="Inter"/>
                </a:rPr>
                <a:t>Métricas</a:t>
              </a:r>
              <a:endParaRPr b="1" sz="2400">
                <a:solidFill>
                  <a:srgbClr val="0A0915"/>
                </a:solidFill>
                <a:latin typeface="Inter"/>
                <a:ea typeface="Inter"/>
                <a:cs typeface="Inter"/>
                <a:sym typeface="Inter"/>
              </a:endParaRPr>
            </a:p>
            <a:p>
              <a:pPr indent="0" lvl="0" marL="0" rtl="0" algn="l">
                <a:spcBef>
                  <a:spcPts val="1125"/>
                </a:spcBef>
                <a:spcAft>
                  <a:spcPts val="0"/>
                </a:spcAft>
                <a:buNone/>
              </a:pPr>
              <a:r>
                <a:rPr b="0" lang="en-US" sz="1800">
                  <a:solidFill>
                    <a:srgbClr val="4B5563"/>
                  </a:solidFill>
                  <a:latin typeface="Inter"/>
                  <a:ea typeface="Inter"/>
                  <a:cs typeface="Inter"/>
                  <a:sym typeface="Inter"/>
                </a:rPr>
                <a:t>Dashboard o reporte semanal de métricas compartido con el gobierno.</a:t>
              </a:r>
              <a:endParaRPr b="0" sz="1800">
                <a:solidFill>
                  <a:srgbClr val="4B5563"/>
                </a:solidFill>
                <a:latin typeface="Inter"/>
                <a:ea typeface="Inter"/>
                <a:cs typeface="Inter"/>
                <a:sym typeface="Inter"/>
              </a:endParaRPr>
            </a:p>
          </p:txBody>
        </p:sp>
      </p:grpSp>
      <p:grpSp>
        <p:nvGrpSpPr>
          <p:cNvPr id="169" name="Google Shape;169;p17"/>
          <p:cNvGrpSpPr/>
          <p:nvPr/>
        </p:nvGrpSpPr>
        <p:grpSpPr>
          <a:xfrm>
            <a:off x="5343525" y="2857500"/>
            <a:ext cx="3619500" cy="4762500"/>
            <a:chOff x="5343525" y="2857500"/>
            <a:chExt cx="3619500" cy="4762500"/>
          </a:xfrm>
        </p:grpSpPr>
        <p:sp>
          <p:nvSpPr>
            <p:cNvPr id="170" name="Google Shape;170;p17"/>
            <p:cNvSpPr/>
            <p:nvPr/>
          </p:nvSpPr>
          <p:spPr>
            <a:xfrm>
              <a:off x="5343525" y="2857500"/>
              <a:ext cx="3619500" cy="4762500"/>
            </a:xfrm>
            <a:prstGeom prst="roundRect">
              <a:avLst>
                <a:gd fmla="val 10526"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17"/>
            <p:cNvSpPr/>
            <p:nvPr/>
          </p:nvSpPr>
          <p:spPr>
            <a:xfrm>
              <a:off x="5343525" y="2857500"/>
              <a:ext cx="3619500" cy="114300"/>
            </a:xfrm>
            <a:prstGeom prst="roundRect">
              <a:avLst>
                <a:gd fmla="val 50000" name="adj"/>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 name="Google Shape;172;p17"/>
            <p:cNvSpPr txBox="1"/>
            <p:nvPr/>
          </p:nvSpPr>
          <p:spPr>
            <a:xfrm>
              <a:off x="5724525" y="3333750"/>
              <a:ext cx="28575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000">
                  <a:solidFill>
                    <a:srgbClr val="CA8A04"/>
                  </a:solidFill>
                  <a:latin typeface="Material Icons"/>
                  <a:ea typeface="Material Icons"/>
                  <a:cs typeface="Material Icons"/>
                  <a:sym typeface="Material Icons"/>
                </a:rPr>
                <a:t></a:t>
              </a:r>
              <a:endParaRPr sz="4000">
                <a:solidFill>
                  <a:srgbClr val="CA8A04"/>
                </a:solidFill>
                <a:latin typeface="Material Icons"/>
                <a:ea typeface="Material Icons"/>
                <a:cs typeface="Material Icons"/>
                <a:sym typeface="Material Icons"/>
              </a:endParaRPr>
            </a:p>
            <a:p>
              <a:pPr indent="0" lvl="0" marL="0" rtl="0" algn="l">
                <a:spcBef>
                  <a:spcPts val="1500"/>
                </a:spcBef>
                <a:spcAft>
                  <a:spcPts val="0"/>
                </a:spcAft>
                <a:buNone/>
              </a:pPr>
              <a:r>
                <a:rPr b="1" lang="en-US" sz="2400">
                  <a:solidFill>
                    <a:srgbClr val="0A0915"/>
                  </a:solidFill>
                  <a:latin typeface="Inter"/>
                  <a:ea typeface="Inter"/>
                  <a:cs typeface="Inter"/>
                  <a:sym typeface="Inter"/>
                </a:rPr>
                <a:t>Estabilidad</a:t>
              </a:r>
              <a:endParaRPr b="1" sz="2400">
                <a:solidFill>
                  <a:srgbClr val="0A0915"/>
                </a:solidFill>
                <a:latin typeface="Inter"/>
                <a:ea typeface="Inter"/>
                <a:cs typeface="Inter"/>
                <a:sym typeface="Inter"/>
              </a:endParaRPr>
            </a:p>
            <a:p>
              <a:pPr indent="0" lvl="0" marL="0" rtl="0" algn="l">
                <a:spcBef>
                  <a:spcPts val="1125"/>
                </a:spcBef>
                <a:spcAft>
                  <a:spcPts val="0"/>
                </a:spcAft>
                <a:buNone/>
              </a:pPr>
              <a:r>
                <a:rPr b="0" lang="en-US" sz="1800">
                  <a:solidFill>
                    <a:srgbClr val="4B5563"/>
                  </a:solidFill>
                  <a:latin typeface="Inter"/>
                  <a:ea typeface="Inter"/>
                  <a:cs typeface="Inter"/>
                  <a:sym typeface="Inter"/>
                </a:rPr>
                <a:t>Todos los bugs post-lanzamiento resueltos y ajustes funcionales implementados.</a:t>
              </a:r>
              <a:endParaRPr b="0" sz="1800">
                <a:solidFill>
                  <a:srgbClr val="4B5563"/>
                </a:solidFill>
                <a:latin typeface="Inter"/>
                <a:ea typeface="Inter"/>
                <a:cs typeface="Inter"/>
                <a:sym typeface="Inter"/>
              </a:endParaRPr>
            </a:p>
          </p:txBody>
        </p:sp>
      </p:grpSp>
      <p:grpSp>
        <p:nvGrpSpPr>
          <p:cNvPr id="173" name="Google Shape;173;p17"/>
          <p:cNvGrpSpPr/>
          <p:nvPr/>
        </p:nvGrpSpPr>
        <p:grpSpPr>
          <a:xfrm>
            <a:off x="9315450" y="2857500"/>
            <a:ext cx="3619500" cy="4762500"/>
            <a:chOff x="9315450" y="2857500"/>
            <a:chExt cx="3619500" cy="4762500"/>
          </a:xfrm>
        </p:grpSpPr>
        <p:sp>
          <p:nvSpPr>
            <p:cNvPr id="174" name="Google Shape;174;p17"/>
            <p:cNvSpPr/>
            <p:nvPr/>
          </p:nvSpPr>
          <p:spPr>
            <a:xfrm>
              <a:off x="9315450" y="2857500"/>
              <a:ext cx="3619500" cy="4762500"/>
            </a:xfrm>
            <a:prstGeom prst="roundRect">
              <a:avLst>
                <a:gd fmla="val 10526"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17"/>
            <p:cNvSpPr/>
            <p:nvPr/>
          </p:nvSpPr>
          <p:spPr>
            <a:xfrm>
              <a:off x="9315450" y="2857500"/>
              <a:ext cx="3619500" cy="114300"/>
            </a:xfrm>
            <a:prstGeom prst="roundRect">
              <a:avLst>
                <a:gd fmla="val 50000" name="adj"/>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6" name="Google Shape;176;p17"/>
            <p:cNvSpPr txBox="1"/>
            <p:nvPr/>
          </p:nvSpPr>
          <p:spPr>
            <a:xfrm>
              <a:off x="9696450" y="3333750"/>
              <a:ext cx="28575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000">
                  <a:solidFill>
                    <a:srgbClr val="CA8A04"/>
                  </a:solidFill>
                  <a:latin typeface="Material Icons"/>
                  <a:ea typeface="Material Icons"/>
                  <a:cs typeface="Material Icons"/>
                  <a:sym typeface="Material Icons"/>
                </a:rPr>
                <a:t></a:t>
              </a:r>
              <a:endParaRPr sz="4000">
                <a:solidFill>
                  <a:srgbClr val="CA8A04"/>
                </a:solidFill>
                <a:latin typeface="Material Icons"/>
                <a:ea typeface="Material Icons"/>
                <a:cs typeface="Material Icons"/>
                <a:sym typeface="Material Icons"/>
              </a:endParaRPr>
            </a:p>
            <a:p>
              <a:pPr indent="0" lvl="0" marL="0" rtl="0" algn="l">
                <a:spcBef>
                  <a:spcPts val="1500"/>
                </a:spcBef>
                <a:spcAft>
                  <a:spcPts val="0"/>
                </a:spcAft>
                <a:buNone/>
              </a:pPr>
              <a:r>
                <a:rPr b="1" lang="en-US" sz="2400">
                  <a:solidFill>
                    <a:srgbClr val="0A0915"/>
                  </a:solidFill>
                  <a:latin typeface="Inter"/>
                  <a:ea typeface="Inter"/>
                  <a:cs typeface="Inter"/>
                  <a:sym typeface="Inter"/>
                </a:rPr>
                <a:t>Narrativa</a:t>
              </a:r>
              <a:endParaRPr b="1" sz="2400">
                <a:solidFill>
                  <a:srgbClr val="0A0915"/>
                </a:solidFill>
                <a:latin typeface="Inter"/>
                <a:ea typeface="Inter"/>
                <a:cs typeface="Inter"/>
                <a:sym typeface="Inter"/>
              </a:endParaRPr>
            </a:p>
            <a:p>
              <a:pPr indent="0" lvl="0" marL="0" rtl="0" algn="l">
                <a:spcBef>
                  <a:spcPts val="1125"/>
                </a:spcBef>
                <a:spcAft>
                  <a:spcPts val="0"/>
                </a:spcAft>
                <a:buNone/>
              </a:pPr>
              <a:r>
                <a:rPr b="0" lang="en-US" sz="1800">
                  <a:solidFill>
                    <a:srgbClr val="4B5563"/>
                  </a:solidFill>
                  <a:latin typeface="Inter"/>
                  <a:ea typeface="Inter"/>
                  <a:cs typeface="Inter"/>
                  <a:sym typeface="Inter"/>
                </a:rPr>
                <a:t>Comunicación de lanzamiento ejecutada si correspondía según el plan.</a:t>
              </a:r>
              <a:endParaRPr b="0" sz="1800">
                <a:solidFill>
                  <a:srgbClr val="4B5563"/>
                </a:solidFill>
                <a:latin typeface="Inter"/>
                <a:ea typeface="Inter"/>
                <a:cs typeface="Inter"/>
                <a:sym typeface="Inter"/>
              </a:endParaRPr>
            </a:p>
          </p:txBody>
        </p:sp>
      </p:grpSp>
      <p:grpSp>
        <p:nvGrpSpPr>
          <p:cNvPr id="177" name="Google Shape;177;p17"/>
          <p:cNvGrpSpPr/>
          <p:nvPr/>
        </p:nvGrpSpPr>
        <p:grpSpPr>
          <a:xfrm>
            <a:off x="13287375" y="2857500"/>
            <a:ext cx="3619500" cy="4762500"/>
            <a:chOff x="13287375" y="2857500"/>
            <a:chExt cx="3619500" cy="4762500"/>
          </a:xfrm>
        </p:grpSpPr>
        <p:sp>
          <p:nvSpPr>
            <p:cNvPr id="178" name="Google Shape;178;p17"/>
            <p:cNvSpPr/>
            <p:nvPr/>
          </p:nvSpPr>
          <p:spPr>
            <a:xfrm>
              <a:off x="13287375" y="2857500"/>
              <a:ext cx="3619500" cy="4762500"/>
            </a:xfrm>
            <a:prstGeom prst="roundRect">
              <a:avLst>
                <a:gd fmla="val 10526"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17"/>
            <p:cNvSpPr/>
            <p:nvPr/>
          </p:nvSpPr>
          <p:spPr>
            <a:xfrm>
              <a:off x="13287375" y="2857500"/>
              <a:ext cx="3619500" cy="114300"/>
            </a:xfrm>
            <a:prstGeom prst="roundRect">
              <a:avLst>
                <a:gd fmla="val 50000" name="adj"/>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0" name="Google Shape;180;p17"/>
            <p:cNvSpPr txBox="1"/>
            <p:nvPr/>
          </p:nvSpPr>
          <p:spPr>
            <a:xfrm>
              <a:off x="13668375" y="3333750"/>
              <a:ext cx="28575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000">
                  <a:solidFill>
                    <a:srgbClr val="CA8A04"/>
                  </a:solidFill>
                  <a:latin typeface="Material Icons"/>
                  <a:ea typeface="Material Icons"/>
                  <a:cs typeface="Material Icons"/>
                  <a:sym typeface="Material Icons"/>
                </a:rPr>
                <a:t></a:t>
              </a:r>
              <a:endParaRPr sz="4000">
                <a:solidFill>
                  <a:srgbClr val="CA8A04"/>
                </a:solidFill>
                <a:latin typeface="Material Icons"/>
                <a:ea typeface="Material Icons"/>
                <a:cs typeface="Material Icons"/>
                <a:sym typeface="Material Icons"/>
              </a:endParaRPr>
            </a:p>
            <a:p>
              <a:pPr indent="0" lvl="0" marL="0" rtl="0" algn="l">
                <a:spcBef>
                  <a:spcPts val="1500"/>
                </a:spcBef>
                <a:spcAft>
                  <a:spcPts val="0"/>
                </a:spcAft>
                <a:buNone/>
              </a:pPr>
              <a:r>
                <a:rPr b="1" lang="en-US" sz="2400">
                  <a:solidFill>
                    <a:srgbClr val="0A0915"/>
                  </a:solidFill>
                  <a:latin typeface="Inter"/>
                  <a:ea typeface="Inter"/>
                  <a:cs typeface="Inter"/>
                  <a:sym typeface="Inter"/>
                </a:rPr>
                <a:t>Validación</a:t>
              </a:r>
              <a:endParaRPr b="1" sz="2400">
                <a:solidFill>
                  <a:srgbClr val="0A0915"/>
                </a:solidFill>
                <a:latin typeface="Inter"/>
                <a:ea typeface="Inter"/>
                <a:cs typeface="Inter"/>
                <a:sym typeface="Inter"/>
              </a:endParaRPr>
            </a:p>
            <a:p>
              <a:pPr indent="0" lvl="0" marL="0" rtl="0" algn="l">
                <a:spcBef>
                  <a:spcPts val="1125"/>
                </a:spcBef>
                <a:spcAft>
                  <a:spcPts val="0"/>
                </a:spcAft>
                <a:buNone/>
              </a:pPr>
              <a:r>
                <a:rPr b="0" lang="en-US" sz="1800">
                  <a:solidFill>
                    <a:srgbClr val="4B5563"/>
                  </a:solidFill>
                  <a:latin typeface="Inter"/>
                  <a:ea typeface="Inter"/>
                  <a:cs typeface="Inter"/>
                  <a:sym typeface="Inter"/>
                </a:rPr>
                <a:t>Evidencia final de que la transferencia de capacidades fue exitosa.</a:t>
              </a:r>
              <a:endParaRPr b="0" sz="1800">
                <a:solidFill>
                  <a:srgbClr val="4B5563"/>
                </a:solidFill>
                <a:latin typeface="Inter"/>
                <a:ea typeface="Inter"/>
                <a:cs typeface="Inter"/>
                <a:sym typeface="Inter"/>
              </a:endParaRPr>
            </a:p>
          </p:txBody>
        </p:sp>
      </p:grpSp>
      <p:grpSp>
        <p:nvGrpSpPr>
          <p:cNvPr id="181" name="Google Shape;181;p17"/>
          <p:cNvGrpSpPr/>
          <p:nvPr/>
        </p:nvGrpSpPr>
        <p:grpSpPr>
          <a:xfrm>
            <a:off x="1371600" y="8382000"/>
            <a:ext cx="15544800" cy="857250"/>
            <a:chOff x="1371600" y="8382000"/>
            <a:chExt cx="15544800" cy="857250"/>
          </a:xfrm>
        </p:grpSpPr>
        <p:sp>
          <p:nvSpPr>
            <p:cNvPr id="182" name="Google Shape;182;p17"/>
            <p:cNvSpPr/>
            <p:nvPr/>
          </p:nvSpPr>
          <p:spPr>
            <a:xfrm>
              <a:off x="1371600" y="8382000"/>
              <a:ext cx="15544800" cy="381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3" name="Google Shape;183;p17"/>
            <p:cNvSpPr txBox="1"/>
            <p:nvPr/>
          </p:nvSpPr>
          <p:spPr>
            <a:xfrm>
              <a:off x="1371600" y="8667750"/>
              <a:ext cx="155448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i="1" lang="en-US" sz="1800">
                  <a:solidFill>
                    <a:srgbClr val="6B7280"/>
                  </a:solidFill>
                  <a:latin typeface="Inter"/>
                  <a:ea typeface="Inter"/>
                  <a:cs typeface="Inter"/>
                  <a:sym typeface="Inter"/>
                </a:rPr>
                <a:t>"Lo que no se mide y no se cierra, no se transfiere con éxito."</a:t>
              </a:r>
              <a:endParaRPr b="0" i="1" sz="1800">
                <a:solidFill>
                  <a:srgbClr val="6B7280"/>
                </a:solidFill>
                <a:latin typeface="Inter"/>
                <a:ea typeface="Inter"/>
                <a:cs typeface="Inter"/>
                <a:sym typeface="Inte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8"/>
          <p:cNvSpPr/>
          <p:nvPr/>
        </p:nvSpPr>
        <p:spPr>
          <a:xfrm>
            <a:off x="0" y="0"/>
            <a:ext cx="18288000" cy="228600"/>
          </a:xfrm>
          <a:prstGeom prst="rect">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p18"/>
          <p:cNvSpPr txBox="1"/>
          <p:nvPr/>
        </p:nvSpPr>
        <p:spPr>
          <a:xfrm>
            <a:off x="1371600" y="762000"/>
            <a:ext cx="15544800" cy="11697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4400">
                <a:solidFill>
                  <a:srgbClr val="0A0915"/>
                </a:solidFill>
                <a:latin typeface="Inter"/>
                <a:ea typeface="Inter"/>
                <a:cs typeface="Inter"/>
                <a:sym typeface="Inter"/>
              </a:rPr>
              <a:t>Quién participa</a:t>
            </a:r>
            <a:endParaRPr b="1" sz="4400">
              <a:solidFill>
                <a:srgbClr val="0A0915"/>
              </a:solidFill>
              <a:latin typeface="Inter"/>
              <a:ea typeface="Inter"/>
              <a:cs typeface="Inter"/>
              <a:sym typeface="Inter"/>
            </a:endParaRPr>
          </a:p>
          <a:p>
            <a:pPr indent="0" lvl="0" marL="0" rtl="0" algn="l">
              <a:spcBef>
                <a:spcPts val="0"/>
              </a:spcBef>
              <a:spcAft>
                <a:spcPts val="0"/>
              </a:spcAft>
              <a:buNone/>
            </a:pPr>
            <a:r>
              <a:rPr b="0" lang="en-US" sz="3200">
                <a:solidFill>
                  <a:srgbClr val="4B5563"/>
                </a:solidFill>
                <a:latin typeface="Inter"/>
                <a:ea typeface="Inter"/>
                <a:cs typeface="Inter"/>
                <a:sym typeface="Inter"/>
              </a:rPr>
              <a:t>y qué hace cada uno</a:t>
            </a:r>
            <a:endParaRPr b="0" sz="3200">
              <a:solidFill>
                <a:srgbClr val="4B5563"/>
              </a:solidFill>
              <a:latin typeface="Inter"/>
              <a:ea typeface="Inter"/>
              <a:cs typeface="Inter"/>
              <a:sym typeface="Inter"/>
            </a:endParaRPr>
          </a:p>
        </p:txBody>
      </p:sp>
      <p:grpSp>
        <p:nvGrpSpPr>
          <p:cNvPr id="191" name="Google Shape;191;p18"/>
          <p:cNvGrpSpPr/>
          <p:nvPr/>
        </p:nvGrpSpPr>
        <p:grpSpPr>
          <a:xfrm>
            <a:off x="1371600" y="2857500"/>
            <a:ext cx="4953000" cy="4572000"/>
            <a:chOff x="1371600" y="2857500"/>
            <a:chExt cx="4953000" cy="4572000"/>
          </a:xfrm>
        </p:grpSpPr>
        <p:sp>
          <p:nvSpPr>
            <p:cNvPr id="192" name="Google Shape;192;p18"/>
            <p:cNvSpPr/>
            <p:nvPr/>
          </p:nvSpPr>
          <p:spPr>
            <a:xfrm>
              <a:off x="1371600" y="2857500"/>
              <a:ext cx="4953000" cy="4572000"/>
            </a:xfrm>
            <a:prstGeom prst="roundRect">
              <a:avLst>
                <a:gd fmla="val 8333"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18"/>
            <p:cNvSpPr/>
            <p:nvPr/>
          </p:nvSpPr>
          <p:spPr>
            <a:xfrm>
              <a:off x="1371600" y="2857500"/>
              <a:ext cx="4953000" cy="114300"/>
            </a:xfrm>
            <a:prstGeom prst="roundRect">
              <a:avLst>
                <a:gd fmla="val 50000" name="adj"/>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 name="Google Shape;194;p18"/>
            <p:cNvSpPr txBox="1"/>
            <p:nvPr/>
          </p:nvSpPr>
          <p:spPr>
            <a:xfrm>
              <a:off x="1752600" y="3238500"/>
              <a:ext cx="41910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000">
                  <a:solidFill>
                    <a:srgbClr val="CA8A04"/>
                  </a:solidFill>
                  <a:latin typeface="Material Icons"/>
                  <a:ea typeface="Material Icons"/>
                  <a:cs typeface="Material Icons"/>
                  <a:sym typeface="Material Icons"/>
                </a:rPr>
                <a:t></a:t>
              </a:r>
              <a:endParaRPr sz="4000">
                <a:solidFill>
                  <a:srgbClr val="CA8A04"/>
                </a:solidFill>
                <a:latin typeface="Material Icons"/>
                <a:ea typeface="Material Icons"/>
                <a:cs typeface="Material Icons"/>
                <a:sym typeface="Material Icons"/>
              </a:endParaRPr>
            </a:p>
            <a:p>
              <a:pPr indent="0" lvl="0" marL="0" rtl="0" algn="l">
                <a:spcBef>
                  <a:spcPts val="1500"/>
                </a:spcBef>
                <a:spcAft>
                  <a:spcPts val="0"/>
                </a:spcAft>
                <a:buNone/>
              </a:pPr>
              <a:r>
                <a:rPr b="1" lang="en-US" sz="2400">
                  <a:solidFill>
                    <a:srgbClr val="0A0915"/>
                  </a:solidFill>
                  <a:latin typeface="Inter"/>
                  <a:ea typeface="Inter"/>
                  <a:cs typeface="Inter"/>
                  <a:sym typeface="Inter"/>
                </a:rPr>
                <a:t>Líder del partner</a:t>
              </a:r>
              <a:endParaRPr b="1" sz="2400">
                <a:solidFill>
                  <a:srgbClr val="0A0915"/>
                </a:solidFill>
                <a:latin typeface="Inter"/>
                <a:ea typeface="Inter"/>
                <a:cs typeface="Inter"/>
                <a:sym typeface="Inter"/>
              </a:endParaRPr>
            </a:p>
            <a:p>
              <a:pPr indent="0" lvl="0" marL="0" rtl="0" algn="l">
                <a:spcBef>
                  <a:spcPts val="1125"/>
                </a:spcBef>
                <a:spcAft>
                  <a:spcPts val="0"/>
                </a:spcAft>
                <a:buNone/>
              </a:pPr>
              <a:r>
                <a:rPr b="0" lang="en-US" sz="1800">
                  <a:solidFill>
                    <a:srgbClr val="4B5563"/>
                  </a:solidFill>
                  <a:latin typeface="Inter"/>
                  <a:ea typeface="Inter"/>
                  <a:cs typeface="Inter"/>
                  <a:sym typeface="Inter"/>
                </a:rPr>
                <a:t>Coordina. No opera el Nivel 1: si lo hace, le roba autonomía al gobierno.</a:t>
              </a:r>
              <a:endParaRPr b="0" sz="1800">
                <a:solidFill>
                  <a:srgbClr val="4B5563"/>
                </a:solidFill>
                <a:latin typeface="Inter"/>
                <a:ea typeface="Inter"/>
                <a:cs typeface="Inter"/>
                <a:sym typeface="Inter"/>
              </a:endParaRPr>
            </a:p>
          </p:txBody>
        </p:sp>
      </p:grpSp>
      <p:grpSp>
        <p:nvGrpSpPr>
          <p:cNvPr id="195" name="Google Shape;195;p18"/>
          <p:cNvGrpSpPr/>
          <p:nvPr/>
        </p:nvGrpSpPr>
        <p:grpSpPr>
          <a:xfrm>
            <a:off x="6667500" y="2857500"/>
            <a:ext cx="4953000" cy="4572000"/>
            <a:chOff x="6667500" y="2857500"/>
            <a:chExt cx="4953000" cy="4572000"/>
          </a:xfrm>
        </p:grpSpPr>
        <p:sp>
          <p:nvSpPr>
            <p:cNvPr id="196" name="Google Shape;196;p18"/>
            <p:cNvSpPr/>
            <p:nvPr/>
          </p:nvSpPr>
          <p:spPr>
            <a:xfrm>
              <a:off x="6667500" y="2857500"/>
              <a:ext cx="4953000" cy="4572000"/>
            </a:xfrm>
            <a:prstGeom prst="roundRect">
              <a:avLst>
                <a:gd fmla="val 8333"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7" name="Google Shape;197;p18"/>
            <p:cNvSpPr/>
            <p:nvPr/>
          </p:nvSpPr>
          <p:spPr>
            <a:xfrm>
              <a:off x="6667500" y="2857500"/>
              <a:ext cx="4953000" cy="114300"/>
            </a:xfrm>
            <a:prstGeom prst="roundRect">
              <a:avLst>
                <a:gd fmla="val 50000" name="adj"/>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p18"/>
            <p:cNvSpPr txBox="1"/>
            <p:nvPr/>
          </p:nvSpPr>
          <p:spPr>
            <a:xfrm>
              <a:off x="7048500" y="3238500"/>
              <a:ext cx="41910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000">
                  <a:solidFill>
                    <a:srgbClr val="CA8A04"/>
                  </a:solidFill>
                  <a:latin typeface="Material Icons"/>
                  <a:ea typeface="Material Icons"/>
                  <a:cs typeface="Material Icons"/>
                  <a:sym typeface="Material Icons"/>
                </a:rPr>
                <a:t></a:t>
              </a:r>
              <a:endParaRPr sz="4000">
                <a:solidFill>
                  <a:srgbClr val="CA8A04"/>
                </a:solidFill>
                <a:latin typeface="Material Icons"/>
                <a:ea typeface="Material Icons"/>
                <a:cs typeface="Material Icons"/>
                <a:sym typeface="Material Icons"/>
              </a:endParaRPr>
            </a:p>
            <a:p>
              <a:pPr indent="0" lvl="0" marL="0" rtl="0" algn="l">
                <a:spcBef>
                  <a:spcPts val="1500"/>
                </a:spcBef>
                <a:spcAft>
                  <a:spcPts val="0"/>
                </a:spcAft>
                <a:buNone/>
              </a:pPr>
              <a:r>
                <a:rPr b="1" lang="en-US" sz="2400">
                  <a:solidFill>
                    <a:srgbClr val="0A0915"/>
                  </a:solidFill>
                  <a:latin typeface="Inter"/>
                  <a:ea typeface="Inter"/>
                  <a:cs typeface="Inter"/>
                  <a:sym typeface="Inter"/>
                </a:rPr>
                <a:t>Nivel 1 del gobierno</a:t>
              </a:r>
              <a:endParaRPr b="1" sz="2400">
                <a:solidFill>
                  <a:srgbClr val="0A0915"/>
                </a:solidFill>
                <a:latin typeface="Inter"/>
                <a:ea typeface="Inter"/>
                <a:cs typeface="Inter"/>
                <a:sym typeface="Inter"/>
              </a:endParaRPr>
            </a:p>
            <a:p>
              <a:pPr indent="0" lvl="0" marL="0" rtl="0" algn="l">
                <a:spcBef>
                  <a:spcPts val="1125"/>
                </a:spcBef>
                <a:spcAft>
                  <a:spcPts val="0"/>
                </a:spcAft>
                <a:buNone/>
              </a:pPr>
              <a:r>
                <a:rPr b="0" lang="en-US" sz="1800">
                  <a:solidFill>
                    <a:srgbClr val="4B5563"/>
                  </a:solidFill>
                  <a:latin typeface="Inter"/>
                  <a:ea typeface="Inter"/>
                  <a:cs typeface="Inter"/>
                  <a:sym typeface="Inter"/>
                </a:rPr>
                <a:t>Opera. Si te llaman por todo, no estuvieron bien capacitados en Fase D.</a:t>
              </a:r>
              <a:endParaRPr b="0" sz="1800">
                <a:solidFill>
                  <a:srgbClr val="4B5563"/>
                </a:solidFill>
                <a:latin typeface="Inter"/>
                <a:ea typeface="Inter"/>
                <a:cs typeface="Inter"/>
                <a:sym typeface="Inter"/>
              </a:endParaRPr>
            </a:p>
          </p:txBody>
        </p:sp>
      </p:grpSp>
      <p:grpSp>
        <p:nvGrpSpPr>
          <p:cNvPr id="199" name="Google Shape;199;p18"/>
          <p:cNvGrpSpPr/>
          <p:nvPr/>
        </p:nvGrpSpPr>
        <p:grpSpPr>
          <a:xfrm>
            <a:off x="11963400" y="2857500"/>
            <a:ext cx="4953000" cy="4572000"/>
            <a:chOff x="11963400" y="2857500"/>
            <a:chExt cx="4953000" cy="4572000"/>
          </a:xfrm>
        </p:grpSpPr>
        <p:sp>
          <p:nvSpPr>
            <p:cNvPr id="200" name="Google Shape;200;p18"/>
            <p:cNvSpPr/>
            <p:nvPr/>
          </p:nvSpPr>
          <p:spPr>
            <a:xfrm>
              <a:off x="11963400" y="2857500"/>
              <a:ext cx="4953000" cy="4572000"/>
            </a:xfrm>
            <a:prstGeom prst="roundRect">
              <a:avLst>
                <a:gd fmla="val 8333"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1" name="Google Shape;201;p18"/>
            <p:cNvSpPr/>
            <p:nvPr/>
          </p:nvSpPr>
          <p:spPr>
            <a:xfrm>
              <a:off x="11963400" y="2857500"/>
              <a:ext cx="4953000" cy="114300"/>
            </a:xfrm>
            <a:prstGeom prst="roundRect">
              <a:avLst>
                <a:gd fmla="val 50000" name="adj"/>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2" name="Google Shape;202;p18"/>
            <p:cNvSpPr txBox="1"/>
            <p:nvPr/>
          </p:nvSpPr>
          <p:spPr>
            <a:xfrm>
              <a:off x="12344400" y="3238500"/>
              <a:ext cx="41910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000">
                  <a:solidFill>
                    <a:srgbClr val="CA8A04"/>
                  </a:solidFill>
                  <a:latin typeface="Material Icons"/>
                  <a:ea typeface="Material Icons"/>
                  <a:cs typeface="Material Icons"/>
                  <a:sym typeface="Material Icons"/>
                </a:rPr>
                <a:t></a:t>
              </a:r>
              <a:endParaRPr sz="4000">
                <a:solidFill>
                  <a:srgbClr val="CA8A04"/>
                </a:solidFill>
                <a:latin typeface="Material Icons"/>
                <a:ea typeface="Material Icons"/>
                <a:cs typeface="Material Icons"/>
                <a:sym typeface="Material Icons"/>
              </a:endParaRPr>
            </a:p>
            <a:p>
              <a:pPr indent="0" lvl="0" marL="0" rtl="0" algn="l">
                <a:spcBef>
                  <a:spcPts val="1500"/>
                </a:spcBef>
                <a:spcAft>
                  <a:spcPts val="0"/>
                </a:spcAft>
                <a:buNone/>
              </a:pPr>
              <a:r>
                <a:rPr b="1" lang="en-US" sz="2400">
                  <a:solidFill>
                    <a:srgbClr val="0A0915"/>
                  </a:solidFill>
                  <a:latin typeface="Inter"/>
                  <a:ea typeface="Inter"/>
                  <a:cs typeface="Inter"/>
                  <a:sym typeface="Inter"/>
                </a:rPr>
                <a:t>Comunicación</a:t>
              </a:r>
              <a:endParaRPr b="1" sz="2400">
                <a:solidFill>
                  <a:srgbClr val="0A0915"/>
                </a:solidFill>
                <a:latin typeface="Inter"/>
                <a:ea typeface="Inter"/>
                <a:cs typeface="Inter"/>
                <a:sym typeface="Inter"/>
              </a:endParaRPr>
            </a:p>
            <a:p>
              <a:pPr indent="0" lvl="0" marL="0" rtl="0" algn="l">
                <a:spcBef>
                  <a:spcPts val="1125"/>
                </a:spcBef>
                <a:spcAft>
                  <a:spcPts val="0"/>
                </a:spcAft>
                <a:buNone/>
              </a:pPr>
              <a:r>
                <a:rPr b="0" lang="en-US" sz="1800">
                  <a:solidFill>
                    <a:srgbClr val="4B5563"/>
                  </a:solidFill>
                  <a:latin typeface="Inter"/>
                  <a:ea typeface="Inter"/>
                  <a:cs typeface="Inter"/>
                  <a:sym typeface="Inter"/>
                </a:rPr>
                <a:t>Entra si hay lanzamiento público. Sostiene la narrativa frente al ciudadano.</a:t>
              </a:r>
              <a:endParaRPr b="0" sz="1800">
                <a:solidFill>
                  <a:srgbClr val="4B5563"/>
                </a:solidFill>
                <a:latin typeface="Inter"/>
                <a:ea typeface="Inter"/>
                <a:cs typeface="Inter"/>
                <a:sym typeface="Inter"/>
              </a:endParaRPr>
            </a:p>
          </p:txBody>
        </p:sp>
      </p:grpSp>
      <p:grpSp>
        <p:nvGrpSpPr>
          <p:cNvPr id="203" name="Google Shape;203;p18"/>
          <p:cNvGrpSpPr/>
          <p:nvPr/>
        </p:nvGrpSpPr>
        <p:grpSpPr>
          <a:xfrm>
            <a:off x="1371600" y="8382000"/>
            <a:ext cx="15544800" cy="857250"/>
            <a:chOff x="1371600" y="8382000"/>
            <a:chExt cx="15544800" cy="857250"/>
          </a:xfrm>
        </p:grpSpPr>
        <p:sp>
          <p:nvSpPr>
            <p:cNvPr id="204" name="Google Shape;204;p18"/>
            <p:cNvSpPr/>
            <p:nvPr/>
          </p:nvSpPr>
          <p:spPr>
            <a:xfrm>
              <a:off x="1371600" y="8382000"/>
              <a:ext cx="15544800" cy="381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5" name="Google Shape;205;p18"/>
            <p:cNvSpPr txBox="1"/>
            <p:nvPr/>
          </p:nvSpPr>
          <p:spPr>
            <a:xfrm>
              <a:off x="1371600" y="8667750"/>
              <a:ext cx="155448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i="1" lang="en-US" sz="1800">
                  <a:solidFill>
                    <a:srgbClr val="6B7280"/>
                  </a:solidFill>
                  <a:latin typeface="Inter"/>
                  <a:ea typeface="Inter"/>
                  <a:cs typeface="Inter"/>
                  <a:sym typeface="Inter"/>
                </a:rPr>
                <a:t>"La claridad en los roles es el cimiento de una transferencia de capacidad exitosa."</a:t>
              </a:r>
              <a:endParaRPr b="0" i="1" sz="1800">
                <a:solidFill>
                  <a:srgbClr val="6B7280"/>
                </a:solidFill>
                <a:latin typeface="Inter"/>
                <a:ea typeface="Inter"/>
                <a:cs typeface="Inter"/>
                <a:sym typeface="Inte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9"/>
          <p:cNvSpPr/>
          <p:nvPr/>
        </p:nvSpPr>
        <p:spPr>
          <a:xfrm>
            <a:off x="0" y="0"/>
            <a:ext cx="18288000" cy="228600"/>
          </a:xfrm>
          <a:prstGeom prst="rect">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2" name="Google Shape;212;p19"/>
          <p:cNvSpPr txBox="1"/>
          <p:nvPr/>
        </p:nvSpPr>
        <p:spPr>
          <a:xfrm>
            <a:off x="1371600" y="762000"/>
            <a:ext cx="155448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000">
                <a:solidFill>
                  <a:srgbClr val="CA8A04"/>
                </a:solidFill>
                <a:latin typeface="Inter"/>
                <a:ea typeface="Inter"/>
                <a:cs typeface="Inter"/>
                <a:sym typeface="Inter"/>
              </a:rPr>
              <a:t>El test</a:t>
            </a:r>
            <a:endParaRPr b="1" sz="2000">
              <a:solidFill>
                <a:srgbClr val="CA8A04"/>
              </a:solidFill>
              <a:latin typeface="Inter"/>
              <a:ea typeface="Inter"/>
              <a:cs typeface="Inter"/>
              <a:sym typeface="Inter"/>
            </a:endParaRPr>
          </a:p>
          <a:p>
            <a:pPr indent="0" lvl="0" marL="0" rtl="0" algn="l">
              <a:spcBef>
                <a:spcPts val="750"/>
              </a:spcBef>
              <a:spcAft>
                <a:spcPts val="0"/>
              </a:spcAft>
              <a:buNone/>
            </a:pPr>
            <a:r>
              <a:rPr b="1" lang="en-US" sz="4600">
                <a:solidFill>
                  <a:srgbClr val="0A0915"/>
                </a:solidFill>
                <a:latin typeface="Inter"/>
                <a:ea typeface="Inter"/>
                <a:cs typeface="Inter"/>
                <a:sym typeface="Inter"/>
              </a:rPr>
              <a:t>Las primeras dos semanas son la prueba de fuego</a:t>
            </a:r>
            <a:endParaRPr b="1" sz="4600">
              <a:solidFill>
                <a:srgbClr val="0A0915"/>
              </a:solidFill>
              <a:latin typeface="Inter"/>
              <a:ea typeface="Inter"/>
              <a:cs typeface="Inter"/>
              <a:sym typeface="Inter"/>
            </a:endParaRPr>
          </a:p>
        </p:txBody>
      </p:sp>
      <p:grpSp>
        <p:nvGrpSpPr>
          <p:cNvPr id="213" name="Google Shape;213;p19"/>
          <p:cNvGrpSpPr/>
          <p:nvPr/>
        </p:nvGrpSpPr>
        <p:grpSpPr>
          <a:xfrm>
            <a:off x="1371600" y="3048000"/>
            <a:ext cx="7543800" cy="4000500"/>
            <a:chOff x="1371600" y="3048000"/>
            <a:chExt cx="7543800" cy="4000500"/>
          </a:xfrm>
        </p:grpSpPr>
        <p:sp>
          <p:nvSpPr>
            <p:cNvPr id="214" name="Google Shape;214;p19"/>
            <p:cNvSpPr/>
            <p:nvPr/>
          </p:nvSpPr>
          <p:spPr>
            <a:xfrm>
              <a:off x="1371600" y="3048000"/>
              <a:ext cx="7543800" cy="4000500"/>
            </a:xfrm>
            <a:prstGeom prst="roundRect">
              <a:avLst>
                <a:gd fmla="val 5714"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5" name="Google Shape;215;p19"/>
            <p:cNvSpPr/>
            <p:nvPr/>
          </p:nvSpPr>
          <p:spPr>
            <a:xfrm>
              <a:off x="1371600" y="3048000"/>
              <a:ext cx="7543800" cy="95400"/>
            </a:xfrm>
            <a:prstGeom prst="roundRect">
              <a:avLst>
                <a:gd fmla="val 50000" name="adj"/>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6" name="Google Shape;216;p19"/>
            <p:cNvSpPr txBox="1"/>
            <p:nvPr/>
          </p:nvSpPr>
          <p:spPr>
            <a:xfrm>
              <a:off x="1752600" y="3429000"/>
              <a:ext cx="67818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640">
                  <a:solidFill>
                    <a:srgbClr val="CA8A04"/>
                  </a:solidFill>
                  <a:latin typeface="Material Icons"/>
                  <a:ea typeface="Material Icons"/>
                  <a:cs typeface="Material Icons"/>
                  <a:sym typeface="Material Icons"/>
                </a:rPr>
                <a:t>release_attendance</a:t>
              </a:r>
              <a:endParaRPr sz="2640">
                <a:solidFill>
                  <a:srgbClr val="CA8A04"/>
                </a:solidFill>
                <a:latin typeface="Material Icons"/>
                <a:ea typeface="Material Icons"/>
                <a:cs typeface="Material Icons"/>
                <a:sym typeface="Material Icons"/>
              </a:endParaRPr>
            </a:p>
            <a:p>
              <a:pPr indent="0" lvl="0" marL="0" rtl="0" algn="l">
                <a:spcBef>
                  <a:spcPts val="1500"/>
                </a:spcBef>
                <a:spcAft>
                  <a:spcPts val="0"/>
                </a:spcAft>
                <a:buNone/>
              </a:pPr>
              <a:r>
                <a:rPr b="1" lang="en-US" sz="1540">
                  <a:solidFill>
                    <a:srgbClr val="0A0915"/>
                  </a:solidFill>
                  <a:latin typeface="Inter"/>
                  <a:ea typeface="Inter"/>
                  <a:cs typeface="Inter"/>
                  <a:sym typeface="Inter"/>
                </a:rPr>
                <a:t>Si tú operas, no soltaste</a:t>
              </a:r>
              <a:endParaRPr b="1" sz="1540">
                <a:solidFill>
                  <a:srgbClr val="0A0915"/>
                </a:solidFill>
                <a:latin typeface="Inter"/>
                <a:ea typeface="Inter"/>
                <a:cs typeface="Inter"/>
                <a:sym typeface="Inter"/>
              </a:endParaRPr>
            </a:p>
            <a:p>
              <a:pPr indent="0" lvl="0" marL="0" rtl="0" algn="l">
                <a:spcBef>
                  <a:spcPts val="1125"/>
                </a:spcBef>
                <a:spcAft>
                  <a:spcPts val="0"/>
                </a:spcAft>
                <a:buNone/>
              </a:pPr>
              <a:r>
                <a:rPr b="0" lang="en-US" sz="990">
                  <a:solidFill>
                    <a:srgbClr val="4B5563"/>
                  </a:solidFill>
                  <a:latin typeface="Inter"/>
                  <a:ea typeface="Inter"/>
                  <a:cs typeface="Inter"/>
                  <a:sym typeface="Inter"/>
                </a:rPr>
                <a:t>La transferencia de Fase D solo es real cuando el partner deja de ejecutar el día a día para pasar a un rol de acompañamiento estratégico.</a:t>
              </a:r>
              <a:endParaRPr b="0" sz="990">
                <a:solidFill>
                  <a:srgbClr val="4B5563"/>
                </a:solidFill>
                <a:latin typeface="Inter"/>
                <a:ea typeface="Inter"/>
                <a:cs typeface="Inter"/>
                <a:sym typeface="Inter"/>
              </a:endParaRPr>
            </a:p>
          </p:txBody>
        </p:sp>
      </p:grpSp>
      <p:grpSp>
        <p:nvGrpSpPr>
          <p:cNvPr id="217" name="Google Shape;217;p19"/>
          <p:cNvGrpSpPr/>
          <p:nvPr/>
        </p:nvGrpSpPr>
        <p:grpSpPr>
          <a:xfrm>
            <a:off x="9372600" y="3048000"/>
            <a:ext cx="7543800" cy="4000500"/>
            <a:chOff x="9372600" y="3048000"/>
            <a:chExt cx="7543800" cy="4000500"/>
          </a:xfrm>
        </p:grpSpPr>
        <p:sp>
          <p:nvSpPr>
            <p:cNvPr id="218" name="Google Shape;218;p19"/>
            <p:cNvSpPr/>
            <p:nvPr/>
          </p:nvSpPr>
          <p:spPr>
            <a:xfrm>
              <a:off x="9372600" y="3048000"/>
              <a:ext cx="7543800" cy="4000500"/>
            </a:xfrm>
            <a:prstGeom prst="roundRect">
              <a:avLst>
                <a:gd fmla="val 5714"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9" name="Google Shape;219;p19"/>
            <p:cNvSpPr/>
            <p:nvPr/>
          </p:nvSpPr>
          <p:spPr>
            <a:xfrm>
              <a:off x="9372600" y="3048000"/>
              <a:ext cx="7543800" cy="95400"/>
            </a:xfrm>
            <a:prstGeom prst="roundRect">
              <a:avLst>
                <a:gd fmla="val 50000" name="adj"/>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0" name="Google Shape;220;p19"/>
            <p:cNvSpPr txBox="1"/>
            <p:nvPr/>
          </p:nvSpPr>
          <p:spPr>
            <a:xfrm>
              <a:off x="9753600" y="3429000"/>
              <a:ext cx="67818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800">
                  <a:solidFill>
                    <a:srgbClr val="CA8A04"/>
                  </a:solidFill>
                  <a:latin typeface="Material Icons"/>
                  <a:ea typeface="Material Icons"/>
                  <a:cs typeface="Material Icons"/>
                  <a:sym typeface="Material Icons"/>
                </a:rPr>
                <a:t></a:t>
              </a:r>
              <a:endParaRPr sz="4800">
                <a:solidFill>
                  <a:srgbClr val="CA8A04"/>
                </a:solidFill>
                <a:latin typeface="Material Icons"/>
                <a:ea typeface="Material Icons"/>
                <a:cs typeface="Material Icons"/>
                <a:sym typeface="Material Icons"/>
              </a:endParaRPr>
            </a:p>
            <a:p>
              <a:pPr indent="0" lvl="0" marL="0" rtl="0" algn="l">
                <a:spcBef>
                  <a:spcPts val="1500"/>
                </a:spcBef>
                <a:spcAft>
                  <a:spcPts val="0"/>
                </a:spcAft>
                <a:buNone/>
              </a:pPr>
              <a:r>
                <a:rPr b="1" lang="en-US" sz="2800">
                  <a:solidFill>
                    <a:srgbClr val="0A0915"/>
                  </a:solidFill>
                  <a:latin typeface="Inter"/>
                  <a:ea typeface="Inter"/>
                  <a:cs typeface="Inter"/>
                  <a:sym typeface="Inter"/>
                </a:rPr>
                <a:t>Si te llaman por todo, no capacitaste bien</a:t>
              </a:r>
              <a:endParaRPr b="1" sz="2800">
                <a:solidFill>
                  <a:srgbClr val="0A0915"/>
                </a:solidFill>
                <a:latin typeface="Inter"/>
                <a:ea typeface="Inter"/>
                <a:cs typeface="Inter"/>
                <a:sym typeface="Inter"/>
              </a:endParaRPr>
            </a:p>
            <a:p>
              <a:pPr indent="0" lvl="0" marL="0" rtl="0" algn="l">
                <a:spcBef>
                  <a:spcPts val="1125"/>
                </a:spcBef>
                <a:spcAft>
                  <a:spcPts val="0"/>
                </a:spcAft>
                <a:buNone/>
              </a:pPr>
              <a:r>
                <a:rPr b="0" lang="en-US" sz="1800">
                  <a:solidFill>
                    <a:srgbClr val="4B5563"/>
                  </a:solidFill>
                  <a:latin typeface="Inter"/>
                  <a:ea typeface="Inter"/>
                  <a:cs typeface="Inter"/>
                  <a:sym typeface="Inter"/>
                </a:rPr>
                <a:t>La dependencia constante es síntoma de una capacitación insuficiente. El éxito se mide por la autonomía operativa del equipo de gobierno.</a:t>
              </a:r>
              <a:endParaRPr b="0" sz="1800">
                <a:solidFill>
                  <a:srgbClr val="4B5563"/>
                </a:solidFill>
                <a:latin typeface="Inter"/>
                <a:ea typeface="Inter"/>
                <a:cs typeface="Inter"/>
                <a:sym typeface="Inter"/>
              </a:endParaRPr>
            </a:p>
          </p:txBody>
        </p:sp>
      </p:grpSp>
      <p:grpSp>
        <p:nvGrpSpPr>
          <p:cNvPr id="221" name="Google Shape;221;p19"/>
          <p:cNvGrpSpPr/>
          <p:nvPr/>
        </p:nvGrpSpPr>
        <p:grpSpPr>
          <a:xfrm>
            <a:off x="1371600" y="8382000"/>
            <a:ext cx="15544800" cy="1047750"/>
            <a:chOff x="1371600" y="8382000"/>
            <a:chExt cx="15544800" cy="1047750"/>
          </a:xfrm>
        </p:grpSpPr>
        <p:sp>
          <p:nvSpPr>
            <p:cNvPr id="222" name="Google Shape;222;p19"/>
            <p:cNvSpPr/>
            <p:nvPr/>
          </p:nvSpPr>
          <p:spPr>
            <a:xfrm>
              <a:off x="1371600" y="8382000"/>
              <a:ext cx="15544800" cy="381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3" name="Google Shape;223;p19"/>
            <p:cNvSpPr txBox="1"/>
            <p:nvPr/>
          </p:nvSpPr>
          <p:spPr>
            <a:xfrm>
              <a:off x="1371600" y="8667750"/>
              <a:ext cx="155448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US" sz="2200">
                  <a:solidFill>
                    <a:srgbClr val="6B7280"/>
                  </a:solidFill>
                  <a:latin typeface="Inter"/>
                  <a:ea typeface="Inter"/>
                  <a:cs typeface="Inter"/>
                  <a:sym typeface="Inter"/>
                </a:rPr>
                <a:t>"La verdadera transferencia no es entregar un sistema, es entregar el control total."</a:t>
              </a:r>
              <a:endParaRPr i="1" sz="2200">
                <a:solidFill>
                  <a:srgbClr val="6B7280"/>
                </a:solidFill>
                <a:latin typeface="Inter"/>
                <a:ea typeface="Inter"/>
                <a:cs typeface="Inter"/>
                <a:sym typeface="Inte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0"/>
          <p:cNvSpPr/>
          <p:nvPr/>
        </p:nvSpPr>
        <p:spPr>
          <a:xfrm>
            <a:off x="0" y="0"/>
            <a:ext cx="18288000" cy="10287000"/>
          </a:xfrm>
          <a:prstGeom prst="rect">
            <a:avLst/>
          </a:prstGeom>
          <a:solidFill>
            <a:srgbClr val="CA8A0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0" name="Google Shape;230;p20"/>
          <p:cNvSpPr txBox="1"/>
          <p:nvPr/>
        </p:nvSpPr>
        <p:spPr>
          <a:xfrm>
            <a:off x="1371600" y="3200400"/>
            <a:ext cx="15544800" cy="13716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4200" u="none" cap="none" strike="noStrike">
                <a:solidFill>
                  <a:srgbClr val="FFFFFF"/>
                </a:solidFill>
                <a:latin typeface="Inter"/>
                <a:ea typeface="Inter"/>
                <a:cs typeface="Inter"/>
                <a:sym typeface="Inter"/>
              </a:rPr>
              <a:t>Disponibilidad diaria</a:t>
            </a:r>
            <a:endParaRPr/>
          </a:p>
        </p:txBody>
      </p:sp>
      <p:sp>
        <p:nvSpPr>
          <p:cNvPr id="231" name="Google Shape;231;p20"/>
          <p:cNvSpPr txBox="1"/>
          <p:nvPr/>
        </p:nvSpPr>
        <p:spPr>
          <a:xfrm>
            <a:off x="1371600" y="4754880"/>
            <a:ext cx="15544800" cy="12006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7800" u="none" cap="none" strike="noStrike">
                <a:solidFill>
                  <a:srgbClr val="FFFFFF"/>
                </a:solidFill>
                <a:latin typeface="Inter"/>
                <a:ea typeface="Inter"/>
                <a:cs typeface="Inter"/>
                <a:sym typeface="Inter"/>
              </a:rPr>
              <a:t>no es estar siempre</a:t>
            </a:r>
            <a:endParaRPr/>
          </a:p>
        </p:txBody>
      </p:sp>
      <p:sp>
        <p:nvSpPr>
          <p:cNvPr id="232" name="Google Shape;232;p20"/>
          <p:cNvSpPr txBox="1"/>
          <p:nvPr/>
        </p:nvSpPr>
        <p:spPr>
          <a:xfrm>
            <a:off x="1371600" y="7315200"/>
            <a:ext cx="15544800" cy="109728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3000" u="none" cap="none" strike="noStrike">
                <a:solidFill>
                  <a:srgbClr val="FFFFFF"/>
                </a:solidFill>
                <a:latin typeface="Inter"/>
                <a:ea typeface="Inter"/>
                <a:cs typeface="Inter"/>
                <a:sym typeface="Inter"/>
              </a:rPr>
              <a:t>Es contestar cuando preguntan.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