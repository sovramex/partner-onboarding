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5.6s · 14 palabras]</a:t>
            </a:r>
          </a:p>
          <a:p/>
          <a:p>
            <a:r>
              <a:t>El error más común de Fase E tiene nombre propio: desaparecer después del lanzamiento.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18.8s · 47 palabras]</a:t>
            </a:r>
          </a:p>
          <a:p/>
          <a:p>
            <a:r>
              <a:t>Pasa así. El partner cumplió el cronograma, llegó al go-live, todos celebraron, y al lunes siguiente el equipo del gobierno abre un caso raro y nadie del partner contesta hasta el jueves. Para entonces ya escalaron tres veces al dueño del proyecto y la confianza se resquebrajó.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26.8s · 67 palabras]</a:t>
            </a:r>
          </a:p>
          <a:p/>
          <a:p>
            <a:r>
              <a:t>La regla es simple: durante las primeras dos semanas, disponibilidad diaria. No semanal, no cuando puedan, diaria. Eso no significa estar ocho horas mirando la plataforma. Significa que cuando el equipo de Nivel 1 del gobierno pregunta algo a las diez de la mañana, alguien del partner contesta antes del mediodía. Que los SLAs definidos en Fase B se respetan. Que el canal de soporte está vivo.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24.0s · 60 palabras]</a:t>
            </a:r>
          </a:p>
          <a:p/>
          <a:p>
            <a:r>
              <a:t>Las actividades de estas dos semanas son cinco y se hacen en paralelo. Monitoreas métricas diarias de usuarios, trámites y errores. Das soporte según el SLA acordado. Haces ajustes menores que aparecen cuando el sistema toca la realidad. Acompañas el lanzamiento público si el gobierno hizo uno. Y sigues la parte político-comunicacional, porque la narrativa también es parte del éxito.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22.4s · 56 palabras]</a:t>
            </a:r>
          </a:p>
          <a:p/>
          <a:p>
            <a:r>
              <a:t>Lo que tienes que entregar al final de estas dos semanas es concreto. Un dashboard o reporte semanal de métricas compartido con el gobierno, todos los bugs post-lanzamiento resueltos, los ajustes funcionales implementados, y la comunicación de lanzamiento ejecutada si correspondía. Esto no es un checklist burocrático: es la evidencia de que estuviste presente cuando importaba.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20.4s · 51 palabras]</a:t>
            </a:r>
          </a:p>
          <a:p/>
          <a:p>
            <a:r>
              <a:t>Quién participa también cambia. El líder del partner coordina, el equipo de Nivel 1 del gobierno opera, y comunicación entra si hay lanzamiento público. Si tú como líder del partner intentas operar el Nivel 1, le robaste autonomía al gobierno. Si el gobierno te llama por todo, no estuvieron bien capacitados.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6.0s · 15 palabras]</a:t>
            </a:r>
          </a:p>
          <a:p/>
          <a:p>
            <a:r>
              <a:t>Las primeras dos semanas son el test de que la transferencia de Fase D funcionó.</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4.0s · 10 palabras]</a:t>
            </a:r>
          </a:p>
          <a:p/>
          <a:p>
            <a:r>
              <a:t>Disponibilidad diaria no es estar siempre. Es contestar cuando preguntan.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CA8A04"/>
                </a:solidFill>
                <a:latin typeface="Figtree"/>
              </a:rPr>
              <a:t>FASE E</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Acompañar</a:t>
            </a:r>
          </a:p>
          <a:p>
            <a:pPr algn="l">
              <a:lnSpc>
                <a:spcPct val="110000"/>
              </a:lnSpc>
            </a:pPr>
            <a:r>
              <a:rPr sz="8000" b="1" i="0">
                <a:solidFill>
                  <a:srgbClr val="0A0915"/>
                </a:solidFill>
                <a:latin typeface="Plus Jakarta Sans"/>
              </a:rPr>
              <a:t>sin desaparecer.</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El error más común de Fase E tiene nombre propio: desaparecer después del lanzamiento.</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Cómo pasa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El partner cumplió, todos celebraron,</a:t>
            </a:r>
          </a:p>
          <a:p>
            <a:pPr algn="ctr">
              <a:lnSpc>
                <a:spcPct val="115000"/>
              </a:lnSpc>
            </a:pPr>
            <a:r>
              <a:rPr sz="5600" b="1" i="0">
                <a:solidFill>
                  <a:srgbClr val="0A0915"/>
                </a:solidFill>
                <a:latin typeface="Plus Jakarta Sans"/>
              </a:rPr>
              <a:t>y el lunes nadie contesta.</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El equipo del gobierno abre un caso raro y nadie del partner contesta hasta el jueves. Para entonces ya escalaron tres veces al dueño del proyecto y la confianza se resquebrajó.</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2286000"/>
          </a:xfrm>
          <a:prstGeom prst="rect">
            <a:avLst/>
          </a:prstGeom>
          <a:noFill/>
        </p:spPr>
        <p:txBody>
          <a:bodyPr wrap="square" anchor="t" lIns="0" rIns="0" tIns="0" bIns="0">
            <a:spAutoFit/>
          </a:bodyPr>
          <a:lstStyle/>
          <a:p>
            <a:pPr algn="ctr">
              <a:lnSpc>
                <a:spcPct val="110000"/>
              </a:lnSpc>
            </a:pPr>
            <a:r>
              <a:rPr sz="4600" b="1" i="0">
                <a:solidFill>
                  <a:srgbClr val="0A0915"/>
                </a:solidFill>
                <a:latin typeface="Plus Jakarta Sans"/>
              </a:rPr>
              <a:t>Disponibilidad diaria,</a:t>
            </a:r>
          </a:p>
          <a:p>
            <a:pPr algn="ctr">
              <a:lnSpc>
                <a:spcPct val="110000"/>
              </a:lnSpc>
            </a:pPr>
            <a:r>
              <a:rPr sz="4600" b="1" i="0">
                <a:solidFill>
                  <a:srgbClr val="0A0915"/>
                </a:solidFill>
                <a:latin typeface="Plus Jakarta Sans"/>
              </a:rPr>
              <a:t>no semanal ni "cuando puedan".</a:t>
            </a:r>
          </a:p>
        </p:txBody>
      </p:sp>
      <p:sp>
        <p:nvSpPr>
          <p:cNvPr id="3" name="Rounded Rectangle 2"/>
          <p:cNvSpPr/>
          <p:nvPr/>
        </p:nvSpPr>
        <p:spPr>
          <a:xfrm>
            <a:off x="1828800" y="4754880"/>
            <a:ext cx="6400800" cy="4114800"/>
          </a:xfrm>
          <a:prstGeom prst="roundRect">
            <a:avLst/>
          </a:prstGeom>
          <a:solidFill>
            <a:srgbClr val="FEF2F2"/>
          </a:solidFill>
          <a:ln w="12700">
            <a:solidFill>
              <a:srgbClr val="FE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0" y="5120640"/>
            <a:ext cx="914400" cy="1097280"/>
          </a:xfrm>
          <a:prstGeom prst="rect">
            <a:avLst/>
          </a:prstGeom>
          <a:noFill/>
        </p:spPr>
        <p:txBody>
          <a:bodyPr wrap="square" anchor="t" lIns="0" rIns="0" tIns="0" bIns="0">
            <a:spAutoFit/>
          </a:bodyPr>
          <a:lstStyle/>
          <a:p>
            <a:pPr algn="l">
              <a:lnSpc>
                <a:spcPct val="115000"/>
              </a:lnSpc>
            </a:pPr>
            <a:r>
              <a:rPr sz="3600" b="1" i="0">
                <a:solidFill>
                  <a:srgbClr val="DC2626"/>
                </a:solidFill>
                <a:latin typeface="Plus Jakarta Sans"/>
              </a:rPr>
              <a:t>✗</a:t>
            </a:r>
          </a:p>
        </p:txBody>
      </p:sp>
      <p:sp>
        <p:nvSpPr>
          <p:cNvPr id="5" name="TextBox 4"/>
          <p:cNvSpPr txBox="1"/>
          <p:nvPr/>
        </p:nvSpPr>
        <p:spPr>
          <a:xfrm>
            <a:off x="22860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Disponibilidad semanal</a:t>
            </a:r>
          </a:p>
        </p:txBody>
      </p:sp>
      <p:sp>
        <p:nvSpPr>
          <p:cNvPr id="6" name="TextBox 5"/>
          <p:cNvSpPr txBox="1"/>
          <p:nvPr/>
        </p:nvSpPr>
        <p:spPr>
          <a:xfrm>
            <a:off x="22860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Contestar tres días después de que preguntaron.</a:t>
            </a:r>
          </a:p>
          <a:p>
            <a:pPr algn="l">
              <a:lnSpc>
                <a:spcPct val="140000"/>
              </a:lnSpc>
            </a:pPr>
            <a:r>
              <a:rPr sz="1800" b="0" i="0">
                <a:solidFill>
                  <a:srgbClr val="888888"/>
                </a:solidFill>
                <a:latin typeface="Figtree"/>
              </a:rPr>
              <a:t>La confianza se rompe en silencio.</a:t>
            </a:r>
          </a:p>
        </p:txBody>
      </p:sp>
      <p:sp>
        <p:nvSpPr>
          <p:cNvPr id="7" name="Rounded Rectangle 6"/>
          <p:cNvSpPr/>
          <p:nvPr/>
        </p:nvSpPr>
        <p:spPr>
          <a:xfrm>
            <a:off x="10058400" y="4754880"/>
            <a:ext cx="6400800" cy="411480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0" y="5120640"/>
            <a:ext cx="914400" cy="1097280"/>
          </a:xfrm>
          <a:prstGeom prst="rect">
            <a:avLst/>
          </a:prstGeom>
          <a:noFill/>
        </p:spPr>
        <p:txBody>
          <a:bodyPr wrap="square" anchor="t" lIns="0" rIns="0" tIns="0" bIns="0">
            <a:spAutoFit/>
          </a:bodyPr>
          <a:lstStyle/>
          <a:p>
            <a:pPr algn="l">
              <a:lnSpc>
                <a:spcPct val="115000"/>
              </a:lnSpc>
            </a:pPr>
            <a:r>
              <a:rPr sz="3600" b="1" i="0">
                <a:solidFill>
                  <a:srgbClr val="10B981"/>
                </a:solidFill>
                <a:latin typeface="Plus Jakarta Sans"/>
              </a:rPr>
              <a:t>✓</a:t>
            </a:r>
          </a:p>
        </p:txBody>
      </p:sp>
      <p:sp>
        <p:nvSpPr>
          <p:cNvPr id="9" name="TextBox 8"/>
          <p:cNvSpPr txBox="1"/>
          <p:nvPr/>
        </p:nvSpPr>
        <p:spPr>
          <a:xfrm>
            <a:off x="10515600" y="6217920"/>
            <a:ext cx="5486400" cy="1371600"/>
          </a:xfrm>
          <a:prstGeom prst="rect">
            <a:avLst/>
          </a:prstGeom>
          <a:noFill/>
        </p:spPr>
        <p:txBody>
          <a:bodyPr wrap="square" anchor="t" lIns="0" rIns="0" tIns="0" bIns="0">
            <a:spAutoFit/>
          </a:bodyPr>
          <a:lstStyle/>
          <a:p>
            <a:pPr algn="l">
              <a:lnSpc>
                <a:spcPct val="115000"/>
              </a:lnSpc>
            </a:pPr>
            <a:r>
              <a:rPr sz="3000" b="1" i="0">
                <a:solidFill>
                  <a:srgbClr val="0A0915"/>
                </a:solidFill>
                <a:latin typeface="Plus Jakarta Sans"/>
              </a:rPr>
              <a:t>Disponibilidad diaria</a:t>
            </a:r>
          </a:p>
        </p:txBody>
      </p:sp>
      <p:sp>
        <p:nvSpPr>
          <p:cNvPr id="10" name="TextBox 9"/>
          <p:cNvSpPr txBox="1"/>
          <p:nvPr/>
        </p:nvSpPr>
        <p:spPr>
          <a:xfrm>
            <a:off x="10515600" y="7315200"/>
            <a:ext cx="5486400" cy="1371600"/>
          </a:xfrm>
          <a:prstGeom prst="rect">
            <a:avLst/>
          </a:prstGeom>
          <a:noFill/>
        </p:spPr>
        <p:txBody>
          <a:bodyPr wrap="square" anchor="t" lIns="0" rIns="0" tIns="0" bIns="0">
            <a:spAutoFit/>
          </a:bodyPr>
          <a:lstStyle/>
          <a:p>
            <a:pPr algn="l">
              <a:lnSpc>
                <a:spcPct val="140000"/>
              </a:lnSpc>
            </a:pPr>
            <a:r>
              <a:rPr sz="1800" b="0" i="0">
                <a:solidFill>
                  <a:srgbClr val="888888"/>
                </a:solidFill>
                <a:latin typeface="Figtree"/>
              </a:rPr>
              <a:t>Cuando Nivel 1 pregunta a las 10, alguien contesta antes del mediodía.</a:t>
            </a:r>
          </a:p>
          <a:p>
            <a:pPr algn="l">
              <a:lnSpc>
                <a:spcPct val="140000"/>
              </a:lnSpc>
            </a:pPr>
            <a:r>
              <a:rPr sz="1800" b="0" i="0">
                <a:solidFill>
                  <a:srgbClr val="888888"/>
                </a:solidFill>
                <a:latin typeface="Figtree"/>
              </a:rPr>
              <a:t>Los SLAs de Fase B se respetan.</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Las cinco actividades de estas dos semanas</a:t>
            </a:r>
          </a:p>
          <a:p>
            <a:pPr algn="l">
              <a:lnSpc>
                <a:spcPct val="115000"/>
              </a:lnSpc>
            </a:pPr>
            <a:r>
              <a:rPr sz="4200" b="1" i="0">
                <a:solidFill>
                  <a:srgbClr val="0A0915"/>
                </a:solidFill>
                <a:latin typeface="Plus Jakarta Sans"/>
              </a:rPr>
              <a:t>se hacen en paralelo.</a:t>
            </a:r>
          </a:p>
        </p:txBody>
      </p:sp>
      <p:sp>
        <p:nvSpPr>
          <p:cNvPr id="3" name="Rounded Rectangle 2"/>
          <p:cNvSpPr/>
          <p:nvPr/>
        </p:nvSpPr>
        <p:spPr>
          <a:xfrm>
            <a:off x="1371600" y="388620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Monitorear métricas diarias de usuarios, trámites y errores.</a:t>
            </a:r>
          </a:p>
        </p:txBody>
      </p:sp>
      <p:sp>
        <p:nvSpPr>
          <p:cNvPr id="5" name="Rounded Rectangle 4"/>
          <p:cNvSpPr/>
          <p:nvPr/>
        </p:nvSpPr>
        <p:spPr>
          <a:xfrm>
            <a:off x="1371600" y="470916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Dar soporte según el SLA acordado en Fase B.</a:t>
            </a:r>
          </a:p>
        </p:txBody>
      </p:sp>
      <p:sp>
        <p:nvSpPr>
          <p:cNvPr id="7" name="Rounded Rectangle 6"/>
          <p:cNvSpPr/>
          <p:nvPr/>
        </p:nvSpPr>
        <p:spPr>
          <a:xfrm>
            <a:off x="1371600" y="553212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Hacer ajustes menores que aparecen cuando el sistema toca la realidad.</a:t>
            </a:r>
          </a:p>
        </p:txBody>
      </p:sp>
      <p:sp>
        <p:nvSpPr>
          <p:cNvPr id="9" name="Rounded Rectangle 8"/>
          <p:cNvSpPr/>
          <p:nvPr/>
        </p:nvSpPr>
        <p:spPr>
          <a:xfrm>
            <a:off x="1371600" y="635508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Acompañar el lanzamiento público si el gobierno hizo uno.</a:t>
            </a:r>
          </a:p>
        </p:txBody>
      </p:sp>
      <p:sp>
        <p:nvSpPr>
          <p:cNvPr id="11" name="Rounded Rectangle 10"/>
          <p:cNvSpPr/>
          <p:nvPr/>
        </p:nvSpPr>
        <p:spPr>
          <a:xfrm>
            <a:off x="1371600" y="717804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Seguir la parte político-comunicacional — la narrativa es parte del éxito.</a:t>
            </a:r>
          </a:p>
        </p:txBody>
      </p:sp>
      <p:sp>
        <p:nvSpPr>
          <p:cNvPr id="13" name="TextBox 12"/>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Lo que tenés que entregar al final</a:t>
            </a:r>
          </a:p>
          <a:p>
            <a:pPr algn="l">
              <a:lnSpc>
                <a:spcPct val="115000"/>
              </a:lnSpc>
            </a:pPr>
            <a:r>
              <a:rPr sz="4200" b="1" i="0">
                <a:solidFill>
                  <a:srgbClr val="0A0915"/>
                </a:solidFill>
                <a:latin typeface="Plus Jakarta Sans"/>
              </a:rPr>
              <a:t>de las dos semanas.</a:t>
            </a:r>
          </a:p>
        </p:txBody>
      </p:sp>
      <p:sp>
        <p:nvSpPr>
          <p:cNvPr id="3" name="Rounded Rectangle 2"/>
          <p:cNvSpPr/>
          <p:nvPr/>
        </p:nvSpPr>
        <p:spPr>
          <a:xfrm>
            <a:off x="1371600" y="388620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Dashboard o reporte semanal de métricas compartido con el gobierno.</a:t>
            </a:r>
          </a:p>
        </p:txBody>
      </p:sp>
      <p:sp>
        <p:nvSpPr>
          <p:cNvPr id="5" name="Rounded Rectangle 4"/>
          <p:cNvSpPr/>
          <p:nvPr/>
        </p:nvSpPr>
        <p:spPr>
          <a:xfrm>
            <a:off x="1371600" y="470916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Todos los bugs post-lanzamiento resueltos.</a:t>
            </a:r>
          </a:p>
        </p:txBody>
      </p:sp>
      <p:sp>
        <p:nvSpPr>
          <p:cNvPr id="7" name="Rounded Rectangle 6"/>
          <p:cNvSpPr/>
          <p:nvPr/>
        </p:nvSpPr>
        <p:spPr>
          <a:xfrm>
            <a:off x="1371600" y="553212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Los ajustes funcionales implementados.</a:t>
            </a:r>
          </a:p>
        </p:txBody>
      </p:sp>
      <p:sp>
        <p:nvSpPr>
          <p:cNvPr id="9" name="Rounded Rectangle 8"/>
          <p:cNvSpPr/>
          <p:nvPr/>
        </p:nvSpPr>
        <p:spPr>
          <a:xfrm>
            <a:off x="1371600" y="6355080"/>
            <a:ext cx="228600" cy="228600"/>
          </a:xfrm>
          <a:prstGeom prst="round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Comunicación de lanzamiento ejecutada si correspondía.</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Quién participa</a:t>
            </a:r>
          </a:p>
          <a:p>
            <a:pPr algn="ctr">
              <a:lnSpc>
                <a:spcPct val="115000"/>
              </a:lnSpc>
            </a:pPr>
            <a:r>
              <a:rPr sz="4400" b="1" i="0">
                <a:solidFill>
                  <a:srgbClr val="0A0915"/>
                </a:solidFill>
                <a:latin typeface="Plus Jakarta Sans"/>
              </a:rPr>
              <a:t>y qué hace cada uno.</a:t>
            </a:r>
          </a:p>
        </p:txBody>
      </p:sp>
      <p:sp>
        <p:nvSpPr>
          <p:cNvPr id="3" name="Rounded Rectangle 2"/>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30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Líder del partner</a:t>
            </a:r>
          </a:p>
        </p:txBody>
      </p:sp>
      <p:sp>
        <p:nvSpPr>
          <p:cNvPr id="6" name="TextBox 5"/>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Coordina. No opera el Nivel 1: si lo hace, le roba autonomía al gobierno.</a:t>
            </a:r>
          </a:p>
        </p:txBody>
      </p:sp>
      <p:sp>
        <p:nvSpPr>
          <p:cNvPr id="7" name="Rounded Rectangle 6"/>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294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Nivel 1 del gobierno</a:t>
            </a:r>
          </a:p>
        </p:txBody>
      </p:sp>
      <p:sp>
        <p:nvSpPr>
          <p:cNvPr id="10" name="TextBox 9"/>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Opera. Si te llaman por todo, no estuvieron bien capacitados en Fase D.</a:t>
            </a:r>
          </a:p>
        </p:txBody>
      </p:sp>
      <p:sp>
        <p:nvSpPr>
          <p:cNvPr id="11" name="Rounded Rectangle 10"/>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115800" y="4572000"/>
            <a:ext cx="5029200" cy="13716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CA8A04"/>
                </a:solidFill>
                <a:latin typeface="Plus Jakarta Sans"/>
              </a:rPr>
              <a:t>Comunicación</a:t>
            </a:r>
          </a:p>
        </p:txBody>
      </p:sp>
      <p:sp>
        <p:nvSpPr>
          <p:cNvPr id="14" name="TextBox 13"/>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Entra si hay lanzamiento público. Sostiene la narrativa frente al ciudadano.</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CA8A04"/>
                </a:solidFill>
                <a:latin typeface="Figtree"/>
              </a:rPr>
              <a:t>El test</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Las primeras dos semanas son el test</a:t>
            </a:r>
          </a:p>
          <a:p>
            <a:pPr algn="ctr">
              <a:lnSpc>
                <a:spcPct val="115000"/>
              </a:lnSpc>
            </a:pPr>
            <a:r>
              <a:rPr sz="5600" b="1" i="0">
                <a:solidFill>
                  <a:srgbClr val="0A0915"/>
                </a:solidFill>
                <a:latin typeface="Plus Jakarta Sans"/>
              </a:rPr>
              <a:t>de que la transferencia de Fase D funcionó.</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Si tú operas, no soltaste. Si el gobierno te llama por todo, no capacitaste bien.</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Disponibilidad diaria</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no es estar siempre.</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Es contestar cuando preguntan.</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