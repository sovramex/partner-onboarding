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19.6s · 49 palabras]</a:t>
            </a:r>
          </a:p>
          <a:p/>
          <a:p>
            <a:r>
              <a:t>Cada implementación enseña algo. Si no lo documentas, lo pierdes. Y peor: el próximo partner que entre a otro gobierno va a tropezar con la misma piedra que tú ya esquivaste. Documentar lecciones aprendidas es la parte menos glamorosa de Fase E y la que más valor compuesto genera.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10.8s · 27 palabras]</a:t>
            </a:r>
          </a:p>
          <a:p/>
          <a:p>
            <a:r>
              <a:t>Si no lo documentas, lo pierdes. Y peor: el próximo partner que entre a otro gobierno va a tropezar con la misma piedra que tú ya esquivaste.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45.2s · 113 palabras]</a:t>
            </a:r>
          </a:p>
          <a:p/>
          <a:p>
            <a:r>
              <a:t>El formato es simple y no debería tomarte más de una hora. Treinta minutos con tu equipo, treinta con el coordinador del gobierno, y después consolidas en un documento único. Eso es todo. No hace falta un proceso formal de retrospectiva ni un facilitador externo. Hace falta honestidad y un documento donde guardar la verdad. Con tu equipo vas a tener una mirada de partner: dónde subestimaron el alcance, qué reuniones sobraron, qué fase se quedó corta. Con el coordinador del gobierno vas a tener otra mirada: qué del proceso del partner les costó entender, qué hubieran necesitado antes, dónde sintieron que avanzaban a ciegas. Las dos miradas importan y rara vez coinciden.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7.6s · 19 palabras]</a:t>
            </a:r>
          </a:p>
          <a:p/>
          <a:p>
            <a:r>
              <a:t>Las tres preguntas que abren la conversación son siempre las mismas: qué funcionó, qué no funcionó, qué harías diferente.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26.0s · 65 palabras]</a:t>
            </a:r>
          </a:p>
          <a:p/>
          <a:p>
            <a:r>
              <a:t>Lo que sale de ese ejercicio se convierte en tres cosas. Un documento de lecciones aprendidas que combina las dos perspectivas. Un envío a Sovra para que esta guía mejore con cada implementación, porque la guía que estás leyendo hoy es producto de lecciones de otros partners antes que tú. Y recomendaciones concretas para la siguiente fase del gobierno, sea expansión, mantenimiento o nuevas integraciones.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21.2s · 53 palabras]</a:t>
            </a:r>
          </a:p>
          <a:p/>
          <a:p>
            <a:r>
              <a:t>El error que se ve siempre es no documentar. El partner sale del proyecto, se va a otro gobierno, y dos años después alguien le pregunta ¿qué aprendieron en aquella implementación? y la respuesta es difusa. El conocimiento estaba en cabezas, no en documentos, y cuando esas cabezas rotaron el conocimiento se evaporó.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7.2s · 18 palabras]</a:t>
            </a:r>
          </a:p>
          <a:p/>
          <a:p>
            <a:r>
              <a:t>Una hora de retrospectiva ahora vale más que diez horas de reinventar la rueda en la próxima implementación.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A8A04"/>
                </a:solidFill>
                <a:latin typeface="Figtree"/>
              </a:rPr>
              <a:t>FASE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15544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Documentar</a:t>
            </a:r>
          </a:p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lecciones aprendidas.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888888"/>
                </a:solidFill>
                <a:latin typeface="Figtree"/>
              </a:rPr>
              <a:t>La parte menos glamorosa de Fase E y la que más valor compuesto genera.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CA8A04"/>
                </a:solidFill>
                <a:latin typeface="Figtree"/>
              </a:rPr>
              <a:t>Por qué importa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Si no lo documentas, lo pierdes.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Y peor: el próximo partner que entre a otro gobierno va a tropezar con la misma piedra que tú ya esquivaste.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A0915"/>
                </a:solidFill>
                <a:latin typeface="Plus Jakarta Sans"/>
              </a:rPr>
              <a:t>El formato es simple.</a:t>
            </a:r>
          </a:p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A0915"/>
                </a:solidFill>
                <a:latin typeface="Plus Jakarta Sans"/>
              </a:rPr>
              <a:t>Una hora en total.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15544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888888"/>
                </a:solidFill>
                <a:latin typeface="Figtree"/>
              </a:rPr>
              <a:t>No hace falta un proceso formal ni un facilitador externo. Hace falta honestidad.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4572000"/>
            <a:ext cx="50292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4572000"/>
            <a:ext cx="5029200" cy="1371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5120640"/>
            <a:ext cx="4297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A8A04"/>
                </a:solidFill>
                <a:latin typeface="Plus Jakarta Sans"/>
              </a:rPr>
              <a:t>30 minutos con tu equipo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6309360"/>
            <a:ext cx="4297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A0915"/>
                </a:solidFill>
                <a:latin typeface="Figtree"/>
              </a:rPr>
              <a:t>Mirada de partner: dónde subestimaron alcance, qué reuniones sobraron, qué fase se quedó corta.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4572000"/>
            <a:ext cx="50292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4572000"/>
            <a:ext cx="5029200" cy="1371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5120640"/>
            <a:ext cx="4297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A8A04"/>
                </a:solidFill>
                <a:latin typeface="Plus Jakarta Sans"/>
              </a:rPr>
              <a:t>30 minutos con el coordinador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6309360"/>
            <a:ext cx="4297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A0915"/>
                </a:solidFill>
                <a:latin typeface="Figtree"/>
              </a:rPr>
              <a:t>Mirada del gobierno: qué del proceso les costó entender, dónde sintieron que avanzaban a ciegas.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15800" y="4572000"/>
            <a:ext cx="50292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115800" y="4572000"/>
            <a:ext cx="5029200" cy="1371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81560" y="5120640"/>
            <a:ext cx="4297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A8A04"/>
                </a:solidFill>
                <a:latin typeface="Plus Jakarta Sans"/>
              </a:rPr>
              <a:t>Consolidación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81560" y="6309360"/>
            <a:ext cx="4297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A0915"/>
                </a:solidFill>
                <a:latin typeface="Figtree"/>
              </a:rPr>
              <a:t>Un documento único que combina las dos perspectivas. Las dos miradas rara vez coinciden.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1554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0A0915"/>
                </a:solidFill>
                <a:latin typeface="Plus Jakarta Sans"/>
              </a:rPr>
              <a:t>Las tres preguntas</a:t>
            </a:r>
          </a:p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0A0915"/>
                </a:solidFill>
                <a:latin typeface="Plus Jakarta Sans"/>
              </a:rPr>
              <a:t>que abren la conversación.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886200"/>
            <a:ext cx="228600" cy="228600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¿Qué funcionó?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09160"/>
            <a:ext cx="228600" cy="228600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¿Qué no funcionó?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532120"/>
            <a:ext cx="228600" cy="228600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¿Qué harías diferente?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1554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0A0915"/>
                </a:solidFill>
                <a:latin typeface="Plus Jakarta Sans"/>
              </a:rPr>
              <a:t>Lo que sale del ejercicio</a:t>
            </a:r>
          </a:p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0A0915"/>
                </a:solidFill>
                <a:latin typeface="Plus Jakarta Sans"/>
              </a:rPr>
              <a:t>se convierte en tres cosas.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886200"/>
            <a:ext cx="228600" cy="228600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Un documento de lecciones aprendidas que combina las dos perspectivas.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09160"/>
            <a:ext cx="228600" cy="228600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Un envío a Sovra, para que esta guía mejore con cada implementación.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532120"/>
            <a:ext cx="228600" cy="228600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Recomendaciones concretas para la siguiente fase del gobierno.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CA8A04"/>
                </a:solidFill>
                <a:latin typeface="Figtree"/>
              </a:rPr>
              <a:t>El error que se ve siempre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No documentar.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El conocimiento queda en cabezas, no en documentos. Cuando esas cabezas rotan, el conocimiento se evapora.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0" i="0">
                <a:solidFill>
                  <a:srgbClr val="FFFFFF"/>
                </a:solidFill>
                <a:latin typeface="Plus Jakarta Sans"/>
              </a:rPr>
              <a:t>Una hora de retrospectiva ahora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1554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800" b="1" i="0">
                <a:solidFill>
                  <a:srgbClr val="FFFFFF"/>
                </a:solidFill>
                <a:latin typeface="Plus Jakarta Sans"/>
              </a:rPr>
              <a:t>vale más que diez horas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315200"/>
            <a:ext cx="1554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FFFFFF"/>
                </a:solidFill>
                <a:latin typeface="Plus Jakarta Sans"/>
              </a:rPr>
              <a:t>de reinventar la rueda en la próxima implementación.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CE5FF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