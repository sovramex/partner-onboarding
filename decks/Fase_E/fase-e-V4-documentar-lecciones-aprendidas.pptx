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Inter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ter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italic.fntdata"/><Relationship Id="rId14" Type="http://schemas.openxmlformats.org/officeDocument/2006/relationships/font" Target="fonts/Inter-bold.fntdata"/><Relationship Id="rId16" Type="http://schemas.openxmlformats.org/officeDocument/2006/relationships/font" Target="fonts/Inter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19.6s · 49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Cada implementación enseña algo. Si no lo documentas, lo pierdes. Y peor: el próximo partner que entre a otro gobierno va a tropezar con la misma piedra que tú ya esquivaste. Documentar lecciones aprendidas es la parte menos glamorosa de Fase E y la que más valor compuesto genera.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10.8s · 27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Si no lo documentas, lo pierdes. Y peor: el próximo partner que entre a otro gobierno va a tropezar con la misma piedra que tú ya esquivaste.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45.2s · 113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formato es simple y no debería tomarte más de una hora. Treinta minutos con tu equipo, treinta con el coordinador del gobierno, y después consolidas en un documento único. Eso es todo. No hace falta un proceso formal de retrospectiva ni un facilitador externo. Hace falta honestidad y un documento donde guardar la verdad. Con tu equipo vas a tener una mirada de partner: dónde subestimaron el alcance, qué reuniones sobraron, qué fase se quedó corta. Con el coordinador del gobierno vas a tener otra mirada: qué del proceso del partner les costó entender, qué hubieran necesitado antes, dónde sintieron que avanzaban a ciegas. Las dos miradas importan y rara vez coinciden.</a:t>
            </a:r>
            <a:endParaRPr/>
          </a:p>
        </p:txBody>
      </p:sp>
      <p:sp>
        <p:nvSpPr>
          <p:cNvPr id="104" name="Google Shape;104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7.6s · 19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 tres preguntas que abren la conversación son siempre las mismas: qué funcionó, qué no funcionó, qué harías diferente.</a:t>
            </a:r>
            <a:endParaRPr/>
          </a:p>
        </p:txBody>
      </p:sp>
      <p:sp>
        <p:nvSpPr>
          <p:cNvPr id="129" name="Google Shape;12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26.0s · 65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 que sale de ese ejercicio se convierte en tres cosas. Un documento de lecciones aprendidas que combina las dos perspectivas. Un envío a Sovra para que esta guía mejore con cada implementación, porque la guía que estás leyendo hoy es producto de lecciones de otros partners antes que tú. Y recomendaciones concretas para la siguiente fase del gobierno, sea expansión, mantenimiento o nuevas integraciones.</a:t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21.2s · 53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error que se ve siempre es no documentar. El partner sale del proyecto, se va a otro gobierno, y dos años después alguien le pregunta ¿qué aprendieron en aquella implementación? y la respuesta es difusa. El conocimiento estaba en cabezas, no en documentos, y cuando esas cabezas rotaron el conocimiento se evaporó.</a:t>
            </a:r>
            <a:endParaRPr/>
          </a:p>
        </p:txBody>
      </p:sp>
      <p:sp>
        <p:nvSpPr>
          <p:cNvPr id="181" name="Google Shape;181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[Duración estimada: 7.2s · 18 palabras]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Una hora de retrospectiva ahora vale más que diez horas de reinventar la rueda en la próxima implementación.</a:t>
            </a:r>
            <a:endParaRPr/>
          </a:p>
        </p:txBody>
      </p:sp>
      <p:sp>
        <p:nvSpPr>
          <p:cNvPr id="196" name="Google Shape;196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A8A04"/>
                </a:solidFill>
                <a:latin typeface="Inter"/>
                <a:ea typeface="Inter"/>
                <a:cs typeface="Inter"/>
                <a:sym typeface="Inter"/>
              </a:rPr>
              <a:t>FASE E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71600" y="3840480"/>
            <a:ext cx="155448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Documentar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 u="none" cap="none" strike="noStrike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lecciones aprendidas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71600" y="6517900"/>
            <a:ext cx="15544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La parte menos glamorosa de Fase E y la que más valor compuesto genera.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1371600" y="1143000"/>
            <a:ext cx="155448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CA8A04"/>
                </a:solidFill>
                <a:latin typeface="Inter"/>
                <a:ea typeface="Inter"/>
                <a:cs typeface="Inter"/>
                <a:sym typeface="Inter"/>
              </a:rPr>
              <a:t>Por qué importa</a:t>
            </a:r>
            <a:endParaRPr b="1" sz="2000">
              <a:solidFill>
                <a:srgbClr val="CA8A0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371600" y="1809750"/>
            <a:ext cx="15544800" cy="1822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92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Si no lo documentas,</a:t>
            </a:r>
            <a:endParaRPr b="1" sz="592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920">
                <a:solidFill>
                  <a:srgbClr val="CA8A04"/>
                </a:solidFill>
                <a:latin typeface="Inter"/>
                <a:ea typeface="Inter"/>
                <a:cs typeface="Inter"/>
                <a:sym typeface="Inter"/>
              </a:rPr>
              <a:t>lo pierdes</a:t>
            </a:r>
            <a:endParaRPr b="1" sz="5920">
              <a:solidFill>
                <a:srgbClr val="CA8A0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97" name="Google Shape;97;p14"/>
          <p:cNvGrpSpPr/>
          <p:nvPr/>
        </p:nvGrpSpPr>
        <p:grpSpPr>
          <a:xfrm>
            <a:off x="1371600" y="4953000"/>
            <a:ext cx="15544800" cy="3429000"/>
            <a:chOff x="1371600" y="4953000"/>
            <a:chExt cx="15544800" cy="3429000"/>
          </a:xfrm>
        </p:grpSpPr>
        <p:sp>
          <p:nvSpPr>
            <p:cNvPr id="98" name="Google Shape;98;p14"/>
            <p:cNvSpPr/>
            <p:nvPr/>
          </p:nvSpPr>
          <p:spPr>
            <a:xfrm>
              <a:off x="1371600" y="4953000"/>
              <a:ext cx="15544800" cy="3429000"/>
            </a:xfrm>
            <a:prstGeom prst="roundRect">
              <a:avLst>
                <a:gd fmla="val 11111" name="adj"/>
              </a:avLst>
            </a:prstGeom>
            <a:solidFill>
              <a:srgbClr val="F9FAFB"/>
            </a:solidFill>
            <a:ln cap="flat" cmpd="sng" w="1905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4"/>
            <p:cNvSpPr txBox="1"/>
            <p:nvPr/>
          </p:nvSpPr>
          <p:spPr>
            <a:xfrm>
              <a:off x="1943100" y="5612130"/>
              <a:ext cx="952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</a:t>
              </a:r>
              <a:endParaRPr sz="60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00" name="Google Shape;100;p14"/>
            <p:cNvSpPr txBox="1"/>
            <p:nvPr/>
          </p:nvSpPr>
          <p:spPr>
            <a:xfrm>
              <a:off x="3276600" y="5334000"/>
              <a:ext cx="130683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El riesgo de la amnesia institucional:</a:t>
              </a:r>
              <a:endParaRPr b="1" sz="32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El próximo partner que entre a otro gobierno va a tropezar con la misma piedra que tú ya esquivaste.</a:t>
              </a:r>
              <a:endParaRPr b="0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1371600" y="762000"/>
            <a:ext cx="15544800" cy="8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rPr>
              <a:t>El formato es simple: </a:t>
            </a:r>
            <a:r>
              <a:rPr b="1" lang="en-US" sz="5400">
                <a:solidFill>
                  <a:srgbClr val="CA8A04"/>
                </a:solidFill>
                <a:latin typeface="Inter"/>
                <a:ea typeface="Inter"/>
                <a:cs typeface="Inter"/>
                <a:sym typeface="Inter"/>
              </a:rPr>
              <a:t>Una hora en total</a:t>
            </a:r>
            <a:endParaRPr b="1" sz="5400">
              <a:solidFill>
                <a:srgbClr val="0A091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15"/>
          <p:cNvSpPr txBox="1"/>
          <p:nvPr/>
        </p:nvSpPr>
        <p:spPr>
          <a:xfrm>
            <a:off x="1371600" y="2286000"/>
            <a:ext cx="15544800" cy="3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rPr>
              <a:t>No hace falta un proceso formal ni un facilitador externo. Hace falta honestidad.</a:t>
            </a:r>
            <a:endParaRPr b="0" sz="2200">
              <a:solidFill>
                <a:srgbClr val="88888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9" name="Google Shape;109;p15"/>
          <p:cNvGrpSpPr/>
          <p:nvPr/>
        </p:nvGrpSpPr>
        <p:grpSpPr>
          <a:xfrm>
            <a:off x="762000" y="3810000"/>
            <a:ext cx="5143500" cy="4953000"/>
            <a:chOff x="762000" y="3810000"/>
            <a:chExt cx="5143500" cy="4953000"/>
          </a:xfrm>
        </p:grpSpPr>
        <p:sp>
          <p:nvSpPr>
            <p:cNvPr id="110" name="Google Shape;110;p15"/>
            <p:cNvSpPr/>
            <p:nvPr/>
          </p:nvSpPr>
          <p:spPr>
            <a:xfrm>
              <a:off x="7620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76200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5"/>
            <p:cNvSpPr txBox="1"/>
            <p:nvPr/>
          </p:nvSpPr>
          <p:spPr>
            <a:xfrm>
              <a:off x="1143000" y="4344670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</a:t>
              </a:r>
              <a:endParaRPr b="0"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13" name="Google Shape;113;p15"/>
            <p:cNvSpPr txBox="1"/>
            <p:nvPr/>
          </p:nvSpPr>
          <p:spPr>
            <a:xfrm>
              <a:off x="11430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30 minutos con tu equipo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" name="Google Shape;114;p15"/>
            <p:cNvSpPr txBox="1"/>
            <p:nvPr/>
          </p:nvSpPr>
          <p:spPr>
            <a:xfrm>
              <a:off x="11430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Mirada de partner: dónde subestimaron alcance, qué reuniones sobraron, qué fase se quedó corta.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5" name="Google Shape;115;p15"/>
          <p:cNvGrpSpPr/>
          <p:nvPr/>
        </p:nvGrpSpPr>
        <p:grpSpPr>
          <a:xfrm>
            <a:off x="6572250" y="3810000"/>
            <a:ext cx="5143500" cy="4953000"/>
            <a:chOff x="6572250" y="3810000"/>
            <a:chExt cx="5143500" cy="4953000"/>
          </a:xfrm>
        </p:grpSpPr>
        <p:sp>
          <p:nvSpPr>
            <p:cNvPr id="116" name="Google Shape;116;p15"/>
            <p:cNvSpPr/>
            <p:nvPr/>
          </p:nvSpPr>
          <p:spPr>
            <a:xfrm>
              <a:off x="657225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657225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5"/>
            <p:cNvSpPr txBox="1"/>
            <p:nvPr/>
          </p:nvSpPr>
          <p:spPr>
            <a:xfrm>
              <a:off x="6953250" y="4344670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</a:t>
              </a:r>
              <a:endParaRPr b="0"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19" name="Google Shape;119;p15"/>
            <p:cNvSpPr txBox="1"/>
            <p:nvPr/>
          </p:nvSpPr>
          <p:spPr>
            <a:xfrm>
              <a:off x="695325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30 minutos con el coordinador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" name="Google Shape;120;p15"/>
            <p:cNvSpPr txBox="1"/>
            <p:nvPr/>
          </p:nvSpPr>
          <p:spPr>
            <a:xfrm>
              <a:off x="695325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Mirada del gobierno: qué del proceso les costó entender, dónde sintieron que avanzaban a ciegas.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1" name="Google Shape;121;p15"/>
          <p:cNvGrpSpPr/>
          <p:nvPr/>
        </p:nvGrpSpPr>
        <p:grpSpPr>
          <a:xfrm>
            <a:off x="12382500" y="3810000"/>
            <a:ext cx="5143500" cy="4953000"/>
            <a:chOff x="12382500" y="3810000"/>
            <a:chExt cx="5143500" cy="4953000"/>
          </a:xfrm>
        </p:grpSpPr>
        <p:sp>
          <p:nvSpPr>
            <p:cNvPr id="122" name="Google Shape;122;p15"/>
            <p:cNvSpPr/>
            <p:nvPr/>
          </p:nvSpPr>
          <p:spPr>
            <a:xfrm>
              <a:off x="123825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5"/>
            <p:cNvSpPr txBox="1"/>
            <p:nvPr/>
          </p:nvSpPr>
          <p:spPr>
            <a:xfrm>
              <a:off x="12763500" y="4344670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</a:t>
              </a:r>
              <a:endParaRPr b="0" sz="37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24" name="Google Shape;124;p15"/>
            <p:cNvSpPr txBox="1"/>
            <p:nvPr/>
          </p:nvSpPr>
          <p:spPr>
            <a:xfrm>
              <a:off x="127635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Consolidación</a:t>
              </a:r>
              <a:endParaRPr b="1" sz="2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" name="Google Shape;125;p15"/>
            <p:cNvSpPr txBox="1"/>
            <p:nvPr/>
          </p:nvSpPr>
          <p:spPr>
            <a:xfrm>
              <a:off x="127635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Un documento único que combina las dos perspectivas. Las dos miradas rara vez coinciden.</a:t>
              </a:r>
              <a:endParaRPr b="0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6"/>
          <p:cNvGrpSpPr/>
          <p:nvPr/>
        </p:nvGrpSpPr>
        <p:grpSpPr>
          <a:xfrm>
            <a:off x="1371600" y="762000"/>
            <a:ext cx="15544800" cy="1809750"/>
            <a:chOff x="1371600" y="762000"/>
            <a:chExt cx="15544800" cy="1809750"/>
          </a:xfrm>
        </p:grpSpPr>
        <p:sp>
          <p:nvSpPr>
            <p:cNvPr id="133" name="Google Shape;133;p16"/>
            <p:cNvSpPr txBox="1"/>
            <p:nvPr/>
          </p:nvSpPr>
          <p:spPr>
            <a:xfrm>
              <a:off x="1371600" y="7620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Las tres preguntas clave</a:t>
              </a:r>
              <a:endParaRPr b="1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1371600" y="2190750"/>
              <a:ext cx="155448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Cuestionamientos esenciales para abrir una conversación honesta</a:t>
              </a:r>
              <a:endParaRPr b="0" sz="22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5" name="Google Shape;135;p16"/>
          <p:cNvGrpSpPr/>
          <p:nvPr/>
        </p:nvGrpSpPr>
        <p:grpSpPr>
          <a:xfrm>
            <a:off x="762000" y="3810000"/>
            <a:ext cx="5143500" cy="4953000"/>
            <a:chOff x="762000" y="3810000"/>
            <a:chExt cx="5143500" cy="4953000"/>
          </a:xfrm>
        </p:grpSpPr>
        <p:sp>
          <p:nvSpPr>
            <p:cNvPr id="136" name="Google Shape;136;p16"/>
            <p:cNvSpPr/>
            <p:nvPr/>
          </p:nvSpPr>
          <p:spPr>
            <a:xfrm>
              <a:off x="7620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76200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1143000" y="43974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</a:t>
              </a:r>
              <a:endParaRPr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11430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¿Qué funcionó?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11430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Identificar los éxitos y las fortalezas del proceso para poder replicarlos en el futuro.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" name="Google Shape;141;p16"/>
          <p:cNvGrpSpPr/>
          <p:nvPr/>
        </p:nvGrpSpPr>
        <p:grpSpPr>
          <a:xfrm>
            <a:off x="6572250" y="3810000"/>
            <a:ext cx="5143500" cy="4953000"/>
            <a:chOff x="6572250" y="3810000"/>
            <a:chExt cx="5143500" cy="4953000"/>
          </a:xfrm>
        </p:grpSpPr>
        <p:sp>
          <p:nvSpPr>
            <p:cNvPr id="142" name="Google Shape;142;p16"/>
            <p:cNvSpPr/>
            <p:nvPr/>
          </p:nvSpPr>
          <p:spPr>
            <a:xfrm>
              <a:off x="657225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6"/>
            <p:cNvSpPr/>
            <p:nvPr/>
          </p:nvSpPr>
          <p:spPr>
            <a:xfrm>
              <a:off x="657225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16"/>
            <p:cNvSpPr txBox="1"/>
            <p:nvPr/>
          </p:nvSpPr>
          <p:spPr>
            <a:xfrm>
              <a:off x="6953250" y="43974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</a:t>
              </a:r>
              <a:endParaRPr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45" name="Google Shape;145;p16"/>
            <p:cNvSpPr txBox="1"/>
            <p:nvPr/>
          </p:nvSpPr>
          <p:spPr>
            <a:xfrm>
              <a:off x="695325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¿Qué no funcionó?</a:t>
              </a:r>
              <a:endParaRPr b="1" sz="32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" name="Google Shape;146;p16"/>
            <p:cNvSpPr txBox="1"/>
            <p:nvPr/>
          </p:nvSpPr>
          <p:spPr>
            <a:xfrm>
              <a:off x="695325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Detectar cuellos de botella, malentendidos o fases que no cumplieron su objetivo.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" name="Google Shape;147;p16"/>
          <p:cNvGrpSpPr/>
          <p:nvPr/>
        </p:nvGrpSpPr>
        <p:grpSpPr>
          <a:xfrm>
            <a:off x="12382500" y="3810000"/>
            <a:ext cx="5143500" cy="4953000"/>
            <a:chOff x="12382500" y="3810000"/>
            <a:chExt cx="5143500" cy="4953000"/>
          </a:xfrm>
        </p:grpSpPr>
        <p:sp>
          <p:nvSpPr>
            <p:cNvPr id="148" name="Google Shape;148;p16"/>
            <p:cNvSpPr/>
            <p:nvPr/>
          </p:nvSpPr>
          <p:spPr>
            <a:xfrm>
              <a:off x="123825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6"/>
            <p:cNvSpPr txBox="1"/>
            <p:nvPr/>
          </p:nvSpPr>
          <p:spPr>
            <a:xfrm>
              <a:off x="12763500" y="43974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7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</a:t>
              </a:r>
              <a:endParaRPr sz="37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50" name="Google Shape;150;p16"/>
            <p:cNvSpPr txBox="1"/>
            <p:nvPr/>
          </p:nvSpPr>
          <p:spPr>
            <a:xfrm>
              <a:off x="127635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96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¿Qué harías diferente?</a:t>
              </a:r>
              <a:endParaRPr b="1" sz="296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1" name="Google Shape;151;p16"/>
            <p:cNvSpPr txBox="1"/>
            <p:nvPr/>
          </p:nvSpPr>
          <p:spPr>
            <a:xfrm>
              <a:off x="127635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Propuestas de mejora directa para optimizar la siguiente iteración o fase del proyecto.</a:t>
              </a:r>
              <a:endParaRPr b="0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8" name="Google Shape;158;p17"/>
          <p:cNvGrpSpPr/>
          <p:nvPr/>
        </p:nvGrpSpPr>
        <p:grpSpPr>
          <a:xfrm>
            <a:off x="1371600" y="762000"/>
            <a:ext cx="15544800" cy="1905150"/>
            <a:chOff x="1371600" y="762000"/>
            <a:chExt cx="15544800" cy="1905150"/>
          </a:xfrm>
        </p:grpSpPr>
        <p:sp>
          <p:nvSpPr>
            <p:cNvPr id="159" name="Google Shape;159;p17"/>
            <p:cNvSpPr txBox="1"/>
            <p:nvPr/>
          </p:nvSpPr>
          <p:spPr>
            <a:xfrm>
              <a:off x="1371600" y="762000"/>
              <a:ext cx="155448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Lo que sale del ejercicio</a:t>
              </a:r>
              <a:endParaRPr b="1" sz="5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0" name="Google Shape;160;p17"/>
            <p:cNvSpPr txBox="1"/>
            <p:nvPr/>
          </p:nvSpPr>
          <p:spPr>
            <a:xfrm>
              <a:off x="1371600" y="2190750"/>
              <a:ext cx="155448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200">
                  <a:solidFill>
                    <a:srgbClr val="888888"/>
                  </a:solidFill>
                  <a:latin typeface="Inter"/>
                  <a:ea typeface="Inter"/>
                  <a:cs typeface="Inter"/>
                  <a:sym typeface="Inter"/>
                </a:rPr>
                <a:t>Los tres pilares del conocimiento generado</a:t>
              </a:r>
              <a:endParaRPr b="0" sz="2200">
                <a:solidFill>
                  <a:srgbClr val="88888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1" name="Google Shape;161;p17"/>
          <p:cNvGrpSpPr/>
          <p:nvPr/>
        </p:nvGrpSpPr>
        <p:grpSpPr>
          <a:xfrm>
            <a:off x="762000" y="3810000"/>
            <a:ext cx="5143500" cy="4953000"/>
            <a:chOff x="762000" y="3810000"/>
            <a:chExt cx="5143500" cy="4953000"/>
          </a:xfrm>
        </p:grpSpPr>
        <p:sp>
          <p:nvSpPr>
            <p:cNvPr id="162" name="Google Shape;162;p17"/>
            <p:cNvSpPr/>
            <p:nvPr/>
          </p:nvSpPr>
          <p:spPr>
            <a:xfrm>
              <a:off x="7620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17"/>
            <p:cNvSpPr/>
            <p:nvPr/>
          </p:nvSpPr>
          <p:spPr>
            <a:xfrm>
              <a:off x="76200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7"/>
            <p:cNvSpPr txBox="1"/>
            <p:nvPr/>
          </p:nvSpPr>
          <p:spPr>
            <a:xfrm>
              <a:off x="1143000" y="44355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</a:t>
              </a:r>
              <a:endParaRPr b="0"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11430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Lecciones Aprendidas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11430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Un documento de lecciones aprendidas que combina las dos perspectivas.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7" name="Google Shape;167;p17"/>
          <p:cNvGrpSpPr/>
          <p:nvPr/>
        </p:nvGrpSpPr>
        <p:grpSpPr>
          <a:xfrm>
            <a:off x="6572250" y="3810000"/>
            <a:ext cx="5143500" cy="4953000"/>
            <a:chOff x="6572250" y="3810000"/>
            <a:chExt cx="5143500" cy="4953000"/>
          </a:xfrm>
        </p:grpSpPr>
        <p:sp>
          <p:nvSpPr>
            <p:cNvPr id="168" name="Google Shape;168;p17"/>
            <p:cNvSpPr/>
            <p:nvPr/>
          </p:nvSpPr>
          <p:spPr>
            <a:xfrm>
              <a:off x="657225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6572250" y="3810000"/>
              <a:ext cx="5143500" cy="114300"/>
            </a:xfrm>
            <a:prstGeom prst="roundRect">
              <a:avLst>
                <a:gd fmla="val 5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7"/>
            <p:cNvSpPr txBox="1"/>
            <p:nvPr/>
          </p:nvSpPr>
          <p:spPr>
            <a:xfrm>
              <a:off x="6953250" y="44355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</a:t>
              </a:r>
              <a:endParaRPr b="0" sz="37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695325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Mejora Continua</a:t>
              </a:r>
              <a:endParaRPr b="1" sz="28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695325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4B5563"/>
                  </a:solidFill>
                  <a:latin typeface="Inter"/>
                  <a:ea typeface="Inter"/>
                  <a:cs typeface="Inter"/>
                  <a:sym typeface="Inter"/>
                </a:rPr>
                <a:t>Un envío a Sovra, para que esta guía mejore con cada implementación.</a:t>
              </a:r>
              <a:endParaRPr b="0" sz="18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3" name="Google Shape;173;p17"/>
          <p:cNvGrpSpPr/>
          <p:nvPr/>
        </p:nvGrpSpPr>
        <p:grpSpPr>
          <a:xfrm>
            <a:off x="12382500" y="3810000"/>
            <a:ext cx="5143500" cy="4953000"/>
            <a:chOff x="12382500" y="3810000"/>
            <a:chExt cx="5143500" cy="4953000"/>
          </a:xfrm>
        </p:grpSpPr>
        <p:sp>
          <p:nvSpPr>
            <p:cNvPr id="174" name="Google Shape;174;p17"/>
            <p:cNvSpPr/>
            <p:nvPr/>
          </p:nvSpPr>
          <p:spPr>
            <a:xfrm>
              <a:off x="12382500" y="3810000"/>
              <a:ext cx="5143500" cy="4953000"/>
            </a:xfrm>
            <a:prstGeom prst="roundRect">
              <a:avLst>
                <a:gd fmla="val 5769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12763500" y="4435538"/>
              <a:ext cx="438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7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</a:t>
              </a:r>
              <a:endParaRPr b="0" sz="37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12763500" y="4953000"/>
              <a:ext cx="438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Siguiente Fase</a:t>
              </a:r>
              <a:endParaRPr b="1" sz="2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7" name="Google Shape;177;p17"/>
            <p:cNvSpPr txBox="1"/>
            <p:nvPr/>
          </p:nvSpPr>
          <p:spPr>
            <a:xfrm>
              <a:off x="12763500" y="6000750"/>
              <a:ext cx="4381500" cy="2286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Recomendaciones concretas para la siguiente fase del gobierno.</a:t>
              </a:r>
              <a:endParaRPr b="0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8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4" name="Google Shape;184;p18"/>
          <p:cNvGrpSpPr/>
          <p:nvPr/>
        </p:nvGrpSpPr>
        <p:grpSpPr>
          <a:xfrm>
            <a:off x="1371600" y="762000"/>
            <a:ext cx="15544800" cy="1714500"/>
            <a:chOff x="1371600" y="762000"/>
            <a:chExt cx="15544800" cy="1714500"/>
          </a:xfrm>
        </p:grpSpPr>
        <p:sp>
          <p:nvSpPr>
            <p:cNvPr id="185" name="Google Shape;185;p18"/>
            <p:cNvSpPr txBox="1"/>
            <p:nvPr/>
          </p:nvSpPr>
          <p:spPr>
            <a:xfrm>
              <a:off x="1371600" y="762000"/>
              <a:ext cx="15544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CA8A04"/>
                  </a:solidFill>
                  <a:latin typeface="Inter"/>
                  <a:ea typeface="Inter"/>
                  <a:cs typeface="Inter"/>
                  <a:sym typeface="Inter"/>
                </a:rPr>
                <a:t>EL ERROR QUE SE VE SIEMPRE</a:t>
              </a:r>
              <a:endParaRPr b="1" sz="2000">
                <a:solidFill>
                  <a:srgbClr val="CA8A0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86" name="Google Shape;186;p18"/>
            <p:cNvSpPr txBox="1"/>
            <p:nvPr/>
          </p:nvSpPr>
          <p:spPr>
            <a:xfrm>
              <a:off x="1371600" y="1333500"/>
              <a:ext cx="155448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6400">
                  <a:solidFill>
                    <a:srgbClr val="0A0915"/>
                  </a:solidFill>
                  <a:latin typeface="Inter"/>
                  <a:ea typeface="Inter"/>
                  <a:cs typeface="Inter"/>
                  <a:sym typeface="Inter"/>
                </a:rPr>
                <a:t>No documentar</a:t>
              </a:r>
              <a:endParaRPr b="1" sz="6400">
                <a:solidFill>
                  <a:srgbClr val="0A091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7" name="Google Shape;187;p18"/>
          <p:cNvGrpSpPr/>
          <p:nvPr/>
        </p:nvGrpSpPr>
        <p:grpSpPr>
          <a:xfrm>
            <a:off x="6286500" y="3048000"/>
            <a:ext cx="5715000" cy="4072890"/>
            <a:chOff x="6286500" y="3048000"/>
            <a:chExt cx="5715000" cy="4072890"/>
          </a:xfrm>
        </p:grpSpPr>
        <p:sp>
          <p:nvSpPr>
            <p:cNvPr id="188" name="Google Shape;188;p18"/>
            <p:cNvSpPr/>
            <p:nvPr/>
          </p:nvSpPr>
          <p:spPr>
            <a:xfrm>
              <a:off x="6286500" y="3048000"/>
              <a:ext cx="5715000" cy="3810000"/>
            </a:xfrm>
            <a:prstGeom prst="roundRect">
              <a:avLst>
                <a:gd fmla="val 7500" name="adj"/>
              </a:avLst>
            </a:prstGeom>
            <a:solidFill>
              <a:srgbClr val="F9FAFB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18"/>
            <p:cNvSpPr txBox="1"/>
            <p:nvPr/>
          </p:nvSpPr>
          <p:spPr>
            <a:xfrm>
              <a:off x="6286500" y="3310890"/>
              <a:ext cx="5715000" cy="381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0">
                  <a:solidFill>
                    <a:srgbClr val="CA8A0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</a:t>
              </a:r>
              <a:endParaRPr sz="18000">
                <a:solidFill>
                  <a:srgbClr val="CA8A0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grpSp>
        <p:nvGrpSpPr>
          <p:cNvPr id="190" name="Google Shape;190;p18"/>
          <p:cNvGrpSpPr/>
          <p:nvPr/>
        </p:nvGrpSpPr>
        <p:grpSpPr>
          <a:xfrm>
            <a:off x="3429000" y="7429500"/>
            <a:ext cx="11430000" cy="1905000"/>
            <a:chOff x="3429000" y="7429500"/>
            <a:chExt cx="11430000" cy="1905000"/>
          </a:xfrm>
        </p:grpSpPr>
        <p:sp>
          <p:nvSpPr>
            <p:cNvPr id="191" name="Google Shape;191;p18"/>
            <p:cNvSpPr/>
            <p:nvPr/>
          </p:nvSpPr>
          <p:spPr>
            <a:xfrm>
              <a:off x="3429000" y="7429500"/>
              <a:ext cx="11430000" cy="1905000"/>
            </a:xfrm>
            <a:prstGeom prst="roundRect">
              <a:avLst>
                <a:gd fmla="val 10000" name="adj"/>
              </a:avLst>
            </a:prstGeom>
            <a:solidFill>
              <a:srgbClr val="CA8A0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3429000" y="7429500"/>
              <a:ext cx="11430000" cy="1905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381000" lIns="381000" spcFirstLastPara="1" rIns="381000" wrap="square" tIns="3810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El conocimiento queda en </a:t>
              </a:r>
              <a:r>
                <a:rPr b="1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cabezas</a:t>
              </a:r>
              <a:r>
                <a:rPr b="0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, no en documentos.</a:t>
              </a:r>
              <a:endParaRPr b="0" sz="2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Cuando esas cabezas rotan, el conocimiento </a:t>
              </a:r>
              <a:r>
                <a:rPr b="1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se evapora</a:t>
              </a:r>
              <a:r>
                <a:rPr b="0" lang="en-US" sz="28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2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A8A0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 hora de retrospectiva ahora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vale más que diez horas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reinventar la rueda en la próxima implementación.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