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10287000" cx="18288000"/>
  <p:notesSz cx="6858000" cy="9144000"/>
  <p:embeddedFontLst>
    <p:embeddedFont>
      <p:font typeface="Inter SemiBold"/>
      <p:regular r:id="rId13"/>
      <p:bold r:id="rId14"/>
      <p:italic r:id="rId15"/>
      <p:boldItalic r:id="rId16"/>
    </p:embeddedFont>
    <p:embeddedFont>
      <p:font typeface="Inter"/>
      <p:regular r:id="rId17"/>
      <p:bold r:id="rId18"/>
      <p:italic r:id="rId19"/>
      <p:boldItalic r:id="rId20"/>
    </p:embeddedFont>
    <p:embeddedFont>
      <p:font typeface="Inter ExtraBold"/>
      <p:bold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boldItalic.fntdata"/><Relationship Id="rId11" Type="http://schemas.openxmlformats.org/officeDocument/2006/relationships/slide" Target="slides/slide6.xml"/><Relationship Id="rId22" Type="http://schemas.openxmlformats.org/officeDocument/2006/relationships/font" Target="fonts/InterExtraBold-boldItalic.fntdata"/><Relationship Id="rId10" Type="http://schemas.openxmlformats.org/officeDocument/2006/relationships/slide" Target="slides/slide5.xml"/><Relationship Id="rId21" Type="http://schemas.openxmlformats.org/officeDocument/2006/relationships/font" Target="fonts/InterExtraBold-bold.fntdata"/><Relationship Id="rId13" Type="http://schemas.openxmlformats.org/officeDocument/2006/relationships/font" Target="fonts/InterSemiBold-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SemiBold-italic.fntdata"/><Relationship Id="rId14" Type="http://schemas.openxmlformats.org/officeDocument/2006/relationships/font" Target="fonts/InterSemiBold-bold.fntdata"/><Relationship Id="rId17" Type="http://schemas.openxmlformats.org/officeDocument/2006/relationships/font" Target="fonts/Inter-regular.fntdata"/><Relationship Id="rId16" Type="http://schemas.openxmlformats.org/officeDocument/2006/relationships/font" Target="fonts/InterSemiBold-boldItalic.fntdata"/><Relationship Id="rId5" Type="http://schemas.openxmlformats.org/officeDocument/2006/relationships/notesMaster" Target="notesMasters/notesMaster1.xml"/><Relationship Id="rId19" Type="http://schemas.openxmlformats.org/officeDocument/2006/relationships/font" Target="fonts/Inter-italic.fntdata"/><Relationship Id="rId6" Type="http://schemas.openxmlformats.org/officeDocument/2006/relationships/slide" Target="slides/slide1.xml"/><Relationship Id="rId18" Type="http://schemas.openxmlformats.org/officeDocument/2006/relationships/font" Target="fonts/Inter-bold.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11.2s · 28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Llegaste a Fase E. El gobierno lanzó. La plataforma está en producción y los ciudadanos están entrando. Y aquí viene la trampa: es muy fácil pensar que terminaste.</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8.0s · 20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 terminaste. Las dos semanas que siguen al go-live son las más críticas de todo el ciclo de noventa días.</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1" name="Google Shape;10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29.2s · 73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Piénsalo así. Durante las fases A, B, C y D modelaste, configuraste, capacitaste y probaste. Todo bajo condiciones controladas. En Fase E el sistema enfrenta por primera vez la realidad. Ciudadanos reales con trámites reales, operadores reales bajo presión real, y bugs que no aparecieron en testing porque nadie pensó en ese caso de uso. Si te corres ahora, el gobierno se queda solo con un sistema nuevo en su momento más frágil.</a:t>
            </a:r>
            <a:endParaRPr/>
          </a:p>
        </p:txBody>
      </p:sp>
      <p:sp>
        <p:nvSpPr>
          <p:cNvPr id="102" name="Google Shape;102;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 name="Google Shape;11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29.2s · 73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cambio de rol también es real. En Fase D tú coordinabas la operación. En Fase E el gobierno tiene que operar con autonomía en Nivel 1, tú pasas a observar y corregir, y el dueño del proyecto necesita armar la narrativa política del lanzamiento. Tres roles distintos, tres responsabilidades distintas. Si los tres no están claros desde el día uno post-lanzamiento, alguien se queda esperando a otro y los problemas se acumulan.</a:t>
            </a:r>
            <a:endParaRPr/>
          </a:p>
        </p:txBody>
      </p:sp>
      <p:sp>
        <p:nvSpPr>
          <p:cNvPr id="118" name="Google Shape;118;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10.0s · 25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foco de estas dos semanas es concreto: estabilidad, adopción, métricas, lecciones aprendidas y cierre. No es una lista cualquiera. Es el orden de prioridad.</a:t>
            </a:r>
            <a:endParaRPr/>
          </a:p>
        </p:txBody>
      </p:sp>
      <p:sp>
        <p:nvSpPr>
          <p:cNvPr id="139" name="Google Shape;139;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8.4s · 21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Primero estabilizas, después mides, después documentas, y solo después cierras. Si saltas pasos, cierras un proyecto que todavía no está cerrado.</a:t>
            </a:r>
            <a:endParaRPr/>
          </a:p>
        </p:txBody>
      </p:sp>
      <p:sp>
        <p:nvSpPr>
          <p:cNvPr id="168" name="Google Shape;16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4" name="Google Shape;194;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7.6s · 19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Fase E no es la fase de festejar. Es la fase de sostener lo que recién empieza a caminar.</a:t>
            </a:r>
            <a:endParaRPr/>
          </a:p>
        </p:txBody>
      </p:sp>
      <p:sp>
        <p:nvSpPr>
          <p:cNvPr id="195" name="Google Shape;195;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CA8A0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CA8A04"/>
                </a:solidFill>
                <a:latin typeface="Inter"/>
                <a:ea typeface="Inter"/>
                <a:cs typeface="Inter"/>
                <a:sym typeface="Inter"/>
              </a:rPr>
              <a:t>FASE E</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Por qué las dos semanas</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post-lanzamiento son críticas</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Llegaste a Fase E. El gobierno lanzó. Y aquí viene la trampa: es muy fácil pensar que terminaste.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95" name="Google Shape;95;p14"/>
          <p:cNvGrpSpPr/>
          <p:nvPr/>
        </p:nvGrpSpPr>
        <p:grpSpPr>
          <a:xfrm>
            <a:off x="1371600" y="1809750"/>
            <a:ext cx="15544800" cy="6667500"/>
            <a:chOff x="1371600" y="1809750"/>
            <a:chExt cx="15544800" cy="6667500"/>
          </a:xfrm>
        </p:grpSpPr>
        <p:sp>
          <p:nvSpPr>
            <p:cNvPr id="96" name="Google Shape;96;p14"/>
            <p:cNvSpPr/>
            <p:nvPr/>
          </p:nvSpPr>
          <p:spPr>
            <a:xfrm>
              <a:off x="1371600" y="1809750"/>
              <a:ext cx="15544800" cy="66675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7" name="Google Shape;97;p14"/>
            <p:cNvSpPr txBox="1"/>
            <p:nvPr/>
          </p:nvSpPr>
          <p:spPr>
            <a:xfrm>
              <a:off x="1371600" y="1809750"/>
              <a:ext cx="15544800" cy="6667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CA8A04"/>
                  </a:solidFill>
                  <a:latin typeface="Inter"/>
                  <a:ea typeface="Inter"/>
                  <a:cs typeface="Inter"/>
                  <a:sym typeface="Inter"/>
                </a:rPr>
                <a:t>La trampa</a:t>
              </a:r>
              <a:endParaRPr b="1" sz="2400">
                <a:solidFill>
                  <a:srgbClr val="CA8A04"/>
                </a:solidFill>
                <a:latin typeface="Inter"/>
                <a:ea typeface="Inter"/>
                <a:cs typeface="Inter"/>
                <a:sym typeface="Inter"/>
              </a:endParaRPr>
            </a:p>
            <a:p>
              <a:pPr indent="0" lvl="0" marL="0" rtl="0" algn="ctr">
                <a:spcBef>
                  <a:spcPts val="1500"/>
                </a:spcBef>
                <a:spcAft>
                  <a:spcPts val="0"/>
                </a:spcAft>
                <a:buNone/>
              </a:pPr>
              <a:r>
                <a:rPr b="0" lang="en-US" sz="9600">
                  <a:solidFill>
                    <a:srgbClr val="0A0915"/>
                  </a:solidFill>
                  <a:latin typeface="Inter ExtraBold"/>
                  <a:ea typeface="Inter ExtraBold"/>
                  <a:cs typeface="Inter ExtraBold"/>
                  <a:sym typeface="Inter ExtraBold"/>
                </a:rPr>
                <a:t>No terminaste</a:t>
              </a:r>
              <a:endParaRPr b="0" sz="9600">
                <a:solidFill>
                  <a:srgbClr val="0A0915"/>
                </a:solidFill>
                <a:latin typeface="Inter ExtraBold"/>
                <a:ea typeface="Inter ExtraBold"/>
                <a:cs typeface="Inter ExtraBold"/>
                <a:sym typeface="Inter ExtraBold"/>
              </a:endParaRPr>
            </a:p>
            <a:p>
              <a:pPr indent="0" lvl="0" marL="0" rtl="0" algn="ctr">
                <a:spcBef>
                  <a:spcPts val="4500"/>
                </a:spcBef>
                <a:spcAft>
                  <a:spcPts val="0"/>
                </a:spcAft>
                <a:buNone/>
              </a:pPr>
              <a:r>
                <a:rPr b="0" lang="en-US" sz="3200">
                  <a:solidFill>
                    <a:srgbClr val="4B5563"/>
                  </a:solidFill>
                  <a:latin typeface="Inter"/>
                  <a:ea typeface="Inter"/>
                  <a:cs typeface="Inter"/>
                  <a:sym typeface="Inter"/>
                </a:rPr>
                <a:t>Las dos semanas que siguen al </a:t>
              </a:r>
              <a:r>
                <a:rPr b="1" lang="en-US" sz="3200">
                  <a:solidFill>
                    <a:srgbClr val="0A0915"/>
                  </a:solidFill>
                  <a:latin typeface="Inter"/>
                  <a:ea typeface="Inter"/>
                  <a:cs typeface="Inter"/>
                  <a:sym typeface="Inter"/>
                </a:rPr>
                <a:t>go-live</a:t>
              </a:r>
              <a:r>
                <a:rPr b="0" lang="en-US" sz="3200">
                  <a:solidFill>
                    <a:srgbClr val="4B5563"/>
                  </a:solidFill>
                  <a:latin typeface="Inter"/>
                  <a:ea typeface="Inter"/>
                  <a:cs typeface="Inter"/>
                  <a:sym typeface="Inter"/>
                </a:rPr>
                <a:t> son las más críticas de todo el ciclo de 90 días.</a:t>
              </a:r>
              <a:endParaRPr b="0" sz="3200">
                <a:solidFill>
                  <a:srgbClr val="4B5563"/>
                </a:solidFill>
                <a:latin typeface="Inter"/>
                <a:ea typeface="Inter"/>
                <a:cs typeface="Inter"/>
                <a:sym typeface="Inter"/>
              </a:endParaRPr>
            </a:p>
          </p:txBody>
        </p:sp>
      </p:grpSp>
      <p:sp>
        <p:nvSpPr>
          <p:cNvPr id="98" name="Google Shape;98;p14"/>
          <p:cNvSpPr txBox="1"/>
          <p:nvPr/>
        </p:nvSpPr>
        <p:spPr>
          <a:xfrm>
            <a:off x="8534400" y="1069340"/>
            <a:ext cx="1219200" cy="12192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8000">
                <a:solidFill>
                  <a:srgbClr val="CA8A04"/>
                </a:solidFill>
                <a:latin typeface="Material Icons"/>
                <a:ea typeface="Material Icons"/>
                <a:cs typeface="Material Icons"/>
                <a:sym typeface="Material Icons"/>
              </a:rPr>
              <a:t></a:t>
            </a:r>
            <a:endParaRPr sz="8000">
              <a:solidFill>
                <a:srgbClr val="CA8A04"/>
              </a:solidFill>
              <a:latin typeface="Material Icons"/>
              <a:ea typeface="Material Icons"/>
              <a:cs typeface="Material Icons"/>
              <a:sym typeface="Material Icons"/>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5"/>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5" name="Google Shape;105;p15"/>
          <p:cNvSpPr txBox="1"/>
          <p:nvPr/>
        </p:nvSpPr>
        <p:spPr>
          <a:xfrm>
            <a:off x="1371600" y="762000"/>
            <a:ext cx="15544800" cy="831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0" lang="en-US" sz="5400">
                <a:solidFill>
                  <a:srgbClr val="0A0915"/>
                </a:solidFill>
                <a:latin typeface="Inter ExtraBold"/>
                <a:ea typeface="Inter ExtraBold"/>
                <a:cs typeface="Inter ExtraBold"/>
                <a:sym typeface="Inter ExtraBold"/>
              </a:rPr>
              <a:t>Fases A a D vs. </a:t>
            </a:r>
            <a:r>
              <a:rPr b="0" lang="en-US" sz="5400">
                <a:solidFill>
                  <a:srgbClr val="CA8A04"/>
                </a:solidFill>
                <a:latin typeface="Inter ExtraBold"/>
                <a:ea typeface="Inter ExtraBold"/>
                <a:cs typeface="Inter ExtraBold"/>
                <a:sym typeface="Inter ExtraBold"/>
              </a:rPr>
              <a:t>Fase E</a:t>
            </a:r>
            <a:endParaRPr b="0" sz="5400">
              <a:solidFill>
                <a:srgbClr val="0A0915"/>
              </a:solidFill>
              <a:latin typeface="Inter ExtraBold"/>
              <a:ea typeface="Inter ExtraBold"/>
              <a:cs typeface="Inter ExtraBold"/>
              <a:sym typeface="Inter ExtraBold"/>
            </a:endParaRPr>
          </a:p>
        </p:txBody>
      </p:sp>
      <p:sp>
        <p:nvSpPr>
          <p:cNvPr id="106" name="Google Shape;106;p15"/>
          <p:cNvSpPr/>
          <p:nvPr/>
        </p:nvSpPr>
        <p:spPr>
          <a:xfrm>
            <a:off x="1809750" y="2857500"/>
            <a:ext cx="6667500" cy="5238900"/>
          </a:xfrm>
          <a:prstGeom prst="roundRect">
            <a:avLst>
              <a:gd fmla="val 7272" name="adj"/>
            </a:avLst>
          </a:prstGeom>
          <a:solidFill>
            <a:srgbClr val="F3F4F6"/>
          </a:solidFill>
          <a:ln>
            <a:noFill/>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7" name="Google Shape;107;p15"/>
          <p:cNvSpPr txBox="1"/>
          <p:nvPr/>
        </p:nvSpPr>
        <p:spPr>
          <a:xfrm>
            <a:off x="2286000" y="3403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9CA3AF"/>
                </a:solidFill>
                <a:latin typeface="Material Icons"/>
                <a:ea typeface="Material Icons"/>
                <a:cs typeface="Material Icons"/>
                <a:sym typeface="Material Icons"/>
              </a:rPr>
              <a:t></a:t>
            </a:r>
            <a:endParaRPr sz="4800">
              <a:solidFill>
                <a:srgbClr val="9CA3AF"/>
              </a:solidFill>
              <a:latin typeface="Material Icons"/>
              <a:ea typeface="Material Icons"/>
              <a:cs typeface="Material Icons"/>
              <a:sym typeface="Material Icons"/>
            </a:endParaRPr>
          </a:p>
        </p:txBody>
      </p:sp>
      <p:sp>
        <p:nvSpPr>
          <p:cNvPr id="108" name="Google Shape;108;p15"/>
          <p:cNvSpPr txBox="1"/>
          <p:nvPr/>
        </p:nvSpPr>
        <p:spPr>
          <a:xfrm>
            <a:off x="2286000" y="4286250"/>
            <a:ext cx="5715000" cy="369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US" sz="2400">
                <a:solidFill>
                  <a:srgbClr val="6B7280"/>
                </a:solidFill>
                <a:latin typeface="Inter"/>
                <a:ea typeface="Inter"/>
                <a:cs typeface="Inter"/>
                <a:sym typeface="Inter"/>
              </a:rPr>
              <a:t>Fases A a D</a:t>
            </a:r>
            <a:endParaRPr b="1" sz="2400">
              <a:solidFill>
                <a:srgbClr val="6B7280"/>
              </a:solidFill>
              <a:latin typeface="Inter"/>
              <a:ea typeface="Inter"/>
              <a:cs typeface="Inter"/>
              <a:sym typeface="Inter"/>
            </a:endParaRPr>
          </a:p>
        </p:txBody>
      </p:sp>
      <p:sp>
        <p:nvSpPr>
          <p:cNvPr id="109" name="Google Shape;109;p15"/>
          <p:cNvSpPr txBox="1"/>
          <p:nvPr/>
        </p:nvSpPr>
        <p:spPr>
          <a:xfrm>
            <a:off x="2286000" y="4953000"/>
            <a:ext cx="5715000" cy="1516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3200">
                <a:solidFill>
                  <a:srgbClr val="1F2937"/>
                </a:solidFill>
                <a:latin typeface="Inter"/>
                <a:ea typeface="Inter"/>
                <a:cs typeface="Inter"/>
                <a:sym typeface="Inter"/>
              </a:rPr>
              <a:t>Modelaste, configuraste, capacitaste y probaste.</a:t>
            </a:r>
            <a:endParaRPr b="0" sz="3200">
              <a:solidFill>
                <a:srgbClr val="1F2937"/>
              </a:solidFill>
              <a:latin typeface="Inter"/>
              <a:ea typeface="Inter"/>
              <a:cs typeface="Inter"/>
              <a:sym typeface="Inter"/>
            </a:endParaRPr>
          </a:p>
          <a:p>
            <a:pPr indent="0" lvl="0" marL="0" rtl="0" algn="l">
              <a:spcBef>
                <a:spcPts val="1500"/>
              </a:spcBef>
              <a:spcAft>
                <a:spcPts val="0"/>
              </a:spcAft>
              <a:buNone/>
            </a:pPr>
            <a:r>
              <a:rPr b="0" lang="en-US" sz="2200">
                <a:solidFill>
                  <a:srgbClr val="6B7280"/>
                </a:solidFill>
                <a:latin typeface="Inter"/>
                <a:ea typeface="Inter"/>
                <a:cs typeface="Inter"/>
                <a:sym typeface="Inter"/>
              </a:rPr>
              <a:t>Todo bajo condiciones controladas.</a:t>
            </a:r>
            <a:endParaRPr b="0" sz="2200">
              <a:solidFill>
                <a:srgbClr val="6B7280"/>
              </a:solidFill>
              <a:latin typeface="Inter"/>
              <a:ea typeface="Inter"/>
              <a:cs typeface="Inter"/>
              <a:sym typeface="Inter"/>
            </a:endParaRPr>
          </a:p>
        </p:txBody>
      </p:sp>
      <p:sp>
        <p:nvSpPr>
          <p:cNvPr id="110" name="Google Shape;110;p15"/>
          <p:cNvSpPr/>
          <p:nvPr/>
        </p:nvSpPr>
        <p:spPr>
          <a:xfrm>
            <a:off x="9810750" y="2857500"/>
            <a:ext cx="6667500" cy="5238900"/>
          </a:xfrm>
          <a:prstGeom prst="roundRect">
            <a:avLst>
              <a:gd fmla="val 7272" name="adj"/>
            </a:avLst>
          </a:prstGeom>
          <a:solidFill>
            <a:srgbClr val="FFFBEB"/>
          </a:solidFill>
          <a:ln>
            <a:noFill/>
          </a:ln>
          <a:effectLst>
            <a:outerShdw blurRad="40000" rotWithShape="0" dir="5400000" dist="23000">
              <a:srgbClr val="000000">
                <a:alpha val="34901"/>
              </a:srgbClr>
            </a:outerShdw>
          </a:effectLst>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5"/>
          <p:cNvSpPr/>
          <p:nvPr/>
        </p:nvSpPr>
        <p:spPr>
          <a:xfrm>
            <a:off x="9810750" y="2857500"/>
            <a:ext cx="6667500" cy="1905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2" name="Google Shape;112;p15"/>
          <p:cNvSpPr txBox="1"/>
          <p:nvPr/>
        </p:nvSpPr>
        <p:spPr>
          <a:xfrm>
            <a:off x="10287000" y="3403854"/>
            <a:ext cx="7620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CA8A04"/>
                </a:solidFill>
                <a:latin typeface="Material Icons"/>
                <a:ea typeface="Material Icons"/>
                <a:cs typeface="Material Icons"/>
                <a:sym typeface="Material Icons"/>
              </a:rPr>
              <a:t></a:t>
            </a:r>
            <a:endParaRPr sz="4800">
              <a:solidFill>
                <a:srgbClr val="CA8A04"/>
              </a:solidFill>
              <a:latin typeface="Material Icons"/>
              <a:ea typeface="Material Icons"/>
              <a:cs typeface="Material Icons"/>
              <a:sym typeface="Material Icons"/>
            </a:endParaRPr>
          </a:p>
        </p:txBody>
      </p:sp>
      <p:sp>
        <p:nvSpPr>
          <p:cNvPr id="113" name="Google Shape;113;p15"/>
          <p:cNvSpPr txBox="1"/>
          <p:nvPr/>
        </p:nvSpPr>
        <p:spPr>
          <a:xfrm>
            <a:off x="10287000" y="4286250"/>
            <a:ext cx="5715000" cy="3693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US" sz="2400">
                <a:solidFill>
                  <a:srgbClr val="CA8A04"/>
                </a:solidFill>
                <a:latin typeface="Inter"/>
                <a:ea typeface="Inter"/>
                <a:cs typeface="Inter"/>
                <a:sym typeface="Inter"/>
              </a:rPr>
              <a:t>Fase E</a:t>
            </a:r>
            <a:endParaRPr b="1" sz="2400">
              <a:solidFill>
                <a:srgbClr val="CA8A04"/>
              </a:solidFill>
              <a:latin typeface="Inter"/>
              <a:ea typeface="Inter"/>
              <a:cs typeface="Inter"/>
              <a:sym typeface="Inter"/>
            </a:endParaRPr>
          </a:p>
        </p:txBody>
      </p:sp>
      <p:sp>
        <p:nvSpPr>
          <p:cNvPr id="114" name="Google Shape;114;p15"/>
          <p:cNvSpPr txBox="1"/>
          <p:nvPr/>
        </p:nvSpPr>
        <p:spPr>
          <a:xfrm>
            <a:off x="10287000" y="4953000"/>
            <a:ext cx="5715000" cy="15162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3200">
                <a:solidFill>
                  <a:srgbClr val="0A0915"/>
                </a:solidFill>
                <a:latin typeface="Inter"/>
                <a:ea typeface="Inter"/>
                <a:cs typeface="Inter"/>
                <a:sym typeface="Inter"/>
              </a:rPr>
              <a:t>El sistema enfrenta por primera vez la realidad.</a:t>
            </a:r>
            <a:endParaRPr b="1" sz="3200">
              <a:solidFill>
                <a:srgbClr val="0A0915"/>
              </a:solidFill>
              <a:latin typeface="Inter"/>
              <a:ea typeface="Inter"/>
              <a:cs typeface="Inter"/>
              <a:sym typeface="Inter"/>
            </a:endParaRPr>
          </a:p>
          <a:p>
            <a:pPr indent="0" lvl="0" marL="0" rtl="0" algn="l">
              <a:spcBef>
                <a:spcPts val="1500"/>
              </a:spcBef>
              <a:spcAft>
                <a:spcPts val="0"/>
              </a:spcAft>
              <a:buNone/>
            </a:pPr>
            <a:r>
              <a:rPr b="0" lang="en-US" sz="2200">
                <a:solidFill>
                  <a:srgbClr val="4B5563"/>
                </a:solidFill>
                <a:latin typeface="Inter"/>
                <a:ea typeface="Inter"/>
                <a:cs typeface="Inter"/>
                <a:sym typeface="Inter"/>
              </a:rPr>
              <a:t>Ciudadanos, operadores y bugs reales.</a:t>
            </a:r>
            <a:endParaRPr b="0" sz="2200">
              <a:solidFill>
                <a:srgbClr val="4B5563"/>
              </a:solidFill>
              <a:latin typeface="Inter"/>
              <a:ea typeface="Inter"/>
              <a:cs typeface="Inter"/>
              <a:sym typeface="Inte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6"/>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1" name="Google Shape;121;p16"/>
          <p:cNvSpPr txBox="1"/>
          <p:nvPr/>
        </p:nvSpPr>
        <p:spPr>
          <a:xfrm>
            <a:off x="1371600" y="762000"/>
            <a:ext cx="15544800" cy="12930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0" lang="en-US" sz="4800">
                <a:solidFill>
                  <a:srgbClr val="0A0915"/>
                </a:solidFill>
                <a:latin typeface="Inter ExtraBold"/>
                <a:ea typeface="Inter ExtraBold"/>
                <a:cs typeface="Inter ExtraBold"/>
                <a:sym typeface="Inter ExtraBold"/>
              </a:rPr>
              <a:t>Tres roles distintos</a:t>
            </a:r>
            <a:endParaRPr b="0" sz="4800">
              <a:solidFill>
                <a:srgbClr val="0A0915"/>
              </a:solidFill>
              <a:latin typeface="Inter ExtraBold"/>
              <a:ea typeface="Inter ExtraBold"/>
              <a:cs typeface="Inter ExtraBold"/>
              <a:sym typeface="Inter ExtraBold"/>
            </a:endParaRPr>
          </a:p>
          <a:p>
            <a:pPr indent="0" lvl="0" marL="0" rtl="0" algn="ctr">
              <a:spcBef>
                <a:spcPts val="0"/>
              </a:spcBef>
              <a:spcAft>
                <a:spcPts val="0"/>
              </a:spcAft>
              <a:buNone/>
            </a:pPr>
            <a:r>
              <a:rPr b="0" lang="en-US" sz="3600">
                <a:solidFill>
                  <a:srgbClr val="CA8A04"/>
                </a:solidFill>
                <a:latin typeface="Inter ExtraBold"/>
                <a:ea typeface="Inter ExtraBold"/>
                <a:cs typeface="Inter ExtraBold"/>
                <a:sym typeface="Inter ExtraBold"/>
              </a:rPr>
              <a:t>desde el día uno post-lanzamiento</a:t>
            </a:r>
            <a:endParaRPr b="0" sz="3600">
              <a:solidFill>
                <a:srgbClr val="CA8A04"/>
              </a:solidFill>
              <a:latin typeface="Inter ExtraBold"/>
              <a:ea typeface="Inter ExtraBold"/>
              <a:cs typeface="Inter ExtraBold"/>
              <a:sym typeface="Inter ExtraBold"/>
            </a:endParaRPr>
          </a:p>
        </p:txBody>
      </p:sp>
      <p:sp>
        <p:nvSpPr>
          <p:cNvPr id="122" name="Google Shape;122;p16"/>
          <p:cNvSpPr txBox="1"/>
          <p:nvPr/>
        </p:nvSpPr>
        <p:spPr>
          <a:xfrm>
            <a:off x="1371600" y="2286000"/>
            <a:ext cx="15544800" cy="3078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0" lang="en-US" sz="2000">
                <a:solidFill>
                  <a:srgbClr val="6B7280"/>
                </a:solidFill>
                <a:latin typeface="Inter"/>
                <a:ea typeface="Inter"/>
                <a:cs typeface="Inter"/>
                <a:sym typeface="Inter"/>
              </a:rPr>
              <a:t>Si no están claros, alguien espera a otro y los problemas se acumulan.</a:t>
            </a:r>
            <a:endParaRPr b="0" sz="2000">
              <a:solidFill>
                <a:srgbClr val="6B7280"/>
              </a:solidFill>
              <a:latin typeface="Inter"/>
              <a:ea typeface="Inter"/>
              <a:cs typeface="Inter"/>
              <a:sym typeface="Inter"/>
            </a:endParaRPr>
          </a:p>
        </p:txBody>
      </p:sp>
      <p:sp>
        <p:nvSpPr>
          <p:cNvPr id="123" name="Google Shape;123;p16"/>
          <p:cNvSpPr/>
          <p:nvPr/>
        </p:nvSpPr>
        <p:spPr>
          <a:xfrm>
            <a:off x="1143000" y="3619500"/>
            <a:ext cx="4953000" cy="4953000"/>
          </a:xfrm>
          <a:prstGeom prst="roundRect">
            <a:avLst>
              <a:gd fmla="val 7692"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4" name="Google Shape;124;p16"/>
          <p:cNvSpPr txBox="1"/>
          <p:nvPr/>
        </p:nvSpPr>
        <p:spPr>
          <a:xfrm>
            <a:off x="1619250" y="4165854"/>
            <a:ext cx="762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9CA3AF"/>
                </a:solidFill>
                <a:latin typeface="Material Icons"/>
                <a:ea typeface="Material Icons"/>
                <a:cs typeface="Material Icons"/>
                <a:sym typeface="Material Icons"/>
              </a:rPr>
              <a:t></a:t>
            </a:r>
            <a:endParaRPr sz="4800">
              <a:solidFill>
                <a:srgbClr val="9CA3AF"/>
              </a:solidFill>
              <a:latin typeface="Material Icons"/>
              <a:ea typeface="Material Icons"/>
              <a:cs typeface="Material Icons"/>
              <a:sym typeface="Material Icons"/>
            </a:endParaRPr>
          </a:p>
        </p:txBody>
      </p:sp>
      <p:sp>
        <p:nvSpPr>
          <p:cNvPr id="125" name="Google Shape;125;p16"/>
          <p:cNvSpPr txBox="1"/>
          <p:nvPr/>
        </p:nvSpPr>
        <p:spPr>
          <a:xfrm>
            <a:off x="1619250" y="4953000"/>
            <a:ext cx="4000500" cy="4311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US" sz="2800">
                <a:solidFill>
                  <a:srgbClr val="1F2937"/>
                </a:solidFill>
                <a:latin typeface="Inter"/>
                <a:ea typeface="Inter"/>
                <a:cs typeface="Inter"/>
                <a:sym typeface="Inter"/>
              </a:rPr>
              <a:t>Gobierno</a:t>
            </a:r>
            <a:endParaRPr b="1" sz="2800">
              <a:solidFill>
                <a:srgbClr val="1F2937"/>
              </a:solidFill>
              <a:latin typeface="Inter"/>
              <a:ea typeface="Inter"/>
              <a:cs typeface="Inter"/>
              <a:sym typeface="Inter"/>
            </a:endParaRPr>
          </a:p>
        </p:txBody>
      </p:sp>
      <p:sp>
        <p:nvSpPr>
          <p:cNvPr id="126" name="Google Shape;126;p16"/>
          <p:cNvSpPr txBox="1"/>
          <p:nvPr/>
        </p:nvSpPr>
        <p:spPr>
          <a:xfrm>
            <a:off x="1619250" y="5619750"/>
            <a:ext cx="4000500" cy="831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800">
                <a:solidFill>
                  <a:srgbClr val="4B5563"/>
                </a:solidFill>
                <a:latin typeface="Inter"/>
                <a:ea typeface="Inter"/>
                <a:cs typeface="Inter"/>
                <a:sym typeface="Inter"/>
              </a:rPr>
              <a:t>Opera con autonomía en Nivel 1. La operación cotidiana ya no es del partner.</a:t>
            </a:r>
            <a:endParaRPr b="0" sz="1800">
              <a:solidFill>
                <a:srgbClr val="4B5563"/>
              </a:solidFill>
              <a:latin typeface="Inter"/>
              <a:ea typeface="Inter"/>
              <a:cs typeface="Inter"/>
              <a:sym typeface="Inter"/>
            </a:endParaRPr>
          </a:p>
        </p:txBody>
      </p:sp>
      <p:sp>
        <p:nvSpPr>
          <p:cNvPr id="127" name="Google Shape;127;p16"/>
          <p:cNvSpPr/>
          <p:nvPr/>
        </p:nvSpPr>
        <p:spPr>
          <a:xfrm>
            <a:off x="6667500" y="3619500"/>
            <a:ext cx="4953000" cy="4953000"/>
          </a:xfrm>
          <a:prstGeom prst="roundRect">
            <a:avLst>
              <a:gd fmla="val 7692" name="adj"/>
            </a:avLst>
          </a:prstGeom>
          <a:solidFill>
            <a:srgbClr val="FFFB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8" name="Google Shape;128;p16"/>
          <p:cNvSpPr/>
          <p:nvPr/>
        </p:nvSpPr>
        <p:spPr>
          <a:xfrm>
            <a:off x="6667500" y="3619500"/>
            <a:ext cx="4953000" cy="1524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9" name="Google Shape;129;p16"/>
          <p:cNvSpPr txBox="1"/>
          <p:nvPr/>
        </p:nvSpPr>
        <p:spPr>
          <a:xfrm>
            <a:off x="7143750" y="4165854"/>
            <a:ext cx="762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CA8A04"/>
                </a:solidFill>
                <a:latin typeface="Material Icons"/>
                <a:ea typeface="Material Icons"/>
                <a:cs typeface="Material Icons"/>
                <a:sym typeface="Material Icons"/>
              </a:rPr>
              <a:t></a:t>
            </a:r>
            <a:endParaRPr sz="4800">
              <a:solidFill>
                <a:srgbClr val="CA8A04"/>
              </a:solidFill>
              <a:latin typeface="Material Icons"/>
              <a:ea typeface="Material Icons"/>
              <a:cs typeface="Material Icons"/>
              <a:sym typeface="Material Icons"/>
            </a:endParaRPr>
          </a:p>
        </p:txBody>
      </p:sp>
      <p:sp>
        <p:nvSpPr>
          <p:cNvPr id="130" name="Google Shape;130;p16"/>
          <p:cNvSpPr txBox="1"/>
          <p:nvPr/>
        </p:nvSpPr>
        <p:spPr>
          <a:xfrm>
            <a:off x="7143750" y="4953000"/>
            <a:ext cx="4000500" cy="4311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0" lang="en-US" sz="2800">
                <a:solidFill>
                  <a:srgbClr val="CA8A04"/>
                </a:solidFill>
                <a:latin typeface="Inter ExtraBold"/>
                <a:ea typeface="Inter ExtraBold"/>
                <a:cs typeface="Inter ExtraBold"/>
                <a:sym typeface="Inter ExtraBold"/>
              </a:rPr>
              <a:t>Partner (tú)</a:t>
            </a:r>
            <a:endParaRPr b="0" sz="2800">
              <a:solidFill>
                <a:srgbClr val="CA8A04"/>
              </a:solidFill>
              <a:latin typeface="Inter ExtraBold"/>
              <a:ea typeface="Inter ExtraBold"/>
              <a:cs typeface="Inter ExtraBold"/>
              <a:sym typeface="Inter ExtraBold"/>
            </a:endParaRPr>
          </a:p>
        </p:txBody>
      </p:sp>
      <p:sp>
        <p:nvSpPr>
          <p:cNvPr id="131" name="Google Shape;131;p16"/>
          <p:cNvSpPr txBox="1"/>
          <p:nvPr/>
        </p:nvSpPr>
        <p:spPr>
          <a:xfrm>
            <a:off x="7143750" y="5619750"/>
            <a:ext cx="4000500" cy="698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1800">
                <a:solidFill>
                  <a:srgbClr val="0A0915"/>
                </a:solidFill>
                <a:latin typeface="Inter"/>
                <a:ea typeface="Inter"/>
                <a:cs typeface="Inter"/>
                <a:sym typeface="Inter"/>
              </a:rPr>
              <a:t>Pasas a observar y corregir.</a:t>
            </a:r>
            <a:endParaRPr b="1" sz="1800">
              <a:solidFill>
                <a:srgbClr val="0A0915"/>
              </a:solidFill>
              <a:latin typeface="Inter"/>
              <a:ea typeface="Inter"/>
              <a:cs typeface="Inter"/>
              <a:sym typeface="Inter"/>
            </a:endParaRPr>
          </a:p>
          <a:p>
            <a:pPr indent="0" lvl="0" marL="0" rtl="0" algn="l">
              <a:spcBef>
                <a:spcPts val="1125"/>
              </a:spcBef>
              <a:spcAft>
                <a:spcPts val="0"/>
              </a:spcAft>
              <a:buNone/>
            </a:pPr>
            <a:r>
              <a:rPr b="0" lang="en-US" sz="1800">
                <a:solidFill>
                  <a:srgbClr val="4B5563"/>
                </a:solidFill>
                <a:latin typeface="Inter"/>
                <a:ea typeface="Inter"/>
                <a:cs typeface="Inter"/>
                <a:sym typeface="Inter"/>
              </a:rPr>
              <a:t>Coordinabas; ahora acompañas.</a:t>
            </a:r>
            <a:endParaRPr b="0" sz="1800">
              <a:solidFill>
                <a:srgbClr val="4B5563"/>
              </a:solidFill>
              <a:latin typeface="Inter"/>
              <a:ea typeface="Inter"/>
              <a:cs typeface="Inter"/>
              <a:sym typeface="Inter"/>
            </a:endParaRPr>
          </a:p>
        </p:txBody>
      </p:sp>
      <p:sp>
        <p:nvSpPr>
          <p:cNvPr id="132" name="Google Shape;132;p16"/>
          <p:cNvSpPr/>
          <p:nvPr/>
        </p:nvSpPr>
        <p:spPr>
          <a:xfrm>
            <a:off x="12192000" y="3619500"/>
            <a:ext cx="4953000" cy="4953000"/>
          </a:xfrm>
          <a:prstGeom prst="roundRect">
            <a:avLst>
              <a:gd fmla="val 7692"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3" name="Google Shape;133;p16"/>
          <p:cNvSpPr txBox="1"/>
          <p:nvPr/>
        </p:nvSpPr>
        <p:spPr>
          <a:xfrm>
            <a:off x="12668250" y="4165854"/>
            <a:ext cx="762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ctr">
              <a:spcBef>
                <a:spcPts val="0"/>
              </a:spcBef>
              <a:spcAft>
                <a:spcPts val="0"/>
              </a:spcAft>
              <a:buNone/>
            </a:pPr>
            <a:r>
              <a:rPr lang="en-US" sz="4800">
                <a:solidFill>
                  <a:srgbClr val="9CA3AF"/>
                </a:solidFill>
                <a:latin typeface="Material Icons"/>
                <a:ea typeface="Material Icons"/>
                <a:cs typeface="Material Icons"/>
                <a:sym typeface="Material Icons"/>
              </a:rPr>
              <a:t></a:t>
            </a:r>
            <a:endParaRPr sz="4800">
              <a:solidFill>
                <a:srgbClr val="9CA3AF"/>
              </a:solidFill>
              <a:latin typeface="Material Icons"/>
              <a:ea typeface="Material Icons"/>
              <a:cs typeface="Material Icons"/>
              <a:sym typeface="Material Icons"/>
            </a:endParaRPr>
          </a:p>
        </p:txBody>
      </p:sp>
      <p:sp>
        <p:nvSpPr>
          <p:cNvPr id="134" name="Google Shape;134;p16"/>
          <p:cNvSpPr txBox="1"/>
          <p:nvPr/>
        </p:nvSpPr>
        <p:spPr>
          <a:xfrm>
            <a:off x="12668250" y="4953000"/>
            <a:ext cx="4000500" cy="4311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n-US" sz="2800">
                <a:solidFill>
                  <a:srgbClr val="1F2937"/>
                </a:solidFill>
                <a:latin typeface="Inter"/>
                <a:ea typeface="Inter"/>
                <a:cs typeface="Inter"/>
                <a:sym typeface="Inter"/>
              </a:rPr>
              <a:t>Dueño del proyecto</a:t>
            </a:r>
            <a:endParaRPr b="1" sz="2800">
              <a:solidFill>
                <a:srgbClr val="1F2937"/>
              </a:solidFill>
              <a:latin typeface="Inter"/>
              <a:ea typeface="Inter"/>
              <a:cs typeface="Inter"/>
              <a:sym typeface="Inter"/>
            </a:endParaRPr>
          </a:p>
        </p:txBody>
      </p:sp>
      <p:sp>
        <p:nvSpPr>
          <p:cNvPr id="135" name="Google Shape;135;p16"/>
          <p:cNvSpPr txBox="1"/>
          <p:nvPr/>
        </p:nvSpPr>
        <p:spPr>
          <a:xfrm>
            <a:off x="12668250" y="5619750"/>
            <a:ext cx="4000500" cy="831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800">
                <a:solidFill>
                  <a:srgbClr val="4B5563"/>
                </a:solidFill>
                <a:latin typeface="Inter"/>
                <a:ea typeface="Inter"/>
                <a:cs typeface="Inter"/>
                <a:sym typeface="Inter"/>
              </a:rPr>
              <a:t>Arma la narrativa política del lanzamiento frente a su jefe y a la prensa.</a:t>
            </a:r>
            <a:endParaRPr b="0" sz="1800">
              <a:solidFill>
                <a:srgbClr val="4B5563"/>
              </a:solidFill>
              <a:latin typeface="Inter"/>
              <a:ea typeface="Inter"/>
              <a:cs typeface="Inter"/>
              <a:sym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7"/>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2" name="Google Shape;142;p17"/>
          <p:cNvSpPr txBox="1"/>
          <p:nvPr/>
        </p:nvSpPr>
        <p:spPr>
          <a:xfrm>
            <a:off x="1371600" y="762000"/>
            <a:ext cx="15544800" cy="13854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0" lang="en-US" sz="5400">
                <a:solidFill>
                  <a:srgbClr val="0A0915"/>
                </a:solidFill>
                <a:latin typeface="Inter ExtraBold"/>
                <a:ea typeface="Inter ExtraBold"/>
                <a:cs typeface="Inter ExtraBold"/>
                <a:sym typeface="Inter ExtraBold"/>
              </a:rPr>
              <a:t>El foco de estas dos semanas</a:t>
            </a:r>
            <a:endParaRPr b="0" sz="5400">
              <a:solidFill>
                <a:srgbClr val="0A0915"/>
              </a:solidFill>
              <a:latin typeface="Inter ExtraBold"/>
              <a:ea typeface="Inter ExtraBold"/>
              <a:cs typeface="Inter ExtraBold"/>
              <a:sym typeface="Inter ExtraBold"/>
            </a:endParaRPr>
          </a:p>
          <a:p>
            <a:pPr indent="0" lvl="0" marL="0" rtl="0" algn="ctr">
              <a:spcBef>
                <a:spcPts val="0"/>
              </a:spcBef>
              <a:spcAft>
                <a:spcPts val="0"/>
              </a:spcAft>
              <a:buNone/>
            </a:pPr>
            <a:r>
              <a:rPr b="0" lang="en-US" sz="3600">
                <a:solidFill>
                  <a:srgbClr val="CA8A04"/>
                </a:solidFill>
                <a:latin typeface="Inter ExtraBold"/>
                <a:ea typeface="Inter ExtraBold"/>
                <a:cs typeface="Inter ExtraBold"/>
                <a:sym typeface="Inter ExtraBold"/>
              </a:rPr>
              <a:t>es concreto y tiene orden</a:t>
            </a:r>
            <a:endParaRPr b="0" sz="3600">
              <a:solidFill>
                <a:srgbClr val="CA8A04"/>
              </a:solidFill>
              <a:latin typeface="Inter ExtraBold"/>
              <a:ea typeface="Inter ExtraBold"/>
              <a:cs typeface="Inter ExtraBold"/>
              <a:sym typeface="Inter ExtraBold"/>
            </a:endParaRPr>
          </a:p>
        </p:txBody>
      </p:sp>
      <p:grpSp>
        <p:nvGrpSpPr>
          <p:cNvPr id="143" name="Google Shape;143;p17"/>
          <p:cNvGrpSpPr/>
          <p:nvPr/>
        </p:nvGrpSpPr>
        <p:grpSpPr>
          <a:xfrm>
            <a:off x="1371600" y="3048000"/>
            <a:ext cx="3048000" cy="4000500"/>
            <a:chOff x="1371600" y="3048000"/>
            <a:chExt cx="3048000" cy="4000500"/>
          </a:xfrm>
        </p:grpSpPr>
        <p:sp>
          <p:nvSpPr>
            <p:cNvPr id="144" name="Google Shape;144;p17"/>
            <p:cNvSpPr/>
            <p:nvPr/>
          </p:nvSpPr>
          <p:spPr>
            <a:xfrm>
              <a:off x="1371600" y="3048000"/>
              <a:ext cx="3048000" cy="4000500"/>
            </a:xfrm>
            <a:prstGeom prst="roundRect">
              <a:avLst>
                <a:gd fmla="val 7500" name="adj"/>
              </a:avLst>
            </a:prstGeom>
            <a:solidFill>
              <a:srgbClr val="FFFBE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5" name="Google Shape;145;p17"/>
            <p:cNvSpPr/>
            <p:nvPr/>
          </p:nvSpPr>
          <p:spPr>
            <a:xfrm>
              <a:off x="1371600" y="3048000"/>
              <a:ext cx="30480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6" name="Google Shape;146;p17"/>
            <p:cNvSpPr txBox="1"/>
            <p:nvPr/>
          </p:nvSpPr>
          <p:spPr>
            <a:xfrm>
              <a:off x="1562100" y="3392170"/>
              <a:ext cx="2667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CA8A04"/>
                  </a:solidFill>
                  <a:latin typeface="Material Icons"/>
                  <a:ea typeface="Material Icons"/>
                  <a:cs typeface="Material Icons"/>
                  <a:sym typeface="Material Icons"/>
                </a:rPr>
                <a:t></a:t>
              </a:r>
              <a:endParaRPr sz="3700">
                <a:solidFill>
                  <a:srgbClr val="CA8A04"/>
                </a:solidFill>
                <a:latin typeface="Material Icons"/>
                <a:ea typeface="Material Icons"/>
                <a:cs typeface="Material Icons"/>
                <a:sym typeface="Material Icons"/>
              </a:endParaRPr>
            </a:p>
          </p:txBody>
        </p:sp>
        <p:sp>
          <p:nvSpPr>
            <p:cNvPr id="147" name="Google Shape;147;p17"/>
            <p:cNvSpPr txBox="1"/>
            <p:nvPr/>
          </p:nvSpPr>
          <p:spPr>
            <a:xfrm>
              <a:off x="1562100" y="4000500"/>
              <a:ext cx="2667000" cy="2857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400">
                  <a:solidFill>
                    <a:srgbClr val="CA8A04"/>
                  </a:solidFill>
                  <a:latin typeface="Inter ExtraBold"/>
                  <a:ea typeface="Inter ExtraBold"/>
                  <a:cs typeface="Inter ExtraBold"/>
                  <a:sym typeface="Inter ExtraBold"/>
                </a:rPr>
                <a:t>1. Estabilidad</a:t>
              </a:r>
              <a:endParaRPr b="0" sz="2400">
                <a:solidFill>
                  <a:srgbClr val="CA8A04"/>
                </a:solidFill>
                <a:latin typeface="Inter ExtraBold"/>
                <a:ea typeface="Inter ExtraBold"/>
                <a:cs typeface="Inter ExtraBold"/>
                <a:sym typeface="Inter ExtraBold"/>
              </a:endParaRPr>
            </a:p>
            <a:p>
              <a:pPr indent="0" lvl="0" marL="0" rtl="0" algn="l">
                <a:spcBef>
                  <a:spcPts val="750"/>
                </a:spcBef>
                <a:spcAft>
                  <a:spcPts val="0"/>
                </a:spcAft>
                <a:buNone/>
              </a:pPr>
              <a:r>
                <a:rPr b="0" lang="en-US" sz="1800">
                  <a:solidFill>
                    <a:srgbClr val="0A0915"/>
                  </a:solidFill>
                  <a:latin typeface="Inter"/>
                  <a:ea typeface="Inter"/>
                  <a:cs typeface="Inter"/>
                  <a:sym typeface="Inter"/>
                </a:rPr>
                <a:t>Primero que el sistema se sostenga.</a:t>
              </a:r>
              <a:endParaRPr b="0" sz="1800">
                <a:solidFill>
                  <a:srgbClr val="0A0915"/>
                </a:solidFill>
                <a:latin typeface="Inter"/>
                <a:ea typeface="Inter"/>
                <a:cs typeface="Inter"/>
                <a:sym typeface="Inter"/>
              </a:endParaRPr>
            </a:p>
          </p:txBody>
        </p:sp>
      </p:grpSp>
      <p:grpSp>
        <p:nvGrpSpPr>
          <p:cNvPr id="148" name="Google Shape;148;p17"/>
          <p:cNvGrpSpPr/>
          <p:nvPr/>
        </p:nvGrpSpPr>
        <p:grpSpPr>
          <a:xfrm>
            <a:off x="4572000" y="3048000"/>
            <a:ext cx="3048000" cy="4000500"/>
            <a:chOff x="4572000" y="3048000"/>
            <a:chExt cx="3048000" cy="4000500"/>
          </a:xfrm>
        </p:grpSpPr>
        <p:sp>
          <p:nvSpPr>
            <p:cNvPr id="149" name="Google Shape;149;p17"/>
            <p:cNvSpPr/>
            <p:nvPr/>
          </p:nvSpPr>
          <p:spPr>
            <a:xfrm>
              <a:off x="4572000" y="3048000"/>
              <a:ext cx="3048000" cy="4000500"/>
            </a:xfrm>
            <a:prstGeom prst="roundRect">
              <a:avLst>
                <a:gd fmla="val 7500"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0" name="Google Shape;150;p17"/>
            <p:cNvSpPr txBox="1"/>
            <p:nvPr/>
          </p:nvSpPr>
          <p:spPr>
            <a:xfrm>
              <a:off x="4762500" y="3392170"/>
              <a:ext cx="2667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9CA3AF"/>
                  </a:solidFill>
                  <a:latin typeface="Material Icons"/>
                  <a:ea typeface="Material Icons"/>
                  <a:cs typeface="Material Icons"/>
                  <a:sym typeface="Material Icons"/>
                </a:rPr>
                <a:t></a:t>
              </a:r>
              <a:endParaRPr sz="3700">
                <a:solidFill>
                  <a:srgbClr val="9CA3AF"/>
                </a:solidFill>
                <a:latin typeface="Material Icons"/>
                <a:ea typeface="Material Icons"/>
                <a:cs typeface="Material Icons"/>
                <a:sym typeface="Material Icons"/>
              </a:endParaRPr>
            </a:p>
          </p:txBody>
        </p:sp>
        <p:sp>
          <p:nvSpPr>
            <p:cNvPr id="151" name="Google Shape;151;p17"/>
            <p:cNvSpPr txBox="1"/>
            <p:nvPr/>
          </p:nvSpPr>
          <p:spPr>
            <a:xfrm>
              <a:off x="4762500" y="4000500"/>
              <a:ext cx="2667000" cy="2857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400">
                  <a:solidFill>
                    <a:srgbClr val="1F2937"/>
                  </a:solidFill>
                  <a:latin typeface="Inter ExtraBold"/>
                  <a:ea typeface="Inter ExtraBold"/>
                  <a:cs typeface="Inter ExtraBold"/>
                  <a:sym typeface="Inter ExtraBold"/>
                </a:rPr>
                <a:t>2. Adopción</a:t>
              </a:r>
              <a:endParaRPr b="0" sz="2400">
                <a:solidFill>
                  <a:srgbClr val="1F2937"/>
                </a:solidFill>
                <a:latin typeface="Inter ExtraBold"/>
                <a:ea typeface="Inter ExtraBold"/>
                <a:cs typeface="Inter ExtraBold"/>
                <a:sym typeface="Inter ExtraBold"/>
              </a:endParaRPr>
            </a:p>
            <a:p>
              <a:pPr indent="0" lvl="0" marL="0" rtl="0" algn="l">
                <a:spcBef>
                  <a:spcPts val="750"/>
                </a:spcBef>
                <a:spcAft>
                  <a:spcPts val="0"/>
                </a:spcAft>
                <a:buNone/>
              </a:pPr>
              <a:r>
                <a:rPr b="0" lang="en-US" sz="1800">
                  <a:solidFill>
                    <a:srgbClr val="4B5563"/>
                  </a:solidFill>
                  <a:latin typeface="Inter"/>
                  <a:ea typeface="Inter"/>
                  <a:cs typeface="Inter"/>
                  <a:sym typeface="Inter"/>
                </a:rPr>
                <a:t>Después confirmas que la gente lo usa.</a:t>
              </a:r>
              <a:endParaRPr b="0" sz="1800">
                <a:solidFill>
                  <a:srgbClr val="4B5563"/>
                </a:solidFill>
                <a:latin typeface="Inter"/>
                <a:ea typeface="Inter"/>
                <a:cs typeface="Inter"/>
                <a:sym typeface="Inter"/>
              </a:endParaRPr>
            </a:p>
          </p:txBody>
        </p:sp>
      </p:grpSp>
      <p:grpSp>
        <p:nvGrpSpPr>
          <p:cNvPr id="152" name="Google Shape;152;p17"/>
          <p:cNvGrpSpPr/>
          <p:nvPr/>
        </p:nvGrpSpPr>
        <p:grpSpPr>
          <a:xfrm>
            <a:off x="7772400" y="3048000"/>
            <a:ext cx="3048000" cy="4000500"/>
            <a:chOff x="7772400" y="3048000"/>
            <a:chExt cx="3048000" cy="4000500"/>
          </a:xfrm>
        </p:grpSpPr>
        <p:sp>
          <p:nvSpPr>
            <p:cNvPr id="153" name="Google Shape;153;p17"/>
            <p:cNvSpPr/>
            <p:nvPr/>
          </p:nvSpPr>
          <p:spPr>
            <a:xfrm>
              <a:off x="7772400" y="3048000"/>
              <a:ext cx="3048000" cy="4000500"/>
            </a:xfrm>
            <a:prstGeom prst="roundRect">
              <a:avLst>
                <a:gd fmla="val 7500"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4" name="Google Shape;154;p17"/>
            <p:cNvSpPr txBox="1"/>
            <p:nvPr/>
          </p:nvSpPr>
          <p:spPr>
            <a:xfrm>
              <a:off x="7962900" y="3392170"/>
              <a:ext cx="2667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9CA3AF"/>
                  </a:solidFill>
                  <a:latin typeface="Material Icons"/>
                  <a:ea typeface="Material Icons"/>
                  <a:cs typeface="Material Icons"/>
                  <a:sym typeface="Material Icons"/>
                </a:rPr>
                <a:t></a:t>
              </a:r>
              <a:endParaRPr sz="3700">
                <a:solidFill>
                  <a:srgbClr val="9CA3AF"/>
                </a:solidFill>
                <a:latin typeface="Material Icons"/>
                <a:ea typeface="Material Icons"/>
                <a:cs typeface="Material Icons"/>
                <a:sym typeface="Material Icons"/>
              </a:endParaRPr>
            </a:p>
          </p:txBody>
        </p:sp>
        <p:sp>
          <p:nvSpPr>
            <p:cNvPr id="155" name="Google Shape;155;p17"/>
            <p:cNvSpPr txBox="1"/>
            <p:nvPr/>
          </p:nvSpPr>
          <p:spPr>
            <a:xfrm>
              <a:off x="7962900" y="4000500"/>
              <a:ext cx="2667000" cy="2857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400">
                  <a:solidFill>
                    <a:srgbClr val="1F2937"/>
                  </a:solidFill>
                  <a:latin typeface="Inter ExtraBold"/>
                  <a:ea typeface="Inter ExtraBold"/>
                  <a:cs typeface="Inter ExtraBold"/>
                  <a:sym typeface="Inter ExtraBold"/>
                </a:rPr>
                <a:t>3. Métricas</a:t>
              </a:r>
              <a:endParaRPr b="0" sz="2400">
                <a:solidFill>
                  <a:srgbClr val="1F2937"/>
                </a:solidFill>
                <a:latin typeface="Inter ExtraBold"/>
                <a:ea typeface="Inter ExtraBold"/>
                <a:cs typeface="Inter ExtraBold"/>
                <a:sym typeface="Inter ExtraBold"/>
              </a:endParaRPr>
            </a:p>
            <a:p>
              <a:pPr indent="0" lvl="0" marL="0" rtl="0" algn="l">
                <a:spcBef>
                  <a:spcPts val="750"/>
                </a:spcBef>
                <a:spcAft>
                  <a:spcPts val="0"/>
                </a:spcAft>
                <a:buNone/>
              </a:pPr>
              <a:r>
                <a:rPr b="0" lang="en-US" sz="1800">
                  <a:solidFill>
                    <a:srgbClr val="4B5563"/>
                  </a:solidFill>
                  <a:latin typeface="Inter"/>
                  <a:ea typeface="Inter"/>
                  <a:cs typeface="Inter"/>
                  <a:sym typeface="Inter"/>
                </a:rPr>
                <a:t>Después mides y reportas resultados.</a:t>
              </a:r>
              <a:endParaRPr b="0" sz="1800">
                <a:solidFill>
                  <a:srgbClr val="4B5563"/>
                </a:solidFill>
                <a:latin typeface="Inter"/>
                <a:ea typeface="Inter"/>
                <a:cs typeface="Inter"/>
                <a:sym typeface="Inter"/>
              </a:endParaRPr>
            </a:p>
          </p:txBody>
        </p:sp>
      </p:grpSp>
      <p:grpSp>
        <p:nvGrpSpPr>
          <p:cNvPr id="156" name="Google Shape;156;p17"/>
          <p:cNvGrpSpPr/>
          <p:nvPr/>
        </p:nvGrpSpPr>
        <p:grpSpPr>
          <a:xfrm>
            <a:off x="10972800" y="3048000"/>
            <a:ext cx="3048000" cy="4000500"/>
            <a:chOff x="10972800" y="3048000"/>
            <a:chExt cx="3048000" cy="4000500"/>
          </a:xfrm>
        </p:grpSpPr>
        <p:sp>
          <p:nvSpPr>
            <p:cNvPr id="157" name="Google Shape;157;p17"/>
            <p:cNvSpPr/>
            <p:nvPr/>
          </p:nvSpPr>
          <p:spPr>
            <a:xfrm>
              <a:off x="10972800" y="3048000"/>
              <a:ext cx="3048000" cy="4000500"/>
            </a:xfrm>
            <a:prstGeom prst="roundRect">
              <a:avLst>
                <a:gd fmla="val 7500"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8" name="Google Shape;158;p17"/>
            <p:cNvSpPr txBox="1"/>
            <p:nvPr/>
          </p:nvSpPr>
          <p:spPr>
            <a:xfrm>
              <a:off x="11163300" y="3392170"/>
              <a:ext cx="2667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9CA3AF"/>
                  </a:solidFill>
                  <a:latin typeface="Material Icons"/>
                  <a:ea typeface="Material Icons"/>
                  <a:cs typeface="Material Icons"/>
                  <a:sym typeface="Material Icons"/>
                </a:rPr>
                <a:t></a:t>
              </a:r>
              <a:endParaRPr sz="3700">
                <a:solidFill>
                  <a:srgbClr val="9CA3AF"/>
                </a:solidFill>
                <a:latin typeface="Material Icons"/>
                <a:ea typeface="Material Icons"/>
                <a:cs typeface="Material Icons"/>
                <a:sym typeface="Material Icons"/>
              </a:endParaRPr>
            </a:p>
          </p:txBody>
        </p:sp>
        <p:sp>
          <p:nvSpPr>
            <p:cNvPr id="159" name="Google Shape;159;p17"/>
            <p:cNvSpPr txBox="1"/>
            <p:nvPr/>
          </p:nvSpPr>
          <p:spPr>
            <a:xfrm>
              <a:off x="11163300" y="4000500"/>
              <a:ext cx="2667000" cy="2857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400">
                  <a:solidFill>
                    <a:srgbClr val="1F2937"/>
                  </a:solidFill>
                  <a:latin typeface="Inter ExtraBold"/>
                  <a:ea typeface="Inter ExtraBold"/>
                  <a:cs typeface="Inter ExtraBold"/>
                  <a:sym typeface="Inter ExtraBold"/>
                </a:rPr>
                <a:t>4. Lecciones</a:t>
              </a:r>
              <a:endParaRPr b="0" sz="2400">
                <a:solidFill>
                  <a:srgbClr val="1F2937"/>
                </a:solidFill>
                <a:latin typeface="Inter ExtraBold"/>
                <a:ea typeface="Inter ExtraBold"/>
                <a:cs typeface="Inter ExtraBold"/>
                <a:sym typeface="Inter ExtraBold"/>
              </a:endParaRPr>
            </a:p>
            <a:p>
              <a:pPr indent="0" lvl="0" marL="0" rtl="0" algn="l">
                <a:spcBef>
                  <a:spcPts val="750"/>
                </a:spcBef>
                <a:spcAft>
                  <a:spcPts val="0"/>
                </a:spcAft>
                <a:buNone/>
              </a:pPr>
              <a:r>
                <a:rPr b="0" lang="en-US" sz="1800">
                  <a:solidFill>
                    <a:srgbClr val="4B5563"/>
                  </a:solidFill>
                  <a:latin typeface="Inter"/>
                  <a:ea typeface="Inter"/>
                  <a:cs typeface="Inter"/>
                  <a:sym typeface="Inter"/>
                </a:rPr>
                <a:t>Documentas todo lo que pasó.</a:t>
              </a:r>
              <a:endParaRPr b="0" sz="1800">
                <a:solidFill>
                  <a:srgbClr val="4B5563"/>
                </a:solidFill>
                <a:latin typeface="Inter"/>
                <a:ea typeface="Inter"/>
                <a:cs typeface="Inter"/>
                <a:sym typeface="Inter"/>
              </a:endParaRPr>
            </a:p>
          </p:txBody>
        </p:sp>
      </p:grpSp>
      <p:grpSp>
        <p:nvGrpSpPr>
          <p:cNvPr id="160" name="Google Shape;160;p17"/>
          <p:cNvGrpSpPr/>
          <p:nvPr/>
        </p:nvGrpSpPr>
        <p:grpSpPr>
          <a:xfrm>
            <a:off x="14173200" y="3048000"/>
            <a:ext cx="3048000" cy="4000500"/>
            <a:chOff x="14173200" y="3048000"/>
            <a:chExt cx="3048000" cy="4000500"/>
          </a:xfrm>
        </p:grpSpPr>
        <p:sp>
          <p:nvSpPr>
            <p:cNvPr id="161" name="Google Shape;161;p17"/>
            <p:cNvSpPr/>
            <p:nvPr/>
          </p:nvSpPr>
          <p:spPr>
            <a:xfrm>
              <a:off x="14173200" y="3048000"/>
              <a:ext cx="3048000" cy="4000500"/>
            </a:xfrm>
            <a:prstGeom prst="roundRect">
              <a:avLst>
                <a:gd fmla="val 7500"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2" name="Google Shape;162;p17"/>
            <p:cNvSpPr txBox="1"/>
            <p:nvPr/>
          </p:nvSpPr>
          <p:spPr>
            <a:xfrm>
              <a:off x="14363700" y="3392170"/>
              <a:ext cx="2667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9CA3AF"/>
                  </a:solidFill>
                  <a:latin typeface="Material Icons"/>
                  <a:ea typeface="Material Icons"/>
                  <a:cs typeface="Material Icons"/>
                  <a:sym typeface="Material Icons"/>
                </a:rPr>
                <a:t></a:t>
              </a:r>
              <a:endParaRPr sz="3700">
                <a:solidFill>
                  <a:srgbClr val="9CA3AF"/>
                </a:solidFill>
                <a:latin typeface="Material Icons"/>
                <a:ea typeface="Material Icons"/>
                <a:cs typeface="Material Icons"/>
                <a:sym typeface="Material Icons"/>
              </a:endParaRPr>
            </a:p>
          </p:txBody>
        </p:sp>
        <p:sp>
          <p:nvSpPr>
            <p:cNvPr id="163" name="Google Shape;163;p17"/>
            <p:cNvSpPr txBox="1"/>
            <p:nvPr/>
          </p:nvSpPr>
          <p:spPr>
            <a:xfrm>
              <a:off x="14363700" y="4000500"/>
              <a:ext cx="2667000" cy="2857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2400">
                  <a:solidFill>
                    <a:srgbClr val="1F2937"/>
                  </a:solidFill>
                  <a:latin typeface="Inter ExtraBold"/>
                  <a:ea typeface="Inter ExtraBold"/>
                  <a:cs typeface="Inter ExtraBold"/>
                  <a:sym typeface="Inter ExtraBold"/>
                </a:rPr>
                <a:t>5. Cierre</a:t>
              </a:r>
              <a:endParaRPr b="0" sz="2400">
                <a:solidFill>
                  <a:srgbClr val="1F2937"/>
                </a:solidFill>
                <a:latin typeface="Inter ExtraBold"/>
                <a:ea typeface="Inter ExtraBold"/>
                <a:cs typeface="Inter ExtraBold"/>
                <a:sym typeface="Inter ExtraBold"/>
              </a:endParaRPr>
            </a:p>
            <a:p>
              <a:pPr indent="0" lvl="0" marL="0" rtl="0" algn="l">
                <a:spcBef>
                  <a:spcPts val="750"/>
                </a:spcBef>
                <a:spcAft>
                  <a:spcPts val="0"/>
                </a:spcAft>
                <a:buNone/>
              </a:pPr>
              <a:r>
                <a:rPr b="0" lang="en-US" sz="1800">
                  <a:solidFill>
                    <a:srgbClr val="4B5563"/>
                  </a:solidFill>
                  <a:latin typeface="Inter"/>
                  <a:ea typeface="Inter"/>
                  <a:cs typeface="Inter"/>
                  <a:sym typeface="Inter"/>
                </a:rPr>
                <a:t>Y solo después cierras el ciclo.</a:t>
              </a:r>
              <a:endParaRPr b="0" sz="1800">
                <a:solidFill>
                  <a:srgbClr val="4B5563"/>
                </a:solidFill>
                <a:latin typeface="Inter"/>
                <a:ea typeface="Inter"/>
                <a:cs typeface="Inter"/>
                <a:sym typeface="Inter"/>
              </a:endParaRPr>
            </a:p>
          </p:txBody>
        </p:sp>
      </p:grpSp>
      <p:sp>
        <p:nvSpPr>
          <p:cNvPr id="164" name="Google Shape;164;p17"/>
          <p:cNvSpPr txBox="1"/>
          <p:nvPr/>
        </p:nvSpPr>
        <p:spPr>
          <a:xfrm>
            <a:off x="1371600" y="7620000"/>
            <a:ext cx="15544800" cy="952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000">
                <a:solidFill>
                  <a:srgbClr val="6B7280"/>
                </a:solidFill>
                <a:latin typeface="Inter"/>
                <a:ea typeface="Inter"/>
                <a:cs typeface="Inter"/>
                <a:sym typeface="Inter"/>
              </a:rPr>
              <a:t>Sigue el orden: si saltas pasos, el cierre no será sólido.</a:t>
            </a:r>
            <a:endParaRPr b="0" sz="2000">
              <a:solidFill>
                <a:srgbClr val="6B7280"/>
              </a:solidFill>
              <a:latin typeface="Inter"/>
              <a:ea typeface="Inter"/>
              <a:cs typeface="Inter"/>
              <a:sym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18"/>
          <p:cNvSpPr/>
          <p:nvPr/>
        </p:nvSpPr>
        <p:spPr>
          <a:xfrm>
            <a:off x="0" y="0"/>
            <a:ext cx="18288000" cy="228600"/>
          </a:xfrm>
          <a:prstGeom prst="rect">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171" name="Google Shape;171;p18"/>
          <p:cNvGrpSpPr/>
          <p:nvPr/>
        </p:nvGrpSpPr>
        <p:grpSpPr>
          <a:xfrm>
            <a:off x="1371600" y="762000"/>
            <a:ext cx="15544800" cy="2095650"/>
            <a:chOff x="1371600" y="762000"/>
            <a:chExt cx="15544800" cy="2095650"/>
          </a:xfrm>
        </p:grpSpPr>
        <p:sp>
          <p:nvSpPr>
            <p:cNvPr id="172" name="Google Shape;172;p18"/>
            <p:cNvSpPr txBox="1"/>
            <p:nvPr/>
          </p:nvSpPr>
          <p:spPr>
            <a:xfrm>
              <a:off x="1371600" y="762000"/>
              <a:ext cx="155448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000">
                  <a:solidFill>
                    <a:srgbClr val="CA8A04"/>
                  </a:solidFill>
                  <a:latin typeface="Inter"/>
                  <a:ea typeface="Inter"/>
                  <a:cs typeface="Inter"/>
                  <a:sym typeface="Inter"/>
                </a:rPr>
                <a:t>La regla de oro</a:t>
              </a:r>
              <a:endParaRPr b="1" sz="2000">
                <a:solidFill>
                  <a:srgbClr val="CA8A04"/>
                </a:solidFill>
                <a:latin typeface="Inter"/>
                <a:ea typeface="Inter"/>
                <a:cs typeface="Inter"/>
                <a:sym typeface="Inter"/>
              </a:endParaRPr>
            </a:p>
          </p:txBody>
        </p:sp>
        <p:sp>
          <p:nvSpPr>
            <p:cNvPr id="173" name="Google Shape;173;p18"/>
            <p:cNvSpPr txBox="1"/>
            <p:nvPr/>
          </p:nvSpPr>
          <p:spPr>
            <a:xfrm>
              <a:off x="1371600" y="1428750"/>
              <a:ext cx="15544800" cy="1428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4590">
                  <a:solidFill>
                    <a:srgbClr val="0A0915"/>
                  </a:solidFill>
                  <a:latin typeface="Inter ExtraBold"/>
                  <a:ea typeface="Inter ExtraBold"/>
                  <a:cs typeface="Inter ExtraBold"/>
                  <a:sym typeface="Inter ExtraBold"/>
                </a:rPr>
                <a:t>Si saltas pasos, cierras un proyecto</a:t>
              </a:r>
              <a:endParaRPr b="0" sz="4590">
                <a:solidFill>
                  <a:srgbClr val="0A0915"/>
                </a:solidFill>
                <a:latin typeface="Inter ExtraBold"/>
                <a:ea typeface="Inter ExtraBold"/>
                <a:cs typeface="Inter ExtraBold"/>
                <a:sym typeface="Inter ExtraBold"/>
              </a:endParaRPr>
            </a:p>
            <a:p>
              <a:pPr indent="0" lvl="0" marL="0" rtl="0" algn="ctr">
                <a:spcBef>
                  <a:spcPts val="0"/>
                </a:spcBef>
                <a:spcAft>
                  <a:spcPts val="0"/>
                </a:spcAft>
                <a:buNone/>
              </a:pPr>
              <a:r>
                <a:rPr b="0" lang="en-US" sz="4590">
                  <a:solidFill>
                    <a:srgbClr val="CA8A04"/>
                  </a:solidFill>
                  <a:latin typeface="Inter ExtraBold"/>
                  <a:ea typeface="Inter ExtraBold"/>
                  <a:cs typeface="Inter ExtraBold"/>
                  <a:sym typeface="Inter ExtraBold"/>
                </a:rPr>
                <a:t>que todavía no está cerrado</a:t>
              </a:r>
              <a:endParaRPr b="0" sz="4590">
                <a:solidFill>
                  <a:srgbClr val="CA8A04"/>
                </a:solidFill>
                <a:latin typeface="Inter ExtraBold"/>
                <a:ea typeface="Inter ExtraBold"/>
                <a:cs typeface="Inter ExtraBold"/>
                <a:sym typeface="Inter ExtraBold"/>
              </a:endParaRPr>
            </a:p>
          </p:txBody>
        </p:sp>
      </p:grpSp>
      <p:grpSp>
        <p:nvGrpSpPr>
          <p:cNvPr id="174" name="Google Shape;174;p18"/>
          <p:cNvGrpSpPr/>
          <p:nvPr/>
        </p:nvGrpSpPr>
        <p:grpSpPr>
          <a:xfrm>
            <a:off x="1371600" y="3619500"/>
            <a:ext cx="3543300" cy="4000500"/>
            <a:chOff x="1371600" y="3619500"/>
            <a:chExt cx="3543300" cy="4000500"/>
          </a:xfrm>
        </p:grpSpPr>
        <p:sp>
          <p:nvSpPr>
            <p:cNvPr id="175" name="Google Shape;175;p18"/>
            <p:cNvSpPr/>
            <p:nvPr/>
          </p:nvSpPr>
          <p:spPr>
            <a:xfrm>
              <a:off x="1371600" y="3619500"/>
              <a:ext cx="3543300" cy="4000500"/>
            </a:xfrm>
            <a:prstGeom prst="roundRect">
              <a:avLst>
                <a:gd fmla="val 6451"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6" name="Google Shape;176;p18"/>
            <p:cNvSpPr txBox="1"/>
            <p:nvPr/>
          </p:nvSpPr>
          <p:spPr>
            <a:xfrm>
              <a:off x="1562100" y="3963670"/>
              <a:ext cx="31623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9CA3AF"/>
                  </a:solidFill>
                  <a:latin typeface="Material Icons"/>
                  <a:ea typeface="Material Icons"/>
                  <a:cs typeface="Material Icons"/>
                  <a:sym typeface="Material Icons"/>
                </a:rPr>
                <a:t></a:t>
              </a:r>
              <a:endParaRPr sz="3700">
                <a:solidFill>
                  <a:srgbClr val="9CA3AF"/>
                </a:solidFill>
                <a:latin typeface="Material Icons"/>
                <a:ea typeface="Material Icons"/>
                <a:cs typeface="Material Icons"/>
                <a:sym typeface="Material Icons"/>
              </a:endParaRPr>
            </a:p>
          </p:txBody>
        </p:sp>
        <p:sp>
          <p:nvSpPr>
            <p:cNvPr id="177" name="Google Shape;177;p18"/>
            <p:cNvSpPr txBox="1"/>
            <p:nvPr/>
          </p:nvSpPr>
          <p:spPr>
            <a:xfrm>
              <a:off x="1562100" y="4667250"/>
              <a:ext cx="3162300" cy="2476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US" sz="1800">
                  <a:solidFill>
                    <a:srgbClr val="1F2937"/>
                  </a:solidFill>
                  <a:latin typeface="Inter"/>
                  <a:ea typeface="Inter"/>
                  <a:cs typeface="Inter"/>
                  <a:sym typeface="Inter"/>
                </a:rPr>
                <a:t>1. Estabilizas</a:t>
              </a:r>
              <a:endParaRPr b="1" sz="1800">
                <a:solidFill>
                  <a:srgbClr val="1F2937"/>
                </a:solidFill>
                <a:latin typeface="Inter"/>
                <a:ea typeface="Inter"/>
                <a:cs typeface="Inter"/>
                <a:sym typeface="Inter"/>
              </a:endParaRPr>
            </a:p>
            <a:p>
              <a:pPr indent="0" lvl="0" marL="0" rtl="0" algn="ctr">
                <a:spcBef>
                  <a:spcPts val="750"/>
                </a:spcBef>
                <a:spcAft>
                  <a:spcPts val="0"/>
                </a:spcAft>
                <a:buNone/>
              </a:pPr>
              <a:r>
                <a:rPr b="0" lang="en-US" sz="1400">
                  <a:solidFill>
                    <a:srgbClr val="4B5563"/>
                  </a:solidFill>
                  <a:latin typeface="Inter"/>
                  <a:ea typeface="Inter"/>
                  <a:cs typeface="Inter"/>
                  <a:sym typeface="Inter"/>
                </a:rPr>
                <a:t>Aseguras que el sistema sea sólido y confiable antes de avanzar.</a:t>
              </a:r>
              <a:endParaRPr b="0" sz="1400">
                <a:solidFill>
                  <a:srgbClr val="4B5563"/>
                </a:solidFill>
                <a:latin typeface="Inter"/>
                <a:ea typeface="Inter"/>
                <a:cs typeface="Inter"/>
                <a:sym typeface="Inter"/>
              </a:endParaRPr>
            </a:p>
          </p:txBody>
        </p:sp>
      </p:grpSp>
      <p:grpSp>
        <p:nvGrpSpPr>
          <p:cNvPr id="178" name="Google Shape;178;p18"/>
          <p:cNvGrpSpPr/>
          <p:nvPr/>
        </p:nvGrpSpPr>
        <p:grpSpPr>
          <a:xfrm>
            <a:off x="5372100" y="3619500"/>
            <a:ext cx="3543300" cy="4000500"/>
            <a:chOff x="5372100" y="3619500"/>
            <a:chExt cx="3543300" cy="4000500"/>
          </a:xfrm>
        </p:grpSpPr>
        <p:sp>
          <p:nvSpPr>
            <p:cNvPr id="179" name="Google Shape;179;p18"/>
            <p:cNvSpPr/>
            <p:nvPr/>
          </p:nvSpPr>
          <p:spPr>
            <a:xfrm>
              <a:off x="5372100" y="3619500"/>
              <a:ext cx="3543300" cy="4000500"/>
            </a:xfrm>
            <a:prstGeom prst="roundRect">
              <a:avLst>
                <a:gd fmla="val 6451"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0" name="Google Shape;180;p18"/>
            <p:cNvSpPr txBox="1"/>
            <p:nvPr/>
          </p:nvSpPr>
          <p:spPr>
            <a:xfrm>
              <a:off x="5562600" y="3963670"/>
              <a:ext cx="31623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9CA3AF"/>
                  </a:solidFill>
                  <a:latin typeface="Material Icons"/>
                  <a:ea typeface="Material Icons"/>
                  <a:cs typeface="Material Icons"/>
                  <a:sym typeface="Material Icons"/>
                </a:rPr>
                <a:t></a:t>
              </a:r>
              <a:endParaRPr sz="3700">
                <a:solidFill>
                  <a:srgbClr val="9CA3AF"/>
                </a:solidFill>
                <a:latin typeface="Material Icons"/>
                <a:ea typeface="Material Icons"/>
                <a:cs typeface="Material Icons"/>
                <a:sym typeface="Material Icons"/>
              </a:endParaRPr>
            </a:p>
          </p:txBody>
        </p:sp>
        <p:sp>
          <p:nvSpPr>
            <p:cNvPr id="181" name="Google Shape;181;p18"/>
            <p:cNvSpPr txBox="1"/>
            <p:nvPr/>
          </p:nvSpPr>
          <p:spPr>
            <a:xfrm>
              <a:off x="5562600" y="4667250"/>
              <a:ext cx="3162300" cy="2476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US" sz="1800">
                  <a:solidFill>
                    <a:srgbClr val="1F2937"/>
                  </a:solidFill>
                  <a:latin typeface="Inter"/>
                  <a:ea typeface="Inter"/>
                  <a:cs typeface="Inter"/>
                  <a:sym typeface="Inter"/>
                </a:rPr>
                <a:t>2. Mides</a:t>
              </a:r>
              <a:endParaRPr b="1" sz="1800">
                <a:solidFill>
                  <a:srgbClr val="1F2937"/>
                </a:solidFill>
                <a:latin typeface="Inter"/>
                <a:ea typeface="Inter"/>
                <a:cs typeface="Inter"/>
                <a:sym typeface="Inter"/>
              </a:endParaRPr>
            </a:p>
            <a:p>
              <a:pPr indent="0" lvl="0" marL="0" rtl="0" algn="ctr">
                <a:spcBef>
                  <a:spcPts val="750"/>
                </a:spcBef>
                <a:spcAft>
                  <a:spcPts val="0"/>
                </a:spcAft>
                <a:buNone/>
              </a:pPr>
              <a:r>
                <a:rPr b="0" lang="en-US" sz="1400">
                  <a:solidFill>
                    <a:srgbClr val="4B5563"/>
                  </a:solidFill>
                  <a:latin typeface="Inter"/>
                  <a:ea typeface="Inter"/>
                  <a:cs typeface="Inter"/>
                  <a:sym typeface="Inter"/>
                </a:rPr>
                <a:t>Cuantificas el uso real y el impacto para validar la adopción.</a:t>
              </a:r>
              <a:endParaRPr b="0" sz="1400">
                <a:solidFill>
                  <a:srgbClr val="4B5563"/>
                </a:solidFill>
                <a:latin typeface="Inter"/>
                <a:ea typeface="Inter"/>
                <a:cs typeface="Inter"/>
                <a:sym typeface="Inter"/>
              </a:endParaRPr>
            </a:p>
          </p:txBody>
        </p:sp>
      </p:grpSp>
      <p:grpSp>
        <p:nvGrpSpPr>
          <p:cNvPr id="182" name="Google Shape;182;p18"/>
          <p:cNvGrpSpPr/>
          <p:nvPr/>
        </p:nvGrpSpPr>
        <p:grpSpPr>
          <a:xfrm>
            <a:off x="9372600" y="3619500"/>
            <a:ext cx="3543300" cy="4000500"/>
            <a:chOff x="9372600" y="3619500"/>
            <a:chExt cx="3543300" cy="4000500"/>
          </a:xfrm>
        </p:grpSpPr>
        <p:sp>
          <p:nvSpPr>
            <p:cNvPr id="183" name="Google Shape;183;p18"/>
            <p:cNvSpPr/>
            <p:nvPr/>
          </p:nvSpPr>
          <p:spPr>
            <a:xfrm>
              <a:off x="9372600" y="3619500"/>
              <a:ext cx="3543300" cy="4000500"/>
            </a:xfrm>
            <a:prstGeom prst="roundRect">
              <a:avLst>
                <a:gd fmla="val 6451" name="adj"/>
              </a:avLst>
            </a:prstGeom>
            <a:solidFill>
              <a:srgbClr val="F3F4F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4" name="Google Shape;184;p18"/>
            <p:cNvSpPr txBox="1"/>
            <p:nvPr/>
          </p:nvSpPr>
          <p:spPr>
            <a:xfrm>
              <a:off x="9563100" y="3963670"/>
              <a:ext cx="31623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9CA3AF"/>
                  </a:solidFill>
                  <a:latin typeface="Material Icons"/>
                  <a:ea typeface="Material Icons"/>
                  <a:cs typeface="Material Icons"/>
                  <a:sym typeface="Material Icons"/>
                </a:rPr>
                <a:t></a:t>
              </a:r>
              <a:endParaRPr sz="3700">
                <a:solidFill>
                  <a:srgbClr val="9CA3AF"/>
                </a:solidFill>
                <a:latin typeface="Material Icons"/>
                <a:ea typeface="Material Icons"/>
                <a:cs typeface="Material Icons"/>
                <a:sym typeface="Material Icons"/>
              </a:endParaRPr>
            </a:p>
          </p:txBody>
        </p:sp>
        <p:sp>
          <p:nvSpPr>
            <p:cNvPr id="185" name="Google Shape;185;p18"/>
            <p:cNvSpPr txBox="1"/>
            <p:nvPr/>
          </p:nvSpPr>
          <p:spPr>
            <a:xfrm>
              <a:off x="9563100" y="4667250"/>
              <a:ext cx="3162300" cy="2476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1" lang="en-US" sz="1800">
                  <a:solidFill>
                    <a:srgbClr val="1F2937"/>
                  </a:solidFill>
                  <a:latin typeface="Inter"/>
                  <a:ea typeface="Inter"/>
                  <a:cs typeface="Inter"/>
                  <a:sym typeface="Inter"/>
                </a:rPr>
                <a:t>3. Documentas</a:t>
              </a:r>
              <a:endParaRPr b="1" sz="1800">
                <a:solidFill>
                  <a:srgbClr val="1F2937"/>
                </a:solidFill>
                <a:latin typeface="Inter"/>
                <a:ea typeface="Inter"/>
                <a:cs typeface="Inter"/>
                <a:sym typeface="Inter"/>
              </a:endParaRPr>
            </a:p>
            <a:p>
              <a:pPr indent="0" lvl="0" marL="0" rtl="0" algn="ctr">
                <a:spcBef>
                  <a:spcPts val="750"/>
                </a:spcBef>
                <a:spcAft>
                  <a:spcPts val="0"/>
                </a:spcAft>
                <a:buNone/>
              </a:pPr>
              <a:r>
                <a:rPr b="0" lang="en-US" sz="1400">
                  <a:solidFill>
                    <a:srgbClr val="4B5563"/>
                  </a:solidFill>
                  <a:latin typeface="Inter"/>
                  <a:ea typeface="Inter"/>
                  <a:cs typeface="Inter"/>
                  <a:sym typeface="Inter"/>
                </a:rPr>
                <a:t>Transformas la experiencia en lecciones aprendidas y manuales.</a:t>
              </a:r>
              <a:endParaRPr b="0" sz="1400">
                <a:solidFill>
                  <a:srgbClr val="4B5563"/>
                </a:solidFill>
                <a:latin typeface="Inter"/>
                <a:ea typeface="Inter"/>
                <a:cs typeface="Inter"/>
                <a:sym typeface="Inter"/>
              </a:endParaRPr>
            </a:p>
          </p:txBody>
        </p:sp>
      </p:grpSp>
      <p:grpSp>
        <p:nvGrpSpPr>
          <p:cNvPr id="186" name="Google Shape;186;p18"/>
          <p:cNvGrpSpPr/>
          <p:nvPr/>
        </p:nvGrpSpPr>
        <p:grpSpPr>
          <a:xfrm>
            <a:off x="13373100" y="3619500"/>
            <a:ext cx="3543300" cy="4000500"/>
            <a:chOff x="13373100" y="3619500"/>
            <a:chExt cx="3543300" cy="4000500"/>
          </a:xfrm>
        </p:grpSpPr>
        <p:sp>
          <p:nvSpPr>
            <p:cNvPr id="187" name="Google Shape;187;p18"/>
            <p:cNvSpPr/>
            <p:nvPr/>
          </p:nvSpPr>
          <p:spPr>
            <a:xfrm>
              <a:off x="13373100" y="3619500"/>
              <a:ext cx="3543300" cy="4000500"/>
            </a:xfrm>
            <a:prstGeom prst="roundRect">
              <a:avLst>
                <a:gd fmla="val 6451" name="adj"/>
              </a:avLst>
            </a:prstGeom>
            <a:solidFill>
              <a:srgbClr val="FFFBEB"/>
            </a:solidFill>
            <a:ln cap="flat" cmpd="sng" w="19050">
              <a:solidFill>
                <a:srgbClr val="CA8A04"/>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8" name="Google Shape;188;p18"/>
            <p:cNvSpPr/>
            <p:nvPr/>
          </p:nvSpPr>
          <p:spPr>
            <a:xfrm>
              <a:off x="13373100" y="3619500"/>
              <a:ext cx="3543300" cy="114300"/>
            </a:xfrm>
            <a:prstGeom prst="roundRect">
              <a:avLst>
                <a:gd fmla="val 50000" name="adj"/>
              </a:avLst>
            </a:prstGeom>
            <a:solidFill>
              <a:srgbClr val="CA8A0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9" name="Google Shape;189;p18"/>
            <p:cNvSpPr txBox="1"/>
            <p:nvPr/>
          </p:nvSpPr>
          <p:spPr>
            <a:xfrm>
              <a:off x="13563600" y="3963670"/>
              <a:ext cx="31623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US" sz="3700">
                  <a:solidFill>
                    <a:srgbClr val="CA8A04"/>
                  </a:solidFill>
                  <a:latin typeface="Material Icons"/>
                  <a:ea typeface="Material Icons"/>
                  <a:cs typeface="Material Icons"/>
                  <a:sym typeface="Material Icons"/>
                </a:rPr>
                <a:t></a:t>
              </a:r>
              <a:endParaRPr sz="3700">
                <a:solidFill>
                  <a:srgbClr val="CA8A04"/>
                </a:solidFill>
                <a:latin typeface="Material Icons"/>
                <a:ea typeface="Material Icons"/>
                <a:cs typeface="Material Icons"/>
                <a:sym typeface="Material Icons"/>
              </a:endParaRPr>
            </a:p>
          </p:txBody>
        </p:sp>
        <p:sp>
          <p:nvSpPr>
            <p:cNvPr id="190" name="Google Shape;190;p18"/>
            <p:cNvSpPr txBox="1"/>
            <p:nvPr/>
          </p:nvSpPr>
          <p:spPr>
            <a:xfrm>
              <a:off x="13563600" y="4667250"/>
              <a:ext cx="3162300" cy="2476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800">
                  <a:solidFill>
                    <a:srgbClr val="CA8A04"/>
                  </a:solidFill>
                  <a:latin typeface="Inter ExtraBold"/>
                  <a:ea typeface="Inter ExtraBold"/>
                  <a:cs typeface="Inter ExtraBold"/>
                  <a:sym typeface="Inter ExtraBold"/>
                </a:rPr>
                <a:t>4. Cierras</a:t>
              </a:r>
              <a:endParaRPr b="0" sz="1800">
                <a:solidFill>
                  <a:srgbClr val="CA8A04"/>
                </a:solidFill>
                <a:latin typeface="Inter ExtraBold"/>
                <a:ea typeface="Inter ExtraBold"/>
                <a:cs typeface="Inter ExtraBold"/>
                <a:sym typeface="Inter ExtraBold"/>
              </a:endParaRPr>
            </a:p>
            <a:p>
              <a:pPr indent="0" lvl="0" marL="0" rtl="0" algn="ctr">
                <a:spcBef>
                  <a:spcPts val="750"/>
                </a:spcBef>
                <a:spcAft>
                  <a:spcPts val="0"/>
                </a:spcAft>
                <a:buNone/>
              </a:pPr>
              <a:r>
                <a:rPr b="0" lang="en-US" sz="1400">
                  <a:solidFill>
                    <a:srgbClr val="0A0915"/>
                  </a:solidFill>
                  <a:latin typeface="Inter SemiBold"/>
                  <a:ea typeface="Inter SemiBold"/>
                  <a:cs typeface="Inter SemiBold"/>
                  <a:sym typeface="Inter SemiBold"/>
                </a:rPr>
                <a:t>Solo después de cumplir lo anterior, el ciclo se considera finalizado.</a:t>
              </a:r>
              <a:endParaRPr b="0" sz="1400">
                <a:solidFill>
                  <a:srgbClr val="0A0915"/>
                </a:solidFill>
                <a:latin typeface="Inter SemiBold"/>
                <a:ea typeface="Inter SemiBold"/>
                <a:cs typeface="Inter SemiBold"/>
                <a:sym typeface="Inter SemiBold"/>
              </a:endParaRPr>
            </a:p>
          </p:txBody>
        </p:sp>
      </p:grpSp>
      <p:sp>
        <p:nvSpPr>
          <p:cNvPr id="191" name="Google Shape;191;p18"/>
          <p:cNvSpPr txBox="1"/>
          <p:nvPr/>
        </p:nvSpPr>
        <p:spPr>
          <a:xfrm>
            <a:off x="1371600" y="8382000"/>
            <a:ext cx="15544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2200">
                <a:solidFill>
                  <a:srgbClr val="6B7280"/>
                </a:solidFill>
                <a:latin typeface="Inter"/>
                <a:ea typeface="Inter"/>
                <a:cs typeface="Inter"/>
                <a:sym typeface="Inter"/>
              </a:rPr>
              <a:t>Respetar la secuencia garantiza un cierre sólido y sin deudas técnicas.</a:t>
            </a:r>
            <a:endParaRPr b="0" sz="2200">
              <a:solidFill>
                <a:srgbClr val="6B7280"/>
              </a:solidFill>
              <a:latin typeface="Inter"/>
              <a:ea typeface="Inter"/>
              <a:cs typeface="Inter"/>
              <a:sym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19"/>
          <p:cNvSpPr/>
          <p:nvPr/>
        </p:nvSpPr>
        <p:spPr>
          <a:xfrm>
            <a:off x="0" y="0"/>
            <a:ext cx="18288000" cy="10287000"/>
          </a:xfrm>
          <a:prstGeom prst="rect">
            <a:avLst/>
          </a:prstGeom>
          <a:solidFill>
            <a:srgbClr val="CA8A0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 name="Google Shape;198;p19"/>
          <p:cNvSpPr txBox="1"/>
          <p:nvPr/>
        </p:nvSpPr>
        <p:spPr>
          <a:xfrm>
            <a:off x="1371600" y="3200400"/>
            <a:ext cx="15544800" cy="6465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Fase E no es la fase de festejar</a:t>
            </a:r>
            <a:endParaRPr/>
          </a:p>
        </p:txBody>
      </p:sp>
      <p:sp>
        <p:nvSpPr>
          <p:cNvPr id="199" name="Google Shape;199;p19"/>
          <p:cNvSpPr txBox="1"/>
          <p:nvPr/>
        </p:nvSpPr>
        <p:spPr>
          <a:xfrm>
            <a:off x="1371600" y="4754880"/>
            <a:ext cx="15544800" cy="22860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Es la fase de sostener</a:t>
            </a:r>
            <a:endParaRPr/>
          </a:p>
        </p:txBody>
      </p:sp>
      <p:sp>
        <p:nvSpPr>
          <p:cNvPr id="200" name="Google Shape;200;p19"/>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lo que recién empieza a caminar.</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