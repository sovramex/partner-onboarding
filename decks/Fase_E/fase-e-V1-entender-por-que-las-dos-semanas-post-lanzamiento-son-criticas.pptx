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11.2s · 28 palabras]</a:t>
            </a:r>
          </a:p>
          <a:p/>
          <a:p>
            <a:r>
              <a:t>Llegaste a Fase E. El gobierno lanzó. La plataforma está en producción y los ciudadanos están entrando. Y aquí viene la trampa: es muy fácil pensar que terminaste.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8.0s · 20 palabras]</a:t>
            </a:r>
          </a:p>
          <a:p/>
          <a:p>
            <a:r>
              <a:t>No terminaste. Las dos semanas que siguen al go-live son las más críticas de todo el ciclo de noventa días.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29.2s · 73 palabras]</a:t>
            </a:r>
          </a:p>
          <a:p/>
          <a:p>
            <a:r>
              <a:t>Piénsalo así. Durante las fases A, B, C y D modelaste, configuraste, capacitaste y probaste. Todo bajo condiciones controladas. En Fase E el sistema enfrenta por primera vez la realidad. Ciudadanos reales con trámites reales, operadores reales bajo presión real, y bugs que no aparecieron en testing porque nadie pensó en ese caso de uso. Si te corres ahora, el gobierno se queda solo con un sistema nuevo en su momento más frágil.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29.2s · 73 palabras]</a:t>
            </a:r>
          </a:p>
          <a:p/>
          <a:p>
            <a:r>
              <a:t>El cambio de rol también es real. En Fase D tú coordinabas la operación. En Fase E el gobierno tiene que operar con autonomía en Nivel 1, tú pasas a observar y corregir, y el dueño del proyecto necesita armar la narrativa política del lanzamiento. Tres roles distintos, tres responsabilidades distintas. Si los tres no están claros desde el día uno post-lanzamiento, alguien se queda esperando a otro y los problemas se acumulan.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10.0s · 25 palabras]</a:t>
            </a:r>
          </a:p>
          <a:p/>
          <a:p>
            <a:r>
              <a:t>El foco de estas dos semanas es concreto: estabilidad, adopción, métricas, lecciones aprendidas y cierre. No es una lista cualquiera. Es el orden de prioridad.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8.4s · 21 palabras]</a:t>
            </a:r>
          </a:p>
          <a:p/>
          <a:p>
            <a:r>
              <a:t>Primero estabilizas, después mides, después documentas, y solo después cierras. Si saltas pasos, cierras un proyecto que todavía no está cerrado.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7.6s · 19 palabras]</a:t>
            </a:r>
          </a:p>
          <a:p/>
          <a:p>
            <a:r>
              <a:t>Fase E no es la fase de festejar. Es la fase de sostener lo que recién empieza a caminar.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CA8A04"/>
                </a:solidFill>
                <a:latin typeface="Figtree"/>
              </a:rPr>
              <a:t>FASE E</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Por qué las dos semanas</a:t>
            </a:r>
          </a:p>
          <a:p>
            <a:pPr algn="l">
              <a:lnSpc>
                <a:spcPct val="110000"/>
              </a:lnSpc>
            </a:pPr>
            <a:r>
              <a:rPr sz="8000" b="1" i="0">
                <a:solidFill>
                  <a:srgbClr val="0A0915"/>
                </a:solidFill>
                <a:latin typeface="Plus Jakarta Sans"/>
              </a:rPr>
              <a:t>post-lanzamiento son críticas.</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Llegaste a Fase E. El gobierno lanzó. Y aquí viene la trampa: es muy fácil pensar que terminaste.</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CA8A04"/>
                </a:solidFill>
                <a:latin typeface="Figtree"/>
              </a:rPr>
              <a:t>La trampa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No terminaste.</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Las dos semanas que siguen al go-live son las más críticas de todo el ciclo de 90 días.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2286000"/>
          </a:xfrm>
          <a:prstGeom prst="rect">
            <a:avLst/>
          </a:prstGeom>
          <a:noFill/>
        </p:spPr>
        <p:txBody>
          <a:bodyPr wrap="square" anchor="t" lIns="0" rIns="0" tIns="0" bIns="0">
            <a:spAutoFit/>
          </a:bodyPr>
          <a:lstStyle/>
          <a:p>
            <a:pPr algn="ctr">
              <a:lnSpc>
                <a:spcPct val="115000"/>
              </a:lnSpc>
            </a:pPr>
            <a:r>
              <a:rPr sz="4400" b="1" i="0">
                <a:solidFill>
                  <a:srgbClr val="0A0915"/>
                </a:solidFill>
                <a:latin typeface="Plus Jakarta Sans"/>
              </a:rPr>
              <a:t>Fases A a D vs Fase E.</a:t>
            </a:r>
          </a:p>
        </p:txBody>
      </p:sp>
      <p:sp>
        <p:nvSpPr>
          <p:cNvPr id="3" name="Rounded Rectangle 2"/>
          <p:cNvSpPr/>
          <p:nvPr/>
        </p:nvSpPr>
        <p:spPr>
          <a:xfrm>
            <a:off x="1828800" y="4572000"/>
            <a:ext cx="6400800" cy="4114800"/>
          </a:xfrm>
          <a:prstGeom prst="round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5029200"/>
            <a:ext cx="5486400" cy="731520"/>
          </a:xfrm>
          <a:prstGeom prst="rect">
            <a:avLst/>
          </a:prstGeom>
          <a:noFill/>
        </p:spPr>
        <p:txBody>
          <a:bodyPr wrap="square" anchor="t" lIns="0" rIns="0" tIns="0" bIns="0">
            <a:spAutoFit/>
          </a:bodyPr>
          <a:lstStyle/>
          <a:p>
            <a:pPr algn="l">
              <a:lnSpc>
                <a:spcPct val="115000"/>
              </a:lnSpc>
            </a:pPr>
            <a:r>
              <a:rPr sz="1800" b="1" i="0">
                <a:solidFill>
                  <a:srgbClr val="888888"/>
                </a:solidFill>
                <a:latin typeface="Figtree"/>
              </a:rPr>
              <a:t>Fases A a D</a:t>
            </a:r>
          </a:p>
        </p:txBody>
      </p:sp>
      <p:sp>
        <p:nvSpPr>
          <p:cNvPr id="5" name="TextBox 4"/>
          <p:cNvSpPr txBox="1"/>
          <p:nvPr/>
        </p:nvSpPr>
        <p:spPr>
          <a:xfrm>
            <a:off x="2286000" y="6035040"/>
            <a:ext cx="5486400" cy="2286000"/>
          </a:xfrm>
          <a:prstGeom prst="rect">
            <a:avLst/>
          </a:prstGeom>
          <a:noFill/>
        </p:spPr>
        <p:txBody>
          <a:bodyPr wrap="square" anchor="t" lIns="0" rIns="0" tIns="0" bIns="0">
            <a:spAutoFit/>
          </a:bodyPr>
          <a:lstStyle/>
          <a:p>
            <a:pPr algn="l">
              <a:lnSpc>
                <a:spcPct val="130000"/>
              </a:lnSpc>
            </a:pPr>
            <a:r>
              <a:rPr sz="2800" b="0" i="0">
                <a:solidFill>
                  <a:srgbClr val="0A0915"/>
                </a:solidFill>
                <a:latin typeface="Plus Jakarta Sans"/>
              </a:rPr>
              <a:t>Modelaste, configuraste, capacitaste y probaste.</a:t>
            </a:r>
          </a:p>
          <a:p>
            <a:pPr algn="l">
              <a:lnSpc>
                <a:spcPct val="130000"/>
              </a:lnSpc>
            </a:pPr>
            <a:r>
              <a:rPr sz="2800" b="0" i="0">
                <a:solidFill>
                  <a:srgbClr val="0A0915"/>
                </a:solidFill>
                <a:latin typeface="Plus Jakarta Sans"/>
              </a:rPr>
              <a:t>Todo bajo condiciones controladas.</a:t>
            </a:r>
          </a:p>
        </p:txBody>
      </p:sp>
      <p:sp>
        <p:nvSpPr>
          <p:cNvPr id="6" name="Rounded Rectangle 5"/>
          <p:cNvSpPr/>
          <p:nvPr/>
        </p:nvSpPr>
        <p:spPr>
          <a:xfrm>
            <a:off x="10058400" y="4572000"/>
            <a:ext cx="6400800" cy="4114800"/>
          </a:xfrm>
          <a:prstGeom prst="round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5029200"/>
            <a:ext cx="5486400" cy="731520"/>
          </a:xfrm>
          <a:prstGeom prst="rect">
            <a:avLst/>
          </a:prstGeom>
          <a:noFill/>
        </p:spPr>
        <p:txBody>
          <a:bodyPr wrap="square" anchor="t" lIns="0" rIns="0" tIns="0" bIns="0">
            <a:spAutoFit/>
          </a:bodyPr>
          <a:lstStyle/>
          <a:p>
            <a:pPr algn="l">
              <a:lnSpc>
                <a:spcPct val="115000"/>
              </a:lnSpc>
            </a:pPr>
            <a:r>
              <a:rPr sz="1800" b="1" i="0">
                <a:solidFill>
                  <a:srgbClr val="FFFFFF"/>
                </a:solidFill>
                <a:latin typeface="Figtree"/>
              </a:rPr>
              <a:t>Fase E</a:t>
            </a:r>
          </a:p>
        </p:txBody>
      </p:sp>
      <p:sp>
        <p:nvSpPr>
          <p:cNvPr id="8" name="TextBox 7"/>
          <p:cNvSpPr txBox="1"/>
          <p:nvPr/>
        </p:nvSpPr>
        <p:spPr>
          <a:xfrm>
            <a:off x="10515600" y="6035040"/>
            <a:ext cx="5486400" cy="2286000"/>
          </a:xfrm>
          <a:prstGeom prst="rect">
            <a:avLst/>
          </a:prstGeom>
          <a:noFill/>
        </p:spPr>
        <p:txBody>
          <a:bodyPr wrap="square" anchor="t" lIns="0" rIns="0" tIns="0" bIns="0">
            <a:spAutoFit/>
          </a:bodyPr>
          <a:lstStyle/>
          <a:p>
            <a:pPr algn="l">
              <a:lnSpc>
                <a:spcPct val="130000"/>
              </a:lnSpc>
            </a:pPr>
            <a:r>
              <a:rPr sz="2800" b="0" i="0">
                <a:solidFill>
                  <a:srgbClr val="FFFFFF"/>
                </a:solidFill>
                <a:latin typeface="Plus Jakarta Sans"/>
              </a:rPr>
              <a:t>El sistema enfrenta por primera vez la realidad.</a:t>
            </a:r>
          </a:p>
          <a:p>
            <a:pPr algn="l">
              <a:lnSpc>
                <a:spcPct val="130000"/>
              </a:lnSpc>
            </a:pPr>
            <a:r>
              <a:rPr sz="2800" b="0" i="0">
                <a:solidFill>
                  <a:srgbClr val="FFFFFF"/>
                </a:solidFill>
                <a:latin typeface="Plus Jakarta Sans"/>
              </a:rPr>
              <a:t>Ciudadanos, operadores y bugs reales.</a:t>
            </a:r>
          </a:p>
        </p:txBody>
      </p:sp>
      <p:sp>
        <p:nvSpPr>
          <p:cNvPr id="9" name="TextBox 8"/>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097280"/>
            <a:ext cx="15544800" cy="1371600"/>
          </a:xfrm>
          <a:prstGeom prst="rect">
            <a:avLst/>
          </a:prstGeom>
          <a:noFill/>
        </p:spPr>
        <p:txBody>
          <a:bodyPr wrap="square" anchor="t" lIns="0" rIns="0" tIns="0" bIns="0">
            <a:spAutoFit/>
          </a:bodyPr>
          <a:lstStyle/>
          <a:p>
            <a:pPr algn="ctr">
              <a:lnSpc>
                <a:spcPct val="115000"/>
              </a:lnSpc>
            </a:pPr>
            <a:r>
              <a:rPr sz="4400" b="1" i="0">
                <a:solidFill>
                  <a:srgbClr val="0A0915"/>
                </a:solidFill>
                <a:latin typeface="Plus Jakarta Sans"/>
              </a:rPr>
              <a:t>Tres roles distintos</a:t>
            </a:r>
          </a:p>
          <a:p>
            <a:pPr algn="ctr">
              <a:lnSpc>
                <a:spcPct val="115000"/>
              </a:lnSpc>
            </a:pPr>
            <a:r>
              <a:rPr sz="4400" b="1" i="0">
                <a:solidFill>
                  <a:srgbClr val="0A0915"/>
                </a:solidFill>
                <a:latin typeface="Plus Jakarta Sans"/>
              </a:rPr>
              <a:t>desde el día uno post-lanzamiento.</a:t>
            </a:r>
          </a:p>
        </p:txBody>
      </p:sp>
      <p:sp>
        <p:nvSpPr>
          <p:cNvPr id="3" name="TextBox 2"/>
          <p:cNvSpPr txBox="1"/>
          <p:nvPr/>
        </p:nvSpPr>
        <p:spPr>
          <a:xfrm>
            <a:off x="1371600" y="2560320"/>
            <a:ext cx="15544800" cy="731520"/>
          </a:xfrm>
          <a:prstGeom prst="rect">
            <a:avLst/>
          </a:prstGeom>
          <a:noFill/>
        </p:spPr>
        <p:txBody>
          <a:bodyPr wrap="square" anchor="t" lIns="0" rIns="0" tIns="0" bIns="0">
            <a:spAutoFit/>
          </a:bodyPr>
          <a:lstStyle/>
          <a:p>
            <a:pPr algn="ctr">
              <a:lnSpc>
                <a:spcPct val="115000"/>
              </a:lnSpc>
            </a:pPr>
            <a:r>
              <a:rPr sz="2200" b="0" i="0">
                <a:solidFill>
                  <a:srgbClr val="888888"/>
                </a:solidFill>
                <a:latin typeface="Figtree"/>
              </a:rPr>
              <a:t>Si no están claros, alguien espera a otro y los problemas se acumulan.</a:t>
            </a:r>
          </a:p>
        </p:txBody>
      </p:sp>
      <p:sp>
        <p:nvSpPr>
          <p:cNvPr id="4" name="Rounded Rectangle 3"/>
          <p:cNvSpPr/>
          <p:nvPr/>
        </p:nvSpPr>
        <p:spPr>
          <a:xfrm>
            <a:off x="11430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43000" y="4572000"/>
            <a:ext cx="5029200" cy="13716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5120640"/>
            <a:ext cx="4297680" cy="1097280"/>
          </a:xfrm>
          <a:prstGeom prst="rect">
            <a:avLst/>
          </a:prstGeom>
          <a:noFill/>
        </p:spPr>
        <p:txBody>
          <a:bodyPr wrap="square" anchor="t" lIns="0" rIns="0" tIns="0" bIns="0">
            <a:spAutoFit/>
          </a:bodyPr>
          <a:lstStyle/>
          <a:p>
            <a:pPr algn="l">
              <a:lnSpc>
                <a:spcPct val="115000"/>
              </a:lnSpc>
            </a:pPr>
            <a:r>
              <a:rPr sz="3000" b="1" i="0">
                <a:solidFill>
                  <a:srgbClr val="CA8A04"/>
                </a:solidFill>
                <a:latin typeface="Plus Jakarta Sans"/>
              </a:rPr>
              <a:t>Gobierno</a:t>
            </a:r>
          </a:p>
        </p:txBody>
      </p:sp>
      <p:sp>
        <p:nvSpPr>
          <p:cNvPr id="7" name="TextBox 6"/>
          <p:cNvSpPr txBox="1"/>
          <p:nvPr/>
        </p:nvSpPr>
        <p:spPr>
          <a:xfrm>
            <a:off x="15087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Opera con autonomía en Nivel 1. La operación cotidiana ya no es del partner.</a:t>
            </a:r>
          </a:p>
        </p:txBody>
      </p:sp>
      <p:sp>
        <p:nvSpPr>
          <p:cNvPr id="8" name="Rounded Rectangle 7"/>
          <p:cNvSpPr/>
          <p:nvPr/>
        </p:nvSpPr>
        <p:spPr>
          <a:xfrm>
            <a:off x="66294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9400" y="4572000"/>
            <a:ext cx="5029200" cy="13716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5120640"/>
            <a:ext cx="4297680" cy="1097280"/>
          </a:xfrm>
          <a:prstGeom prst="rect">
            <a:avLst/>
          </a:prstGeom>
          <a:noFill/>
        </p:spPr>
        <p:txBody>
          <a:bodyPr wrap="square" anchor="t" lIns="0" rIns="0" tIns="0" bIns="0">
            <a:spAutoFit/>
          </a:bodyPr>
          <a:lstStyle/>
          <a:p>
            <a:pPr algn="l">
              <a:lnSpc>
                <a:spcPct val="115000"/>
              </a:lnSpc>
            </a:pPr>
            <a:r>
              <a:rPr sz="3000" b="1" i="0">
                <a:solidFill>
                  <a:srgbClr val="CA8A04"/>
                </a:solidFill>
                <a:latin typeface="Plus Jakarta Sans"/>
              </a:rPr>
              <a:t>Partner (tú)</a:t>
            </a:r>
          </a:p>
        </p:txBody>
      </p:sp>
      <p:sp>
        <p:nvSpPr>
          <p:cNvPr id="11" name="TextBox 10"/>
          <p:cNvSpPr txBox="1"/>
          <p:nvPr/>
        </p:nvSpPr>
        <p:spPr>
          <a:xfrm>
            <a:off x="69951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Pasas a observar y corregir. Coordinabas; ahora acompañas.</a:t>
            </a:r>
          </a:p>
        </p:txBody>
      </p:sp>
      <p:sp>
        <p:nvSpPr>
          <p:cNvPr id="12" name="Rounded Rectangle 11"/>
          <p:cNvSpPr/>
          <p:nvPr/>
        </p:nvSpPr>
        <p:spPr>
          <a:xfrm>
            <a:off x="121158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115800" y="4572000"/>
            <a:ext cx="5029200" cy="13716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481560" y="5120640"/>
            <a:ext cx="4297680" cy="1097280"/>
          </a:xfrm>
          <a:prstGeom prst="rect">
            <a:avLst/>
          </a:prstGeom>
          <a:noFill/>
        </p:spPr>
        <p:txBody>
          <a:bodyPr wrap="square" anchor="t" lIns="0" rIns="0" tIns="0" bIns="0">
            <a:spAutoFit/>
          </a:bodyPr>
          <a:lstStyle/>
          <a:p>
            <a:pPr algn="l">
              <a:lnSpc>
                <a:spcPct val="115000"/>
              </a:lnSpc>
            </a:pPr>
            <a:r>
              <a:rPr sz="3000" b="1" i="0">
                <a:solidFill>
                  <a:srgbClr val="CA8A04"/>
                </a:solidFill>
                <a:latin typeface="Plus Jakarta Sans"/>
              </a:rPr>
              <a:t>Dueño del proyecto</a:t>
            </a:r>
          </a:p>
        </p:txBody>
      </p:sp>
      <p:sp>
        <p:nvSpPr>
          <p:cNvPr id="15" name="TextBox 14"/>
          <p:cNvSpPr txBox="1"/>
          <p:nvPr/>
        </p:nvSpPr>
        <p:spPr>
          <a:xfrm>
            <a:off x="124815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Arma la narrativa política del lanzamiento frente a su jefe y a la prensa.</a:t>
            </a:r>
          </a:p>
        </p:txBody>
      </p:sp>
      <p:sp>
        <p:nvSpPr>
          <p:cNvPr id="16" name="TextBox 1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El foco de estas dos semanas</a:t>
            </a:r>
          </a:p>
          <a:p>
            <a:pPr algn="l">
              <a:lnSpc>
                <a:spcPct val="115000"/>
              </a:lnSpc>
            </a:pPr>
            <a:r>
              <a:rPr sz="4200" b="1" i="0">
                <a:solidFill>
                  <a:srgbClr val="0A0915"/>
                </a:solidFill>
                <a:latin typeface="Plus Jakarta Sans"/>
              </a:rPr>
              <a:t>es concreto y tiene orden.</a:t>
            </a:r>
          </a:p>
        </p:txBody>
      </p:sp>
      <p:sp>
        <p:nvSpPr>
          <p:cNvPr id="3" name="Rounded Rectangle 2"/>
          <p:cNvSpPr/>
          <p:nvPr/>
        </p:nvSpPr>
        <p:spPr>
          <a:xfrm>
            <a:off x="1371600" y="3886200"/>
            <a:ext cx="228600" cy="228600"/>
          </a:xfrm>
          <a:prstGeom prst="round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1. Estabilidad — primero que el sistema se sostenga.</a:t>
            </a:r>
          </a:p>
        </p:txBody>
      </p:sp>
      <p:sp>
        <p:nvSpPr>
          <p:cNvPr id="5" name="Rounded Rectangle 4"/>
          <p:cNvSpPr/>
          <p:nvPr/>
        </p:nvSpPr>
        <p:spPr>
          <a:xfrm>
            <a:off x="1371600" y="4709160"/>
            <a:ext cx="228600" cy="228600"/>
          </a:xfrm>
          <a:prstGeom prst="round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2. Adopción — después confirmas que la gente lo usa.</a:t>
            </a:r>
          </a:p>
        </p:txBody>
      </p:sp>
      <p:sp>
        <p:nvSpPr>
          <p:cNvPr id="7" name="Rounded Rectangle 6"/>
          <p:cNvSpPr/>
          <p:nvPr/>
        </p:nvSpPr>
        <p:spPr>
          <a:xfrm>
            <a:off x="1371600" y="5532120"/>
            <a:ext cx="228600" cy="228600"/>
          </a:xfrm>
          <a:prstGeom prst="round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3. Métricas — después medís y reportás.</a:t>
            </a:r>
          </a:p>
        </p:txBody>
      </p:sp>
      <p:sp>
        <p:nvSpPr>
          <p:cNvPr id="9" name="Rounded Rectangle 8"/>
          <p:cNvSpPr/>
          <p:nvPr/>
        </p:nvSpPr>
        <p:spPr>
          <a:xfrm>
            <a:off x="1371600" y="6355080"/>
            <a:ext cx="228600" cy="228600"/>
          </a:xfrm>
          <a:prstGeom prst="round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4. Lecciones aprendidas — después documentás lo que pasó.</a:t>
            </a:r>
          </a:p>
        </p:txBody>
      </p:sp>
      <p:sp>
        <p:nvSpPr>
          <p:cNvPr id="11" name="Rounded Rectangle 10"/>
          <p:cNvSpPr/>
          <p:nvPr/>
        </p:nvSpPr>
        <p:spPr>
          <a:xfrm>
            <a:off x="1371600" y="7178040"/>
            <a:ext cx="228600" cy="228600"/>
          </a:xfrm>
          <a:prstGeom prst="round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694944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5. Cierre — y solo después cerrás el ciclo.</a:t>
            </a:r>
          </a:p>
        </p:txBody>
      </p:sp>
      <p:sp>
        <p:nvSpPr>
          <p:cNvPr id="13" name="TextBox 12"/>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CA8A04"/>
                </a:solidFill>
                <a:latin typeface="Figtree"/>
              </a:rPr>
              <a:t>La regla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Si saltas pasos,</a:t>
            </a:r>
          </a:p>
          <a:p>
            <a:pPr algn="ctr">
              <a:lnSpc>
                <a:spcPct val="115000"/>
              </a:lnSpc>
            </a:pPr>
            <a:r>
              <a:rPr sz="5600" b="1" i="0">
                <a:solidFill>
                  <a:srgbClr val="0A0915"/>
                </a:solidFill>
                <a:latin typeface="Plus Jakarta Sans"/>
              </a:rPr>
              <a:t>cierras un proyecto que todavía no está cerrado.</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Primero estabilizas, después mides, después documentas, y solo después cierras.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Fase E no es la fase de festejar.</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Es la fase de sostener</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lo que recién empieza a caminar.</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