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15.2s · 38 palabras]</a:t>
            </a:r>
          </a:p>
          <a:p/>
          <a:p>
            <a:r>
              <a:t>En Fase E vas a tener muchos números encima. Usuarios, trámites, tiempos, tickets, satisfacción. Si los miras todos al mismo tiempo te pierdes. La plataforma se mide en tres categorías y cada una responde a una pregunta distinta.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30.4s · 76 palabras]</a:t>
            </a:r>
          </a:p>
          <a:p/>
          <a:p>
            <a:r>
              <a:t>La primera es adopción. Responde a ¿la gente está usando esto? Las métricas clave son usuarios registrados contra el padrón total, trámites iniciados por semana, y tasa de conversión. La segunda es operación. Responde a ¿el sistema está respondiendo? Aquí miras tiempo de resolución, trámites en cola más de cuarenta y ocho horas, y tickets por categoría. La tercera es calidad. Responde a ¿está saliendo bien? Miras trámites rechazados, satisfacción del operador, e incidentes de plataforma.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17.6s · 44 palabras]</a:t>
            </a:r>
          </a:p>
          <a:p/>
          <a:p>
            <a:r>
              <a:t>Si la adopción es baja en las primeras dos semanas no es solo un problema técnico, es un problema de comunicación. Tal vez el gobierno no comunicó bien, tal vez el ciudadano no encuentra el trámite, tal vez la guía pública está mal armada.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11.6s · 29 palabras]</a:t>
            </a:r>
          </a:p>
          <a:p/>
          <a:p>
            <a:r>
              <a:t>Si la operación se traba, el problema suele estar en el flujo de etapas o en el equipo de operadores. Los tickets por categoría te dicen exactamente dónde duele.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11.6s · 29 palabras]</a:t>
            </a:r>
          </a:p>
          <a:p/>
          <a:p>
            <a:r>
              <a:t>Calidad baja con adopción alta es la combinación más peligrosa: mucha gente pasando por un sistema que no funciona bien. Si ves esa señal, frenas cualquier expansión hasta resolverla.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22.8s · 57 palabras]</a:t>
            </a:r>
          </a:p>
          <a:p/>
          <a:p>
            <a:r>
              <a:t>Ahora la decisión que te toca a ti: qué reportar al gobierno. No reportes las nueve métricas. Elige tres a cinco que se alineen con la narrativa política del dueño del proyecto. Si la promesa política era reducir filas, prioriza tiempo de resolución y trámites iniciados. Si la promesa era inclusión digital, prioriza usuarios registrados contra padrón.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6.8s · 17 palabras]</a:t>
            </a:r>
          </a:p>
          <a:p/>
          <a:p>
            <a:r>
              <a:t>La métrica correcta es la que el dueño del proyecto puede llevar a su jefe sin traducir.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22.0s · 55 palabras]</a:t>
            </a:r>
          </a:p>
          <a:p/>
          <a:p>
            <a:r>
              <a:t>Y la otra decisión: cuándo expandir. El gobierno casi siempre va a querer agregar más trámites apenas vea que los primeros funcionan. Tu respuesta es una sola: cuando la operación actual sea estable y el gobierno confíe en ella. Si todavía hay bugs abiertos o el Nivel 1 está apagando incendios, expandir es sumar fuego.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7.6s · 19 palabras]</a:t>
            </a:r>
          </a:p>
          <a:p/>
          <a:p>
            <a:r>
              <a:t>Las métricas no se reportan todas. Se eligen las tres que cuentan la historia que el gobierno necesita contar.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CA8A04"/>
                </a:solidFill>
                <a:latin typeface="Figtree"/>
              </a:rPr>
              <a:t>FASE E</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Leer las métricas</a:t>
            </a:r>
          </a:p>
          <a:p>
            <a:pPr algn="l">
              <a:lnSpc>
                <a:spcPct val="110000"/>
              </a:lnSpc>
            </a:pPr>
            <a:r>
              <a:rPr sz="8000" b="1" i="0">
                <a:solidFill>
                  <a:srgbClr val="0A0915"/>
                </a:solidFill>
                <a:latin typeface="Plus Jakarta Sans"/>
              </a:rPr>
              <a:t>que importan.</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Si miras todos los números al mismo tiempo, te pierdes. Tres categorías, tres preguntas.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Tres categorías.</a:t>
            </a:r>
          </a:p>
          <a:p>
            <a:pPr algn="ctr">
              <a:lnSpc>
                <a:spcPct val="115000"/>
              </a:lnSpc>
            </a:pPr>
            <a:r>
              <a:rPr sz="4400" b="1" i="0">
                <a:solidFill>
                  <a:srgbClr val="0A0915"/>
                </a:solidFill>
                <a:latin typeface="Plus Jakarta Sans"/>
              </a:rPr>
              <a:t>Una pregunta cada una.</a:t>
            </a:r>
          </a:p>
        </p:txBody>
      </p:sp>
      <p:sp>
        <p:nvSpPr>
          <p:cNvPr id="3" name="Rounded Rectangle 2"/>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30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Adopción</a:t>
            </a:r>
          </a:p>
        </p:txBody>
      </p:sp>
      <p:sp>
        <p:nvSpPr>
          <p:cNvPr id="6" name="TextBox 5"/>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¿La gente está usando esto? Usuarios vs padrón, trámites iniciados, conversión.</a:t>
            </a:r>
          </a:p>
        </p:txBody>
      </p:sp>
      <p:sp>
        <p:nvSpPr>
          <p:cNvPr id="7" name="Rounded Rectangle 6"/>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294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Operación</a:t>
            </a:r>
          </a:p>
        </p:txBody>
      </p:sp>
      <p:sp>
        <p:nvSpPr>
          <p:cNvPr id="10" name="TextBox 9"/>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¿El sistema está respondiendo? Tiempo de resolución, cola +48h, tickets por categoría.</a:t>
            </a:r>
          </a:p>
        </p:txBody>
      </p:sp>
      <p:sp>
        <p:nvSpPr>
          <p:cNvPr id="11" name="Rounded Rectangle 10"/>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1158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Calidad</a:t>
            </a:r>
          </a:p>
        </p:txBody>
      </p:sp>
      <p:sp>
        <p:nvSpPr>
          <p:cNvPr id="14" name="TextBox 13"/>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¿Está saliendo bien? Trámites rechazados, satisfacción del operador, incidentes.</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Adopción</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Baja adopción no es solo un problema técnico.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Es un problema de comunicación. Tal vez el gobierno no comunicó bien, tal vez el ciudadano no encuentra el trámite, tal vez la guía pública está mal armada.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Operación</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Si la operación se traba,</a:t>
            </a:r>
          </a:p>
          <a:p>
            <a:pPr algn="ctr">
              <a:lnSpc>
                <a:spcPct val="115000"/>
              </a:lnSpc>
            </a:pPr>
            <a:r>
              <a:rPr sz="5600" b="1" i="0">
                <a:solidFill>
                  <a:srgbClr val="0A0915"/>
                </a:solidFill>
                <a:latin typeface="Plus Jakarta Sans"/>
              </a:rPr>
              <a:t>el problema está en el flujo o en el equipo.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Los tickets por categoría te dicen exactamente dónde duele.</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La combinación más peligrosa.</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Calidad alta, adopción baja</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Manejable. Trabajas en comunicación y descubribilidad mientras el sistema se mantiene bien.</a:t>
            </a:r>
          </a:p>
        </p:txBody>
      </p:sp>
      <p:sp>
        <p:nvSpPr>
          <p:cNvPr id="6" name="Rounded Rectangle 5"/>
          <p:cNvSpPr/>
          <p:nvPr/>
        </p:nvSpPr>
        <p:spPr>
          <a:xfrm>
            <a:off x="10058400" y="4572000"/>
            <a:ext cx="6400800" cy="41148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Calidad baja con adopción alta</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Mucha gente pasando por un sistema que no funciona bien.</a:t>
            </a:r>
          </a:p>
          <a:p>
            <a:pPr algn="l">
              <a:lnSpc>
                <a:spcPct val="130000"/>
              </a:lnSpc>
            </a:pPr>
            <a:r>
              <a:rPr sz="2800" b="0" i="0">
                <a:solidFill>
                  <a:srgbClr val="FFFFFF"/>
                </a:solidFill>
                <a:latin typeface="Plus Jakarta Sans"/>
              </a:rPr>
              <a:t>Frenas cualquier expansión hasta resolverla.</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Decisión clave</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No reportes las nueve métricas.</a:t>
            </a:r>
          </a:p>
          <a:p>
            <a:pPr algn="ctr">
              <a:lnSpc>
                <a:spcPct val="115000"/>
              </a:lnSpc>
            </a:pPr>
            <a:r>
              <a:rPr sz="5600" b="1" i="0">
                <a:solidFill>
                  <a:srgbClr val="0A0915"/>
                </a:solidFill>
                <a:latin typeface="Plus Jakarta Sans"/>
              </a:rPr>
              <a:t>Elige tres a cinco.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Que se alineen con la narrativa política del dueño del proyecto. Si la promesa era reducir filas, priorizá tiempo de resolución y trámites iniciados. Si la promesa era inclusión digital, usuarios registrados vs padrón.</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0" y="1371600"/>
            <a:ext cx="2743200" cy="2743200"/>
          </a:xfrm>
          <a:prstGeom prst="rect">
            <a:avLst/>
          </a:prstGeom>
          <a:noFill/>
        </p:spPr>
        <p:txBody>
          <a:bodyPr wrap="square" anchor="t" lIns="0" rIns="0" tIns="0" bIns="0">
            <a:spAutoFit/>
          </a:bodyPr>
          <a:lstStyle/>
          <a:p>
            <a:pPr algn="ctr">
              <a:lnSpc>
                <a:spcPct val="115000"/>
              </a:lnSpc>
            </a:pPr>
            <a:r>
              <a:rPr sz="18000" b="1" i="0">
                <a:solidFill>
                  <a:srgbClr val="CA8A04"/>
                </a:solidFill>
                <a:latin typeface="Plus Jakarta Sans"/>
              </a:rPr>
              <a:t>“</a:t>
            </a:r>
          </a:p>
        </p:txBody>
      </p:sp>
      <p:sp>
        <p:nvSpPr>
          <p:cNvPr id="3" name="TextBox 2"/>
          <p:cNvSpPr txBox="1"/>
          <p:nvPr/>
        </p:nvSpPr>
        <p:spPr>
          <a:xfrm>
            <a:off x="1371600" y="4114800"/>
            <a:ext cx="15544800" cy="3657600"/>
          </a:xfrm>
          <a:prstGeom prst="rect">
            <a:avLst/>
          </a:prstGeom>
          <a:noFill/>
        </p:spPr>
        <p:txBody>
          <a:bodyPr wrap="square" anchor="t" lIns="0" rIns="0" tIns="0" bIns="0">
            <a:spAutoFit/>
          </a:bodyPr>
          <a:lstStyle/>
          <a:p>
            <a:pPr algn="ctr">
              <a:lnSpc>
                <a:spcPct val="130000"/>
              </a:lnSpc>
            </a:pPr>
            <a:r>
              <a:rPr sz="4400" b="1" i="0">
                <a:solidFill>
                  <a:srgbClr val="0A0915"/>
                </a:solidFill>
                <a:latin typeface="Plus Jakarta Sans"/>
              </a:rPr>
              <a:t>La métrica correcta es la que el dueño del proyecto</a:t>
            </a:r>
          </a:p>
          <a:p>
            <a:pPr algn="ctr">
              <a:lnSpc>
                <a:spcPct val="130000"/>
              </a:lnSpc>
            </a:pPr>
            <a:r>
              <a:rPr sz="4400" b="1" i="0">
                <a:solidFill>
                  <a:srgbClr val="0A0915"/>
                </a:solidFill>
                <a:latin typeface="Plus Jakarta Sans"/>
              </a:rPr>
              <a:t>puede llevar a su jefe sin traducir.</a:t>
            </a:r>
          </a:p>
        </p:txBody>
      </p:sp>
      <p:sp>
        <p:nvSpPr>
          <p:cNvPr id="4" name="TextBox 3"/>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Cuándo expandir</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Solo cuando la operación actual sea estable</a:t>
            </a:r>
          </a:p>
          <a:p>
            <a:pPr algn="ctr">
              <a:lnSpc>
                <a:spcPct val="115000"/>
              </a:lnSpc>
            </a:pPr>
            <a:r>
              <a:rPr sz="5600" b="1" i="0">
                <a:solidFill>
                  <a:srgbClr val="0A0915"/>
                </a:solidFill>
                <a:latin typeface="Plus Jakarta Sans"/>
              </a:rPr>
              <a:t>y el gobierno confíe en ella.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El gobierno casi siempre va a querer agregar más trámites apenas vea que los primeros funcionan. Si todavía hay bugs abiertos o Nivel 1 está apagando incendios, expandir es sumar fuego.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Las métricas no se reportan todas.</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Se eligen las tres que cuentan</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la historia que el gobierno necesita contar.</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