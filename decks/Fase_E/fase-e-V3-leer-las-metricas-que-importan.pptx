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10287000" cx="18288000"/>
  <p:notesSz cx="6858000" cy="9144000"/>
  <p:embeddedFontLst>
    <p:embeddedFont>
      <p:font typeface="Inter"/>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regular.fntdata"/><Relationship Id="rId14" Type="http://schemas.openxmlformats.org/officeDocument/2006/relationships/slide" Target="slides/slide9.xml"/><Relationship Id="rId17" Type="http://schemas.openxmlformats.org/officeDocument/2006/relationships/font" Target="fonts/Inter-italic.fntdata"/><Relationship Id="rId16" Type="http://schemas.openxmlformats.org/officeDocument/2006/relationships/font" Target="fonts/Inter-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Inter-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15.2s · 38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En Fase E vas a tener muchos números encima. Usuarios, trámites, tiempos, tickets, satisfacción. Si los miras todos al mismo tiempo te pierdes. La plataforma se mide en tres categorías y cada una responde a una pregunta distinta.</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30.4s · 76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primera es adopción. Responde a ¿la gente está usando esto? Las métricas clave son usuarios registrados contra el padrón total, trámites iniciados por semana, y tasa de conversión. La segunda es operación. Responde a ¿el sistema está respondiendo? Aquí miras tiempo de resolución, trámites en cola más de cuarenta y ocho horas, y tickets por categoría. La tercera es calidad. Responde a ¿está saliendo bien? Miras trámites rechazados, satisfacción del operador, e incidentes de plataforma.</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17.6s · 44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 la adopción es baja en las primeras dos semanas no es solo un problema técnico, es un problema de comunicación. Tal vez el gobierno no comunicó bien, tal vez el ciudadano no encuentra el trámite, tal vez la guía pública está mal armada.</a:t>
            </a:r>
            <a:endParaRPr/>
          </a:p>
        </p:txBody>
      </p:sp>
      <p:sp>
        <p:nvSpPr>
          <p:cNvPr id="111" name="Google Shape;111;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11.6s · 29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 la operación se traba, el problema suele estar en el flujo de etapas o en el equipo de operadores. Los tickets por categoría te dicen exactamente dónde duele.</a:t>
            </a:r>
            <a:endParaRPr/>
          </a:p>
        </p:txBody>
      </p:sp>
      <p:sp>
        <p:nvSpPr>
          <p:cNvPr id="133" name="Google Shape;133;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11.6s · 29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Calidad baja con adopción alta es la combinación más peligrosa: mucha gente pasando por un sistema que no funciona bien. Si ves esa señal, frenas cualquier expansión hasta resolverla.</a:t>
            </a:r>
            <a:endParaRPr/>
          </a:p>
        </p:txBody>
      </p:sp>
      <p:sp>
        <p:nvSpPr>
          <p:cNvPr id="151" name="Google Shape;151;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22.8s · 57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Ahora la decisión que te toca a ti: qué reportar al gobierno. No reportes las nueve métricas. Elige tres a cinco que se alineen con la narrativa política del dueño del proyecto. Si la promesa política era reducir filas, prioriza tiempo de resolución y trámites iniciados. Si la promesa era inclusión digital, prioriza usuarios registrados contra padrón.</a:t>
            </a:r>
            <a:endParaRPr/>
          </a:p>
        </p:txBody>
      </p:sp>
      <p:sp>
        <p:nvSpPr>
          <p:cNvPr id="167" name="Google Shape;167;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6.8s · 17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métrica correcta es la que el dueño del proyecto puede llevar a su jefe sin traducir.</a:t>
            </a:r>
            <a:endParaRPr/>
          </a:p>
        </p:txBody>
      </p:sp>
      <p:sp>
        <p:nvSpPr>
          <p:cNvPr id="182" name="Google Shape;182;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22.0s · 55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 la otra decisión: cuándo expandir. El gobierno casi siempre va a querer agregar más trámites apenas vea que los primeros funcionan. Tu respuesta es una sola: cuando la operación actual sea estable y el gobierno confíe en ella. Si todavía hay bugs abiertos o el Nivel 1 está apagando incendios, expandir es sumar fuego.</a:t>
            </a:r>
            <a:endParaRPr/>
          </a:p>
        </p:txBody>
      </p:sp>
      <p:sp>
        <p:nvSpPr>
          <p:cNvPr id="189" name="Google Shape;189;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7.6s · 19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Las métricas no se reportan todas. Se eligen las tres que cuentan la historia que el gobierno necesita contar.</a:t>
            </a:r>
            <a:endParaRPr/>
          </a:p>
        </p:txBody>
      </p:sp>
      <p:sp>
        <p:nvSpPr>
          <p:cNvPr id="207" name="Google Shape;207;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228600"/>
          </a:xfrm>
          <a:prstGeom prst="rect">
            <a:avLst/>
          </a:prstGeom>
          <a:solidFill>
            <a:srgbClr val="CA8A0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371600" y="3200400"/>
            <a:ext cx="1554480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CA8A04"/>
                </a:solidFill>
                <a:latin typeface="Inter"/>
                <a:ea typeface="Inter"/>
                <a:cs typeface="Inter"/>
                <a:sym typeface="Inter"/>
              </a:rPr>
              <a:t>FASE E</a:t>
            </a:r>
            <a:endParaRPr/>
          </a:p>
        </p:txBody>
      </p:sp>
      <p:sp>
        <p:nvSpPr>
          <p:cNvPr id="87" name="Google Shape;87;p13"/>
          <p:cNvSpPr txBox="1"/>
          <p:nvPr/>
        </p:nvSpPr>
        <p:spPr>
          <a:xfrm>
            <a:off x="1371600" y="3840480"/>
            <a:ext cx="155448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Leer las métricas</a:t>
            </a:r>
            <a:endParaRPr/>
          </a:p>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que importan</a:t>
            </a:r>
            <a:endParaRPr/>
          </a:p>
        </p:txBody>
      </p:sp>
      <p:sp>
        <p:nvSpPr>
          <p:cNvPr id="88" name="Google Shape;88;p13"/>
          <p:cNvSpPr txBox="1"/>
          <p:nvPr/>
        </p:nvSpPr>
        <p:spPr>
          <a:xfrm>
            <a:off x="1371600" y="6517900"/>
            <a:ext cx="15544800" cy="338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200" u="none" cap="none" strike="noStrike">
                <a:solidFill>
                  <a:srgbClr val="888888"/>
                </a:solidFill>
                <a:latin typeface="Inter"/>
                <a:ea typeface="Inter"/>
                <a:cs typeface="Inter"/>
                <a:sym typeface="Inter"/>
              </a:rPr>
              <a:t>Si miras todos los números al mismo tiempo, te pierdes. Tres categorías, tres preguntas.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4"/>
          <p:cNvSpPr txBox="1"/>
          <p:nvPr/>
        </p:nvSpPr>
        <p:spPr>
          <a:xfrm>
            <a:off x="1371600" y="762000"/>
            <a:ext cx="15544800" cy="831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5400">
                <a:solidFill>
                  <a:srgbClr val="0A0915"/>
                </a:solidFill>
                <a:latin typeface="Inter"/>
                <a:ea typeface="Inter"/>
                <a:cs typeface="Inter"/>
                <a:sym typeface="Inter"/>
              </a:rPr>
              <a:t>Tres categorías, una pregunta cada una</a:t>
            </a:r>
            <a:endParaRPr b="1" sz="5400">
              <a:solidFill>
                <a:srgbClr val="0A0915"/>
              </a:solidFill>
              <a:latin typeface="Inter"/>
              <a:ea typeface="Inter"/>
              <a:cs typeface="Inter"/>
              <a:sym typeface="Inter"/>
            </a:endParaRPr>
          </a:p>
        </p:txBody>
      </p:sp>
      <p:sp>
        <p:nvSpPr>
          <p:cNvPr id="96" name="Google Shape;96;p14"/>
          <p:cNvSpPr/>
          <p:nvPr/>
        </p:nvSpPr>
        <p:spPr>
          <a:xfrm>
            <a:off x="762000" y="3048000"/>
            <a:ext cx="5143500" cy="5715000"/>
          </a:xfrm>
          <a:prstGeom prst="roundRect">
            <a:avLst>
              <a:gd fmla="val 7407" name="adj"/>
            </a:avLst>
          </a:prstGeom>
          <a:solidFill>
            <a:srgbClr val="F8F9FA"/>
          </a:solidFill>
          <a:ln cap="flat" cmpd="sng" w="9525">
            <a:solidFill>
              <a:srgbClr val="E5E7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4"/>
          <p:cNvSpPr/>
          <p:nvPr/>
        </p:nvSpPr>
        <p:spPr>
          <a:xfrm>
            <a:off x="762000" y="3048000"/>
            <a:ext cx="5143500" cy="114300"/>
          </a:xfrm>
          <a:prstGeom prst="rect">
            <a:avLst/>
          </a:prstGeom>
          <a:solidFill>
            <a:srgbClr val="CA8A04"/>
          </a:solidFill>
          <a:ln>
            <a:noFill/>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14"/>
          <p:cNvSpPr txBox="1"/>
          <p:nvPr/>
        </p:nvSpPr>
        <p:spPr>
          <a:xfrm>
            <a:off x="1143000" y="3429000"/>
            <a:ext cx="4381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3200">
                <a:solidFill>
                  <a:srgbClr val="CA8A04"/>
                </a:solidFill>
                <a:latin typeface="Inter"/>
                <a:ea typeface="Inter"/>
                <a:cs typeface="Inter"/>
                <a:sym typeface="Inter"/>
              </a:rPr>
              <a:t>Adopción</a:t>
            </a:r>
            <a:endParaRPr b="1" sz="3200">
              <a:solidFill>
                <a:srgbClr val="CA8A04"/>
              </a:solidFill>
              <a:latin typeface="Inter"/>
              <a:ea typeface="Inter"/>
              <a:cs typeface="Inter"/>
              <a:sym typeface="Inter"/>
            </a:endParaRPr>
          </a:p>
        </p:txBody>
      </p:sp>
      <p:sp>
        <p:nvSpPr>
          <p:cNvPr id="99" name="Google Shape;99;p14"/>
          <p:cNvSpPr txBox="1"/>
          <p:nvPr/>
        </p:nvSpPr>
        <p:spPr>
          <a:xfrm>
            <a:off x="1143000" y="4381500"/>
            <a:ext cx="4381500" cy="193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200">
                <a:solidFill>
                  <a:srgbClr val="0A0915"/>
                </a:solidFill>
                <a:latin typeface="Inter"/>
                <a:ea typeface="Inter"/>
                <a:cs typeface="Inter"/>
                <a:sym typeface="Inter"/>
              </a:rPr>
              <a:t>¿La gente está usando esto?</a:t>
            </a:r>
            <a:endParaRPr b="1" sz="2200">
              <a:solidFill>
                <a:srgbClr val="0A0915"/>
              </a:solidFill>
              <a:latin typeface="Inter"/>
              <a:ea typeface="Inter"/>
              <a:cs typeface="Inter"/>
              <a:sym typeface="Inter"/>
            </a:endParaRPr>
          </a:p>
          <a:p>
            <a:pPr indent="-368300" lvl="0" marL="457200" rtl="0" algn="l">
              <a:spcBef>
                <a:spcPts val="2250"/>
              </a:spcBef>
              <a:spcAft>
                <a:spcPts val="0"/>
              </a:spcAft>
              <a:buClr>
                <a:srgbClr val="0A0915"/>
              </a:buClr>
              <a:buSzPts val="2200"/>
              <a:buFont typeface="Inter"/>
              <a:buChar char="●"/>
            </a:pPr>
            <a:r>
              <a:rPr b="0" lang="en-US" sz="2200">
                <a:solidFill>
                  <a:srgbClr val="0A0915"/>
                </a:solidFill>
                <a:latin typeface="Inter"/>
                <a:ea typeface="Inter"/>
                <a:cs typeface="Inter"/>
                <a:sym typeface="Inter"/>
              </a:rPr>
              <a:t>Usuarios vs padrón</a:t>
            </a:r>
            <a:endParaRPr b="0" sz="2200">
              <a:solidFill>
                <a:srgbClr val="0A0915"/>
              </a:solidFill>
              <a:latin typeface="Inter"/>
              <a:ea typeface="Inter"/>
              <a:cs typeface="Inter"/>
              <a:sym typeface="Inter"/>
            </a:endParaRPr>
          </a:p>
          <a:p>
            <a:pPr indent="-368300" lvl="0" marL="457200" rtl="0" algn="l">
              <a:spcBef>
                <a:spcPts val="1125"/>
              </a:spcBef>
              <a:spcAft>
                <a:spcPts val="0"/>
              </a:spcAft>
              <a:buClr>
                <a:srgbClr val="0A0915"/>
              </a:buClr>
              <a:buSzPts val="2200"/>
              <a:buFont typeface="Inter"/>
              <a:buChar char="●"/>
            </a:pPr>
            <a:r>
              <a:rPr b="0" lang="en-US" sz="2200">
                <a:solidFill>
                  <a:srgbClr val="0A0915"/>
                </a:solidFill>
                <a:latin typeface="Inter"/>
                <a:ea typeface="Inter"/>
                <a:cs typeface="Inter"/>
                <a:sym typeface="Inter"/>
              </a:rPr>
              <a:t>Trámites iniciados</a:t>
            </a:r>
            <a:endParaRPr b="0" sz="2200">
              <a:solidFill>
                <a:srgbClr val="0A0915"/>
              </a:solidFill>
              <a:latin typeface="Inter"/>
              <a:ea typeface="Inter"/>
              <a:cs typeface="Inter"/>
              <a:sym typeface="Inter"/>
            </a:endParaRPr>
          </a:p>
          <a:p>
            <a:pPr indent="-368300" lvl="0" marL="457200" rtl="0" algn="l">
              <a:spcBef>
                <a:spcPts val="1125"/>
              </a:spcBef>
              <a:spcAft>
                <a:spcPts val="0"/>
              </a:spcAft>
              <a:buClr>
                <a:srgbClr val="0A0915"/>
              </a:buClr>
              <a:buSzPts val="2200"/>
              <a:buFont typeface="Inter"/>
              <a:buChar char="●"/>
            </a:pPr>
            <a:r>
              <a:rPr b="0" lang="en-US" sz="2200">
                <a:solidFill>
                  <a:srgbClr val="0A0915"/>
                </a:solidFill>
                <a:latin typeface="Inter"/>
                <a:ea typeface="Inter"/>
                <a:cs typeface="Inter"/>
                <a:sym typeface="Inter"/>
              </a:rPr>
              <a:t>Conversión</a:t>
            </a:r>
            <a:endParaRPr b="0" sz="2200">
              <a:solidFill>
                <a:srgbClr val="0A0915"/>
              </a:solidFill>
              <a:latin typeface="Inter"/>
              <a:ea typeface="Inter"/>
              <a:cs typeface="Inter"/>
              <a:sym typeface="Inter"/>
            </a:endParaRPr>
          </a:p>
        </p:txBody>
      </p:sp>
      <p:sp>
        <p:nvSpPr>
          <p:cNvPr id="100" name="Google Shape;100;p14"/>
          <p:cNvSpPr/>
          <p:nvPr/>
        </p:nvSpPr>
        <p:spPr>
          <a:xfrm>
            <a:off x="6572250" y="3048000"/>
            <a:ext cx="5143500" cy="5715000"/>
          </a:xfrm>
          <a:prstGeom prst="roundRect">
            <a:avLst>
              <a:gd fmla="val 7407" name="adj"/>
            </a:avLst>
          </a:prstGeom>
          <a:solidFill>
            <a:srgbClr val="F8F9FA"/>
          </a:solidFill>
          <a:ln cap="flat" cmpd="sng" w="9525">
            <a:solidFill>
              <a:srgbClr val="E5E7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4"/>
          <p:cNvSpPr/>
          <p:nvPr/>
        </p:nvSpPr>
        <p:spPr>
          <a:xfrm>
            <a:off x="6572250" y="3048000"/>
            <a:ext cx="5143500" cy="114300"/>
          </a:xfrm>
          <a:prstGeom prst="rect">
            <a:avLst/>
          </a:prstGeom>
          <a:solidFill>
            <a:srgbClr val="CA8A04"/>
          </a:solidFill>
          <a:ln>
            <a:noFill/>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4"/>
          <p:cNvSpPr txBox="1"/>
          <p:nvPr/>
        </p:nvSpPr>
        <p:spPr>
          <a:xfrm>
            <a:off x="6953250" y="3429000"/>
            <a:ext cx="4381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3200">
                <a:solidFill>
                  <a:srgbClr val="CA8A04"/>
                </a:solidFill>
                <a:latin typeface="Inter"/>
                <a:ea typeface="Inter"/>
                <a:cs typeface="Inter"/>
                <a:sym typeface="Inter"/>
              </a:rPr>
              <a:t>Operación</a:t>
            </a:r>
            <a:endParaRPr b="1" sz="3200">
              <a:solidFill>
                <a:srgbClr val="CA8A04"/>
              </a:solidFill>
              <a:latin typeface="Inter"/>
              <a:ea typeface="Inter"/>
              <a:cs typeface="Inter"/>
              <a:sym typeface="Inter"/>
            </a:endParaRPr>
          </a:p>
        </p:txBody>
      </p:sp>
      <p:sp>
        <p:nvSpPr>
          <p:cNvPr id="103" name="Google Shape;103;p14"/>
          <p:cNvSpPr txBox="1"/>
          <p:nvPr/>
        </p:nvSpPr>
        <p:spPr>
          <a:xfrm>
            <a:off x="6953250" y="4381500"/>
            <a:ext cx="4381500" cy="193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200">
                <a:solidFill>
                  <a:srgbClr val="0A0915"/>
                </a:solidFill>
                <a:latin typeface="Inter"/>
                <a:ea typeface="Inter"/>
                <a:cs typeface="Inter"/>
                <a:sym typeface="Inter"/>
              </a:rPr>
              <a:t>¿El sistema está respondiendo?</a:t>
            </a:r>
            <a:endParaRPr b="1" sz="2200">
              <a:solidFill>
                <a:srgbClr val="0A0915"/>
              </a:solidFill>
              <a:latin typeface="Inter"/>
              <a:ea typeface="Inter"/>
              <a:cs typeface="Inter"/>
              <a:sym typeface="Inter"/>
            </a:endParaRPr>
          </a:p>
          <a:p>
            <a:pPr indent="-368300" lvl="0" marL="457200" rtl="0" algn="l">
              <a:spcBef>
                <a:spcPts val="2250"/>
              </a:spcBef>
              <a:spcAft>
                <a:spcPts val="0"/>
              </a:spcAft>
              <a:buClr>
                <a:srgbClr val="0A0915"/>
              </a:buClr>
              <a:buSzPts val="2200"/>
              <a:buFont typeface="Inter"/>
              <a:buChar char="●"/>
            </a:pPr>
            <a:r>
              <a:rPr b="0" lang="en-US" sz="2200">
                <a:solidFill>
                  <a:srgbClr val="0A0915"/>
                </a:solidFill>
                <a:latin typeface="Inter"/>
                <a:ea typeface="Inter"/>
                <a:cs typeface="Inter"/>
                <a:sym typeface="Inter"/>
              </a:rPr>
              <a:t>Tiempo de resolución</a:t>
            </a:r>
            <a:endParaRPr b="0" sz="2200">
              <a:solidFill>
                <a:srgbClr val="0A0915"/>
              </a:solidFill>
              <a:latin typeface="Inter"/>
              <a:ea typeface="Inter"/>
              <a:cs typeface="Inter"/>
              <a:sym typeface="Inter"/>
            </a:endParaRPr>
          </a:p>
          <a:p>
            <a:pPr indent="-368300" lvl="0" marL="457200" rtl="0" algn="l">
              <a:spcBef>
                <a:spcPts val="1125"/>
              </a:spcBef>
              <a:spcAft>
                <a:spcPts val="0"/>
              </a:spcAft>
              <a:buClr>
                <a:srgbClr val="0A0915"/>
              </a:buClr>
              <a:buSzPts val="2200"/>
              <a:buFont typeface="Inter"/>
              <a:buChar char="●"/>
            </a:pPr>
            <a:r>
              <a:rPr b="0" lang="en-US" sz="2200">
                <a:solidFill>
                  <a:srgbClr val="0A0915"/>
                </a:solidFill>
                <a:latin typeface="Inter"/>
                <a:ea typeface="Inter"/>
                <a:cs typeface="Inter"/>
                <a:sym typeface="Inter"/>
              </a:rPr>
              <a:t>Cola +48h</a:t>
            </a:r>
            <a:endParaRPr b="0" sz="2200">
              <a:solidFill>
                <a:srgbClr val="0A0915"/>
              </a:solidFill>
              <a:latin typeface="Inter"/>
              <a:ea typeface="Inter"/>
              <a:cs typeface="Inter"/>
              <a:sym typeface="Inter"/>
            </a:endParaRPr>
          </a:p>
          <a:p>
            <a:pPr indent="-368300" lvl="0" marL="457200" rtl="0" algn="l">
              <a:spcBef>
                <a:spcPts val="1125"/>
              </a:spcBef>
              <a:spcAft>
                <a:spcPts val="0"/>
              </a:spcAft>
              <a:buClr>
                <a:srgbClr val="0A0915"/>
              </a:buClr>
              <a:buSzPts val="2200"/>
              <a:buFont typeface="Inter"/>
              <a:buChar char="●"/>
            </a:pPr>
            <a:r>
              <a:rPr b="0" lang="en-US" sz="2200">
                <a:solidFill>
                  <a:srgbClr val="0A0915"/>
                </a:solidFill>
                <a:latin typeface="Inter"/>
                <a:ea typeface="Inter"/>
                <a:cs typeface="Inter"/>
                <a:sym typeface="Inter"/>
              </a:rPr>
              <a:t>Tickets por categoría</a:t>
            </a:r>
            <a:endParaRPr b="0" sz="2200">
              <a:solidFill>
                <a:srgbClr val="0A0915"/>
              </a:solidFill>
              <a:latin typeface="Inter"/>
              <a:ea typeface="Inter"/>
              <a:cs typeface="Inter"/>
              <a:sym typeface="Inter"/>
            </a:endParaRPr>
          </a:p>
        </p:txBody>
      </p:sp>
      <p:sp>
        <p:nvSpPr>
          <p:cNvPr id="104" name="Google Shape;104;p14"/>
          <p:cNvSpPr/>
          <p:nvPr/>
        </p:nvSpPr>
        <p:spPr>
          <a:xfrm>
            <a:off x="12382500" y="3048000"/>
            <a:ext cx="5143500" cy="5715000"/>
          </a:xfrm>
          <a:prstGeom prst="roundRect">
            <a:avLst>
              <a:gd fmla="val 7407" name="adj"/>
            </a:avLst>
          </a:prstGeom>
          <a:solidFill>
            <a:srgbClr val="F8F9FA"/>
          </a:solidFill>
          <a:ln cap="flat" cmpd="sng" w="9525">
            <a:solidFill>
              <a:srgbClr val="E5E7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4"/>
          <p:cNvSpPr/>
          <p:nvPr/>
        </p:nvSpPr>
        <p:spPr>
          <a:xfrm>
            <a:off x="12382500" y="3048000"/>
            <a:ext cx="5143500" cy="114300"/>
          </a:xfrm>
          <a:prstGeom prst="rect">
            <a:avLst/>
          </a:prstGeom>
          <a:solidFill>
            <a:srgbClr val="CA8A04"/>
          </a:solidFill>
          <a:ln>
            <a:noFill/>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4"/>
          <p:cNvSpPr txBox="1"/>
          <p:nvPr/>
        </p:nvSpPr>
        <p:spPr>
          <a:xfrm>
            <a:off x="12763500" y="3429000"/>
            <a:ext cx="4381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3200">
                <a:solidFill>
                  <a:srgbClr val="CA8A04"/>
                </a:solidFill>
                <a:latin typeface="Inter"/>
                <a:ea typeface="Inter"/>
                <a:cs typeface="Inter"/>
                <a:sym typeface="Inter"/>
              </a:rPr>
              <a:t>Calidad</a:t>
            </a:r>
            <a:endParaRPr b="1" sz="3200">
              <a:solidFill>
                <a:srgbClr val="CA8A04"/>
              </a:solidFill>
              <a:latin typeface="Inter"/>
              <a:ea typeface="Inter"/>
              <a:cs typeface="Inter"/>
              <a:sym typeface="Inter"/>
            </a:endParaRPr>
          </a:p>
        </p:txBody>
      </p:sp>
      <p:sp>
        <p:nvSpPr>
          <p:cNvPr id="107" name="Google Shape;107;p14"/>
          <p:cNvSpPr txBox="1"/>
          <p:nvPr/>
        </p:nvSpPr>
        <p:spPr>
          <a:xfrm>
            <a:off x="12763500" y="4381500"/>
            <a:ext cx="4381500" cy="193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200">
                <a:solidFill>
                  <a:srgbClr val="0A0915"/>
                </a:solidFill>
                <a:latin typeface="Inter"/>
                <a:ea typeface="Inter"/>
                <a:cs typeface="Inter"/>
                <a:sym typeface="Inter"/>
              </a:rPr>
              <a:t>¿Está saliendo bien?</a:t>
            </a:r>
            <a:endParaRPr b="1" sz="2200">
              <a:solidFill>
                <a:srgbClr val="0A0915"/>
              </a:solidFill>
              <a:latin typeface="Inter"/>
              <a:ea typeface="Inter"/>
              <a:cs typeface="Inter"/>
              <a:sym typeface="Inter"/>
            </a:endParaRPr>
          </a:p>
          <a:p>
            <a:pPr indent="-368300" lvl="0" marL="457200" rtl="0" algn="l">
              <a:spcBef>
                <a:spcPts val="2250"/>
              </a:spcBef>
              <a:spcAft>
                <a:spcPts val="0"/>
              </a:spcAft>
              <a:buClr>
                <a:srgbClr val="0A0915"/>
              </a:buClr>
              <a:buSzPts val="2200"/>
              <a:buFont typeface="Inter"/>
              <a:buChar char="●"/>
            </a:pPr>
            <a:r>
              <a:rPr b="0" lang="en-US" sz="2200">
                <a:solidFill>
                  <a:srgbClr val="0A0915"/>
                </a:solidFill>
                <a:latin typeface="Inter"/>
                <a:ea typeface="Inter"/>
                <a:cs typeface="Inter"/>
                <a:sym typeface="Inter"/>
              </a:rPr>
              <a:t>Trámites rechazados</a:t>
            </a:r>
            <a:endParaRPr b="0" sz="2200">
              <a:solidFill>
                <a:srgbClr val="0A0915"/>
              </a:solidFill>
              <a:latin typeface="Inter"/>
              <a:ea typeface="Inter"/>
              <a:cs typeface="Inter"/>
              <a:sym typeface="Inter"/>
            </a:endParaRPr>
          </a:p>
          <a:p>
            <a:pPr indent="-368300" lvl="0" marL="457200" rtl="0" algn="l">
              <a:spcBef>
                <a:spcPts val="1125"/>
              </a:spcBef>
              <a:spcAft>
                <a:spcPts val="0"/>
              </a:spcAft>
              <a:buClr>
                <a:srgbClr val="0A0915"/>
              </a:buClr>
              <a:buSzPts val="2200"/>
              <a:buFont typeface="Inter"/>
              <a:buChar char="●"/>
            </a:pPr>
            <a:r>
              <a:rPr b="0" lang="en-US" sz="2200">
                <a:solidFill>
                  <a:srgbClr val="0A0915"/>
                </a:solidFill>
                <a:latin typeface="Inter"/>
                <a:ea typeface="Inter"/>
                <a:cs typeface="Inter"/>
                <a:sym typeface="Inter"/>
              </a:rPr>
              <a:t>Satisfacción del operador</a:t>
            </a:r>
            <a:endParaRPr b="0" sz="2200">
              <a:solidFill>
                <a:srgbClr val="0A0915"/>
              </a:solidFill>
              <a:latin typeface="Inter"/>
              <a:ea typeface="Inter"/>
              <a:cs typeface="Inter"/>
              <a:sym typeface="Inter"/>
            </a:endParaRPr>
          </a:p>
          <a:p>
            <a:pPr indent="-368300" lvl="0" marL="457200" rtl="0" algn="l">
              <a:spcBef>
                <a:spcPts val="1125"/>
              </a:spcBef>
              <a:spcAft>
                <a:spcPts val="0"/>
              </a:spcAft>
              <a:buClr>
                <a:srgbClr val="0A0915"/>
              </a:buClr>
              <a:buSzPts val="2200"/>
              <a:buFont typeface="Inter"/>
              <a:buChar char="●"/>
            </a:pPr>
            <a:r>
              <a:rPr b="0" lang="en-US" sz="2200">
                <a:solidFill>
                  <a:srgbClr val="0A0915"/>
                </a:solidFill>
                <a:latin typeface="Inter"/>
                <a:ea typeface="Inter"/>
                <a:cs typeface="Inter"/>
                <a:sym typeface="Inter"/>
              </a:rPr>
              <a:t>Incidentes</a:t>
            </a:r>
            <a:endParaRPr b="0" sz="2200">
              <a:solidFill>
                <a:srgbClr val="0A0915"/>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4" name="Google Shape;114;p15"/>
          <p:cNvGrpSpPr/>
          <p:nvPr/>
        </p:nvGrpSpPr>
        <p:grpSpPr>
          <a:xfrm>
            <a:off x="1371600" y="762000"/>
            <a:ext cx="15544800" cy="1714500"/>
            <a:chOff x="1371600" y="762000"/>
            <a:chExt cx="15544800" cy="1714500"/>
          </a:xfrm>
        </p:grpSpPr>
        <p:sp>
          <p:nvSpPr>
            <p:cNvPr id="115" name="Google Shape;115;p15"/>
            <p:cNvSpPr txBox="1"/>
            <p:nvPr/>
          </p:nvSpPr>
          <p:spPr>
            <a:xfrm>
              <a:off x="1371600" y="762000"/>
              <a:ext cx="155448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CA8A04"/>
                  </a:solidFill>
                  <a:latin typeface="Inter"/>
                  <a:ea typeface="Inter"/>
                  <a:cs typeface="Inter"/>
                  <a:sym typeface="Inter"/>
                </a:rPr>
                <a:t>ADOPCIÓN</a:t>
              </a:r>
              <a:endParaRPr b="1" sz="1800">
                <a:solidFill>
                  <a:srgbClr val="CA8A04"/>
                </a:solidFill>
                <a:latin typeface="Inter"/>
                <a:ea typeface="Inter"/>
                <a:cs typeface="Inter"/>
                <a:sym typeface="Inter"/>
              </a:endParaRPr>
            </a:p>
          </p:txBody>
        </p:sp>
        <p:sp>
          <p:nvSpPr>
            <p:cNvPr id="116" name="Google Shape;116;p15"/>
            <p:cNvSpPr txBox="1"/>
            <p:nvPr/>
          </p:nvSpPr>
          <p:spPr>
            <a:xfrm>
              <a:off x="1371600" y="1333500"/>
              <a:ext cx="15544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5180">
                  <a:solidFill>
                    <a:srgbClr val="0A0915"/>
                  </a:solidFill>
                  <a:latin typeface="Inter"/>
                  <a:ea typeface="Inter"/>
                  <a:cs typeface="Inter"/>
                  <a:sym typeface="Inter"/>
                </a:rPr>
                <a:t>Baja adopción no es solo un problema técnico</a:t>
              </a:r>
              <a:endParaRPr b="1" sz="5180">
                <a:solidFill>
                  <a:srgbClr val="0A0915"/>
                </a:solidFill>
                <a:latin typeface="Inter"/>
                <a:ea typeface="Inter"/>
                <a:cs typeface="Inter"/>
                <a:sym typeface="Inter"/>
              </a:endParaRPr>
            </a:p>
          </p:txBody>
        </p:sp>
      </p:grpSp>
      <p:grpSp>
        <p:nvGrpSpPr>
          <p:cNvPr id="117" name="Google Shape;117;p15"/>
          <p:cNvGrpSpPr/>
          <p:nvPr/>
        </p:nvGrpSpPr>
        <p:grpSpPr>
          <a:xfrm>
            <a:off x="1371600" y="3048000"/>
            <a:ext cx="15544800" cy="1524000"/>
            <a:chOff x="1371600" y="3048000"/>
            <a:chExt cx="15544800" cy="1524000"/>
          </a:xfrm>
        </p:grpSpPr>
        <p:sp>
          <p:nvSpPr>
            <p:cNvPr id="118" name="Google Shape;118;p15"/>
            <p:cNvSpPr/>
            <p:nvPr/>
          </p:nvSpPr>
          <p:spPr>
            <a:xfrm>
              <a:off x="1371600" y="3048000"/>
              <a:ext cx="15544800" cy="1524000"/>
            </a:xfrm>
            <a:prstGeom prst="roundRect">
              <a:avLst>
                <a:gd fmla="val 12500"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5"/>
            <p:cNvSpPr txBox="1"/>
            <p:nvPr/>
          </p:nvSpPr>
          <p:spPr>
            <a:xfrm>
              <a:off x="1752600" y="3048000"/>
              <a:ext cx="14782800" cy="15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A0915"/>
                  </a:solidFill>
                  <a:latin typeface="Inter"/>
                  <a:ea typeface="Inter"/>
                  <a:cs typeface="Inter"/>
                  <a:sym typeface="Inter"/>
                </a:rPr>
                <a:t>Es un problema de </a:t>
              </a:r>
              <a:r>
                <a:rPr b="1" lang="en-US" sz="3200">
                  <a:solidFill>
                    <a:srgbClr val="CA8A04"/>
                  </a:solidFill>
                  <a:latin typeface="Inter"/>
                  <a:ea typeface="Inter"/>
                  <a:cs typeface="Inter"/>
                  <a:sym typeface="Inter"/>
                </a:rPr>
                <a:t>comunicación</a:t>
              </a:r>
              <a:r>
                <a:rPr b="1" lang="en-US" sz="3200">
                  <a:solidFill>
                    <a:srgbClr val="0A0915"/>
                  </a:solidFill>
                  <a:latin typeface="Inter"/>
                  <a:ea typeface="Inter"/>
                  <a:cs typeface="Inter"/>
                  <a:sym typeface="Inter"/>
                </a:rPr>
                <a:t>.</a:t>
              </a:r>
              <a:endParaRPr b="1" sz="3200">
                <a:solidFill>
                  <a:srgbClr val="0A0915"/>
                </a:solidFill>
                <a:latin typeface="Inter"/>
                <a:ea typeface="Inter"/>
                <a:cs typeface="Inter"/>
                <a:sym typeface="Inter"/>
              </a:endParaRPr>
            </a:p>
          </p:txBody>
        </p:sp>
      </p:grpSp>
      <p:grpSp>
        <p:nvGrpSpPr>
          <p:cNvPr id="120" name="Google Shape;120;p15"/>
          <p:cNvGrpSpPr/>
          <p:nvPr/>
        </p:nvGrpSpPr>
        <p:grpSpPr>
          <a:xfrm>
            <a:off x="1371600" y="5143500"/>
            <a:ext cx="15544950" cy="3238500"/>
            <a:chOff x="1371600" y="5143500"/>
            <a:chExt cx="15544950" cy="3238500"/>
          </a:xfrm>
        </p:grpSpPr>
        <p:sp>
          <p:nvSpPr>
            <p:cNvPr id="121" name="Google Shape;121;p15"/>
            <p:cNvSpPr/>
            <p:nvPr/>
          </p:nvSpPr>
          <p:spPr>
            <a:xfrm>
              <a:off x="1371600" y="5143500"/>
              <a:ext cx="4857900" cy="3238500"/>
            </a:xfrm>
            <a:prstGeom prst="roundRect">
              <a:avLst>
                <a:gd fmla="val 7058"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5"/>
            <p:cNvSpPr txBox="1"/>
            <p:nvPr/>
          </p:nvSpPr>
          <p:spPr>
            <a:xfrm>
              <a:off x="1752600" y="5582920"/>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00">
                  <a:solidFill>
                    <a:srgbClr val="CA8A04"/>
                  </a:solidFill>
                  <a:latin typeface="Material Icons"/>
                  <a:ea typeface="Material Icons"/>
                  <a:cs typeface="Material Icons"/>
                  <a:sym typeface="Material Icons"/>
                </a:rPr>
                <a:t></a:t>
              </a:r>
              <a:endParaRPr sz="3700">
                <a:solidFill>
                  <a:srgbClr val="CA8A04"/>
                </a:solidFill>
                <a:latin typeface="Material Icons"/>
                <a:ea typeface="Material Icons"/>
                <a:cs typeface="Material Icons"/>
                <a:sym typeface="Material Icons"/>
              </a:endParaRPr>
            </a:p>
          </p:txBody>
        </p:sp>
        <p:sp>
          <p:nvSpPr>
            <p:cNvPr id="123" name="Google Shape;123;p15"/>
            <p:cNvSpPr txBox="1"/>
            <p:nvPr/>
          </p:nvSpPr>
          <p:spPr>
            <a:xfrm>
              <a:off x="1752600" y="6286500"/>
              <a:ext cx="40959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CA8A04"/>
                  </a:solidFill>
                  <a:latin typeface="Inter"/>
                  <a:ea typeface="Inter"/>
                  <a:cs typeface="Inter"/>
                  <a:sym typeface="Inter"/>
                </a:rPr>
                <a:t>Falla en el mensaje</a:t>
              </a:r>
              <a:endParaRPr b="1" sz="2000">
                <a:solidFill>
                  <a:srgbClr val="CA8A04"/>
                </a:solidFill>
                <a:latin typeface="Inter"/>
                <a:ea typeface="Inter"/>
                <a:cs typeface="Inter"/>
                <a:sym typeface="Inter"/>
              </a:endParaRPr>
            </a:p>
            <a:p>
              <a:pPr indent="0" lvl="0" marL="0" rtl="0" algn="l">
                <a:spcBef>
                  <a:spcPts val="900"/>
                </a:spcBef>
                <a:spcAft>
                  <a:spcPts val="0"/>
                </a:spcAft>
                <a:buNone/>
              </a:pPr>
              <a:r>
                <a:rPr b="0" lang="en-US" sz="2000">
                  <a:solidFill>
                    <a:srgbClr val="0A0915"/>
                  </a:solidFill>
                  <a:latin typeface="Inter"/>
                  <a:ea typeface="Inter"/>
                  <a:cs typeface="Inter"/>
                  <a:sym typeface="Inter"/>
                </a:rPr>
                <a:t>Tal vez el gobierno no comunicó bien el valor o la disponibilidad del servicio.</a:t>
              </a:r>
              <a:endParaRPr b="0" sz="2000">
                <a:solidFill>
                  <a:srgbClr val="0A0915"/>
                </a:solidFill>
                <a:latin typeface="Inter"/>
                <a:ea typeface="Inter"/>
                <a:cs typeface="Inter"/>
                <a:sym typeface="Inter"/>
              </a:endParaRPr>
            </a:p>
          </p:txBody>
        </p:sp>
        <p:sp>
          <p:nvSpPr>
            <p:cNvPr id="124" name="Google Shape;124;p15"/>
            <p:cNvSpPr/>
            <p:nvPr/>
          </p:nvSpPr>
          <p:spPr>
            <a:xfrm>
              <a:off x="6715125" y="5143500"/>
              <a:ext cx="4857900" cy="3238500"/>
            </a:xfrm>
            <a:prstGeom prst="roundRect">
              <a:avLst>
                <a:gd fmla="val 7058"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15"/>
            <p:cNvSpPr txBox="1"/>
            <p:nvPr/>
          </p:nvSpPr>
          <p:spPr>
            <a:xfrm>
              <a:off x="7096125" y="5582920"/>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00">
                  <a:solidFill>
                    <a:srgbClr val="CA8A04"/>
                  </a:solidFill>
                  <a:latin typeface="Material Icons"/>
                  <a:ea typeface="Material Icons"/>
                  <a:cs typeface="Material Icons"/>
                  <a:sym typeface="Material Icons"/>
                </a:rPr>
                <a:t></a:t>
              </a:r>
              <a:endParaRPr sz="3700">
                <a:solidFill>
                  <a:srgbClr val="CA8A04"/>
                </a:solidFill>
                <a:latin typeface="Material Icons"/>
                <a:ea typeface="Material Icons"/>
                <a:cs typeface="Material Icons"/>
                <a:sym typeface="Material Icons"/>
              </a:endParaRPr>
            </a:p>
          </p:txBody>
        </p:sp>
        <p:sp>
          <p:nvSpPr>
            <p:cNvPr id="126" name="Google Shape;126;p15"/>
            <p:cNvSpPr txBox="1"/>
            <p:nvPr/>
          </p:nvSpPr>
          <p:spPr>
            <a:xfrm>
              <a:off x="7096125" y="6286500"/>
              <a:ext cx="40959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CA8A04"/>
                  </a:solidFill>
                  <a:latin typeface="Inter"/>
                  <a:ea typeface="Inter"/>
                  <a:cs typeface="Inter"/>
                  <a:sym typeface="Inter"/>
                </a:rPr>
                <a:t>Falta de visibilidad</a:t>
              </a:r>
              <a:endParaRPr b="1" sz="2000">
                <a:solidFill>
                  <a:srgbClr val="CA8A04"/>
                </a:solidFill>
                <a:latin typeface="Inter"/>
                <a:ea typeface="Inter"/>
                <a:cs typeface="Inter"/>
                <a:sym typeface="Inter"/>
              </a:endParaRPr>
            </a:p>
            <a:p>
              <a:pPr indent="0" lvl="0" marL="0" rtl="0" algn="l">
                <a:spcBef>
                  <a:spcPts val="900"/>
                </a:spcBef>
                <a:spcAft>
                  <a:spcPts val="0"/>
                </a:spcAft>
                <a:buNone/>
              </a:pPr>
              <a:r>
                <a:rPr b="0" lang="en-US" sz="2000">
                  <a:solidFill>
                    <a:srgbClr val="0A0915"/>
                  </a:solidFill>
                  <a:latin typeface="Inter"/>
                  <a:ea typeface="Inter"/>
                  <a:cs typeface="Inter"/>
                  <a:sym typeface="Inter"/>
                </a:rPr>
                <a:t>Tal vez el ciudadano simplemente no encuentra el trámite donde espera buscarlo.</a:t>
              </a:r>
              <a:endParaRPr b="0" sz="2000">
                <a:solidFill>
                  <a:srgbClr val="0A0915"/>
                </a:solidFill>
                <a:latin typeface="Inter"/>
                <a:ea typeface="Inter"/>
                <a:cs typeface="Inter"/>
                <a:sym typeface="Inter"/>
              </a:endParaRPr>
            </a:p>
          </p:txBody>
        </p:sp>
        <p:sp>
          <p:nvSpPr>
            <p:cNvPr id="127" name="Google Shape;127;p15"/>
            <p:cNvSpPr/>
            <p:nvPr/>
          </p:nvSpPr>
          <p:spPr>
            <a:xfrm>
              <a:off x="12058650" y="5143500"/>
              <a:ext cx="4857900" cy="3238500"/>
            </a:xfrm>
            <a:prstGeom prst="roundRect">
              <a:avLst>
                <a:gd fmla="val 7058"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5"/>
            <p:cNvSpPr txBox="1"/>
            <p:nvPr/>
          </p:nvSpPr>
          <p:spPr>
            <a:xfrm>
              <a:off x="12439650" y="5582920"/>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00">
                  <a:solidFill>
                    <a:srgbClr val="CA8A04"/>
                  </a:solidFill>
                  <a:latin typeface="Material Icons"/>
                  <a:ea typeface="Material Icons"/>
                  <a:cs typeface="Material Icons"/>
                  <a:sym typeface="Material Icons"/>
                </a:rPr>
                <a:t></a:t>
              </a:r>
              <a:endParaRPr sz="3700">
                <a:solidFill>
                  <a:srgbClr val="CA8A04"/>
                </a:solidFill>
                <a:latin typeface="Material Icons"/>
                <a:ea typeface="Material Icons"/>
                <a:cs typeface="Material Icons"/>
                <a:sym typeface="Material Icons"/>
              </a:endParaRPr>
            </a:p>
          </p:txBody>
        </p:sp>
        <p:sp>
          <p:nvSpPr>
            <p:cNvPr id="129" name="Google Shape;129;p15"/>
            <p:cNvSpPr txBox="1"/>
            <p:nvPr/>
          </p:nvSpPr>
          <p:spPr>
            <a:xfrm>
              <a:off x="12439650" y="6286500"/>
              <a:ext cx="40959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CA8A04"/>
                  </a:solidFill>
                  <a:latin typeface="Inter"/>
                  <a:ea typeface="Inter"/>
                  <a:cs typeface="Inter"/>
                  <a:sym typeface="Inter"/>
                </a:rPr>
                <a:t>Guía deficiente</a:t>
              </a:r>
              <a:endParaRPr b="1" sz="2000">
                <a:solidFill>
                  <a:srgbClr val="CA8A04"/>
                </a:solidFill>
                <a:latin typeface="Inter"/>
                <a:ea typeface="Inter"/>
                <a:cs typeface="Inter"/>
                <a:sym typeface="Inter"/>
              </a:endParaRPr>
            </a:p>
            <a:p>
              <a:pPr indent="0" lvl="0" marL="0" rtl="0" algn="l">
                <a:spcBef>
                  <a:spcPts val="900"/>
                </a:spcBef>
                <a:spcAft>
                  <a:spcPts val="0"/>
                </a:spcAft>
                <a:buNone/>
              </a:pPr>
              <a:r>
                <a:rPr b="0" lang="en-US" sz="2000">
                  <a:solidFill>
                    <a:srgbClr val="0A0915"/>
                  </a:solidFill>
                  <a:latin typeface="Inter"/>
                  <a:ea typeface="Inter"/>
                  <a:cs typeface="Inter"/>
                  <a:sym typeface="Inter"/>
                </a:rPr>
                <a:t>Tal vez la guía pública está mal armada y confunde al usuario en su camino.</a:t>
              </a:r>
              <a:endParaRPr b="0" sz="2000">
                <a:solidFill>
                  <a:srgbClr val="0A0915"/>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6" name="Google Shape;136;p16"/>
          <p:cNvGrpSpPr/>
          <p:nvPr/>
        </p:nvGrpSpPr>
        <p:grpSpPr>
          <a:xfrm>
            <a:off x="1371600" y="762000"/>
            <a:ext cx="15544800" cy="571500"/>
            <a:chOff x="1371600" y="762000"/>
            <a:chExt cx="15544800" cy="571500"/>
          </a:xfrm>
        </p:grpSpPr>
        <p:sp>
          <p:nvSpPr>
            <p:cNvPr id="137" name="Google Shape;137;p16"/>
            <p:cNvSpPr/>
            <p:nvPr/>
          </p:nvSpPr>
          <p:spPr>
            <a:xfrm>
              <a:off x="1371600" y="762000"/>
              <a:ext cx="155448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6"/>
            <p:cNvSpPr txBox="1"/>
            <p:nvPr/>
          </p:nvSpPr>
          <p:spPr>
            <a:xfrm>
              <a:off x="1371600" y="762000"/>
              <a:ext cx="155448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CA8A04"/>
                  </a:solidFill>
                  <a:latin typeface="Inter"/>
                  <a:ea typeface="Inter"/>
                  <a:cs typeface="Inter"/>
                  <a:sym typeface="Inter"/>
                </a:rPr>
                <a:t>OPERACIÓN</a:t>
              </a:r>
              <a:endParaRPr b="1" sz="1800">
                <a:solidFill>
                  <a:srgbClr val="CA8A04"/>
                </a:solidFill>
                <a:latin typeface="Inter"/>
                <a:ea typeface="Inter"/>
                <a:cs typeface="Inter"/>
                <a:sym typeface="Inter"/>
              </a:endParaRPr>
            </a:p>
          </p:txBody>
        </p:sp>
      </p:grpSp>
      <p:sp>
        <p:nvSpPr>
          <p:cNvPr id="139" name="Google Shape;139;p16"/>
          <p:cNvSpPr txBox="1"/>
          <p:nvPr/>
        </p:nvSpPr>
        <p:spPr>
          <a:xfrm>
            <a:off x="1371600" y="1333500"/>
            <a:ext cx="15544800" cy="1423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4625">
                <a:solidFill>
                  <a:srgbClr val="0A0915"/>
                </a:solidFill>
                <a:latin typeface="Inter"/>
                <a:ea typeface="Inter"/>
                <a:cs typeface="Inter"/>
                <a:sym typeface="Inter"/>
              </a:rPr>
              <a:t>Si la operación se traba, el problema está en el flujo o en el equipo</a:t>
            </a:r>
            <a:endParaRPr b="1" sz="4625">
              <a:solidFill>
                <a:srgbClr val="0A0915"/>
              </a:solidFill>
              <a:latin typeface="Inter"/>
              <a:ea typeface="Inter"/>
              <a:cs typeface="Inter"/>
              <a:sym typeface="Inter"/>
            </a:endParaRPr>
          </a:p>
        </p:txBody>
      </p:sp>
      <p:grpSp>
        <p:nvGrpSpPr>
          <p:cNvPr id="140" name="Google Shape;140;p16"/>
          <p:cNvGrpSpPr/>
          <p:nvPr/>
        </p:nvGrpSpPr>
        <p:grpSpPr>
          <a:xfrm>
            <a:off x="1371600" y="3048000"/>
            <a:ext cx="15544800" cy="1524000"/>
            <a:chOff x="1371600" y="3048000"/>
            <a:chExt cx="15544800" cy="1524000"/>
          </a:xfrm>
        </p:grpSpPr>
        <p:sp>
          <p:nvSpPr>
            <p:cNvPr id="141" name="Google Shape;141;p16"/>
            <p:cNvSpPr/>
            <p:nvPr/>
          </p:nvSpPr>
          <p:spPr>
            <a:xfrm>
              <a:off x="1371600" y="3048000"/>
              <a:ext cx="15544800" cy="1524000"/>
            </a:xfrm>
            <a:prstGeom prst="roundRect">
              <a:avLst>
                <a:gd fmla="val 12500"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txBox="1"/>
            <p:nvPr/>
          </p:nvSpPr>
          <p:spPr>
            <a:xfrm>
              <a:off x="1752600" y="3048000"/>
              <a:ext cx="14782800" cy="15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A0915"/>
                  </a:solidFill>
                  <a:latin typeface="Inter"/>
                  <a:ea typeface="Inter"/>
                  <a:cs typeface="Inter"/>
                  <a:sym typeface="Inter"/>
                </a:rPr>
                <a:t>Los tickets por categoría te dicen </a:t>
              </a:r>
              <a:r>
                <a:rPr b="1" lang="en-US" sz="3200">
                  <a:solidFill>
                    <a:srgbClr val="CA8A04"/>
                  </a:solidFill>
                  <a:latin typeface="Inter"/>
                  <a:ea typeface="Inter"/>
                  <a:cs typeface="Inter"/>
                  <a:sym typeface="Inter"/>
                </a:rPr>
                <a:t>exactamente dónde duele.</a:t>
              </a:r>
              <a:endParaRPr b="1" sz="3200">
                <a:solidFill>
                  <a:srgbClr val="0A0915"/>
                </a:solidFill>
                <a:latin typeface="Inter"/>
                <a:ea typeface="Inter"/>
                <a:cs typeface="Inter"/>
                <a:sym typeface="Inter"/>
              </a:endParaRPr>
            </a:p>
          </p:txBody>
        </p:sp>
      </p:grpSp>
      <p:grpSp>
        <p:nvGrpSpPr>
          <p:cNvPr id="143" name="Google Shape;143;p16"/>
          <p:cNvGrpSpPr/>
          <p:nvPr/>
        </p:nvGrpSpPr>
        <p:grpSpPr>
          <a:xfrm>
            <a:off x="1371600" y="5143500"/>
            <a:ext cx="15544950" cy="3619500"/>
            <a:chOff x="1371600" y="5143500"/>
            <a:chExt cx="15544950" cy="3619500"/>
          </a:xfrm>
        </p:grpSpPr>
        <p:sp>
          <p:nvSpPr>
            <p:cNvPr id="144" name="Google Shape;144;p16"/>
            <p:cNvSpPr/>
            <p:nvPr/>
          </p:nvSpPr>
          <p:spPr>
            <a:xfrm>
              <a:off x="1371600" y="5143500"/>
              <a:ext cx="7524900" cy="3619500"/>
            </a:xfrm>
            <a:prstGeom prst="roundRect">
              <a:avLst>
                <a:gd fmla="val 631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6"/>
            <p:cNvSpPr txBox="1"/>
            <p:nvPr/>
          </p:nvSpPr>
          <p:spPr>
            <a:xfrm>
              <a:off x="1752600" y="5524500"/>
              <a:ext cx="67629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CA8A04"/>
                  </a:solidFill>
                  <a:latin typeface="Inter"/>
                  <a:ea typeface="Inter"/>
                  <a:cs typeface="Inter"/>
                  <a:sym typeface="Inter"/>
                </a:rPr>
                <a:t>Problema de Flujo</a:t>
              </a:r>
              <a:endParaRPr b="1" sz="2400">
                <a:solidFill>
                  <a:srgbClr val="CA8A04"/>
                </a:solidFill>
                <a:latin typeface="Inter"/>
                <a:ea typeface="Inter"/>
                <a:cs typeface="Inter"/>
                <a:sym typeface="Inter"/>
              </a:endParaRPr>
            </a:p>
            <a:p>
              <a:pPr indent="0" lvl="0" marL="0" rtl="0" algn="l">
                <a:spcBef>
                  <a:spcPts val="1500"/>
                </a:spcBef>
                <a:spcAft>
                  <a:spcPts val="0"/>
                </a:spcAft>
                <a:buNone/>
              </a:pPr>
              <a:r>
                <a:rPr b="1" lang="en-US" sz="5000">
                  <a:solidFill>
                    <a:srgbClr val="CA8A04"/>
                  </a:solidFill>
                  <a:latin typeface="Material Icons"/>
                  <a:ea typeface="Material Icons"/>
                  <a:cs typeface="Material Icons"/>
                  <a:sym typeface="Material Icons"/>
                </a:rPr>
                <a:t></a:t>
              </a:r>
              <a:endParaRPr b="1" sz="5000">
                <a:solidFill>
                  <a:srgbClr val="CA8A04"/>
                </a:solidFill>
                <a:latin typeface="Material Icons"/>
                <a:ea typeface="Material Icons"/>
                <a:cs typeface="Material Icons"/>
                <a:sym typeface="Material Icons"/>
              </a:endParaRPr>
            </a:p>
            <a:p>
              <a:pPr indent="0" lvl="0" marL="0" rtl="0" algn="l">
                <a:spcBef>
                  <a:spcPts val="1500"/>
                </a:spcBef>
                <a:spcAft>
                  <a:spcPts val="0"/>
                </a:spcAft>
                <a:buNone/>
              </a:pPr>
              <a:r>
                <a:rPr b="0" lang="en-US" sz="1800">
                  <a:solidFill>
                    <a:srgbClr val="0A0915"/>
                  </a:solidFill>
                  <a:latin typeface="Inter"/>
                  <a:ea typeface="Inter"/>
                  <a:cs typeface="Inter"/>
                  <a:sym typeface="Inter"/>
                </a:rPr>
                <a:t>Cuellos de botella en el proceso, pasos innecesarios o falta de automatización que detienen el avance.</a:t>
              </a:r>
              <a:endParaRPr b="0" sz="1800">
                <a:solidFill>
                  <a:srgbClr val="0A0915"/>
                </a:solidFill>
                <a:latin typeface="Inter"/>
                <a:ea typeface="Inter"/>
                <a:cs typeface="Inter"/>
                <a:sym typeface="Inter"/>
              </a:endParaRPr>
            </a:p>
          </p:txBody>
        </p:sp>
        <p:sp>
          <p:nvSpPr>
            <p:cNvPr id="146" name="Google Shape;146;p16"/>
            <p:cNvSpPr/>
            <p:nvPr/>
          </p:nvSpPr>
          <p:spPr>
            <a:xfrm>
              <a:off x="9391650" y="5143500"/>
              <a:ext cx="7524900" cy="3619500"/>
            </a:xfrm>
            <a:prstGeom prst="roundRect">
              <a:avLst>
                <a:gd fmla="val 631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6"/>
            <p:cNvSpPr txBox="1"/>
            <p:nvPr/>
          </p:nvSpPr>
          <p:spPr>
            <a:xfrm>
              <a:off x="9772650" y="5524500"/>
              <a:ext cx="67629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CA8A04"/>
                  </a:solidFill>
                  <a:latin typeface="Inter"/>
                  <a:ea typeface="Inter"/>
                  <a:cs typeface="Inter"/>
                  <a:sym typeface="Inter"/>
                </a:rPr>
                <a:t>Problema de Equipo</a:t>
              </a:r>
              <a:endParaRPr b="1" sz="2400">
                <a:solidFill>
                  <a:srgbClr val="CA8A04"/>
                </a:solidFill>
                <a:latin typeface="Inter"/>
                <a:ea typeface="Inter"/>
                <a:cs typeface="Inter"/>
                <a:sym typeface="Inter"/>
              </a:endParaRPr>
            </a:p>
            <a:p>
              <a:pPr indent="0" lvl="0" marL="0" rtl="0" algn="l">
                <a:spcBef>
                  <a:spcPts val="1500"/>
                </a:spcBef>
                <a:spcAft>
                  <a:spcPts val="0"/>
                </a:spcAft>
                <a:buNone/>
              </a:pPr>
              <a:r>
                <a:rPr b="1" lang="en-US" sz="5000">
                  <a:solidFill>
                    <a:srgbClr val="CA8A04"/>
                  </a:solidFill>
                  <a:latin typeface="Material Icons"/>
                  <a:ea typeface="Material Icons"/>
                  <a:cs typeface="Material Icons"/>
                  <a:sym typeface="Material Icons"/>
                </a:rPr>
                <a:t></a:t>
              </a:r>
              <a:endParaRPr b="1" sz="5000">
                <a:solidFill>
                  <a:srgbClr val="CA8A04"/>
                </a:solidFill>
                <a:latin typeface="Material Icons"/>
                <a:ea typeface="Material Icons"/>
                <a:cs typeface="Material Icons"/>
                <a:sym typeface="Material Icons"/>
              </a:endParaRPr>
            </a:p>
            <a:p>
              <a:pPr indent="0" lvl="0" marL="0" rtl="0" algn="l">
                <a:spcBef>
                  <a:spcPts val="1500"/>
                </a:spcBef>
                <a:spcAft>
                  <a:spcPts val="0"/>
                </a:spcAft>
                <a:buNone/>
              </a:pPr>
              <a:r>
                <a:rPr b="0" lang="en-US" sz="1800">
                  <a:solidFill>
                    <a:srgbClr val="0A0915"/>
                  </a:solidFill>
                  <a:latin typeface="Inter"/>
                  <a:ea typeface="Inter"/>
                  <a:cs typeface="Inter"/>
                  <a:sym typeface="Inter"/>
                </a:rPr>
                <a:t>Falta de capacitación, sobrecarga de tareas o desalineación en las responsabilidades del personal.</a:t>
              </a:r>
              <a:endParaRPr b="0" sz="1800">
                <a:solidFill>
                  <a:srgbClr val="0A0915"/>
                </a:solidFill>
                <a:latin typeface="Inter"/>
                <a:ea typeface="Inter"/>
                <a:cs typeface="Inter"/>
                <a:sym typeface="In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7"/>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17"/>
          <p:cNvSpPr txBox="1"/>
          <p:nvPr/>
        </p:nvSpPr>
        <p:spPr>
          <a:xfrm>
            <a:off x="1371600" y="762000"/>
            <a:ext cx="15544800" cy="800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5200">
                <a:solidFill>
                  <a:srgbClr val="0A0915"/>
                </a:solidFill>
                <a:latin typeface="Inter"/>
                <a:ea typeface="Inter"/>
                <a:cs typeface="Inter"/>
                <a:sym typeface="Inter"/>
              </a:rPr>
              <a:t>La combinación más peligrosa</a:t>
            </a:r>
            <a:endParaRPr b="1" sz="5200">
              <a:solidFill>
                <a:srgbClr val="0A0915"/>
              </a:solidFill>
              <a:latin typeface="Inter"/>
              <a:ea typeface="Inter"/>
              <a:cs typeface="Inter"/>
              <a:sym typeface="Inter"/>
            </a:endParaRPr>
          </a:p>
        </p:txBody>
      </p:sp>
      <p:grpSp>
        <p:nvGrpSpPr>
          <p:cNvPr id="155" name="Google Shape;155;p17"/>
          <p:cNvGrpSpPr/>
          <p:nvPr/>
        </p:nvGrpSpPr>
        <p:grpSpPr>
          <a:xfrm>
            <a:off x="1371600" y="2476500"/>
            <a:ext cx="7524900" cy="4572000"/>
            <a:chOff x="1371600" y="2476500"/>
            <a:chExt cx="7524900" cy="4572000"/>
          </a:xfrm>
        </p:grpSpPr>
        <p:sp>
          <p:nvSpPr>
            <p:cNvPr id="156" name="Google Shape;156;p17"/>
            <p:cNvSpPr/>
            <p:nvPr/>
          </p:nvSpPr>
          <p:spPr>
            <a:xfrm>
              <a:off x="1371600" y="2476500"/>
              <a:ext cx="7524900" cy="4572000"/>
            </a:xfrm>
            <a:prstGeom prst="roundRect">
              <a:avLst>
                <a:gd fmla="val 5000"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 name="Google Shape;157;p17"/>
            <p:cNvSpPr txBox="1"/>
            <p:nvPr/>
          </p:nvSpPr>
          <p:spPr>
            <a:xfrm>
              <a:off x="1752600" y="2857500"/>
              <a:ext cx="67629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888888"/>
                  </a:solidFill>
                  <a:latin typeface="Inter"/>
                  <a:ea typeface="Inter"/>
                  <a:cs typeface="Inter"/>
                  <a:sym typeface="Inter"/>
                </a:rPr>
                <a:t>Calidad alta, adopción baja</a:t>
              </a:r>
              <a:endParaRPr b="1" sz="2000">
                <a:solidFill>
                  <a:srgbClr val="888888"/>
                </a:solidFill>
                <a:latin typeface="Inter"/>
                <a:ea typeface="Inter"/>
                <a:cs typeface="Inter"/>
                <a:sym typeface="Inter"/>
              </a:endParaRPr>
            </a:p>
            <a:p>
              <a:pPr indent="0" lvl="0" marL="0" rtl="0" algn="l">
                <a:spcBef>
                  <a:spcPts val="1500"/>
                </a:spcBef>
                <a:spcAft>
                  <a:spcPts val="0"/>
                </a:spcAft>
                <a:buNone/>
              </a:pPr>
              <a:r>
                <a:rPr lang="en-US" sz="5000">
                  <a:solidFill>
                    <a:srgbClr val="CA8A04"/>
                  </a:solidFill>
                  <a:latin typeface="Material Icons"/>
                  <a:ea typeface="Material Icons"/>
                  <a:cs typeface="Material Icons"/>
                  <a:sym typeface="Material Icons"/>
                </a:rPr>
                <a:t></a:t>
              </a:r>
              <a:endParaRPr sz="5000">
                <a:solidFill>
                  <a:srgbClr val="CA8A04"/>
                </a:solidFill>
                <a:latin typeface="Material Icons"/>
                <a:ea typeface="Material Icons"/>
                <a:cs typeface="Material Icons"/>
                <a:sym typeface="Material Icons"/>
              </a:endParaRPr>
            </a:p>
            <a:p>
              <a:pPr indent="0" lvl="0" marL="0" rtl="0" algn="l">
                <a:spcBef>
                  <a:spcPts val="2250"/>
                </a:spcBef>
                <a:spcAft>
                  <a:spcPts val="0"/>
                </a:spcAft>
                <a:buNone/>
              </a:pPr>
              <a:r>
                <a:rPr b="0" lang="en-US" sz="2800">
                  <a:solidFill>
                    <a:srgbClr val="0A0915"/>
                  </a:solidFill>
                  <a:latin typeface="Inter"/>
                  <a:ea typeface="Inter"/>
                  <a:cs typeface="Inter"/>
                  <a:sym typeface="Inter"/>
                </a:rPr>
                <a:t>Manejable. Trabajas en comunicación y descubribilidad mientras el sistema se mantiene bien.</a:t>
              </a:r>
              <a:endParaRPr b="0" sz="2800">
                <a:solidFill>
                  <a:srgbClr val="0A0915"/>
                </a:solidFill>
                <a:latin typeface="Inter"/>
                <a:ea typeface="Inter"/>
                <a:cs typeface="Inter"/>
                <a:sym typeface="Inter"/>
              </a:endParaRPr>
            </a:p>
          </p:txBody>
        </p:sp>
      </p:grpSp>
      <p:grpSp>
        <p:nvGrpSpPr>
          <p:cNvPr id="158" name="Google Shape;158;p17"/>
          <p:cNvGrpSpPr/>
          <p:nvPr/>
        </p:nvGrpSpPr>
        <p:grpSpPr>
          <a:xfrm>
            <a:off x="9391650" y="2476500"/>
            <a:ext cx="7524900" cy="4572000"/>
            <a:chOff x="9391650" y="2476500"/>
            <a:chExt cx="7524900" cy="4572000"/>
          </a:xfrm>
        </p:grpSpPr>
        <p:sp>
          <p:nvSpPr>
            <p:cNvPr id="159" name="Google Shape;159;p17"/>
            <p:cNvSpPr/>
            <p:nvPr/>
          </p:nvSpPr>
          <p:spPr>
            <a:xfrm>
              <a:off x="9391650" y="2476500"/>
              <a:ext cx="7524900" cy="4572000"/>
            </a:xfrm>
            <a:prstGeom prst="roundRect">
              <a:avLst>
                <a:gd fmla="val 5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7"/>
            <p:cNvSpPr txBox="1"/>
            <p:nvPr/>
          </p:nvSpPr>
          <p:spPr>
            <a:xfrm>
              <a:off x="9772650" y="2857500"/>
              <a:ext cx="67629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FFFFFF"/>
                  </a:solidFill>
                  <a:latin typeface="Inter"/>
                  <a:ea typeface="Inter"/>
                  <a:cs typeface="Inter"/>
                  <a:sym typeface="Inter"/>
                </a:rPr>
                <a:t>Calidad baja con adopción alta</a:t>
              </a:r>
              <a:endParaRPr b="1" sz="2000">
                <a:solidFill>
                  <a:srgbClr val="FFFFFF"/>
                </a:solidFill>
                <a:latin typeface="Inter"/>
                <a:ea typeface="Inter"/>
                <a:cs typeface="Inter"/>
                <a:sym typeface="Inter"/>
              </a:endParaRPr>
            </a:p>
            <a:p>
              <a:pPr indent="0" lvl="0" marL="0" rtl="0" algn="l">
                <a:spcBef>
                  <a:spcPts val="1500"/>
                </a:spcBef>
                <a:spcAft>
                  <a:spcPts val="0"/>
                </a:spcAft>
                <a:buNone/>
              </a:pPr>
              <a:r>
                <a:rPr lang="en-US" sz="5000">
                  <a:solidFill>
                    <a:srgbClr val="FFFFFF"/>
                  </a:solidFill>
                  <a:latin typeface="Material Icons"/>
                  <a:ea typeface="Material Icons"/>
                  <a:cs typeface="Material Icons"/>
                  <a:sym typeface="Material Icons"/>
                </a:rPr>
                <a:t></a:t>
              </a:r>
              <a:endParaRPr sz="5000">
                <a:solidFill>
                  <a:srgbClr val="FFFFFF"/>
                </a:solidFill>
                <a:latin typeface="Material Icons"/>
                <a:ea typeface="Material Icons"/>
                <a:cs typeface="Material Icons"/>
                <a:sym typeface="Material Icons"/>
              </a:endParaRPr>
            </a:p>
            <a:p>
              <a:pPr indent="0" lvl="0" marL="0" rtl="0" algn="l">
                <a:spcBef>
                  <a:spcPts val="2250"/>
                </a:spcBef>
                <a:spcAft>
                  <a:spcPts val="0"/>
                </a:spcAft>
                <a:buNone/>
              </a:pPr>
              <a:r>
                <a:rPr b="1" lang="en-US" sz="2800">
                  <a:solidFill>
                    <a:srgbClr val="FFFFFF"/>
                  </a:solidFill>
                  <a:latin typeface="Inter"/>
                  <a:ea typeface="Inter"/>
                  <a:cs typeface="Inter"/>
                  <a:sym typeface="Inter"/>
                </a:rPr>
                <a:t>Mucha gente pasando por un sistema que no funciona bien.</a:t>
              </a:r>
              <a:endParaRPr b="1" sz="2800">
                <a:solidFill>
                  <a:srgbClr val="FFFFFF"/>
                </a:solidFill>
                <a:latin typeface="Inter"/>
                <a:ea typeface="Inter"/>
                <a:cs typeface="Inter"/>
                <a:sym typeface="Inter"/>
              </a:endParaRPr>
            </a:p>
            <a:p>
              <a:pPr indent="0" lvl="0" marL="0" rtl="0" algn="l">
                <a:spcBef>
                  <a:spcPts val="1125"/>
                </a:spcBef>
                <a:spcAft>
                  <a:spcPts val="0"/>
                </a:spcAft>
                <a:buNone/>
              </a:pPr>
              <a:r>
                <a:rPr b="0" lang="en-US" sz="2400">
                  <a:solidFill>
                    <a:srgbClr val="FFFFFF"/>
                  </a:solidFill>
                  <a:latin typeface="Inter"/>
                  <a:ea typeface="Inter"/>
                  <a:cs typeface="Inter"/>
                  <a:sym typeface="Inter"/>
                </a:rPr>
                <a:t>Frenas cualquier expansión hasta resolverla.</a:t>
              </a:r>
              <a:endParaRPr b="0" sz="2400">
                <a:solidFill>
                  <a:srgbClr val="FFFFFF"/>
                </a:solidFill>
                <a:latin typeface="Inter"/>
                <a:ea typeface="Inter"/>
                <a:cs typeface="Inter"/>
                <a:sym typeface="Inter"/>
              </a:endParaRPr>
            </a:p>
          </p:txBody>
        </p:sp>
      </p:grpSp>
      <p:grpSp>
        <p:nvGrpSpPr>
          <p:cNvPr id="161" name="Google Shape;161;p17"/>
          <p:cNvGrpSpPr/>
          <p:nvPr/>
        </p:nvGrpSpPr>
        <p:grpSpPr>
          <a:xfrm>
            <a:off x="1371600" y="7429500"/>
            <a:ext cx="15544800" cy="1524000"/>
            <a:chOff x="1371600" y="7429500"/>
            <a:chExt cx="15544800" cy="1524000"/>
          </a:xfrm>
        </p:grpSpPr>
        <p:sp>
          <p:nvSpPr>
            <p:cNvPr id="162" name="Google Shape;162;p17"/>
            <p:cNvSpPr/>
            <p:nvPr/>
          </p:nvSpPr>
          <p:spPr>
            <a:xfrm>
              <a:off x="1371600" y="7429500"/>
              <a:ext cx="15544800" cy="1524000"/>
            </a:xfrm>
            <a:prstGeom prst="roundRect">
              <a:avLst>
                <a:gd fmla="val 12500"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7"/>
            <p:cNvSpPr txBox="1"/>
            <p:nvPr/>
          </p:nvSpPr>
          <p:spPr>
            <a:xfrm>
              <a:off x="1752600" y="7429500"/>
              <a:ext cx="14782800" cy="15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A0915"/>
                  </a:solidFill>
                  <a:latin typeface="Inter"/>
                  <a:ea typeface="Inter"/>
                  <a:cs typeface="Inter"/>
                  <a:sym typeface="Inter"/>
                </a:rPr>
                <a:t>El éxito técnico no sirve si no hay </a:t>
              </a:r>
              <a:r>
                <a:rPr b="1" lang="en-US" sz="3200">
                  <a:solidFill>
                    <a:srgbClr val="CA8A04"/>
                  </a:solidFill>
                  <a:latin typeface="Inter"/>
                  <a:ea typeface="Inter"/>
                  <a:cs typeface="Inter"/>
                  <a:sym typeface="Inter"/>
                </a:rPr>
                <a:t>adopción estratégica.</a:t>
              </a:r>
              <a:endParaRPr b="1" sz="3200">
                <a:solidFill>
                  <a:srgbClr val="0A0915"/>
                </a:solidFill>
                <a:latin typeface="Inter"/>
                <a:ea typeface="Inter"/>
                <a:cs typeface="Inter"/>
                <a:sym typeface="Inte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8" name="Shape 168"/>
        <p:cNvGrpSpPr/>
        <p:nvPr/>
      </p:nvGrpSpPr>
      <p:grpSpPr>
        <a:xfrm>
          <a:off x="0" y="0"/>
          <a:ext cx="0" cy="0"/>
          <a:chOff x="0" y="0"/>
          <a:chExt cx="0" cy="0"/>
        </a:xfrm>
      </p:grpSpPr>
      <p:sp>
        <p:nvSpPr>
          <p:cNvPr id="169" name="Google Shape;169;p18"/>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8"/>
          <p:cNvSpPr txBox="1"/>
          <p:nvPr/>
        </p:nvSpPr>
        <p:spPr>
          <a:xfrm>
            <a:off x="1371600" y="762000"/>
            <a:ext cx="15544800" cy="277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i="0" lang="en-US" sz="1800">
                <a:solidFill>
                  <a:srgbClr val="CA8A04"/>
                </a:solidFill>
                <a:latin typeface="Inter"/>
                <a:ea typeface="Inter"/>
                <a:cs typeface="Inter"/>
                <a:sym typeface="Inter"/>
              </a:rPr>
              <a:t>Decisión clave</a:t>
            </a:r>
            <a:endParaRPr b="1" i="0" sz="1800">
              <a:solidFill>
                <a:srgbClr val="CA8A04"/>
              </a:solidFill>
              <a:latin typeface="Inter"/>
              <a:ea typeface="Inter"/>
              <a:cs typeface="Inter"/>
              <a:sym typeface="Inter"/>
            </a:endParaRPr>
          </a:p>
        </p:txBody>
      </p:sp>
      <p:sp>
        <p:nvSpPr>
          <p:cNvPr id="171" name="Google Shape;171;p18"/>
          <p:cNvSpPr txBox="1"/>
          <p:nvPr/>
        </p:nvSpPr>
        <p:spPr>
          <a:xfrm>
            <a:off x="1371600" y="1333500"/>
            <a:ext cx="15544800" cy="1120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3640">
                <a:solidFill>
                  <a:srgbClr val="0A0915"/>
                </a:solidFill>
                <a:latin typeface="Inter"/>
                <a:ea typeface="Inter"/>
                <a:cs typeface="Inter"/>
                <a:sym typeface="Inter"/>
              </a:rPr>
              <a:t>No reportes las nueve métricas.</a:t>
            </a:r>
            <a:endParaRPr b="1" i="0" sz="3640">
              <a:solidFill>
                <a:srgbClr val="0A0915"/>
              </a:solidFill>
              <a:latin typeface="Inter"/>
              <a:ea typeface="Inter"/>
              <a:cs typeface="Inter"/>
              <a:sym typeface="Inter"/>
            </a:endParaRPr>
          </a:p>
          <a:p>
            <a:pPr indent="0" lvl="0" marL="0" rtl="0" algn="l">
              <a:spcBef>
                <a:spcPts val="0"/>
              </a:spcBef>
              <a:spcAft>
                <a:spcPts val="0"/>
              </a:spcAft>
              <a:buNone/>
            </a:pPr>
            <a:r>
              <a:rPr b="1" i="0" lang="en-US" sz="3640">
                <a:solidFill>
                  <a:srgbClr val="CA8A04"/>
                </a:solidFill>
                <a:latin typeface="Inter"/>
                <a:ea typeface="Inter"/>
                <a:cs typeface="Inter"/>
                <a:sym typeface="Inter"/>
              </a:rPr>
              <a:t>Elige tres a cinco</a:t>
            </a:r>
            <a:endParaRPr b="1" i="0" sz="3640">
              <a:solidFill>
                <a:srgbClr val="CA8A04"/>
              </a:solidFill>
              <a:latin typeface="Inter"/>
              <a:ea typeface="Inter"/>
              <a:cs typeface="Inter"/>
              <a:sym typeface="Inter"/>
            </a:endParaRPr>
          </a:p>
        </p:txBody>
      </p:sp>
      <p:sp>
        <p:nvSpPr>
          <p:cNvPr id="172" name="Google Shape;172;p18"/>
          <p:cNvSpPr/>
          <p:nvPr/>
        </p:nvSpPr>
        <p:spPr>
          <a:xfrm>
            <a:off x="1371600" y="2857500"/>
            <a:ext cx="155448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8"/>
          <p:cNvSpPr txBox="1"/>
          <p:nvPr/>
        </p:nvSpPr>
        <p:spPr>
          <a:xfrm>
            <a:off x="1371600" y="3238500"/>
            <a:ext cx="15544800" cy="431100"/>
          </a:xfrm>
          <a:prstGeom prst="rect">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spAutoFit/>
          </a:bodyPr>
          <a:lstStyle/>
          <a:p>
            <a:pPr indent="0" lvl="0" marL="0" rtl="0" algn="l">
              <a:spcBef>
                <a:spcPts val="0"/>
              </a:spcBef>
              <a:spcAft>
                <a:spcPts val="0"/>
              </a:spcAft>
              <a:buNone/>
            </a:pPr>
            <a:r>
              <a:rPr b="1" i="0" lang="en-US" sz="2800">
                <a:solidFill>
                  <a:srgbClr val="0A0915"/>
                </a:solidFill>
                <a:latin typeface="Inter"/>
                <a:ea typeface="Inter"/>
                <a:cs typeface="Inter"/>
                <a:sym typeface="Inter"/>
              </a:rPr>
              <a:t>Que se alineen con la </a:t>
            </a:r>
            <a:r>
              <a:rPr b="1" i="0" lang="en-US" sz="2800">
                <a:solidFill>
                  <a:srgbClr val="CA8A04"/>
                </a:solidFill>
                <a:latin typeface="Inter"/>
                <a:ea typeface="Inter"/>
                <a:cs typeface="Inter"/>
                <a:sym typeface="Inter"/>
              </a:rPr>
              <a:t>narrativa política</a:t>
            </a:r>
            <a:r>
              <a:rPr b="1" i="0" lang="en-US" sz="2800">
                <a:solidFill>
                  <a:srgbClr val="0A0915"/>
                </a:solidFill>
                <a:latin typeface="Inter"/>
                <a:ea typeface="Inter"/>
                <a:cs typeface="Inter"/>
                <a:sym typeface="Inter"/>
              </a:rPr>
              <a:t> del dueño del proyecto.</a:t>
            </a:r>
            <a:endParaRPr b="1" i="0" sz="2800">
              <a:solidFill>
                <a:srgbClr val="0A0915"/>
              </a:solidFill>
              <a:latin typeface="Inter"/>
              <a:ea typeface="Inter"/>
              <a:cs typeface="Inter"/>
              <a:sym typeface="Inter"/>
            </a:endParaRPr>
          </a:p>
        </p:txBody>
      </p:sp>
      <p:grpSp>
        <p:nvGrpSpPr>
          <p:cNvPr id="174" name="Google Shape;174;p18"/>
          <p:cNvGrpSpPr/>
          <p:nvPr/>
        </p:nvGrpSpPr>
        <p:grpSpPr>
          <a:xfrm>
            <a:off x="1371600" y="5143500"/>
            <a:ext cx="15544950" cy="4000500"/>
            <a:chOff x="1371600" y="5143500"/>
            <a:chExt cx="15544950" cy="4000500"/>
          </a:xfrm>
        </p:grpSpPr>
        <p:sp>
          <p:nvSpPr>
            <p:cNvPr id="175" name="Google Shape;175;p18"/>
            <p:cNvSpPr/>
            <p:nvPr/>
          </p:nvSpPr>
          <p:spPr>
            <a:xfrm>
              <a:off x="1371600" y="5143500"/>
              <a:ext cx="7524900" cy="4000500"/>
            </a:xfrm>
            <a:prstGeom prst="roundRect">
              <a:avLst>
                <a:gd fmla="val 5714"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8"/>
            <p:cNvSpPr txBox="1"/>
            <p:nvPr/>
          </p:nvSpPr>
          <p:spPr>
            <a:xfrm>
              <a:off x="1752600" y="5524500"/>
              <a:ext cx="67629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0" lang="en-US" sz="2400">
                  <a:solidFill>
                    <a:srgbClr val="CA8A04"/>
                  </a:solidFill>
                  <a:latin typeface="Inter"/>
                  <a:ea typeface="Inter"/>
                  <a:cs typeface="Inter"/>
                  <a:sym typeface="Inter"/>
                </a:rPr>
                <a:t>Promesa: Reducir filas</a:t>
              </a:r>
              <a:endParaRPr b="1" i="0" sz="2400">
                <a:solidFill>
                  <a:srgbClr val="CA8A04"/>
                </a:solidFill>
                <a:latin typeface="Inter"/>
                <a:ea typeface="Inter"/>
                <a:cs typeface="Inter"/>
                <a:sym typeface="Inter"/>
              </a:endParaRPr>
            </a:p>
            <a:p>
              <a:pPr indent="0" lvl="0" marL="0" rtl="0" algn="l">
                <a:spcBef>
                  <a:spcPts val="1500"/>
                </a:spcBef>
                <a:spcAft>
                  <a:spcPts val="0"/>
                </a:spcAft>
                <a:buNone/>
              </a:pPr>
              <a:r>
                <a:rPr b="1" i="0" lang="en-US" sz="5000">
                  <a:solidFill>
                    <a:srgbClr val="CA8A04"/>
                  </a:solidFill>
                  <a:latin typeface="Material Icons"/>
                  <a:ea typeface="Material Icons"/>
                  <a:cs typeface="Material Icons"/>
                  <a:sym typeface="Material Icons"/>
                </a:rPr>
                <a:t></a:t>
              </a:r>
              <a:endParaRPr b="1" i="0" sz="2400">
                <a:solidFill>
                  <a:srgbClr val="CA8A04"/>
                </a:solidFill>
                <a:latin typeface="Inter"/>
                <a:ea typeface="Inter"/>
                <a:cs typeface="Inter"/>
                <a:sym typeface="Inter"/>
              </a:endParaRPr>
            </a:p>
            <a:p>
              <a:pPr indent="0" lvl="0" marL="0" rtl="0" algn="l">
                <a:spcBef>
                  <a:spcPts val="2200"/>
                </a:spcBef>
                <a:spcAft>
                  <a:spcPts val="0"/>
                </a:spcAft>
                <a:buNone/>
              </a:pPr>
              <a:r>
                <a:rPr b="0" i="0" lang="en-US" sz="1800">
                  <a:solidFill>
                    <a:srgbClr val="0A0915"/>
                  </a:solidFill>
                  <a:latin typeface="Inter"/>
                  <a:ea typeface="Inter"/>
                  <a:cs typeface="Inter"/>
                  <a:sym typeface="Inter"/>
                </a:rPr>
                <a:t>Priorizá tiempo de resolución y trámites iniciados.</a:t>
              </a:r>
              <a:endParaRPr b="0" i="0" sz="1800">
                <a:solidFill>
                  <a:srgbClr val="0A0915"/>
                </a:solidFill>
                <a:latin typeface="Inter"/>
                <a:ea typeface="Inter"/>
                <a:cs typeface="Inter"/>
                <a:sym typeface="Inter"/>
              </a:endParaRPr>
            </a:p>
          </p:txBody>
        </p:sp>
        <p:sp>
          <p:nvSpPr>
            <p:cNvPr id="177" name="Google Shape;177;p18"/>
            <p:cNvSpPr/>
            <p:nvPr/>
          </p:nvSpPr>
          <p:spPr>
            <a:xfrm>
              <a:off x="9391650" y="5143500"/>
              <a:ext cx="7524900" cy="4000500"/>
            </a:xfrm>
            <a:prstGeom prst="roundRect">
              <a:avLst>
                <a:gd fmla="val 5714"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18"/>
            <p:cNvSpPr txBox="1"/>
            <p:nvPr/>
          </p:nvSpPr>
          <p:spPr>
            <a:xfrm>
              <a:off x="9772650" y="5524500"/>
              <a:ext cx="67629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0" lang="en-US" sz="2400">
                  <a:solidFill>
                    <a:srgbClr val="CA8A04"/>
                  </a:solidFill>
                  <a:latin typeface="Inter"/>
                  <a:ea typeface="Inter"/>
                  <a:cs typeface="Inter"/>
                  <a:sym typeface="Inter"/>
                </a:rPr>
                <a:t>Promesa: Inclusión digital</a:t>
              </a:r>
              <a:endParaRPr b="1" i="0" sz="2400">
                <a:solidFill>
                  <a:srgbClr val="CA8A04"/>
                </a:solidFill>
                <a:latin typeface="Inter"/>
                <a:ea typeface="Inter"/>
                <a:cs typeface="Inter"/>
                <a:sym typeface="Inter"/>
              </a:endParaRPr>
            </a:p>
            <a:p>
              <a:pPr indent="0" lvl="0" marL="0" rtl="0" algn="l">
                <a:spcBef>
                  <a:spcPts val="1500"/>
                </a:spcBef>
                <a:spcAft>
                  <a:spcPts val="0"/>
                </a:spcAft>
                <a:buNone/>
              </a:pPr>
              <a:r>
                <a:rPr b="1" i="0" lang="en-US" sz="5000">
                  <a:solidFill>
                    <a:srgbClr val="CA8A04"/>
                  </a:solidFill>
                  <a:latin typeface="Material Icons"/>
                  <a:ea typeface="Material Icons"/>
                  <a:cs typeface="Material Icons"/>
                  <a:sym typeface="Material Icons"/>
                </a:rPr>
                <a:t></a:t>
              </a:r>
              <a:endParaRPr b="1" i="0" sz="2400">
                <a:solidFill>
                  <a:srgbClr val="CA8A04"/>
                </a:solidFill>
                <a:latin typeface="Inter"/>
                <a:ea typeface="Inter"/>
                <a:cs typeface="Inter"/>
                <a:sym typeface="Inter"/>
              </a:endParaRPr>
            </a:p>
            <a:p>
              <a:pPr indent="0" lvl="0" marL="0" rtl="0" algn="l">
                <a:spcBef>
                  <a:spcPts val="2200"/>
                </a:spcBef>
                <a:spcAft>
                  <a:spcPts val="0"/>
                </a:spcAft>
                <a:buNone/>
              </a:pPr>
              <a:r>
                <a:rPr b="0" i="0" lang="en-US" sz="1800">
                  <a:solidFill>
                    <a:srgbClr val="0A0915"/>
                  </a:solidFill>
                  <a:latin typeface="Inter"/>
                  <a:ea typeface="Inter"/>
                  <a:cs typeface="Inter"/>
                  <a:sym typeface="Inter"/>
                </a:rPr>
                <a:t>Usuarios registrados vs padrón.</a:t>
              </a:r>
              <a:endParaRPr b="0" i="0" sz="1800">
                <a:solidFill>
                  <a:srgbClr val="0A0915"/>
                </a:solidFill>
                <a:latin typeface="Inter"/>
                <a:ea typeface="Inter"/>
                <a:cs typeface="Inter"/>
                <a:sym typeface="Inte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9"/>
          <p:cNvSpPr txBox="1"/>
          <p:nvPr/>
        </p:nvSpPr>
        <p:spPr>
          <a:xfrm>
            <a:off x="7772400" y="1371600"/>
            <a:ext cx="2743200" cy="2743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i="0" lang="en-US" sz="18000" u="none" cap="none" strike="noStrike">
                <a:solidFill>
                  <a:srgbClr val="CA8A04"/>
                </a:solidFill>
                <a:latin typeface="Inter"/>
                <a:ea typeface="Inter"/>
                <a:cs typeface="Inter"/>
                <a:sym typeface="Inter"/>
              </a:rPr>
              <a:t>“</a:t>
            </a:r>
            <a:endParaRPr/>
          </a:p>
        </p:txBody>
      </p:sp>
      <p:sp>
        <p:nvSpPr>
          <p:cNvPr id="185" name="Google Shape;185;p19"/>
          <p:cNvSpPr txBox="1"/>
          <p:nvPr/>
        </p:nvSpPr>
        <p:spPr>
          <a:xfrm>
            <a:off x="1371600" y="4114800"/>
            <a:ext cx="15544800" cy="3657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4400" u="none" cap="none" strike="noStrike">
                <a:solidFill>
                  <a:srgbClr val="0A0915"/>
                </a:solidFill>
                <a:latin typeface="Inter"/>
                <a:ea typeface="Inter"/>
                <a:cs typeface="Inter"/>
                <a:sym typeface="Inter"/>
              </a:rPr>
              <a:t>La métrica correcta es la que el dueño del proyecto</a:t>
            </a:r>
            <a:endParaRPr/>
          </a:p>
          <a:p>
            <a:pPr indent="0" lvl="0" marL="0" marR="0" rtl="0" algn="ctr">
              <a:lnSpc>
                <a:spcPct val="130000"/>
              </a:lnSpc>
              <a:spcBef>
                <a:spcPts val="0"/>
              </a:spcBef>
              <a:spcAft>
                <a:spcPts val="0"/>
              </a:spcAft>
              <a:buNone/>
            </a:pPr>
            <a:r>
              <a:rPr b="1" i="0" lang="en-US" sz="4400" u="none" cap="none" strike="noStrike">
                <a:solidFill>
                  <a:srgbClr val="0A0915"/>
                </a:solidFill>
                <a:latin typeface="Inter"/>
                <a:ea typeface="Inter"/>
                <a:cs typeface="Inter"/>
                <a:sym typeface="Inter"/>
              </a:rPr>
              <a:t>puede llevar a su jefe sin traducir.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0"/>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2" name="Google Shape;192;p20"/>
          <p:cNvGrpSpPr/>
          <p:nvPr/>
        </p:nvGrpSpPr>
        <p:grpSpPr>
          <a:xfrm>
            <a:off x="1371600" y="762000"/>
            <a:ext cx="15544800" cy="2000400"/>
            <a:chOff x="1371600" y="762000"/>
            <a:chExt cx="15544800" cy="2000400"/>
          </a:xfrm>
        </p:grpSpPr>
        <p:sp>
          <p:nvSpPr>
            <p:cNvPr id="193" name="Google Shape;193;p20"/>
            <p:cNvSpPr txBox="1"/>
            <p:nvPr/>
          </p:nvSpPr>
          <p:spPr>
            <a:xfrm>
              <a:off x="1371600" y="762000"/>
              <a:ext cx="155448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CA8A04"/>
                  </a:solidFill>
                  <a:latin typeface="Inter"/>
                  <a:ea typeface="Inter"/>
                  <a:cs typeface="Inter"/>
                  <a:sym typeface="Inter"/>
                </a:rPr>
                <a:t>Cuándo expandir</a:t>
              </a:r>
              <a:endParaRPr b="1" sz="1800">
                <a:solidFill>
                  <a:srgbClr val="CA8A04"/>
                </a:solidFill>
                <a:latin typeface="Inter"/>
                <a:ea typeface="Inter"/>
                <a:cs typeface="Inter"/>
                <a:sym typeface="Inter"/>
              </a:endParaRPr>
            </a:p>
          </p:txBody>
        </p:sp>
        <p:sp>
          <p:nvSpPr>
            <p:cNvPr id="194" name="Google Shape;194;p20"/>
            <p:cNvSpPr txBox="1"/>
            <p:nvPr/>
          </p:nvSpPr>
          <p:spPr>
            <a:xfrm>
              <a:off x="1371600" y="1333500"/>
              <a:ext cx="155448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4440">
                  <a:solidFill>
                    <a:srgbClr val="0A0915"/>
                  </a:solidFill>
                  <a:latin typeface="Inter"/>
                  <a:ea typeface="Inter"/>
                  <a:cs typeface="Inter"/>
                  <a:sym typeface="Inter"/>
                </a:rPr>
                <a:t>Solo cuando la operación actual sea estable</a:t>
              </a:r>
              <a:endParaRPr b="1" sz="4440">
                <a:solidFill>
                  <a:srgbClr val="0A0915"/>
                </a:solidFill>
                <a:latin typeface="Inter"/>
                <a:ea typeface="Inter"/>
                <a:cs typeface="Inter"/>
                <a:sym typeface="Inter"/>
              </a:endParaRPr>
            </a:p>
            <a:p>
              <a:pPr indent="0" lvl="0" marL="0" rtl="0" algn="l">
                <a:spcBef>
                  <a:spcPts val="0"/>
                </a:spcBef>
                <a:spcAft>
                  <a:spcPts val="0"/>
                </a:spcAft>
                <a:buNone/>
              </a:pPr>
              <a:r>
                <a:rPr b="1" lang="en-US" sz="4440">
                  <a:solidFill>
                    <a:srgbClr val="CA8A04"/>
                  </a:solidFill>
                  <a:latin typeface="Inter"/>
                  <a:ea typeface="Inter"/>
                  <a:cs typeface="Inter"/>
                  <a:sym typeface="Inter"/>
                </a:rPr>
                <a:t>y el gobierno confíe en ella</a:t>
              </a:r>
              <a:endParaRPr b="1" sz="4440">
                <a:solidFill>
                  <a:srgbClr val="CA8A04"/>
                </a:solidFill>
                <a:latin typeface="Inter"/>
                <a:ea typeface="Inter"/>
                <a:cs typeface="Inter"/>
                <a:sym typeface="Inter"/>
              </a:endParaRPr>
            </a:p>
          </p:txBody>
        </p:sp>
      </p:grpSp>
      <p:grpSp>
        <p:nvGrpSpPr>
          <p:cNvPr id="195" name="Google Shape;195;p20"/>
          <p:cNvGrpSpPr/>
          <p:nvPr/>
        </p:nvGrpSpPr>
        <p:grpSpPr>
          <a:xfrm>
            <a:off x="1371600" y="3238500"/>
            <a:ext cx="7524900" cy="4572000"/>
            <a:chOff x="1371600" y="3238500"/>
            <a:chExt cx="7524900" cy="4572000"/>
          </a:xfrm>
        </p:grpSpPr>
        <p:sp>
          <p:nvSpPr>
            <p:cNvPr id="196" name="Google Shape;196;p20"/>
            <p:cNvSpPr/>
            <p:nvPr/>
          </p:nvSpPr>
          <p:spPr>
            <a:xfrm>
              <a:off x="1371600" y="3238500"/>
              <a:ext cx="7524900" cy="4572000"/>
            </a:xfrm>
            <a:prstGeom prst="roundRect">
              <a:avLst>
                <a:gd fmla="val 5000"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20"/>
            <p:cNvSpPr txBox="1"/>
            <p:nvPr/>
          </p:nvSpPr>
          <p:spPr>
            <a:xfrm>
              <a:off x="1752600" y="3619500"/>
              <a:ext cx="67629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CA8A04"/>
                  </a:solidFill>
                  <a:latin typeface="Inter"/>
                  <a:ea typeface="Inter"/>
                  <a:cs typeface="Inter"/>
                  <a:sym typeface="Inter"/>
                </a:rPr>
                <a:t>Operación Estable</a:t>
              </a:r>
              <a:endParaRPr b="1" sz="2400">
                <a:solidFill>
                  <a:srgbClr val="CA8A04"/>
                </a:solidFill>
                <a:latin typeface="Inter"/>
                <a:ea typeface="Inter"/>
                <a:cs typeface="Inter"/>
                <a:sym typeface="Inter"/>
              </a:endParaRPr>
            </a:p>
            <a:p>
              <a:pPr indent="0" lvl="0" marL="0" rtl="0" algn="l">
                <a:spcBef>
                  <a:spcPts val="1500"/>
                </a:spcBef>
                <a:spcAft>
                  <a:spcPts val="0"/>
                </a:spcAft>
                <a:buNone/>
              </a:pPr>
              <a:r>
                <a:rPr b="0" lang="en-US" sz="5000">
                  <a:solidFill>
                    <a:srgbClr val="CA8A04"/>
                  </a:solidFill>
                  <a:latin typeface="Material Icons"/>
                  <a:ea typeface="Material Icons"/>
                  <a:cs typeface="Material Icons"/>
                  <a:sym typeface="Material Icons"/>
                </a:rPr>
                <a:t></a:t>
              </a:r>
              <a:endParaRPr b="1" sz="2400">
                <a:solidFill>
                  <a:srgbClr val="0A0915"/>
                </a:solidFill>
                <a:latin typeface="Inter"/>
                <a:ea typeface="Inter"/>
                <a:cs typeface="Inter"/>
                <a:sym typeface="Inter"/>
              </a:endParaRPr>
            </a:p>
            <a:p>
              <a:pPr indent="0" lvl="0" marL="0" rtl="0" algn="l">
                <a:spcBef>
                  <a:spcPts val="2250"/>
                </a:spcBef>
                <a:spcAft>
                  <a:spcPts val="0"/>
                </a:spcAft>
                <a:buNone/>
              </a:pPr>
              <a:r>
                <a:rPr b="0" lang="en-US" sz="2000">
                  <a:solidFill>
                    <a:srgbClr val="0A0915"/>
                  </a:solidFill>
                  <a:latin typeface="Inter"/>
                  <a:ea typeface="Inter"/>
                  <a:cs typeface="Inter"/>
                  <a:sym typeface="Inter"/>
                </a:rPr>
                <a:t>Si todavía hay bugs abiertos o Nivel 1 está apagando incendios, expandir es sumar fuego al problema actual.</a:t>
              </a:r>
              <a:endParaRPr b="0" sz="2000">
                <a:solidFill>
                  <a:srgbClr val="0A0915"/>
                </a:solidFill>
                <a:latin typeface="Inter"/>
                <a:ea typeface="Inter"/>
                <a:cs typeface="Inter"/>
                <a:sym typeface="Inter"/>
              </a:endParaRPr>
            </a:p>
          </p:txBody>
        </p:sp>
      </p:grpSp>
      <p:grpSp>
        <p:nvGrpSpPr>
          <p:cNvPr id="198" name="Google Shape;198;p20"/>
          <p:cNvGrpSpPr/>
          <p:nvPr/>
        </p:nvGrpSpPr>
        <p:grpSpPr>
          <a:xfrm>
            <a:off x="9391650" y="3238500"/>
            <a:ext cx="7524900" cy="4572000"/>
            <a:chOff x="9391650" y="3238500"/>
            <a:chExt cx="7524900" cy="4572000"/>
          </a:xfrm>
        </p:grpSpPr>
        <p:sp>
          <p:nvSpPr>
            <p:cNvPr id="199" name="Google Shape;199;p20"/>
            <p:cNvSpPr/>
            <p:nvPr/>
          </p:nvSpPr>
          <p:spPr>
            <a:xfrm>
              <a:off x="9391650" y="3238500"/>
              <a:ext cx="7524900" cy="4572000"/>
            </a:xfrm>
            <a:prstGeom prst="roundRect">
              <a:avLst>
                <a:gd fmla="val 5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20"/>
            <p:cNvSpPr txBox="1"/>
            <p:nvPr/>
          </p:nvSpPr>
          <p:spPr>
            <a:xfrm>
              <a:off x="9772650" y="3619500"/>
              <a:ext cx="67629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FFFFFF"/>
                  </a:solidFill>
                  <a:latin typeface="Inter"/>
                  <a:ea typeface="Inter"/>
                  <a:cs typeface="Inter"/>
                  <a:sym typeface="Inter"/>
                </a:rPr>
                <a:t>Confianza Política</a:t>
              </a:r>
              <a:endParaRPr b="1" sz="2400">
                <a:solidFill>
                  <a:srgbClr val="FFFFFF"/>
                </a:solidFill>
                <a:latin typeface="Inter"/>
                <a:ea typeface="Inter"/>
                <a:cs typeface="Inter"/>
                <a:sym typeface="Inter"/>
              </a:endParaRPr>
            </a:p>
            <a:p>
              <a:pPr indent="0" lvl="0" marL="0" rtl="0" algn="l">
                <a:spcBef>
                  <a:spcPts val="1500"/>
                </a:spcBef>
                <a:spcAft>
                  <a:spcPts val="0"/>
                </a:spcAft>
                <a:buNone/>
              </a:pPr>
              <a:r>
                <a:rPr b="0" lang="en-US" sz="5000">
                  <a:solidFill>
                    <a:srgbClr val="FFFFFF"/>
                  </a:solidFill>
                  <a:latin typeface="Material Icons"/>
                  <a:ea typeface="Material Icons"/>
                  <a:cs typeface="Material Icons"/>
                  <a:sym typeface="Material Icons"/>
                </a:rPr>
                <a:t></a:t>
              </a:r>
              <a:endParaRPr b="1" sz="2400">
                <a:solidFill>
                  <a:srgbClr val="FFFFFF"/>
                </a:solidFill>
                <a:latin typeface="Inter"/>
                <a:ea typeface="Inter"/>
                <a:cs typeface="Inter"/>
                <a:sym typeface="Inter"/>
              </a:endParaRPr>
            </a:p>
            <a:p>
              <a:pPr indent="0" lvl="0" marL="0" rtl="0" algn="l">
                <a:spcBef>
                  <a:spcPts val="2250"/>
                </a:spcBef>
                <a:spcAft>
                  <a:spcPts val="0"/>
                </a:spcAft>
                <a:buNone/>
              </a:pPr>
              <a:r>
                <a:rPr b="0" lang="en-US" sz="2000">
                  <a:solidFill>
                    <a:srgbClr val="FFFFFF"/>
                  </a:solidFill>
                  <a:latin typeface="Inter"/>
                  <a:ea typeface="Inter"/>
                  <a:cs typeface="Inter"/>
                  <a:sym typeface="Inter"/>
                </a:rPr>
                <a:t>El gobierno casi siempre va a querer agregar más trámites apenas vea que los primeros funcionan. La confianza es tu activo más valioso.</a:t>
              </a:r>
              <a:endParaRPr b="0" sz="2000">
                <a:solidFill>
                  <a:srgbClr val="FFFFFF"/>
                </a:solidFill>
                <a:latin typeface="Inter"/>
                <a:ea typeface="Inter"/>
                <a:cs typeface="Inter"/>
                <a:sym typeface="Inter"/>
              </a:endParaRPr>
            </a:p>
          </p:txBody>
        </p:sp>
      </p:grpSp>
      <p:grpSp>
        <p:nvGrpSpPr>
          <p:cNvPr id="201" name="Google Shape;201;p20"/>
          <p:cNvGrpSpPr/>
          <p:nvPr/>
        </p:nvGrpSpPr>
        <p:grpSpPr>
          <a:xfrm>
            <a:off x="1371600" y="8191500"/>
            <a:ext cx="15544800" cy="1143000"/>
            <a:chOff x="1371600" y="8191500"/>
            <a:chExt cx="15544800" cy="1143000"/>
          </a:xfrm>
        </p:grpSpPr>
        <p:sp>
          <p:nvSpPr>
            <p:cNvPr id="202" name="Google Shape;202;p20"/>
            <p:cNvSpPr/>
            <p:nvPr/>
          </p:nvSpPr>
          <p:spPr>
            <a:xfrm>
              <a:off x="1371600" y="8191500"/>
              <a:ext cx="15544800" cy="1143000"/>
            </a:xfrm>
            <a:prstGeom prst="roundRect">
              <a:avLst>
                <a:gd fmla="val 16666"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20"/>
            <p:cNvSpPr txBox="1"/>
            <p:nvPr/>
          </p:nvSpPr>
          <p:spPr>
            <a:xfrm>
              <a:off x="1752600" y="8191500"/>
              <a:ext cx="147828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0A0915"/>
                  </a:solidFill>
                  <a:latin typeface="Inter"/>
                  <a:ea typeface="Inter"/>
                  <a:cs typeface="Inter"/>
                  <a:sym typeface="Inter"/>
                </a:rPr>
                <a:t>Recuerda: </a:t>
              </a:r>
              <a:r>
                <a:rPr b="1" lang="en-US" sz="2200">
                  <a:solidFill>
                    <a:srgbClr val="CA8A04"/>
                  </a:solidFill>
                  <a:latin typeface="Inter"/>
                  <a:ea typeface="Inter"/>
                  <a:cs typeface="Inter"/>
                  <a:sym typeface="Inter"/>
                </a:rPr>
                <a:t>La calidad precede a la expansión.</a:t>
              </a:r>
              <a:r>
                <a:rPr b="1" lang="en-US" sz="2200">
                  <a:solidFill>
                    <a:srgbClr val="0A0915"/>
                  </a:solidFill>
                  <a:latin typeface="Inter"/>
                  <a:ea typeface="Inter"/>
                  <a:cs typeface="Inter"/>
                  <a:sym typeface="Inter"/>
                </a:rPr>
                <a:t> No permitas que la urgencia política comprometa la estabilidad técnica.</a:t>
              </a:r>
              <a:endParaRPr b="1" sz="2200">
                <a:solidFill>
                  <a:srgbClr val="0A0915"/>
                </a:solidFill>
                <a:latin typeface="Inter"/>
                <a:ea typeface="Inter"/>
                <a:cs typeface="Inter"/>
                <a:sym typeface="Inte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1"/>
          <p:cNvSpPr/>
          <p:nvPr/>
        </p:nvSpPr>
        <p:spPr>
          <a:xfrm>
            <a:off x="0" y="0"/>
            <a:ext cx="18288000" cy="10287000"/>
          </a:xfrm>
          <a:prstGeom prst="rect">
            <a:avLst/>
          </a:prstGeom>
          <a:solidFill>
            <a:srgbClr val="CA8A0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21"/>
          <p:cNvSpPr txBox="1"/>
          <p:nvPr/>
        </p:nvSpPr>
        <p:spPr>
          <a:xfrm>
            <a:off x="1371600" y="3200400"/>
            <a:ext cx="15544800" cy="646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4200" u="none" cap="none" strike="noStrike">
                <a:solidFill>
                  <a:srgbClr val="FFFFFF"/>
                </a:solidFill>
                <a:latin typeface="Inter"/>
                <a:ea typeface="Inter"/>
                <a:cs typeface="Inter"/>
                <a:sym typeface="Inter"/>
              </a:rPr>
              <a:t>Las métricas no se reportan todas</a:t>
            </a:r>
            <a:endParaRPr/>
          </a:p>
        </p:txBody>
      </p:sp>
      <p:sp>
        <p:nvSpPr>
          <p:cNvPr id="211" name="Google Shape;211;p21"/>
          <p:cNvSpPr txBox="1"/>
          <p:nvPr/>
        </p:nvSpPr>
        <p:spPr>
          <a:xfrm>
            <a:off x="1371600" y="4754880"/>
            <a:ext cx="15544800" cy="22860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800" u="none" cap="none" strike="noStrike">
                <a:solidFill>
                  <a:srgbClr val="FFFFFF"/>
                </a:solidFill>
                <a:latin typeface="Inter"/>
                <a:ea typeface="Inter"/>
                <a:cs typeface="Inter"/>
                <a:sym typeface="Inter"/>
              </a:rPr>
              <a:t>Se eligen las tres que cuentan</a:t>
            </a:r>
            <a:endParaRPr/>
          </a:p>
        </p:txBody>
      </p:sp>
      <p:sp>
        <p:nvSpPr>
          <p:cNvPr id="212" name="Google Shape;212;p21"/>
          <p:cNvSpPr txBox="1"/>
          <p:nvPr/>
        </p:nvSpPr>
        <p:spPr>
          <a:xfrm>
            <a:off x="1371600" y="7315200"/>
            <a:ext cx="15544800" cy="10972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000" u="none" cap="none" strike="noStrike">
                <a:solidFill>
                  <a:srgbClr val="FFFFFF"/>
                </a:solidFill>
                <a:latin typeface="Inter"/>
                <a:ea typeface="Inter"/>
                <a:cs typeface="Inter"/>
                <a:sym typeface="Inter"/>
              </a:rPr>
              <a:t>la historia que el gobierno necesita contar.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