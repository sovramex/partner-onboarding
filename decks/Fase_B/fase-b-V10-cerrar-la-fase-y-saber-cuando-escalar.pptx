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10287000" cx="18288000"/>
  <p:notesSz cx="6858000" cy="9144000"/>
  <p:embeddedFontLst>
    <p:embeddedFont>
      <p:font typeface="Inter"/>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Inter-bold.fntdata"/><Relationship Id="rId12" Type="http://schemas.openxmlformats.org/officeDocument/2006/relationships/font" Target="fonts/Inter-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boldItalic.fntdata"/><Relationship Id="rId14"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10.0s · 25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Antes de avanzar a Fase C necesitás cerrar once items del checklist. Vale la pena que los conozcas como una unidad, no como tareas sueltas.</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23.2s · 58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Los dos primeros son las capacitaciones. La conceptual completada, con el equipo core entendiendo identidad digital y ventanilla. Y la funcional completada, con los especialistas operando la plataforma. Los siguientes tres son de definición: los trámites priorizados y aprobados por el dueño del proyecto, la gobernanza definida con roles asignados, y las integraciones definidas con plan técnico acordado.</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26.4s · 66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Después vienen tres de habilitación: el equipo core con accesos a la instancia y manuales, la reunión técnica completada con arquitectura y APIs revisadas, y el dominio en progreso con estado verificado. Y los últimos tres son lo que pasa en paralelo: la instancia base configurada con identidad, imagen, catálogos y usuarios, los diccionarios de datos entregados o en proceso, y los roles verificados y vigentes.</a:t>
            </a:r>
            <a:endParaRPr/>
          </a:p>
        </p:txBody>
      </p:sp>
      <p:sp>
        <p:nvSpPr>
          <p:cNvPr id="119" name="Google Shape;119;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33.6s · 84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instancia base merece un comentario. Configurarla no se deja para después de las capacitaciones, se hace en paralelo. Apariencia, catálogos iniciales, usuarios del equipo core, módulos activos. Cuando llegas a la Fase C con la instancia ya identificada como del gobierno, el modelado arranca con velocidad. Y los roles vigentes son una verificación silenciosa pero importante. ¿Alguien del equipo cambió desde la Fase A? ¿Alguien terminó absorbiendo más de dos roles por necesidad? Si la respuesta es sí, lo flageás antes de avanzar.</a:t>
            </a:r>
            <a:endParaRPr/>
          </a:p>
        </p:txBody>
      </p:sp>
      <p:sp>
        <p:nvSpPr>
          <p:cNvPr id="150" name="Google Shape;15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27.6s · 69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Hay cuatro situaciones donde escalas a Sovra y no las resuelves solo. Cuando el gobierno no puede priorizar trámites por bloqueo político. Cuando las integraciones exceden tu capacidad técnica. Cuando el equipo core no se apropia de la plataforma después de las capacitaciones. Y cuando el técnico no se asigna después de dos semanas. En cualquiera de las cuatro, escribes a Sovra. Para eso está el modelo de soporte.</a:t>
            </a:r>
            <a:endParaRPr/>
          </a:p>
        </p:txBody>
      </p:sp>
      <p:sp>
        <p:nvSpPr>
          <p:cNvPr id="160" name="Google Shape;160;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11.2s · 28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 avances a Fase C con items abiertos. Cada checkbox sin marcar es un problema que te alcanza en semana siete u ocho, cuando ya no hay margen.</a:t>
            </a:r>
            <a:endParaRPr/>
          </a:p>
        </p:txBody>
      </p:sp>
      <p:sp>
        <p:nvSpPr>
          <p:cNvPr id="184" name="Google Shape;18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18288000" cy="228600"/>
          </a:xfrm>
          <a:prstGeom prst="rect">
            <a:avLst/>
          </a:prstGeom>
          <a:solidFill>
            <a:srgbClr val="7C3AE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1371600" y="3200400"/>
            <a:ext cx="1554480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7C3AED"/>
                </a:solidFill>
                <a:latin typeface="Inter"/>
                <a:ea typeface="Inter"/>
                <a:cs typeface="Inter"/>
                <a:sym typeface="Inter"/>
              </a:rPr>
              <a:t>FASE B</a:t>
            </a:r>
            <a:endParaRPr/>
          </a:p>
        </p:txBody>
      </p:sp>
      <p:sp>
        <p:nvSpPr>
          <p:cNvPr id="87" name="Google Shape;87;p13"/>
          <p:cNvSpPr txBox="1"/>
          <p:nvPr/>
        </p:nvSpPr>
        <p:spPr>
          <a:xfrm>
            <a:off x="1371600" y="3840480"/>
            <a:ext cx="15544800" cy="2586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Cerrar la fase</a:t>
            </a:r>
            <a:endParaRPr/>
          </a:p>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y saber cuándo escalar</a:t>
            </a:r>
            <a:endParaRPr/>
          </a:p>
        </p:txBody>
      </p:sp>
      <p:sp>
        <p:nvSpPr>
          <p:cNvPr id="88" name="Google Shape;88;p13"/>
          <p:cNvSpPr txBox="1"/>
          <p:nvPr/>
        </p:nvSpPr>
        <p:spPr>
          <a:xfrm>
            <a:off x="1371600" y="6517900"/>
            <a:ext cx="15544800" cy="338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200" u="none" cap="none" strike="noStrike">
                <a:solidFill>
                  <a:srgbClr val="888888"/>
                </a:solidFill>
                <a:latin typeface="Inter"/>
                <a:ea typeface="Inter"/>
                <a:cs typeface="Inter"/>
                <a:sym typeface="Inter"/>
              </a:rPr>
              <a:t>11 items del checklist antes de avanzar a Fase C. Conviene conocerlos como una unidad.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 name="Shape 93"/>
        <p:cNvGrpSpPr/>
        <p:nvPr/>
      </p:nvGrpSpPr>
      <p:grpSpPr>
        <a:xfrm>
          <a:off x="0" y="0"/>
          <a:ext cx="0" cy="0"/>
          <a:chOff x="0" y="0"/>
          <a:chExt cx="0" cy="0"/>
        </a:xfrm>
      </p:grpSpPr>
      <p:sp>
        <p:nvSpPr>
          <p:cNvPr id="94" name="Google Shape;94;p14"/>
          <p:cNvSpPr/>
          <p:nvPr/>
        </p:nvSpPr>
        <p:spPr>
          <a:xfrm>
            <a:off x="0" y="0"/>
            <a:ext cx="18288000" cy="228600"/>
          </a:xfrm>
          <a:prstGeom prst="rect">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4"/>
          <p:cNvSpPr txBox="1"/>
          <p:nvPr/>
        </p:nvSpPr>
        <p:spPr>
          <a:xfrm>
            <a:off x="1371600" y="762000"/>
            <a:ext cx="15544800" cy="646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4200">
                <a:solidFill>
                  <a:srgbClr val="0A0915"/>
                </a:solidFill>
                <a:latin typeface="Inter"/>
                <a:ea typeface="Inter"/>
                <a:cs typeface="Inter"/>
                <a:sym typeface="Inter"/>
              </a:rPr>
              <a:t>Capacitaciones y definición</a:t>
            </a:r>
            <a:endParaRPr b="1" i="0" sz="4200">
              <a:solidFill>
                <a:srgbClr val="0A0915"/>
              </a:solidFill>
              <a:latin typeface="Inter"/>
              <a:ea typeface="Inter"/>
              <a:cs typeface="Inter"/>
              <a:sym typeface="Inter"/>
            </a:endParaRPr>
          </a:p>
        </p:txBody>
      </p:sp>
      <p:grpSp>
        <p:nvGrpSpPr>
          <p:cNvPr id="96" name="Google Shape;96;p14"/>
          <p:cNvGrpSpPr/>
          <p:nvPr/>
        </p:nvGrpSpPr>
        <p:grpSpPr>
          <a:xfrm>
            <a:off x="1371600" y="1905000"/>
            <a:ext cx="15544800" cy="1333500"/>
            <a:chOff x="1371600" y="1905000"/>
            <a:chExt cx="15544800" cy="1333500"/>
          </a:xfrm>
        </p:grpSpPr>
        <p:sp>
          <p:nvSpPr>
            <p:cNvPr id="97" name="Google Shape;97;p14"/>
            <p:cNvSpPr/>
            <p:nvPr/>
          </p:nvSpPr>
          <p:spPr>
            <a:xfrm>
              <a:off x="1371600" y="1905000"/>
              <a:ext cx="15544800" cy="1333500"/>
            </a:xfrm>
            <a:prstGeom prst="roundRect">
              <a:avLst>
                <a:gd fmla="val 11428"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14"/>
            <p:cNvSpPr txBox="1"/>
            <p:nvPr/>
          </p:nvSpPr>
          <p:spPr>
            <a:xfrm>
              <a:off x="1657350" y="233857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7C3AED"/>
                  </a:solidFill>
                  <a:latin typeface="Material Icons"/>
                  <a:ea typeface="Material Icons"/>
                  <a:cs typeface="Material Icons"/>
                  <a:sym typeface="Material Icons"/>
                </a:rPr>
                <a:t></a:t>
              </a:r>
              <a:endParaRPr sz="3600">
                <a:solidFill>
                  <a:srgbClr val="7C3AED"/>
                </a:solidFill>
                <a:latin typeface="Material Icons"/>
                <a:ea typeface="Material Icons"/>
                <a:cs typeface="Material Icons"/>
                <a:sym typeface="Material Icons"/>
              </a:endParaRPr>
            </a:p>
          </p:txBody>
        </p:sp>
        <p:sp>
          <p:nvSpPr>
            <p:cNvPr id="99" name="Google Shape;99;p14"/>
            <p:cNvSpPr txBox="1"/>
            <p:nvPr/>
          </p:nvSpPr>
          <p:spPr>
            <a:xfrm>
              <a:off x="2514600" y="2190750"/>
              <a:ext cx="13716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0A0915"/>
                  </a:solidFill>
                  <a:latin typeface="Inter"/>
                  <a:ea typeface="Inter"/>
                  <a:cs typeface="Inter"/>
                  <a:sym typeface="Inter"/>
                </a:rPr>
                <a:t>Capacitación conceptual completada</a:t>
              </a:r>
              <a:endParaRPr b="1" sz="2000">
                <a:solidFill>
                  <a:srgbClr val="0A0915"/>
                </a:solidFill>
                <a:latin typeface="Inter"/>
                <a:ea typeface="Inter"/>
                <a:cs typeface="Inter"/>
                <a:sym typeface="Inter"/>
              </a:endParaRPr>
            </a:p>
            <a:p>
              <a:pPr indent="0" lvl="0" marL="0" rtl="0" algn="l">
                <a:spcBef>
                  <a:spcPts val="300"/>
                </a:spcBef>
                <a:spcAft>
                  <a:spcPts val="0"/>
                </a:spcAft>
                <a:buNone/>
              </a:pPr>
              <a:r>
                <a:rPr lang="en-US" sz="1600">
                  <a:solidFill>
                    <a:srgbClr val="4B5563"/>
                  </a:solidFill>
                  <a:latin typeface="Inter"/>
                  <a:ea typeface="Inter"/>
                  <a:cs typeface="Inter"/>
                  <a:sym typeface="Inter"/>
                </a:rPr>
                <a:t>El equipo core entiende los fundamentos de identidad digital y ventanilla única.</a:t>
              </a:r>
              <a:endParaRPr sz="1600">
                <a:solidFill>
                  <a:srgbClr val="4B5563"/>
                </a:solidFill>
                <a:latin typeface="Inter"/>
                <a:ea typeface="Inter"/>
                <a:cs typeface="Inter"/>
                <a:sym typeface="Inter"/>
              </a:endParaRPr>
            </a:p>
          </p:txBody>
        </p:sp>
      </p:grpSp>
      <p:grpSp>
        <p:nvGrpSpPr>
          <p:cNvPr id="100" name="Google Shape;100;p14"/>
          <p:cNvGrpSpPr/>
          <p:nvPr/>
        </p:nvGrpSpPr>
        <p:grpSpPr>
          <a:xfrm>
            <a:off x="1371600" y="3429000"/>
            <a:ext cx="15544800" cy="1333500"/>
            <a:chOff x="1371600" y="3429000"/>
            <a:chExt cx="15544800" cy="1333500"/>
          </a:xfrm>
        </p:grpSpPr>
        <p:sp>
          <p:nvSpPr>
            <p:cNvPr id="101" name="Google Shape;101;p14"/>
            <p:cNvSpPr/>
            <p:nvPr/>
          </p:nvSpPr>
          <p:spPr>
            <a:xfrm>
              <a:off x="1371600" y="3429000"/>
              <a:ext cx="15544800" cy="1333500"/>
            </a:xfrm>
            <a:prstGeom prst="roundRect">
              <a:avLst>
                <a:gd fmla="val 11428"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4"/>
            <p:cNvSpPr txBox="1"/>
            <p:nvPr/>
          </p:nvSpPr>
          <p:spPr>
            <a:xfrm>
              <a:off x="1657350" y="386257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7C3AED"/>
                  </a:solidFill>
                  <a:latin typeface="Material Icons"/>
                  <a:ea typeface="Material Icons"/>
                  <a:cs typeface="Material Icons"/>
                  <a:sym typeface="Material Icons"/>
                </a:rPr>
                <a:t></a:t>
              </a:r>
              <a:endParaRPr sz="3600">
                <a:solidFill>
                  <a:srgbClr val="7C3AED"/>
                </a:solidFill>
                <a:latin typeface="Material Icons"/>
                <a:ea typeface="Material Icons"/>
                <a:cs typeface="Material Icons"/>
                <a:sym typeface="Material Icons"/>
              </a:endParaRPr>
            </a:p>
          </p:txBody>
        </p:sp>
        <p:sp>
          <p:nvSpPr>
            <p:cNvPr id="103" name="Google Shape;103;p14"/>
            <p:cNvSpPr txBox="1"/>
            <p:nvPr/>
          </p:nvSpPr>
          <p:spPr>
            <a:xfrm>
              <a:off x="2514600" y="3714750"/>
              <a:ext cx="13716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0A0915"/>
                  </a:solidFill>
                  <a:latin typeface="Inter"/>
                  <a:ea typeface="Inter"/>
                  <a:cs typeface="Inter"/>
                  <a:sym typeface="Inter"/>
                </a:rPr>
                <a:t>Capacitación funcional completada</a:t>
              </a:r>
              <a:endParaRPr b="1" sz="2000">
                <a:solidFill>
                  <a:srgbClr val="0A0915"/>
                </a:solidFill>
                <a:latin typeface="Inter"/>
                <a:ea typeface="Inter"/>
                <a:cs typeface="Inter"/>
                <a:sym typeface="Inter"/>
              </a:endParaRPr>
            </a:p>
            <a:p>
              <a:pPr indent="0" lvl="0" marL="0" rtl="0" algn="l">
                <a:spcBef>
                  <a:spcPts val="300"/>
                </a:spcBef>
                <a:spcAft>
                  <a:spcPts val="0"/>
                </a:spcAft>
                <a:buNone/>
              </a:pPr>
              <a:r>
                <a:rPr lang="en-US" sz="1600">
                  <a:solidFill>
                    <a:srgbClr val="4B5563"/>
                  </a:solidFill>
                  <a:latin typeface="Inter"/>
                  <a:ea typeface="Inter"/>
                  <a:cs typeface="Inter"/>
                  <a:sym typeface="Inter"/>
                </a:rPr>
                <a:t>Contamos con especialistas capacitados operando activamente la plataforma.</a:t>
              </a:r>
              <a:endParaRPr sz="1600">
                <a:solidFill>
                  <a:srgbClr val="4B5563"/>
                </a:solidFill>
                <a:latin typeface="Inter"/>
                <a:ea typeface="Inter"/>
                <a:cs typeface="Inter"/>
                <a:sym typeface="Inter"/>
              </a:endParaRPr>
            </a:p>
          </p:txBody>
        </p:sp>
      </p:grpSp>
      <p:grpSp>
        <p:nvGrpSpPr>
          <p:cNvPr id="104" name="Google Shape;104;p14"/>
          <p:cNvGrpSpPr/>
          <p:nvPr/>
        </p:nvGrpSpPr>
        <p:grpSpPr>
          <a:xfrm>
            <a:off x="1371600" y="4953000"/>
            <a:ext cx="15544800" cy="1333500"/>
            <a:chOff x="1371600" y="4953000"/>
            <a:chExt cx="15544800" cy="1333500"/>
          </a:xfrm>
        </p:grpSpPr>
        <p:sp>
          <p:nvSpPr>
            <p:cNvPr id="105" name="Google Shape;105;p14"/>
            <p:cNvSpPr/>
            <p:nvPr/>
          </p:nvSpPr>
          <p:spPr>
            <a:xfrm>
              <a:off x="1371600" y="4953000"/>
              <a:ext cx="15544800" cy="1333500"/>
            </a:xfrm>
            <a:prstGeom prst="roundRect">
              <a:avLst>
                <a:gd fmla="val 11428"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4"/>
            <p:cNvSpPr txBox="1"/>
            <p:nvPr/>
          </p:nvSpPr>
          <p:spPr>
            <a:xfrm>
              <a:off x="1657350" y="538657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7C3AED"/>
                  </a:solidFill>
                  <a:latin typeface="Material Icons"/>
                  <a:ea typeface="Material Icons"/>
                  <a:cs typeface="Material Icons"/>
                  <a:sym typeface="Material Icons"/>
                </a:rPr>
                <a:t></a:t>
              </a:r>
              <a:endParaRPr sz="3600">
                <a:solidFill>
                  <a:srgbClr val="7C3AED"/>
                </a:solidFill>
                <a:latin typeface="Material Icons"/>
                <a:ea typeface="Material Icons"/>
                <a:cs typeface="Material Icons"/>
                <a:sym typeface="Material Icons"/>
              </a:endParaRPr>
            </a:p>
          </p:txBody>
        </p:sp>
        <p:sp>
          <p:nvSpPr>
            <p:cNvPr id="107" name="Google Shape;107;p14"/>
            <p:cNvSpPr txBox="1"/>
            <p:nvPr/>
          </p:nvSpPr>
          <p:spPr>
            <a:xfrm>
              <a:off x="2514600" y="5238750"/>
              <a:ext cx="13716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0A0915"/>
                  </a:solidFill>
                  <a:latin typeface="Inter"/>
                  <a:ea typeface="Inter"/>
                  <a:cs typeface="Inter"/>
                  <a:sym typeface="Inter"/>
                </a:rPr>
                <a:t>Trámites priorizados y aprobados</a:t>
              </a:r>
              <a:endParaRPr b="1" sz="2000">
                <a:solidFill>
                  <a:srgbClr val="0A0915"/>
                </a:solidFill>
                <a:latin typeface="Inter"/>
                <a:ea typeface="Inter"/>
                <a:cs typeface="Inter"/>
                <a:sym typeface="Inter"/>
              </a:endParaRPr>
            </a:p>
            <a:p>
              <a:pPr indent="0" lvl="0" marL="0" rtl="0" algn="l">
                <a:spcBef>
                  <a:spcPts val="300"/>
                </a:spcBef>
                <a:spcAft>
                  <a:spcPts val="0"/>
                </a:spcAft>
                <a:buNone/>
              </a:pPr>
              <a:r>
                <a:rPr lang="en-US" sz="1600">
                  <a:solidFill>
                    <a:srgbClr val="4B5563"/>
                  </a:solidFill>
                  <a:latin typeface="Inter"/>
                  <a:ea typeface="Inter"/>
                  <a:cs typeface="Inter"/>
                  <a:sym typeface="Inter"/>
                </a:rPr>
                <a:t>Selección validada formalmente por el dueño del proyecto.</a:t>
              </a:r>
              <a:endParaRPr sz="1600">
                <a:solidFill>
                  <a:srgbClr val="4B5563"/>
                </a:solidFill>
                <a:latin typeface="Inter"/>
                <a:ea typeface="Inter"/>
                <a:cs typeface="Inter"/>
                <a:sym typeface="Inter"/>
              </a:endParaRPr>
            </a:p>
          </p:txBody>
        </p:sp>
      </p:grpSp>
      <p:grpSp>
        <p:nvGrpSpPr>
          <p:cNvPr id="108" name="Google Shape;108;p14"/>
          <p:cNvGrpSpPr/>
          <p:nvPr/>
        </p:nvGrpSpPr>
        <p:grpSpPr>
          <a:xfrm>
            <a:off x="1371600" y="6477000"/>
            <a:ext cx="15544800" cy="1333500"/>
            <a:chOff x="1371600" y="6477000"/>
            <a:chExt cx="15544800" cy="1333500"/>
          </a:xfrm>
        </p:grpSpPr>
        <p:sp>
          <p:nvSpPr>
            <p:cNvPr id="109" name="Google Shape;109;p14"/>
            <p:cNvSpPr/>
            <p:nvPr/>
          </p:nvSpPr>
          <p:spPr>
            <a:xfrm>
              <a:off x="1371600" y="6477000"/>
              <a:ext cx="15544800" cy="1333500"/>
            </a:xfrm>
            <a:prstGeom prst="roundRect">
              <a:avLst>
                <a:gd fmla="val 11428"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4"/>
            <p:cNvSpPr txBox="1"/>
            <p:nvPr/>
          </p:nvSpPr>
          <p:spPr>
            <a:xfrm>
              <a:off x="1657350" y="691057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7C3AED"/>
                  </a:solidFill>
                  <a:latin typeface="Material Icons"/>
                  <a:ea typeface="Material Icons"/>
                  <a:cs typeface="Material Icons"/>
                  <a:sym typeface="Material Icons"/>
                </a:rPr>
                <a:t></a:t>
              </a:r>
              <a:endParaRPr sz="3600">
                <a:solidFill>
                  <a:srgbClr val="7C3AED"/>
                </a:solidFill>
                <a:latin typeface="Material Icons"/>
                <a:ea typeface="Material Icons"/>
                <a:cs typeface="Material Icons"/>
                <a:sym typeface="Material Icons"/>
              </a:endParaRPr>
            </a:p>
          </p:txBody>
        </p:sp>
        <p:sp>
          <p:nvSpPr>
            <p:cNvPr id="111" name="Google Shape;111;p14"/>
            <p:cNvSpPr txBox="1"/>
            <p:nvPr/>
          </p:nvSpPr>
          <p:spPr>
            <a:xfrm>
              <a:off x="2514600" y="6762750"/>
              <a:ext cx="13716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0A0915"/>
                  </a:solidFill>
                  <a:latin typeface="Inter"/>
                  <a:ea typeface="Inter"/>
                  <a:cs typeface="Inter"/>
                  <a:sym typeface="Inter"/>
                </a:rPr>
                <a:t>Gobernanza definida</a:t>
              </a:r>
              <a:endParaRPr b="1" sz="2000">
                <a:solidFill>
                  <a:srgbClr val="0A0915"/>
                </a:solidFill>
                <a:latin typeface="Inter"/>
                <a:ea typeface="Inter"/>
                <a:cs typeface="Inter"/>
                <a:sym typeface="Inter"/>
              </a:endParaRPr>
            </a:p>
            <a:p>
              <a:pPr indent="0" lvl="0" marL="0" rtl="0" algn="l">
                <a:spcBef>
                  <a:spcPts val="300"/>
                </a:spcBef>
                <a:spcAft>
                  <a:spcPts val="0"/>
                </a:spcAft>
                <a:buNone/>
              </a:pPr>
              <a:r>
                <a:rPr lang="en-US" sz="1600">
                  <a:solidFill>
                    <a:srgbClr val="4B5563"/>
                  </a:solidFill>
                  <a:latin typeface="Inter"/>
                  <a:ea typeface="Inter"/>
                  <a:cs typeface="Inter"/>
                  <a:sym typeface="Inter"/>
                </a:rPr>
                <a:t>Estructura organizativa clara con roles y responsabilidades asignados.</a:t>
              </a:r>
              <a:endParaRPr sz="1600">
                <a:solidFill>
                  <a:srgbClr val="4B5563"/>
                </a:solidFill>
                <a:latin typeface="Inter"/>
                <a:ea typeface="Inter"/>
                <a:cs typeface="Inter"/>
                <a:sym typeface="Inter"/>
              </a:endParaRPr>
            </a:p>
          </p:txBody>
        </p:sp>
      </p:grpSp>
      <p:grpSp>
        <p:nvGrpSpPr>
          <p:cNvPr id="112" name="Google Shape;112;p14"/>
          <p:cNvGrpSpPr/>
          <p:nvPr/>
        </p:nvGrpSpPr>
        <p:grpSpPr>
          <a:xfrm>
            <a:off x="1371600" y="8001000"/>
            <a:ext cx="15544800" cy="1333500"/>
            <a:chOff x="1371600" y="8001000"/>
            <a:chExt cx="15544800" cy="1333500"/>
          </a:xfrm>
        </p:grpSpPr>
        <p:sp>
          <p:nvSpPr>
            <p:cNvPr id="113" name="Google Shape;113;p14"/>
            <p:cNvSpPr/>
            <p:nvPr/>
          </p:nvSpPr>
          <p:spPr>
            <a:xfrm>
              <a:off x="1371600" y="8001000"/>
              <a:ext cx="15544800" cy="1333500"/>
            </a:xfrm>
            <a:prstGeom prst="roundRect">
              <a:avLst>
                <a:gd fmla="val 11428"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14"/>
            <p:cNvSpPr txBox="1"/>
            <p:nvPr/>
          </p:nvSpPr>
          <p:spPr>
            <a:xfrm>
              <a:off x="1657350" y="843457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7C3AED"/>
                  </a:solidFill>
                  <a:latin typeface="Material Icons"/>
                  <a:ea typeface="Material Icons"/>
                  <a:cs typeface="Material Icons"/>
                  <a:sym typeface="Material Icons"/>
                </a:rPr>
                <a:t></a:t>
              </a:r>
              <a:endParaRPr sz="3600">
                <a:solidFill>
                  <a:srgbClr val="7C3AED"/>
                </a:solidFill>
                <a:latin typeface="Material Icons"/>
                <a:ea typeface="Material Icons"/>
                <a:cs typeface="Material Icons"/>
                <a:sym typeface="Material Icons"/>
              </a:endParaRPr>
            </a:p>
          </p:txBody>
        </p:sp>
        <p:sp>
          <p:nvSpPr>
            <p:cNvPr id="115" name="Google Shape;115;p14"/>
            <p:cNvSpPr txBox="1"/>
            <p:nvPr/>
          </p:nvSpPr>
          <p:spPr>
            <a:xfrm>
              <a:off x="2514600" y="8286750"/>
              <a:ext cx="13716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0A0915"/>
                  </a:solidFill>
                  <a:latin typeface="Inter"/>
                  <a:ea typeface="Inter"/>
                  <a:cs typeface="Inter"/>
                  <a:sym typeface="Inter"/>
                </a:rPr>
                <a:t>Integraciones técnicas</a:t>
              </a:r>
              <a:endParaRPr b="1" sz="2000">
                <a:solidFill>
                  <a:srgbClr val="0A0915"/>
                </a:solidFill>
                <a:latin typeface="Inter"/>
                <a:ea typeface="Inter"/>
                <a:cs typeface="Inter"/>
                <a:sym typeface="Inter"/>
              </a:endParaRPr>
            </a:p>
            <a:p>
              <a:pPr indent="0" lvl="0" marL="0" rtl="0" algn="l">
                <a:spcBef>
                  <a:spcPts val="300"/>
                </a:spcBef>
                <a:spcAft>
                  <a:spcPts val="0"/>
                </a:spcAft>
                <a:buNone/>
              </a:pPr>
              <a:r>
                <a:rPr lang="en-US" sz="1600">
                  <a:solidFill>
                    <a:srgbClr val="4B5563"/>
                  </a:solidFill>
                  <a:latin typeface="Inter"/>
                  <a:ea typeface="Inter"/>
                  <a:cs typeface="Inter"/>
                  <a:sym typeface="Inter"/>
                </a:rPr>
                <a:t>Plan técnico acordado para las conexiones necesarias del sistema.</a:t>
              </a:r>
              <a:endParaRPr sz="1600">
                <a:solidFill>
                  <a:srgbClr val="4B5563"/>
                </a:solidFill>
                <a:latin typeface="Inter"/>
                <a:ea typeface="Inter"/>
                <a:cs typeface="Inter"/>
                <a:sym typeface="Inte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5"/>
          <p:cNvSpPr/>
          <p:nvPr/>
        </p:nvSpPr>
        <p:spPr>
          <a:xfrm>
            <a:off x="0" y="0"/>
            <a:ext cx="18288000" cy="228600"/>
          </a:xfrm>
          <a:prstGeom prst="rect">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5"/>
          <p:cNvSpPr txBox="1"/>
          <p:nvPr/>
        </p:nvSpPr>
        <p:spPr>
          <a:xfrm>
            <a:off x="1371600" y="762000"/>
            <a:ext cx="15544800" cy="646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4200">
                <a:solidFill>
                  <a:srgbClr val="0A0915"/>
                </a:solidFill>
                <a:latin typeface="Inter"/>
                <a:ea typeface="Inter"/>
                <a:cs typeface="Inter"/>
                <a:sym typeface="Inter"/>
              </a:rPr>
              <a:t>Habilitación y paralelo</a:t>
            </a:r>
            <a:endParaRPr b="1" i="0" sz="4200">
              <a:solidFill>
                <a:srgbClr val="0A0915"/>
              </a:solidFill>
              <a:latin typeface="Inter"/>
              <a:ea typeface="Inter"/>
              <a:cs typeface="Inter"/>
              <a:sym typeface="Inter"/>
            </a:endParaRPr>
          </a:p>
        </p:txBody>
      </p:sp>
      <p:grpSp>
        <p:nvGrpSpPr>
          <p:cNvPr id="123" name="Google Shape;123;p15"/>
          <p:cNvGrpSpPr/>
          <p:nvPr/>
        </p:nvGrpSpPr>
        <p:grpSpPr>
          <a:xfrm>
            <a:off x="1371600" y="1905000"/>
            <a:ext cx="15544800" cy="1047900"/>
            <a:chOff x="1371600" y="1905000"/>
            <a:chExt cx="15544800" cy="1047900"/>
          </a:xfrm>
        </p:grpSpPr>
        <p:sp>
          <p:nvSpPr>
            <p:cNvPr id="124" name="Google Shape;124;p15"/>
            <p:cNvSpPr/>
            <p:nvPr/>
          </p:nvSpPr>
          <p:spPr>
            <a:xfrm>
              <a:off x="1371600" y="1905000"/>
              <a:ext cx="15544800" cy="1047900"/>
            </a:xfrm>
            <a:prstGeom prst="roundRect">
              <a:avLst>
                <a:gd fmla="val 14545"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15"/>
            <p:cNvSpPr txBox="1"/>
            <p:nvPr/>
          </p:nvSpPr>
          <p:spPr>
            <a:xfrm>
              <a:off x="1657350" y="2195703"/>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7C3AED"/>
                  </a:solidFill>
                  <a:latin typeface="Material Icons"/>
                  <a:ea typeface="Material Icons"/>
                  <a:cs typeface="Material Icons"/>
                  <a:sym typeface="Material Icons"/>
                </a:rPr>
                <a:t></a:t>
              </a:r>
              <a:endParaRPr sz="3600">
                <a:solidFill>
                  <a:srgbClr val="7C3AED"/>
                </a:solidFill>
                <a:latin typeface="Material Icons"/>
                <a:ea typeface="Material Icons"/>
                <a:cs typeface="Material Icons"/>
                <a:sym typeface="Material Icons"/>
              </a:endParaRPr>
            </a:p>
          </p:txBody>
        </p:sp>
        <p:sp>
          <p:nvSpPr>
            <p:cNvPr id="126" name="Google Shape;126;p15"/>
            <p:cNvSpPr txBox="1"/>
            <p:nvPr/>
          </p:nvSpPr>
          <p:spPr>
            <a:xfrm>
              <a:off x="2514600" y="2047875"/>
              <a:ext cx="13716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0A0915"/>
                  </a:solidFill>
                  <a:latin typeface="Inter"/>
                  <a:ea typeface="Inter"/>
                  <a:cs typeface="Inter"/>
                  <a:sym typeface="Inter"/>
                </a:rPr>
                <a:t>Acceso y Documentación</a:t>
              </a:r>
              <a:endParaRPr b="1" sz="2000">
                <a:solidFill>
                  <a:srgbClr val="0A0915"/>
                </a:solidFill>
                <a:latin typeface="Inter"/>
                <a:ea typeface="Inter"/>
                <a:cs typeface="Inter"/>
                <a:sym typeface="Inter"/>
              </a:endParaRPr>
            </a:p>
            <a:p>
              <a:pPr indent="0" lvl="0" marL="0" rtl="0" algn="l">
                <a:spcBef>
                  <a:spcPts val="300"/>
                </a:spcBef>
                <a:spcAft>
                  <a:spcPts val="0"/>
                </a:spcAft>
                <a:buNone/>
              </a:pPr>
              <a:r>
                <a:rPr b="0" lang="en-US" sz="1600">
                  <a:solidFill>
                    <a:srgbClr val="4B5563"/>
                  </a:solidFill>
                  <a:latin typeface="Inter"/>
                  <a:ea typeface="Inter"/>
                  <a:cs typeface="Inter"/>
                  <a:sym typeface="Inter"/>
                </a:rPr>
                <a:t>Equipo core con accesos a la instancia y manuales.</a:t>
              </a:r>
              <a:endParaRPr b="0" sz="1600">
                <a:solidFill>
                  <a:srgbClr val="4B5563"/>
                </a:solidFill>
                <a:latin typeface="Inter"/>
                <a:ea typeface="Inter"/>
                <a:cs typeface="Inter"/>
                <a:sym typeface="Inter"/>
              </a:endParaRPr>
            </a:p>
          </p:txBody>
        </p:sp>
      </p:grpSp>
      <p:grpSp>
        <p:nvGrpSpPr>
          <p:cNvPr id="127" name="Google Shape;127;p15"/>
          <p:cNvGrpSpPr/>
          <p:nvPr/>
        </p:nvGrpSpPr>
        <p:grpSpPr>
          <a:xfrm>
            <a:off x="1371600" y="3095625"/>
            <a:ext cx="15544800" cy="1047900"/>
            <a:chOff x="1371600" y="3095625"/>
            <a:chExt cx="15544800" cy="1047900"/>
          </a:xfrm>
        </p:grpSpPr>
        <p:sp>
          <p:nvSpPr>
            <p:cNvPr id="128" name="Google Shape;128;p15"/>
            <p:cNvSpPr/>
            <p:nvPr/>
          </p:nvSpPr>
          <p:spPr>
            <a:xfrm>
              <a:off x="1371600" y="3095625"/>
              <a:ext cx="15544800" cy="1047900"/>
            </a:xfrm>
            <a:prstGeom prst="roundRect">
              <a:avLst>
                <a:gd fmla="val 14545"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5"/>
            <p:cNvSpPr txBox="1"/>
            <p:nvPr/>
          </p:nvSpPr>
          <p:spPr>
            <a:xfrm>
              <a:off x="1657350" y="33863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7C3AED"/>
                  </a:solidFill>
                  <a:latin typeface="Material Icons"/>
                  <a:ea typeface="Material Icons"/>
                  <a:cs typeface="Material Icons"/>
                  <a:sym typeface="Material Icons"/>
                </a:rPr>
                <a:t></a:t>
              </a:r>
              <a:endParaRPr sz="3600">
                <a:solidFill>
                  <a:srgbClr val="7C3AED"/>
                </a:solidFill>
                <a:latin typeface="Material Icons"/>
                <a:ea typeface="Material Icons"/>
                <a:cs typeface="Material Icons"/>
                <a:sym typeface="Material Icons"/>
              </a:endParaRPr>
            </a:p>
          </p:txBody>
        </p:sp>
        <p:sp>
          <p:nvSpPr>
            <p:cNvPr id="130" name="Google Shape;130;p15"/>
            <p:cNvSpPr txBox="1"/>
            <p:nvPr/>
          </p:nvSpPr>
          <p:spPr>
            <a:xfrm>
              <a:off x="2514600" y="3238500"/>
              <a:ext cx="13716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0A0915"/>
                  </a:solidFill>
                  <a:latin typeface="Inter"/>
                  <a:ea typeface="Inter"/>
                  <a:cs typeface="Inter"/>
                  <a:sym typeface="Inter"/>
                </a:rPr>
                <a:t>Sincronización Técnica</a:t>
              </a:r>
              <a:endParaRPr b="1" sz="2000">
                <a:solidFill>
                  <a:srgbClr val="0A0915"/>
                </a:solidFill>
                <a:latin typeface="Inter"/>
                <a:ea typeface="Inter"/>
                <a:cs typeface="Inter"/>
                <a:sym typeface="Inter"/>
              </a:endParaRPr>
            </a:p>
            <a:p>
              <a:pPr indent="0" lvl="0" marL="0" rtl="0" algn="l">
                <a:spcBef>
                  <a:spcPts val="300"/>
                </a:spcBef>
                <a:spcAft>
                  <a:spcPts val="0"/>
                </a:spcAft>
                <a:buNone/>
              </a:pPr>
              <a:r>
                <a:rPr b="0" lang="en-US" sz="1600">
                  <a:solidFill>
                    <a:srgbClr val="4B5563"/>
                  </a:solidFill>
                  <a:latin typeface="Inter"/>
                  <a:ea typeface="Inter"/>
                  <a:cs typeface="Inter"/>
                  <a:sym typeface="Inter"/>
                </a:rPr>
                <a:t>Reunión técnica completada: arquitectura y APIs revisadas.</a:t>
              </a:r>
              <a:endParaRPr b="0" sz="1600">
                <a:solidFill>
                  <a:srgbClr val="4B5563"/>
                </a:solidFill>
                <a:latin typeface="Inter"/>
                <a:ea typeface="Inter"/>
                <a:cs typeface="Inter"/>
                <a:sym typeface="Inter"/>
              </a:endParaRPr>
            </a:p>
          </p:txBody>
        </p:sp>
      </p:grpSp>
      <p:grpSp>
        <p:nvGrpSpPr>
          <p:cNvPr id="131" name="Google Shape;131;p15"/>
          <p:cNvGrpSpPr/>
          <p:nvPr/>
        </p:nvGrpSpPr>
        <p:grpSpPr>
          <a:xfrm>
            <a:off x="1371600" y="4286250"/>
            <a:ext cx="15544800" cy="1047900"/>
            <a:chOff x="1371600" y="4286250"/>
            <a:chExt cx="15544800" cy="1047900"/>
          </a:xfrm>
        </p:grpSpPr>
        <p:sp>
          <p:nvSpPr>
            <p:cNvPr id="132" name="Google Shape;132;p15"/>
            <p:cNvSpPr/>
            <p:nvPr/>
          </p:nvSpPr>
          <p:spPr>
            <a:xfrm>
              <a:off x="1371600" y="4286250"/>
              <a:ext cx="15544800" cy="1047900"/>
            </a:xfrm>
            <a:prstGeom prst="roundRect">
              <a:avLst>
                <a:gd fmla="val 14545"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5"/>
            <p:cNvSpPr txBox="1"/>
            <p:nvPr/>
          </p:nvSpPr>
          <p:spPr>
            <a:xfrm>
              <a:off x="1657350" y="4576953"/>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7C3AED"/>
                  </a:solidFill>
                  <a:latin typeface="Material Icons"/>
                  <a:ea typeface="Material Icons"/>
                  <a:cs typeface="Material Icons"/>
                  <a:sym typeface="Material Icons"/>
                </a:rPr>
                <a:t></a:t>
              </a:r>
              <a:endParaRPr sz="3600">
                <a:solidFill>
                  <a:srgbClr val="7C3AED"/>
                </a:solidFill>
                <a:latin typeface="Material Icons"/>
                <a:ea typeface="Material Icons"/>
                <a:cs typeface="Material Icons"/>
                <a:sym typeface="Material Icons"/>
              </a:endParaRPr>
            </a:p>
          </p:txBody>
        </p:sp>
        <p:sp>
          <p:nvSpPr>
            <p:cNvPr id="134" name="Google Shape;134;p15"/>
            <p:cNvSpPr txBox="1"/>
            <p:nvPr/>
          </p:nvSpPr>
          <p:spPr>
            <a:xfrm>
              <a:off x="2514600" y="4429125"/>
              <a:ext cx="13716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0A0915"/>
                  </a:solidFill>
                  <a:latin typeface="Inter"/>
                  <a:ea typeface="Inter"/>
                  <a:cs typeface="Inter"/>
                  <a:sym typeface="Inter"/>
                </a:rPr>
                <a:t>Gestión de Dominio</a:t>
              </a:r>
              <a:endParaRPr b="1" sz="2000">
                <a:solidFill>
                  <a:srgbClr val="0A0915"/>
                </a:solidFill>
                <a:latin typeface="Inter"/>
                <a:ea typeface="Inter"/>
                <a:cs typeface="Inter"/>
                <a:sym typeface="Inter"/>
              </a:endParaRPr>
            </a:p>
            <a:p>
              <a:pPr indent="0" lvl="0" marL="0" rtl="0" algn="l">
                <a:spcBef>
                  <a:spcPts val="300"/>
                </a:spcBef>
                <a:spcAft>
                  <a:spcPts val="0"/>
                </a:spcAft>
                <a:buNone/>
              </a:pPr>
              <a:r>
                <a:rPr b="0" lang="en-US" sz="1600">
                  <a:solidFill>
                    <a:srgbClr val="4B5563"/>
                  </a:solidFill>
                  <a:latin typeface="Inter"/>
                  <a:ea typeface="Inter"/>
                  <a:cs typeface="Inter"/>
                  <a:sym typeface="Inter"/>
                </a:rPr>
                <a:t>Dominio en progreso con estado verificado.</a:t>
              </a:r>
              <a:endParaRPr b="0" sz="1600">
                <a:solidFill>
                  <a:srgbClr val="4B5563"/>
                </a:solidFill>
                <a:latin typeface="Inter"/>
                <a:ea typeface="Inter"/>
                <a:cs typeface="Inter"/>
                <a:sym typeface="Inter"/>
              </a:endParaRPr>
            </a:p>
          </p:txBody>
        </p:sp>
      </p:grpSp>
      <p:grpSp>
        <p:nvGrpSpPr>
          <p:cNvPr id="135" name="Google Shape;135;p15"/>
          <p:cNvGrpSpPr/>
          <p:nvPr/>
        </p:nvGrpSpPr>
        <p:grpSpPr>
          <a:xfrm>
            <a:off x="1371600" y="5476875"/>
            <a:ext cx="15544800" cy="1047900"/>
            <a:chOff x="1371600" y="5476875"/>
            <a:chExt cx="15544800" cy="1047900"/>
          </a:xfrm>
        </p:grpSpPr>
        <p:sp>
          <p:nvSpPr>
            <p:cNvPr id="136" name="Google Shape;136;p15"/>
            <p:cNvSpPr/>
            <p:nvPr/>
          </p:nvSpPr>
          <p:spPr>
            <a:xfrm>
              <a:off x="1371600" y="5476875"/>
              <a:ext cx="15544800" cy="1047900"/>
            </a:xfrm>
            <a:prstGeom prst="roundRect">
              <a:avLst>
                <a:gd fmla="val 14545"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 name="Google Shape;137;p15"/>
            <p:cNvSpPr txBox="1"/>
            <p:nvPr/>
          </p:nvSpPr>
          <p:spPr>
            <a:xfrm>
              <a:off x="1657350" y="576757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7C3AED"/>
                  </a:solidFill>
                  <a:latin typeface="Material Icons"/>
                  <a:ea typeface="Material Icons"/>
                  <a:cs typeface="Material Icons"/>
                  <a:sym typeface="Material Icons"/>
                </a:rPr>
                <a:t></a:t>
              </a:r>
              <a:endParaRPr sz="3600">
                <a:solidFill>
                  <a:srgbClr val="7C3AED"/>
                </a:solidFill>
                <a:latin typeface="Material Icons"/>
                <a:ea typeface="Material Icons"/>
                <a:cs typeface="Material Icons"/>
                <a:sym typeface="Material Icons"/>
              </a:endParaRPr>
            </a:p>
          </p:txBody>
        </p:sp>
        <p:sp>
          <p:nvSpPr>
            <p:cNvPr id="138" name="Google Shape;138;p15"/>
            <p:cNvSpPr txBox="1"/>
            <p:nvPr/>
          </p:nvSpPr>
          <p:spPr>
            <a:xfrm>
              <a:off x="2514600" y="5619750"/>
              <a:ext cx="13716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0A0915"/>
                  </a:solidFill>
                  <a:latin typeface="Inter"/>
                  <a:ea typeface="Inter"/>
                  <a:cs typeface="Inter"/>
                  <a:sym typeface="Inter"/>
                </a:rPr>
                <a:t>Configuración de Instancia</a:t>
              </a:r>
              <a:endParaRPr b="1" sz="2000">
                <a:solidFill>
                  <a:srgbClr val="0A0915"/>
                </a:solidFill>
                <a:latin typeface="Inter"/>
                <a:ea typeface="Inter"/>
                <a:cs typeface="Inter"/>
                <a:sym typeface="Inter"/>
              </a:endParaRPr>
            </a:p>
            <a:p>
              <a:pPr indent="0" lvl="0" marL="0" rtl="0" algn="l">
                <a:spcBef>
                  <a:spcPts val="300"/>
                </a:spcBef>
                <a:spcAft>
                  <a:spcPts val="0"/>
                </a:spcAft>
                <a:buNone/>
              </a:pPr>
              <a:r>
                <a:rPr b="0" lang="en-US" sz="1600">
                  <a:solidFill>
                    <a:srgbClr val="4B5563"/>
                  </a:solidFill>
                  <a:latin typeface="Inter"/>
                  <a:ea typeface="Inter"/>
                  <a:cs typeface="Inter"/>
                  <a:sym typeface="Inter"/>
                </a:rPr>
                <a:t>Instancia base configurada: identidad, imagen, catálogos, usuarios.</a:t>
              </a:r>
              <a:endParaRPr b="0" sz="1600">
                <a:solidFill>
                  <a:srgbClr val="4B5563"/>
                </a:solidFill>
                <a:latin typeface="Inter"/>
                <a:ea typeface="Inter"/>
                <a:cs typeface="Inter"/>
                <a:sym typeface="Inter"/>
              </a:endParaRPr>
            </a:p>
          </p:txBody>
        </p:sp>
      </p:grpSp>
      <p:grpSp>
        <p:nvGrpSpPr>
          <p:cNvPr id="139" name="Google Shape;139;p15"/>
          <p:cNvGrpSpPr/>
          <p:nvPr/>
        </p:nvGrpSpPr>
        <p:grpSpPr>
          <a:xfrm>
            <a:off x="1371600" y="6667500"/>
            <a:ext cx="15544800" cy="1047900"/>
            <a:chOff x="1371600" y="6667500"/>
            <a:chExt cx="15544800" cy="1047900"/>
          </a:xfrm>
        </p:grpSpPr>
        <p:sp>
          <p:nvSpPr>
            <p:cNvPr id="140" name="Google Shape;140;p15"/>
            <p:cNvSpPr/>
            <p:nvPr/>
          </p:nvSpPr>
          <p:spPr>
            <a:xfrm>
              <a:off x="1371600" y="6667500"/>
              <a:ext cx="15544800" cy="1047900"/>
            </a:xfrm>
            <a:prstGeom prst="roundRect">
              <a:avLst>
                <a:gd fmla="val 14545"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5"/>
            <p:cNvSpPr txBox="1"/>
            <p:nvPr/>
          </p:nvSpPr>
          <p:spPr>
            <a:xfrm>
              <a:off x="1657350" y="6958203"/>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7C3AED"/>
                  </a:solidFill>
                  <a:latin typeface="Material Icons"/>
                  <a:ea typeface="Material Icons"/>
                  <a:cs typeface="Material Icons"/>
                  <a:sym typeface="Material Icons"/>
                </a:rPr>
                <a:t></a:t>
              </a:r>
              <a:endParaRPr sz="3600">
                <a:solidFill>
                  <a:srgbClr val="7C3AED"/>
                </a:solidFill>
                <a:latin typeface="Material Icons"/>
                <a:ea typeface="Material Icons"/>
                <a:cs typeface="Material Icons"/>
                <a:sym typeface="Material Icons"/>
              </a:endParaRPr>
            </a:p>
          </p:txBody>
        </p:sp>
        <p:sp>
          <p:nvSpPr>
            <p:cNvPr id="142" name="Google Shape;142;p15"/>
            <p:cNvSpPr txBox="1"/>
            <p:nvPr/>
          </p:nvSpPr>
          <p:spPr>
            <a:xfrm>
              <a:off x="2514600" y="6810375"/>
              <a:ext cx="13716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0A0915"/>
                  </a:solidFill>
                  <a:latin typeface="Inter"/>
                  <a:ea typeface="Inter"/>
                  <a:cs typeface="Inter"/>
                  <a:sym typeface="Inter"/>
                </a:rPr>
                <a:t>Activos de Datos</a:t>
              </a:r>
              <a:endParaRPr b="1" sz="2000">
                <a:solidFill>
                  <a:srgbClr val="0A0915"/>
                </a:solidFill>
                <a:latin typeface="Inter"/>
                <a:ea typeface="Inter"/>
                <a:cs typeface="Inter"/>
                <a:sym typeface="Inter"/>
              </a:endParaRPr>
            </a:p>
            <a:p>
              <a:pPr indent="0" lvl="0" marL="0" rtl="0" algn="l">
                <a:spcBef>
                  <a:spcPts val="300"/>
                </a:spcBef>
                <a:spcAft>
                  <a:spcPts val="0"/>
                </a:spcAft>
                <a:buNone/>
              </a:pPr>
              <a:r>
                <a:rPr b="0" lang="en-US" sz="1600">
                  <a:solidFill>
                    <a:srgbClr val="4B5563"/>
                  </a:solidFill>
                  <a:latin typeface="Inter"/>
                  <a:ea typeface="Inter"/>
                  <a:cs typeface="Inter"/>
                  <a:sym typeface="Inter"/>
                </a:rPr>
                <a:t>Diccionarios de datos entregados o en proceso.</a:t>
              </a:r>
              <a:endParaRPr b="0" sz="1600">
                <a:solidFill>
                  <a:srgbClr val="4B5563"/>
                </a:solidFill>
                <a:latin typeface="Inter"/>
                <a:ea typeface="Inter"/>
                <a:cs typeface="Inter"/>
                <a:sym typeface="Inter"/>
              </a:endParaRPr>
            </a:p>
          </p:txBody>
        </p:sp>
      </p:grpSp>
      <p:grpSp>
        <p:nvGrpSpPr>
          <p:cNvPr id="143" name="Google Shape;143;p15"/>
          <p:cNvGrpSpPr/>
          <p:nvPr/>
        </p:nvGrpSpPr>
        <p:grpSpPr>
          <a:xfrm>
            <a:off x="1371600" y="7858125"/>
            <a:ext cx="15544800" cy="1047900"/>
            <a:chOff x="1371600" y="7858125"/>
            <a:chExt cx="15544800" cy="1047900"/>
          </a:xfrm>
        </p:grpSpPr>
        <p:sp>
          <p:nvSpPr>
            <p:cNvPr id="144" name="Google Shape;144;p15"/>
            <p:cNvSpPr/>
            <p:nvPr/>
          </p:nvSpPr>
          <p:spPr>
            <a:xfrm>
              <a:off x="1371600" y="7858125"/>
              <a:ext cx="15544800" cy="1047900"/>
            </a:xfrm>
            <a:prstGeom prst="roundRect">
              <a:avLst>
                <a:gd fmla="val 14545"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5"/>
            <p:cNvSpPr txBox="1"/>
            <p:nvPr/>
          </p:nvSpPr>
          <p:spPr>
            <a:xfrm>
              <a:off x="1657350" y="81488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7C3AED"/>
                  </a:solidFill>
                  <a:latin typeface="Material Icons"/>
                  <a:ea typeface="Material Icons"/>
                  <a:cs typeface="Material Icons"/>
                  <a:sym typeface="Material Icons"/>
                </a:rPr>
                <a:t></a:t>
              </a:r>
              <a:endParaRPr sz="3600">
                <a:solidFill>
                  <a:srgbClr val="7C3AED"/>
                </a:solidFill>
                <a:latin typeface="Material Icons"/>
                <a:ea typeface="Material Icons"/>
                <a:cs typeface="Material Icons"/>
                <a:sym typeface="Material Icons"/>
              </a:endParaRPr>
            </a:p>
          </p:txBody>
        </p:sp>
        <p:sp>
          <p:nvSpPr>
            <p:cNvPr id="146" name="Google Shape;146;p15"/>
            <p:cNvSpPr txBox="1"/>
            <p:nvPr/>
          </p:nvSpPr>
          <p:spPr>
            <a:xfrm>
              <a:off x="2514600" y="8001000"/>
              <a:ext cx="13716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0A0915"/>
                  </a:solidFill>
                  <a:latin typeface="Inter"/>
                  <a:ea typeface="Inter"/>
                  <a:cs typeface="Inter"/>
                  <a:sym typeface="Inter"/>
                </a:rPr>
                <a:t>Seguridad y Permisos</a:t>
              </a:r>
              <a:endParaRPr b="1" sz="2000">
                <a:solidFill>
                  <a:srgbClr val="0A0915"/>
                </a:solidFill>
                <a:latin typeface="Inter"/>
                <a:ea typeface="Inter"/>
                <a:cs typeface="Inter"/>
                <a:sym typeface="Inter"/>
              </a:endParaRPr>
            </a:p>
            <a:p>
              <a:pPr indent="0" lvl="0" marL="0" rtl="0" algn="l">
                <a:spcBef>
                  <a:spcPts val="300"/>
                </a:spcBef>
                <a:spcAft>
                  <a:spcPts val="0"/>
                </a:spcAft>
                <a:buNone/>
              </a:pPr>
              <a:r>
                <a:rPr b="0" lang="en-US" sz="1600">
                  <a:solidFill>
                    <a:srgbClr val="4B5563"/>
                  </a:solidFill>
                  <a:latin typeface="Inter"/>
                  <a:ea typeface="Inter"/>
                  <a:cs typeface="Inter"/>
                  <a:sym typeface="Inter"/>
                </a:rPr>
                <a:t>Roles verificados y vigentes.</a:t>
              </a:r>
              <a:endParaRPr b="0" sz="1600">
                <a:solidFill>
                  <a:srgbClr val="4B5563"/>
                </a:solidFill>
                <a:latin typeface="Inter"/>
                <a:ea typeface="Inter"/>
                <a:cs typeface="Inter"/>
                <a:sym typeface="Inte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p16"/>
          <p:cNvSpPr/>
          <p:nvPr/>
        </p:nvSpPr>
        <p:spPr>
          <a:xfrm>
            <a:off x="0" y="0"/>
            <a:ext cx="18288000" cy="228600"/>
          </a:xfrm>
          <a:prstGeom prst="rect">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16"/>
          <p:cNvSpPr txBox="1"/>
          <p:nvPr/>
        </p:nvSpPr>
        <p:spPr>
          <a:xfrm>
            <a:off x="1371600" y="762000"/>
            <a:ext cx="15544800" cy="549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3570">
                <a:solidFill>
                  <a:srgbClr val="0A0915"/>
                </a:solidFill>
                <a:latin typeface="Inter"/>
                <a:ea typeface="Inter"/>
                <a:cs typeface="Inter"/>
                <a:sym typeface="Inter"/>
              </a:rPr>
              <a:t>La instancia base merece comentario</a:t>
            </a:r>
            <a:endParaRPr b="1" i="0" sz="3570">
              <a:solidFill>
                <a:srgbClr val="0A0915"/>
              </a:solidFill>
              <a:latin typeface="Inter"/>
              <a:ea typeface="Inter"/>
              <a:cs typeface="Inter"/>
              <a:sym typeface="Inter"/>
            </a:endParaRPr>
          </a:p>
        </p:txBody>
      </p:sp>
      <p:grpSp>
        <p:nvGrpSpPr>
          <p:cNvPr id="154" name="Google Shape;154;p16"/>
          <p:cNvGrpSpPr/>
          <p:nvPr/>
        </p:nvGrpSpPr>
        <p:grpSpPr>
          <a:xfrm>
            <a:off x="1371600" y="2095500"/>
            <a:ext cx="15544800" cy="6477000"/>
            <a:chOff x="1371600" y="2095500"/>
            <a:chExt cx="15544800" cy="6477000"/>
          </a:xfrm>
        </p:grpSpPr>
        <p:sp>
          <p:nvSpPr>
            <p:cNvPr id="155" name="Google Shape;155;p16"/>
            <p:cNvSpPr/>
            <p:nvPr/>
          </p:nvSpPr>
          <p:spPr>
            <a:xfrm>
              <a:off x="1371600" y="2095500"/>
              <a:ext cx="15544800" cy="6477000"/>
            </a:xfrm>
            <a:prstGeom prst="roundRect">
              <a:avLst>
                <a:gd fmla="val 2941"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6"/>
            <p:cNvSpPr txBox="1"/>
            <p:nvPr/>
          </p:nvSpPr>
          <p:spPr>
            <a:xfrm>
              <a:off x="1371600" y="2095500"/>
              <a:ext cx="15544800" cy="6477000"/>
            </a:xfrm>
            <a:prstGeom prst="rect">
              <a:avLst/>
            </a:prstGeom>
            <a:noFill/>
            <a:ln>
              <a:noFill/>
            </a:ln>
          </p:spPr>
          <p:txBody>
            <a:bodyPr anchorCtr="0" anchor="ctr" bIns="571500" lIns="571500" spcFirstLastPara="1" rIns="571500" wrap="square" tIns="571500">
              <a:noAutofit/>
            </a:bodyPr>
            <a:lstStyle/>
            <a:p>
              <a:pPr indent="0" lvl="0" marL="0" rtl="0" algn="ctr">
                <a:spcBef>
                  <a:spcPts val="0"/>
                </a:spcBef>
                <a:spcAft>
                  <a:spcPts val="0"/>
                </a:spcAft>
                <a:buNone/>
              </a:pPr>
              <a:r>
                <a:rPr b="1" lang="en-US" sz="5600">
                  <a:solidFill>
                    <a:srgbClr val="7C3AED"/>
                  </a:solidFill>
                  <a:latin typeface="Inter"/>
                  <a:ea typeface="Inter"/>
                  <a:cs typeface="Inter"/>
                  <a:sym typeface="Inter"/>
                </a:rPr>
                <a:t>No se deja para después de las capacitaciones</a:t>
              </a:r>
              <a:endParaRPr b="1" sz="5600">
                <a:solidFill>
                  <a:srgbClr val="7C3AED"/>
                </a:solidFill>
                <a:latin typeface="Inter"/>
                <a:ea typeface="Inter"/>
                <a:cs typeface="Inter"/>
                <a:sym typeface="Inter"/>
              </a:endParaRPr>
            </a:p>
            <a:p>
              <a:pPr indent="0" lvl="0" marL="0" rtl="0" algn="ctr">
                <a:spcBef>
                  <a:spcPts val="3000"/>
                </a:spcBef>
                <a:spcAft>
                  <a:spcPts val="0"/>
                </a:spcAft>
                <a:buNone/>
              </a:pPr>
              <a:r>
                <a:rPr b="0" lang="en-US" sz="2800">
                  <a:solidFill>
                    <a:srgbClr val="0A0915"/>
                  </a:solidFill>
                  <a:latin typeface="Inter"/>
                  <a:ea typeface="Inter"/>
                  <a:cs typeface="Inter"/>
                  <a:sym typeface="Inter"/>
                </a:rPr>
                <a:t>Se hace en paralelo: apariencia, catálogos iniciales, usuarios del core, módulos activos. Cuando llegas a Fase C con la instancia ya identificada como del gobierno, el modelado arranca con velocidad.</a:t>
              </a:r>
              <a:endParaRPr b="0" sz="2800">
                <a:solidFill>
                  <a:srgbClr val="0A0915"/>
                </a:solidFill>
                <a:latin typeface="Inter"/>
                <a:ea typeface="Inter"/>
                <a:cs typeface="Inter"/>
                <a:sym typeface="Inte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p:nvPr/>
        </p:nvSpPr>
        <p:spPr>
          <a:xfrm>
            <a:off x="0" y="0"/>
            <a:ext cx="18288000" cy="228600"/>
          </a:xfrm>
          <a:prstGeom prst="rect">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7"/>
          <p:cNvSpPr txBox="1"/>
          <p:nvPr/>
        </p:nvSpPr>
        <p:spPr>
          <a:xfrm>
            <a:off x="1371600" y="762000"/>
            <a:ext cx="15544800" cy="646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4200">
                <a:solidFill>
                  <a:srgbClr val="0A0915"/>
                </a:solidFill>
                <a:latin typeface="Inter"/>
                <a:ea typeface="Inter"/>
                <a:cs typeface="Inter"/>
                <a:sym typeface="Inter"/>
              </a:rPr>
              <a:t>Cuatro situaciones donde escalas a Sovra.</a:t>
            </a:r>
            <a:endParaRPr b="1" i="0" sz="4200">
              <a:solidFill>
                <a:srgbClr val="0A0915"/>
              </a:solidFill>
              <a:latin typeface="Inter"/>
              <a:ea typeface="Inter"/>
              <a:cs typeface="Inter"/>
              <a:sym typeface="Inter"/>
            </a:endParaRPr>
          </a:p>
        </p:txBody>
      </p:sp>
      <p:grpSp>
        <p:nvGrpSpPr>
          <p:cNvPr id="164" name="Google Shape;164;p17"/>
          <p:cNvGrpSpPr/>
          <p:nvPr/>
        </p:nvGrpSpPr>
        <p:grpSpPr>
          <a:xfrm>
            <a:off x="1371600" y="2095500"/>
            <a:ext cx="7429500" cy="2667000"/>
            <a:chOff x="1371600" y="2095500"/>
            <a:chExt cx="7429500" cy="2667000"/>
          </a:xfrm>
        </p:grpSpPr>
        <p:sp>
          <p:nvSpPr>
            <p:cNvPr id="165" name="Google Shape;165;p17"/>
            <p:cNvSpPr/>
            <p:nvPr/>
          </p:nvSpPr>
          <p:spPr>
            <a:xfrm>
              <a:off x="1371600" y="2095500"/>
              <a:ext cx="7429500" cy="2667000"/>
            </a:xfrm>
            <a:prstGeom prst="roundRect">
              <a:avLst>
                <a:gd fmla="val 5714"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17"/>
            <p:cNvSpPr txBox="1"/>
            <p:nvPr/>
          </p:nvSpPr>
          <p:spPr>
            <a:xfrm>
              <a:off x="1657350" y="2451354"/>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720">
                  <a:solidFill>
                    <a:srgbClr val="7C3AED"/>
                  </a:solidFill>
                  <a:latin typeface="Material Icons"/>
                  <a:ea typeface="Material Icons"/>
                  <a:cs typeface="Material Icons"/>
                  <a:sym typeface="Material Icons"/>
                </a:rPr>
                <a:t></a:t>
              </a:r>
              <a:endParaRPr sz="3720">
                <a:solidFill>
                  <a:srgbClr val="7C3AED"/>
                </a:solidFill>
                <a:latin typeface="Material Icons"/>
                <a:ea typeface="Material Icons"/>
                <a:cs typeface="Material Icons"/>
                <a:sym typeface="Material Icons"/>
              </a:endParaRPr>
            </a:p>
          </p:txBody>
        </p:sp>
        <p:sp>
          <p:nvSpPr>
            <p:cNvPr id="167" name="Google Shape;167;p17"/>
            <p:cNvSpPr txBox="1"/>
            <p:nvPr/>
          </p:nvSpPr>
          <p:spPr>
            <a:xfrm>
              <a:off x="1657350" y="3143250"/>
              <a:ext cx="68580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400">
                  <a:solidFill>
                    <a:srgbClr val="0A0915"/>
                  </a:solidFill>
                  <a:latin typeface="Inter"/>
                  <a:ea typeface="Inter"/>
                  <a:cs typeface="Inter"/>
                  <a:sym typeface="Inter"/>
                </a:rPr>
                <a:t>Bloqueo político</a:t>
              </a:r>
              <a:endParaRPr b="1" sz="2400">
                <a:solidFill>
                  <a:srgbClr val="0A0915"/>
                </a:solidFill>
                <a:latin typeface="Inter"/>
                <a:ea typeface="Inter"/>
                <a:cs typeface="Inter"/>
                <a:sym typeface="Inter"/>
              </a:endParaRPr>
            </a:p>
            <a:p>
              <a:pPr indent="0" lvl="0" marL="0" rtl="0" algn="l">
                <a:spcBef>
                  <a:spcPts val="750"/>
                </a:spcBef>
                <a:spcAft>
                  <a:spcPts val="0"/>
                </a:spcAft>
                <a:buNone/>
              </a:pPr>
              <a:r>
                <a:rPr b="0" lang="en-US" sz="1800">
                  <a:solidFill>
                    <a:srgbClr val="4B5563"/>
                  </a:solidFill>
                  <a:latin typeface="Inter"/>
                  <a:ea typeface="Inter"/>
                  <a:cs typeface="Inter"/>
                  <a:sym typeface="Inter"/>
                </a:rPr>
                <a:t>El gobierno no puede priorizar trámites por limitaciones del entorno político local.</a:t>
              </a:r>
              <a:endParaRPr b="0" sz="1800">
                <a:solidFill>
                  <a:srgbClr val="4B5563"/>
                </a:solidFill>
                <a:latin typeface="Inter"/>
                <a:ea typeface="Inter"/>
                <a:cs typeface="Inter"/>
                <a:sym typeface="Inter"/>
              </a:endParaRPr>
            </a:p>
          </p:txBody>
        </p:sp>
      </p:grpSp>
      <p:grpSp>
        <p:nvGrpSpPr>
          <p:cNvPr id="168" name="Google Shape;168;p17"/>
          <p:cNvGrpSpPr/>
          <p:nvPr/>
        </p:nvGrpSpPr>
        <p:grpSpPr>
          <a:xfrm>
            <a:off x="9486900" y="2095500"/>
            <a:ext cx="7429500" cy="2667000"/>
            <a:chOff x="9486900" y="2095500"/>
            <a:chExt cx="7429500" cy="2667000"/>
          </a:xfrm>
        </p:grpSpPr>
        <p:sp>
          <p:nvSpPr>
            <p:cNvPr id="169" name="Google Shape;169;p17"/>
            <p:cNvSpPr/>
            <p:nvPr/>
          </p:nvSpPr>
          <p:spPr>
            <a:xfrm>
              <a:off x="9486900" y="2095500"/>
              <a:ext cx="7429500" cy="2667000"/>
            </a:xfrm>
            <a:prstGeom prst="roundRect">
              <a:avLst>
                <a:gd fmla="val 5714"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7"/>
            <p:cNvSpPr txBox="1"/>
            <p:nvPr/>
          </p:nvSpPr>
          <p:spPr>
            <a:xfrm>
              <a:off x="9772650" y="2451354"/>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720">
                  <a:solidFill>
                    <a:srgbClr val="7C3AED"/>
                  </a:solidFill>
                  <a:latin typeface="Material Icons"/>
                  <a:ea typeface="Material Icons"/>
                  <a:cs typeface="Material Icons"/>
                  <a:sym typeface="Material Icons"/>
                </a:rPr>
                <a:t></a:t>
              </a:r>
              <a:endParaRPr sz="3720">
                <a:solidFill>
                  <a:srgbClr val="7C3AED"/>
                </a:solidFill>
                <a:latin typeface="Material Icons"/>
                <a:ea typeface="Material Icons"/>
                <a:cs typeface="Material Icons"/>
                <a:sym typeface="Material Icons"/>
              </a:endParaRPr>
            </a:p>
          </p:txBody>
        </p:sp>
        <p:sp>
          <p:nvSpPr>
            <p:cNvPr id="171" name="Google Shape;171;p17"/>
            <p:cNvSpPr txBox="1"/>
            <p:nvPr/>
          </p:nvSpPr>
          <p:spPr>
            <a:xfrm>
              <a:off x="9772650" y="3143250"/>
              <a:ext cx="68580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400">
                  <a:solidFill>
                    <a:srgbClr val="0A0915"/>
                  </a:solidFill>
                  <a:latin typeface="Inter"/>
                  <a:ea typeface="Inter"/>
                  <a:cs typeface="Inter"/>
                  <a:sym typeface="Inter"/>
                </a:rPr>
                <a:t>Capacidad técnica</a:t>
              </a:r>
              <a:endParaRPr b="1" sz="2400">
                <a:solidFill>
                  <a:srgbClr val="0A0915"/>
                </a:solidFill>
                <a:latin typeface="Inter"/>
                <a:ea typeface="Inter"/>
                <a:cs typeface="Inter"/>
                <a:sym typeface="Inter"/>
              </a:endParaRPr>
            </a:p>
            <a:p>
              <a:pPr indent="0" lvl="0" marL="0" rtl="0" algn="l">
                <a:spcBef>
                  <a:spcPts val="750"/>
                </a:spcBef>
                <a:spcAft>
                  <a:spcPts val="0"/>
                </a:spcAft>
                <a:buNone/>
              </a:pPr>
              <a:r>
                <a:rPr b="0" lang="en-US" sz="1800">
                  <a:solidFill>
                    <a:srgbClr val="4B5563"/>
                  </a:solidFill>
                  <a:latin typeface="Inter"/>
                  <a:ea typeface="Inter"/>
                  <a:cs typeface="Inter"/>
                  <a:sym typeface="Inter"/>
                </a:rPr>
                <a:t>Las integraciones requeridas exceden los recursos o conocimientos técnicos actuales.</a:t>
              </a:r>
              <a:endParaRPr b="0" sz="1800">
                <a:solidFill>
                  <a:srgbClr val="4B5563"/>
                </a:solidFill>
                <a:latin typeface="Inter"/>
                <a:ea typeface="Inter"/>
                <a:cs typeface="Inter"/>
                <a:sym typeface="Inter"/>
              </a:endParaRPr>
            </a:p>
          </p:txBody>
        </p:sp>
      </p:grpSp>
      <p:grpSp>
        <p:nvGrpSpPr>
          <p:cNvPr id="172" name="Google Shape;172;p17"/>
          <p:cNvGrpSpPr/>
          <p:nvPr/>
        </p:nvGrpSpPr>
        <p:grpSpPr>
          <a:xfrm>
            <a:off x="1371600" y="5143500"/>
            <a:ext cx="7429500" cy="2667000"/>
            <a:chOff x="1371600" y="5143500"/>
            <a:chExt cx="7429500" cy="2667000"/>
          </a:xfrm>
        </p:grpSpPr>
        <p:sp>
          <p:nvSpPr>
            <p:cNvPr id="173" name="Google Shape;173;p17"/>
            <p:cNvSpPr/>
            <p:nvPr/>
          </p:nvSpPr>
          <p:spPr>
            <a:xfrm>
              <a:off x="1371600" y="5143500"/>
              <a:ext cx="7429500" cy="2667000"/>
            </a:xfrm>
            <a:prstGeom prst="roundRect">
              <a:avLst>
                <a:gd fmla="val 5714"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17"/>
            <p:cNvSpPr txBox="1"/>
            <p:nvPr/>
          </p:nvSpPr>
          <p:spPr>
            <a:xfrm>
              <a:off x="1657350" y="5499354"/>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720">
                  <a:solidFill>
                    <a:srgbClr val="7C3AED"/>
                  </a:solidFill>
                  <a:latin typeface="Material Icons"/>
                  <a:ea typeface="Material Icons"/>
                  <a:cs typeface="Material Icons"/>
                  <a:sym typeface="Material Icons"/>
                </a:rPr>
                <a:t></a:t>
              </a:r>
              <a:endParaRPr sz="3720">
                <a:solidFill>
                  <a:srgbClr val="7C3AED"/>
                </a:solidFill>
                <a:latin typeface="Material Icons"/>
                <a:ea typeface="Material Icons"/>
                <a:cs typeface="Material Icons"/>
                <a:sym typeface="Material Icons"/>
              </a:endParaRPr>
            </a:p>
          </p:txBody>
        </p:sp>
        <p:sp>
          <p:nvSpPr>
            <p:cNvPr id="175" name="Google Shape;175;p17"/>
            <p:cNvSpPr txBox="1"/>
            <p:nvPr/>
          </p:nvSpPr>
          <p:spPr>
            <a:xfrm>
              <a:off x="1657350" y="6191250"/>
              <a:ext cx="68580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400">
                  <a:solidFill>
                    <a:srgbClr val="0A0915"/>
                  </a:solidFill>
                  <a:latin typeface="Inter"/>
                  <a:ea typeface="Inter"/>
                  <a:cs typeface="Inter"/>
                  <a:sym typeface="Inter"/>
                </a:rPr>
                <a:t>Falta de apropiación</a:t>
              </a:r>
              <a:endParaRPr b="1" sz="2400">
                <a:solidFill>
                  <a:srgbClr val="0A0915"/>
                </a:solidFill>
                <a:latin typeface="Inter"/>
                <a:ea typeface="Inter"/>
                <a:cs typeface="Inter"/>
                <a:sym typeface="Inter"/>
              </a:endParaRPr>
            </a:p>
            <a:p>
              <a:pPr indent="0" lvl="0" marL="0" rtl="0" algn="l">
                <a:spcBef>
                  <a:spcPts val="750"/>
                </a:spcBef>
                <a:spcAft>
                  <a:spcPts val="0"/>
                </a:spcAft>
                <a:buNone/>
              </a:pPr>
              <a:r>
                <a:rPr b="0" lang="en-US" sz="1800">
                  <a:solidFill>
                    <a:srgbClr val="4B5563"/>
                  </a:solidFill>
                  <a:latin typeface="Inter"/>
                  <a:ea typeface="Inter"/>
                  <a:cs typeface="Inter"/>
                  <a:sym typeface="Inter"/>
                </a:rPr>
                <a:t>El equipo core no adopta la plataforma como propia tras finalizar las capacitaciones.</a:t>
              </a:r>
              <a:endParaRPr b="0" sz="1800">
                <a:solidFill>
                  <a:srgbClr val="4B5563"/>
                </a:solidFill>
                <a:latin typeface="Inter"/>
                <a:ea typeface="Inter"/>
                <a:cs typeface="Inter"/>
                <a:sym typeface="Inter"/>
              </a:endParaRPr>
            </a:p>
          </p:txBody>
        </p:sp>
      </p:grpSp>
      <p:grpSp>
        <p:nvGrpSpPr>
          <p:cNvPr id="176" name="Google Shape;176;p17"/>
          <p:cNvGrpSpPr/>
          <p:nvPr/>
        </p:nvGrpSpPr>
        <p:grpSpPr>
          <a:xfrm>
            <a:off x="9486900" y="5143500"/>
            <a:ext cx="7429500" cy="2667000"/>
            <a:chOff x="9486900" y="5143500"/>
            <a:chExt cx="7429500" cy="2667000"/>
          </a:xfrm>
        </p:grpSpPr>
        <p:sp>
          <p:nvSpPr>
            <p:cNvPr id="177" name="Google Shape;177;p17"/>
            <p:cNvSpPr/>
            <p:nvPr/>
          </p:nvSpPr>
          <p:spPr>
            <a:xfrm>
              <a:off x="9486900" y="5143500"/>
              <a:ext cx="7429500" cy="2667000"/>
            </a:xfrm>
            <a:prstGeom prst="roundRect">
              <a:avLst>
                <a:gd fmla="val 5714"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8" name="Google Shape;178;p17"/>
            <p:cNvSpPr txBox="1"/>
            <p:nvPr/>
          </p:nvSpPr>
          <p:spPr>
            <a:xfrm>
              <a:off x="9772650" y="5499354"/>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720">
                  <a:solidFill>
                    <a:srgbClr val="7C3AED"/>
                  </a:solidFill>
                  <a:latin typeface="Material Icons"/>
                  <a:ea typeface="Material Icons"/>
                  <a:cs typeface="Material Icons"/>
                  <a:sym typeface="Material Icons"/>
                </a:rPr>
                <a:t></a:t>
              </a:r>
              <a:endParaRPr sz="3720">
                <a:solidFill>
                  <a:srgbClr val="7C3AED"/>
                </a:solidFill>
                <a:latin typeface="Material Icons"/>
                <a:ea typeface="Material Icons"/>
                <a:cs typeface="Material Icons"/>
                <a:sym typeface="Material Icons"/>
              </a:endParaRPr>
            </a:p>
          </p:txBody>
        </p:sp>
        <p:sp>
          <p:nvSpPr>
            <p:cNvPr id="179" name="Google Shape;179;p17"/>
            <p:cNvSpPr txBox="1"/>
            <p:nvPr/>
          </p:nvSpPr>
          <p:spPr>
            <a:xfrm>
              <a:off x="9772650" y="6191250"/>
              <a:ext cx="68580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400">
                  <a:solidFill>
                    <a:srgbClr val="0A0915"/>
                  </a:solidFill>
                  <a:latin typeface="Inter"/>
                  <a:ea typeface="Inter"/>
                  <a:cs typeface="Inter"/>
                  <a:sym typeface="Inter"/>
                </a:rPr>
                <a:t>Retraso en asignación</a:t>
              </a:r>
              <a:endParaRPr b="1" sz="2400">
                <a:solidFill>
                  <a:srgbClr val="0A0915"/>
                </a:solidFill>
                <a:latin typeface="Inter"/>
                <a:ea typeface="Inter"/>
                <a:cs typeface="Inter"/>
                <a:sym typeface="Inter"/>
              </a:endParaRPr>
            </a:p>
            <a:p>
              <a:pPr indent="0" lvl="0" marL="0" rtl="0" algn="l">
                <a:spcBef>
                  <a:spcPts val="750"/>
                </a:spcBef>
                <a:spcAft>
                  <a:spcPts val="0"/>
                </a:spcAft>
                <a:buNone/>
              </a:pPr>
              <a:r>
                <a:rPr b="0" lang="en-US" sz="1800">
                  <a:solidFill>
                    <a:srgbClr val="4B5563"/>
                  </a:solidFill>
                  <a:latin typeface="Inter"/>
                  <a:ea typeface="Inter"/>
                  <a:cs typeface="Inter"/>
                  <a:sym typeface="Inter"/>
                </a:rPr>
                <a:t>Ha pasado más de dos semanas y el responsable técnico aún no ha sido designado.</a:t>
              </a:r>
              <a:endParaRPr b="0" sz="1800">
                <a:solidFill>
                  <a:srgbClr val="4B5563"/>
                </a:solidFill>
                <a:latin typeface="Inter"/>
                <a:ea typeface="Inter"/>
                <a:cs typeface="Inter"/>
                <a:sym typeface="Inter"/>
              </a:endParaRPr>
            </a:p>
          </p:txBody>
        </p:sp>
      </p:grpSp>
      <p:sp>
        <p:nvSpPr>
          <p:cNvPr id="180" name="Google Shape;180;p17"/>
          <p:cNvSpPr txBox="1"/>
          <p:nvPr/>
        </p:nvSpPr>
        <p:spPr>
          <a:xfrm>
            <a:off x="1371600" y="8191500"/>
            <a:ext cx="155448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US" sz="1600">
                <a:solidFill>
                  <a:srgbClr val="6B7280"/>
                </a:solidFill>
                <a:latin typeface="Inter"/>
                <a:ea typeface="Inter"/>
                <a:cs typeface="Inter"/>
                <a:sym typeface="Inter"/>
              </a:rPr>
              <a:t>Estas señales indican que es momento de involucrar el soporte estratégico de Sovra para asegurar el éxito del proyecto.</a:t>
            </a:r>
            <a:endParaRPr i="1" sz="1600">
              <a:solidFill>
                <a:srgbClr val="6B7280"/>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8"/>
          <p:cNvSpPr/>
          <p:nvPr/>
        </p:nvSpPr>
        <p:spPr>
          <a:xfrm>
            <a:off x="0" y="0"/>
            <a:ext cx="18288000" cy="10287000"/>
          </a:xfrm>
          <a:prstGeom prst="rect">
            <a:avLst/>
          </a:prstGeom>
          <a:solidFill>
            <a:srgbClr val="7C3AE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18"/>
          <p:cNvSpPr txBox="1"/>
          <p:nvPr/>
        </p:nvSpPr>
        <p:spPr>
          <a:xfrm>
            <a:off x="1371600" y="3200400"/>
            <a:ext cx="15544800" cy="6465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4200" u="none" cap="none" strike="noStrike">
                <a:solidFill>
                  <a:srgbClr val="FFFFFF"/>
                </a:solidFill>
                <a:latin typeface="Inter"/>
                <a:ea typeface="Inter"/>
                <a:cs typeface="Inter"/>
                <a:sym typeface="Inter"/>
              </a:rPr>
              <a:t>No avances a Fase C con items abiertos</a:t>
            </a:r>
            <a:endParaRPr/>
          </a:p>
        </p:txBody>
      </p:sp>
      <p:sp>
        <p:nvSpPr>
          <p:cNvPr id="188" name="Google Shape;188;p18"/>
          <p:cNvSpPr txBox="1"/>
          <p:nvPr/>
        </p:nvSpPr>
        <p:spPr>
          <a:xfrm>
            <a:off x="1371600" y="4754880"/>
            <a:ext cx="15544800" cy="22860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7800" u="none" cap="none" strike="noStrike">
                <a:solidFill>
                  <a:srgbClr val="FFFFFF"/>
                </a:solidFill>
                <a:latin typeface="Inter"/>
                <a:ea typeface="Inter"/>
                <a:cs typeface="Inter"/>
                <a:sym typeface="Inter"/>
              </a:rPr>
              <a:t>Cada checkbox sin marcar</a:t>
            </a:r>
            <a:endParaRPr/>
          </a:p>
        </p:txBody>
      </p:sp>
      <p:sp>
        <p:nvSpPr>
          <p:cNvPr id="189" name="Google Shape;189;p18"/>
          <p:cNvSpPr txBox="1"/>
          <p:nvPr/>
        </p:nvSpPr>
        <p:spPr>
          <a:xfrm>
            <a:off x="1371600" y="7315200"/>
            <a:ext cx="15544800" cy="10972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3000" u="none" cap="none" strike="noStrike">
                <a:solidFill>
                  <a:srgbClr val="FFFFFF"/>
                </a:solidFill>
                <a:latin typeface="Inter"/>
                <a:ea typeface="Inter"/>
                <a:cs typeface="Inter"/>
                <a:sym typeface="Inter"/>
              </a:rPr>
              <a:t>es un problema que te alcanza en semana 7 u 8.</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