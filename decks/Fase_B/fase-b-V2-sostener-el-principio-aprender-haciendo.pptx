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14.0s · 35 palabras]</a:t>
            </a:r>
          </a:p>
          <a:p/>
          <a:p>
            <a:r>
              <a:t>Hay un principio que atraviesa toda la Fase B y todo el ciclo de noventa días. Se llama aprender haciendo y vale la pena que lo entiendas antes de la primera reunión con el gobierno.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14.4s · 36 palabras]</a:t>
            </a:r>
          </a:p>
          <a:p/>
          <a:p>
            <a:r>
              <a:t>La idea es simple. Los noventa días no son para que tú implementes la plataforma y se la entregues funcionando. Son para que el gobierno aprenda a operarla. Tú facilitas y enseñas. El gobierno aprende operando.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19.6s · 49 palabras]</a:t>
            </a:r>
          </a:p>
          <a:p/>
          <a:p>
            <a:r>
              <a:t>Si al final del ciclo el gobierno no puede mover un trámite sin que tú estés en la sala, la implementación no fue exitosa. Aunque la plataforma esté en producción, aunque el ciudadano pueda iniciar trámites, aunque las métricas se vean bien. Si la operación depende de ti, fallaste.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26.4s · 66 palabras]</a:t>
            </a:r>
          </a:p>
          <a:p/>
          <a:p>
            <a:r>
              <a:t>Esto cambia cómo armas cada actividad. Una capacitación no es una presentación en diapositivas. Es una sesión donde el funcionario del gobierno toca la plataforma con sus propias manos. Una decisión no la tomas tú por ellos. La presentas con sus trade-offs y dejas que el gobierno decida. Una integración no la armas escondido en tu equipo. La planificas con el técnico del gobierno al lado.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14.8s · 37 palabras]</a:t>
            </a:r>
          </a:p>
          <a:p/>
          <a:p>
            <a:r>
              <a:t>Vas a sentir la tentación de hacerlo tú porque es más rápido. Es una trampa. Cada vez que resuelves algo que el gobierno podía resolver, le restas autonomía. Y la autonomía es lo que entregas al final.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9.6s · 24 palabras]</a:t>
            </a:r>
          </a:p>
          <a:p/>
          <a:p>
            <a:r>
              <a:t>Si el gobierno no puede operar sin ti al día noventa y uno, no terminaste el trabajo. Aprender haciendo no es una frase decorativa.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7C3AED"/>
                </a:solidFill>
                <a:latin typeface="Figtree"/>
              </a:rPr>
              <a:t>FASE B</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Aprender haciendo.</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El principio que atraviesa toda la Fase B y todo el ciclo de 90 días.</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7C3AED"/>
                </a:solidFill>
                <a:latin typeface="Figtree"/>
              </a:rPr>
              <a:t>La idea simple</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Tú facilitas y enseñas.</a:t>
            </a:r>
          </a:p>
          <a:p>
            <a:pPr algn="ctr">
              <a:lnSpc>
                <a:spcPct val="115000"/>
              </a:lnSpc>
            </a:pPr>
            <a:r>
              <a:rPr sz="5600" b="1" i="0">
                <a:solidFill>
                  <a:srgbClr val="0A0915"/>
                </a:solidFill>
                <a:latin typeface="Plus Jakarta Sans"/>
              </a:rPr>
              <a:t>El gobierno aprende operando.</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Los noventa días no son para que tú implementes la plataforma y se la entregues funcionando. Son para que el gobierno aprenda a operarla.</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0" y="1371600"/>
            <a:ext cx="2743200" cy="2743200"/>
          </a:xfrm>
          <a:prstGeom prst="rect">
            <a:avLst/>
          </a:prstGeom>
          <a:noFill/>
        </p:spPr>
        <p:txBody>
          <a:bodyPr wrap="square" anchor="t" lIns="0" rIns="0" tIns="0" bIns="0">
            <a:spAutoFit/>
          </a:bodyPr>
          <a:lstStyle/>
          <a:p>
            <a:pPr algn="ctr">
              <a:lnSpc>
                <a:spcPct val="115000"/>
              </a:lnSpc>
            </a:pPr>
            <a:r>
              <a:rPr sz="18000" b="1" i="0">
                <a:solidFill>
                  <a:srgbClr val="7C3AED"/>
                </a:solidFill>
                <a:latin typeface="Plus Jakarta Sans"/>
              </a:rPr>
              <a:t>“</a:t>
            </a:r>
          </a:p>
        </p:txBody>
      </p:sp>
      <p:sp>
        <p:nvSpPr>
          <p:cNvPr id="3" name="TextBox 2"/>
          <p:cNvSpPr txBox="1"/>
          <p:nvPr/>
        </p:nvSpPr>
        <p:spPr>
          <a:xfrm>
            <a:off x="1371600" y="4114800"/>
            <a:ext cx="15544800" cy="3657600"/>
          </a:xfrm>
          <a:prstGeom prst="rect">
            <a:avLst/>
          </a:prstGeom>
          <a:noFill/>
        </p:spPr>
        <p:txBody>
          <a:bodyPr wrap="square" anchor="t" lIns="0" rIns="0" tIns="0" bIns="0">
            <a:spAutoFit/>
          </a:bodyPr>
          <a:lstStyle/>
          <a:p>
            <a:pPr algn="ctr">
              <a:lnSpc>
                <a:spcPct val="130000"/>
              </a:lnSpc>
            </a:pPr>
            <a:r>
              <a:rPr sz="4400" b="1" i="0">
                <a:solidFill>
                  <a:srgbClr val="0A0915"/>
                </a:solidFill>
                <a:latin typeface="Plus Jakarta Sans"/>
              </a:rPr>
              <a:t>Si al final del ciclo el gobierno no puede mover un trámite</a:t>
            </a:r>
          </a:p>
          <a:p>
            <a:pPr algn="ctr">
              <a:lnSpc>
                <a:spcPct val="130000"/>
              </a:lnSpc>
            </a:pPr>
            <a:r>
              <a:rPr sz="4400" b="1" i="0">
                <a:solidFill>
                  <a:srgbClr val="0A0915"/>
                </a:solidFill>
                <a:latin typeface="Plus Jakarta Sans"/>
              </a:rPr>
              <a:t>sin que tú estés en la sala,</a:t>
            </a:r>
          </a:p>
          <a:p>
            <a:pPr algn="ctr">
              <a:lnSpc>
                <a:spcPct val="130000"/>
              </a:lnSpc>
            </a:pPr>
            <a:r>
              <a:rPr sz="4400" b="1" i="0">
                <a:solidFill>
                  <a:srgbClr val="0A0915"/>
                </a:solidFill>
                <a:latin typeface="Plus Jakarta Sans"/>
              </a:rPr>
              <a:t>la implementación no fue exitosa.</a:t>
            </a:r>
          </a:p>
        </p:txBody>
      </p:sp>
      <p:sp>
        <p:nvSpPr>
          <p:cNvPr id="4" name="TextBox 3"/>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097280"/>
            <a:ext cx="15544800" cy="13716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Esto cambia cómo armas cada actividad.</a:t>
            </a:r>
          </a:p>
        </p:txBody>
      </p:sp>
      <p:sp>
        <p:nvSpPr>
          <p:cNvPr id="3" name="Rounded Rectangle 2"/>
          <p:cNvSpPr/>
          <p:nvPr/>
        </p:nvSpPr>
        <p:spPr>
          <a:xfrm>
            <a:off x="11430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3000" y="4572000"/>
            <a:ext cx="502920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5120640"/>
            <a:ext cx="4297680" cy="1097280"/>
          </a:xfrm>
          <a:prstGeom prst="rect">
            <a:avLst/>
          </a:prstGeom>
          <a:noFill/>
        </p:spPr>
        <p:txBody>
          <a:bodyPr wrap="square" anchor="t" lIns="0" rIns="0" tIns="0" bIns="0">
            <a:spAutoFit/>
          </a:bodyPr>
          <a:lstStyle/>
          <a:p>
            <a:pPr algn="l">
              <a:lnSpc>
                <a:spcPct val="115000"/>
              </a:lnSpc>
            </a:pPr>
            <a:r>
              <a:rPr sz="3000" b="1" i="0">
                <a:solidFill>
                  <a:srgbClr val="7C3AED"/>
                </a:solidFill>
                <a:latin typeface="Plus Jakarta Sans"/>
              </a:rPr>
              <a:t>Capacitación</a:t>
            </a:r>
          </a:p>
        </p:txBody>
      </p:sp>
      <p:sp>
        <p:nvSpPr>
          <p:cNvPr id="6" name="TextBox 5"/>
          <p:cNvSpPr txBox="1"/>
          <p:nvPr/>
        </p:nvSpPr>
        <p:spPr>
          <a:xfrm>
            <a:off x="15087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No es una presentación. Es una sesión donde el funcionario toca la plataforma con sus propias manos.</a:t>
            </a:r>
          </a:p>
        </p:txBody>
      </p:sp>
      <p:sp>
        <p:nvSpPr>
          <p:cNvPr id="7" name="Rounded Rectangle 6"/>
          <p:cNvSpPr/>
          <p:nvPr/>
        </p:nvSpPr>
        <p:spPr>
          <a:xfrm>
            <a:off x="66294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629400" y="4572000"/>
            <a:ext cx="502920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5120640"/>
            <a:ext cx="4297680" cy="1097280"/>
          </a:xfrm>
          <a:prstGeom prst="rect">
            <a:avLst/>
          </a:prstGeom>
          <a:noFill/>
        </p:spPr>
        <p:txBody>
          <a:bodyPr wrap="square" anchor="t" lIns="0" rIns="0" tIns="0" bIns="0">
            <a:spAutoFit/>
          </a:bodyPr>
          <a:lstStyle/>
          <a:p>
            <a:pPr algn="l">
              <a:lnSpc>
                <a:spcPct val="115000"/>
              </a:lnSpc>
            </a:pPr>
            <a:r>
              <a:rPr sz="3000" b="1" i="0">
                <a:solidFill>
                  <a:srgbClr val="7C3AED"/>
                </a:solidFill>
                <a:latin typeface="Plus Jakarta Sans"/>
              </a:rPr>
              <a:t>Decisión</a:t>
            </a:r>
          </a:p>
        </p:txBody>
      </p:sp>
      <p:sp>
        <p:nvSpPr>
          <p:cNvPr id="10" name="TextBox 9"/>
          <p:cNvSpPr txBox="1"/>
          <p:nvPr/>
        </p:nvSpPr>
        <p:spPr>
          <a:xfrm>
            <a:off x="69951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No la tomas tú por ellos. La presentas con sus trade-offs y dejas que el gobierno decida.</a:t>
            </a:r>
          </a:p>
        </p:txBody>
      </p:sp>
      <p:sp>
        <p:nvSpPr>
          <p:cNvPr id="11" name="Rounded Rectangle 10"/>
          <p:cNvSpPr/>
          <p:nvPr/>
        </p:nvSpPr>
        <p:spPr>
          <a:xfrm>
            <a:off x="121158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115800" y="4572000"/>
            <a:ext cx="5029200" cy="137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81560" y="5120640"/>
            <a:ext cx="4297680" cy="1097280"/>
          </a:xfrm>
          <a:prstGeom prst="rect">
            <a:avLst/>
          </a:prstGeom>
          <a:noFill/>
        </p:spPr>
        <p:txBody>
          <a:bodyPr wrap="square" anchor="t" lIns="0" rIns="0" tIns="0" bIns="0">
            <a:spAutoFit/>
          </a:bodyPr>
          <a:lstStyle/>
          <a:p>
            <a:pPr algn="l">
              <a:lnSpc>
                <a:spcPct val="115000"/>
              </a:lnSpc>
            </a:pPr>
            <a:r>
              <a:rPr sz="3000" b="1" i="0">
                <a:solidFill>
                  <a:srgbClr val="7C3AED"/>
                </a:solidFill>
                <a:latin typeface="Plus Jakarta Sans"/>
              </a:rPr>
              <a:t>Integración</a:t>
            </a:r>
          </a:p>
        </p:txBody>
      </p:sp>
      <p:sp>
        <p:nvSpPr>
          <p:cNvPr id="14" name="TextBox 13"/>
          <p:cNvSpPr txBox="1"/>
          <p:nvPr/>
        </p:nvSpPr>
        <p:spPr>
          <a:xfrm>
            <a:off x="124815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No la armas escondido en tu equipo. La planificas con el técnico del gobierno al lado.</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7C3AED"/>
                </a:solidFill>
                <a:latin typeface="Figtree"/>
              </a:rPr>
              <a:t>La trampa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Vas a sentir la tentación</a:t>
            </a:r>
          </a:p>
          <a:p>
            <a:pPr algn="ctr">
              <a:lnSpc>
                <a:spcPct val="115000"/>
              </a:lnSpc>
            </a:pPr>
            <a:r>
              <a:rPr sz="5600" b="1" i="0">
                <a:solidFill>
                  <a:srgbClr val="0A0915"/>
                </a:solidFill>
                <a:latin typeface="Plus Jakarta Sans"/>
              </a:rPr>
              <a:t>de hacerlo tú porque es más rápido.</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Cada vez que resuelves algo que el gobierno podía resolver, le restas autonomía. Y la autonomía es lo que entregas al final.</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Si el gobierno no puede operar sin ti</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al día noventa y uno,</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no terminaste el trabajo.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