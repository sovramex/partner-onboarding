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Lst>
  <p:sldSz cy="10287000" cx="18288000"/>
  <p:notesSz cx="6858000" cy="9144000"/>
  <p:embeddedFontLst>
    <p:embeddedFont>
      <p:font typeface="Inter"/>
      <p:regular r:id="rId12"/>
      <p:bold r:id="rId13"/>
      <p:italic r:id="rId14"/>
      <p:boldItalic r:id="rId15"/>
    </p:embeddedFont>
    <p:embeddedFont>
      <p:font typeface="Inter ExtraBold"/>
      <p:bold r:id="rId16"/>
      <p:boldItalic r:id="rId1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font" Target="fonts/Inter-bold.fntdata"/><Relationship Id="rId12" Type="http://schemas.openxmlformats.org/officeDocument/2006/relationships/font" Target="fonts/Inter-regular.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font" Target="fonts/Inter-boldItalic.fntdata"/><Relationship Id="rId14" Type="http://schemas.openxmlformats.org/officeDocument/2006/relationships/font" Target="fonts/Inter-italic.fntdata"/><Relationship Id="rId17" Type="http://schemas.openxmlformats.org/officeDocument/2006/relationships/font" Target="fonts/InterExtraBold-boldItalic.fntdata"/><Relationship Id="rId16" Type="http://schemas.openxmlformats.org/officeDocument/2006/relationships/font" Target="fonts/InterExtraBold-bold.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14.0s · 35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Hay un principio que atraviesa toda la Fase B y todo el ciclo de noventa días. Se llama aprender haciendo y vale la pena que lo entiendas antes de la primera reunión con el gobierno.</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 name="Google Shape;91;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14.4s · 36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La idea es simple. Los noventa días no son para que tú implementes la plataforma y se la entregues funcionando. Son para que el gobierno aprenda a operarla. Tú facilitas y enseñas. El gobierno aprende operando.</a:t>
            </a:r>
            <a:endParaRPr/>
          </a:p>
        </p:txBody>
      </p:sp>
      <p:sp>
        <p:nvSpPr>
          <p:cNvPr id="92" name="Google Shape;92;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9" name="Google Shape;109;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19.6s · 49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Si al final del ciclo el gobierno no puede mover un trámite sin que tú estés en la sala, la implementación no fue exitosa. Aunque la plataforma esté en producción, aunque el ciudadano pueda iniciar trámites, aunque las métricas se vean bien. Si la operación depende de ti, fallaste.</a:t>
            </a:r>
            <a:endParaRPr/>
          </a:p>
        </p:txBody>
      </p:sp>
      <p:sp>
        <p:nvSpPr>
          <p:cNvPr id="110" name="Google Shape;110;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6" name="Google Shape;116;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26.4s · 66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Esto cambia cómo armas cada actividad. Una capacitación no es una presentación en diapositivas. Es una sesión donde el funcionario del gobierno toca la plataforma con sus propias manos. Una decisión no la tomas tú por ellos. La presentas con sus trade-offs y dejas que el gobierno decida. Una integración no la armas escondido en tu equipo. La planificas con el técnico del gobierno al lado.</a:t>
            </a:r>
            <a:endParaRPr/>
          </a:p>
        </p:txBody>
      </p:sp>
      <p:sp>
        <p:nvSpPr>
          <p:cNvPr id="117" name="Google Shape;117;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8" name="Google Shape;138;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14.8s · 37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Vas a sentir la tentación de hacerlo tú porque es más rápido. Es una trampa. Cada vez que resuelves algo que el gobierno podía resolver, le restas autonomía. Y la autonomía es lo que entregas al final.</a:t>
            </a:r>
            <a:endParaRPr/>
          </a:p>
        </p:txBody>
      </p:sp>
      <p:sp>
        <p:nvSpPr>
          <p:cNvPr id="139" name="Google Shape;139;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3" name="Google Shape;153;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9.6s · 24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Si el gobierno no puede operar sin ti al día noventa y uno, no terminaste el trabajo. Aprender haciendo no es una frase decorativa.</a:t>
            </a:r>
            <a:endParaRPr/>
          </a:p>
        </p:txBody>
      </p:sp>
      <p:sp>
        <p:nvSpPr>
          <p:cNvPr id="154" name="Google Shape;154;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3"/>
          <p:cNvSpPr/>
          <p:nvPr/>
        </p:nvSpPr>
        <p:spPr>
          <a:xfrm>
            <a:off x="0" y="0"/>
            <a:ext cx="18288000" cy="22860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 name="Google Shape;86;p13"/>
          <p:cNvSpPr txBox="1"/>
          <p:nvPr/>
        </p:nvSpPr>
        <p:spPr>
          <a:xfrm>
            <a:off x="1371600" y="3200400"/>
            <a:ext cx="15544800" cy="54864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800" u="none" cap="none" strike="noStrike">
                <a:solidFill>
                  <a:srgbClr val="7C3AED"/>
                </a:solidFill>
                <a:latin typeface="Inter"/>
                <a:ea typeface="Inter"/>
                <a:cs typeface="Inter"/>
                <a:sym typeface="Inter"/>
              </a:rPr>
              <a:t>FASE B</a:t>
            </a:r>
            <a:endParaRPr/>
          </a:p>
        </p:txBody>
      </p:sp>
      <p:sp>
        <p:nvSpPr>
          <p:cNvPr id="87" name="Google Shape;87;p13"/>
          <p:cNvSpPr txBox="1"/>
          <p:nvPr/>
        </p:nvSpPr>
        <p:spPr>
          <a:xfrm>
            <a:off x="1371600" y="3840480"/>
            <a:ext cx="15544800" cy="12315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8000" u="none" cap="none" strike="noStrike">
                <a:solidFill>
                  <a:srgbClr val="0A0915"/>
                </a:solidFill>
                <a:latin typeface="Inter"/>
                <a:ea typeface="Inter"/>
                <a:cs typeface="Inter"/>
                <a:sym typeface="Inter"/>
              </a:rPr>
              <a:t>Aprender haciendo</a:t>
            </a:r>
            <a:endParaRPr/>
          </a:p>
        </p:txBody>
      </p:sp>
      <p:sp>
        <p:nvSpPr>
          <p:cNvPr id="88" name="Google Shape;88;p13"/>
          <p:cNvSpPr txBox="1"/>
          <p:nvPr/>
        </p:nvSpPr>
        <p:spPr>
          <a:xfrm>
            <a:off x="1250575" y="5163400"/>
            <a:ext cx="15544800" cy="3387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US" sz="2200" u="none" cap="none" strike="noStrike">
                <a:solidFill>
                  <a:srgbClr val="888888"/>
                </a:solidFill>
                <a:latin typeface="Inter"/>
                <a:ea typeface="Inter"/>
                <a:cs typeface="Inter"/>
                <a:sym typeface="Inter"/>
              </a:rPr>
              <a:t>El principio que atraviesa toda la Fase B y todo el ciclo de 90 días.</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93" name="Shape 93"/>
        <p:cNvGrpSpPr/>
        <p:nvPr/>
      </p:nvGrpSpPr>
      <p:grpSpPr>
        <a:xfrm>
          <a:off x="0" y="0"/>
          <a:ext cx="0" cy="0"/>
          <a:chOff x="0" y="0"/>
          <a:chExt cx="0" cy="0"/>
        </a:xfrm>
      </p:grpSpPr>
      <p:sp>
        <p:nvSpPr>
          <p:cNvPr id="94" name="Google Shape;94;p14"/>
          <p:cNvSpPr/>
          <p:nvPr/>
        </p:nvSpPr>
        <p:spPr>
          <a:xfrm>
            <a:off x="0" y="0"/>
            <a:ext cx="18288000" cy="228600"/>
          </a:xfrm>
          <a:prstGeom prst="rect">
            <a:avLst/>
          </a:prstGeom>
          <a:solidFill>
            <a:srgbClr val="7C3AED"/>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95" name="Google Shape;95;p14"/>
          <p:cNvGrpSpPr/>
          <p:nvPr/>
        </p:nvGrpSpPr>
        <p:grpSpPr>
          <a:xfrm>
            <a:off x="1371600" y="952500"/>
            <a:ext cx="15544800" cy="2286000"/>
            <a:chOff x="1371600" y="952500"/>
            <a:chExt cx="15544800" cy="2286000"/>
          </a:xfrm>
        </p:grpSpPr>
        <p:sp>
          <p:nvSpPr>
            <p:cNvPr id="96" name="Google Shape;96;p14"/>
            <p:cNvSpPr txBox="1"/>
            <p:nvPr/>
          </p:nvSpPr>
          <p:spPr>
            <a:xfrm>
              <a:off x="1371600" y="952500"/>
              <a:ext cx="15544800" cy="571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2000">
                  <a:solidFill>
                    <a:srgbClr val="7C3AED"/>
                  </a:solidFill>
                  <a:latin typeface="Inter"/>
                  <a:ea typeface="Inter"/>
                  <a:cs typeface="Inter"/>
                  <a:sym typeface="Inter"/>
                </a:rPr>
                <a:t>La idea simple</a:t>
              </a:r>
              <a:endParaRPr b="1" sz="2000">
                <a:solidFill>
                  <a:srgbClr val="7C3AED"/>
                </a:solidFill>
                <a:latin typeface="Inter"/>
                <a:ea typeface="Inter"/>
                <a:cs typeface="Inter"/>
                <a:sym typeface="Inter"/>
              </a:endParaRPr>
            </a:p>
          </p:txBody>
        </p:sp>
        <p:sp>
          <p:nvSpPr>
            <p:cNvPr id="97" name="Google Shape;97;p14"/>
            <p:cNvSpPr txBox="1"/>
            <p:nvPr/>
          </p:nvSpPr>
          <p:spPr>
            <a:xfrm>
              <a:off x="1371600" y="1524000"/>
              <a:ext cx="15544800" cy="1714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5440">
                  <a:solidFill>
                    <a:srgbClr val="0A0915"/>
                  </a:solidFill>
                  <a:latin typeface="Inter"/>
                  <a:ea typeface="Inter"/>
                  <a:cs typeface="Inter"/>
                  <a:sym typeface="Inter"/>
                </a:rPr>
                <a:t>Tú facilitas y enseñas.</a:t>
              </a:r>
              <a:endParaRPr b="1" sz="5440">
                <a:solidFill>
                  <a:srgbClr val="0A0915"/>
                </a:solidFill>
                <a:latin typeface="Inter"/>
                <a:ea typeface="Inter"/>
                <a:cs typeface="Inter"/>
                <a:sym typeface="Inter"/>
              </a:endParaRPr>
            </a:p>
            <a:p>
              <a:pPr indent="0" lvl="0" marL="0" rtl="0" algn="l">
                <a:spcBef>
                  <a:spcPts val="0"/>
                </a:spcBef>
                <a:spcAft>
                  <a:spcPts val="0"/>
                </a:spcAft>
                <a:buNone/>
              </a:pPr>
              <a:r>
                <a:rPr b="1" lang="en-US" sz="5440">
                  <a:solidFill>
                    <a:srgbClr val="0A0915"/>
                  </a:solidFill>
                  <a:latin typeface="Inter"/>
                  <a:ea typeface="Inter"/>
                  <a:cs typeface="Inter"/>
                  <a:sym typeface="Inter"/>
                </a:rPr>
                <a:t>El gobierno aprende operando.</a:t>
              </a:r>
              <a:endParaRPr b="1" sz="5440">
                <a:solidFill>
                  <a:srgbClr val="0A0915"/>
                </a:solidFill>
                <a:latin typeface="Inter"/>
                <a:ea typeface="Inter"/>
                <a:cs typeface="Inter"/>
                <a:sym typeface="Inter"/>
              </a:endParaRPr>
            </a:p>
          </p:txBody>
        </p:sp>
      </p:grpSp>
      <p:grpSp>
        <p:nvGrpSpPr>
          <p:cNvPr id="98" name="Google Shape;98;p14"/>
          <p:cNvGrpSpPr/>
          <p:nvPr/>
        </p:nvGrpSpPr>
        <p:grpSpPr>
          <a:xfrm>
            <a:off x="1371600" y="4191000"/>
            <a:ext cx="15544800" cy="4000500"/>
            <a:chOff x="1371600" y="4191000"/>
            <a:chExt cx="15544800" cy="4000500"/>
          </a:xfrm>
        </p:grpSpPr>
        <p:sp>
          <p:nvSpPr>
            <p:cNvPr id="99" name="Google Shape;99;p14"/>
            <p:cNvSpPr/>
            <p:nvPr/>
          </p:nvSpPr>
          <p:spPr>
            <a:xfrm>
              <a:off x="1371600" y="4191000"/>
              <a:ext cx="7429500" cy="4000500"/>
            </a:xfrm>
            <a:prstGeom prst="roundRect">
              <a:avLst>
                <a:gd fmla="val 9523" name="adj"/>
              </a:avLst>
            </a:prstGeom>
            <a:solidFill>
              <a:srgbClr val="FFFFFF"/>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0" name="Google Shape;100;p14"/>
            <p:cNvSpPr/>
            <p:nvPr/>
          </p:nvSpPr>
          <p:spPr>
            <a:xfrm>
              <a:off x="1371600" y="4191000"/>
              <a:ext cx="7429500" cy="114300"/>
            </a:xfrm>
            <a:prstGeom prst="rect">
              <a:avLst/>
            </a:prstGeom>
            <a:solidFill>
              <a:srgbClr val="7C3AED"/>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1" name="Google Shape;101;p14"/>
            <p:cNvSpPr txBox="1"/>
            <p:nvPr/>
          </p:nvSpPr>
          <p:spPr>
            <a:xfrm>
              <a:off x="1847850" y="4667250"/>
              <a:ext cx="6477000" cy="3048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2800">
                  <a:solidFill>
                    <a:srgbClr val="7C3AED"/>
                  </a:solidFill>
                  <a:latin typeface="Inter"/>
                  <a:ea typeface="Inter"/>
                  <a:cs typeface="Inter"/>
                  <a:sym typeface="Inter"/>
                </a:rPr>
                <a:t>El Rol del Implementador</a:t>
              </a:r>
              <a:endParaRPr b="1" sz="2800">
                <a:solidFill>
                  <a:srgbClr val="7C3AED"/>
                </a:solidFill>
                <a:latin typeface="Inter"/>
                <a:ea typeface="Inter"/>
                <a:cs typeface="Inter"/>
                <a:sym typeface="Inter"/>
              </a:endParaRPr>
            </a:p>
            <a:p>
              <a:pPr indent="0" lvl="0" marL="0" rtl="0" algn="l">
                <a:spcBef>
                  <a:spcPts val="1500"/>
                </a:spcBef>
                <a:spcAft>
                  <a:spcPts val="0"/>
                </a:spcAft>
                <a:buNone/>
              </a:pPr>
              <a:r>
                <a:rPr b="0" lang="en-US" sz="2000">
                  <a:solidFill>
                    <a:srgbClr val="4B5563"/>
                  </a:solidFill>
                  <a:latin typeface="Inter"/>
                  <a:ea typeface="Inter"/>
                  <a:cs typeface="Inter"/>
                  <a:sym typeface="Inter"/>
                </a:rPr>
                <a:t>Tu objetivo no es solo entregar una plataforma funcionando, sino transferir la capacidad técnica para que el equipo local sea autónomo.</a:t>
              </a:r>
              <a:endParaRPr b="0" sz="2000">
                <a:solidFill>
                  <a:srgbClr val="4B5563"/>
                </a:solidFill>
                <a:latin typeface="Inter"/>
                <a:ea typeface="Inter"/>
                <a:cs typeface="Inter"/>
                <a:sym typeface="Inter"/>
              </a:endParaRPr>
            </a:p>
          </p:txBody>
        </p:sp>
        <p:sp>
          <p:nvSpPr>
            <p:cNvPr id="102" name="Google Shape;102;p14"/>
            <p:cNvSpPr/>
            <p:nvPr/>
          </p:nvSpPr>
          <p:spPr>
            <a:xfrm>
              <a:off x="9486900" y="4191000"/>
              <a:ext cx="7429500" cy="4000500"/>
            </a:xfrm>
            <a:prstGeom prst="roundRect">
              <a:avLst>
                <a:gd fmla="val 9523" name="adj"/>
              </a:avLst>
            </a:prstGeom>
            <a:solidFill>
              <a:srgbClr val="7C3AED"/>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3" name="Google Shape;103;p14"/>
            <p:cNvSpPr txBox="1"/>
            <p:nvPr/>
          </p:nvSpPr>
          <p:spPr>
            <a:xfrm>
              <a:off x="9963150" y="4667250"/>
              <a:ext cx="6477000" cy="3048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2800">
                  <a:solidFill>
                    <a:srgbClr val="FFFFFF"/>
                  </a:solidFill>
                  <a:latin typeface="Inter"/>
                  <a:ea typeface="Inter"/>
                  <a:cs typeface="Inter"/>
                  <a:sym typeface="Inter"/>
                </a:rPr>
                <a:t>El Objetivo Central</a:t>
              </a:r>
              <a:endParaRPr b="1" sz="2800">
                <a:solidFill>
                  <a:srgbClr val="FFFFFF"/>
                </a:solidFill>
                <a:latin typeface="Inter"/>
                <a:ea typeface="Inter"/>
                <a:cs typeface="Inter"/>
                <a:sym typeface="Inter"/>
              </a:endParaRPr>
            </a:p>
            <a:p>
              <a:pPr indent="0" lvl="0" marL="0" rtl="0" algn="l">
                <a:spcBef>
                  <a:spcPts val="1500"/>
                </a:spcBef>
                <a:spcAft>
                  <a:spcPts val="0"/>
                </a:spcAft>
                <a:buNone/>
              </a:pPr>
              <a:r>
                <a:rPr b="0" lang="en-US" sz="2000">
                  <a:solidFill>
                    <a:srgbClr val="EDE9FE"/>
                  </a:solidFill>
                  <a:latin typeface="Inter"/>
                  <a:ea typeface="Inter"/>
                  <a:cs typeface="Inter"/>
                  <a:sym typeface="Inter"/>
                </a:rPr>
                <a:t>Los noventa días son para que el gobierno aprenda a operar la plataforma por sí mismo.</a:t>
              </a:r>
              <a:endParaRPr b="0" sz="2000">
                <a:solidFill>
                  <a:srgbClr val="EDE9FE"/>
                </a:solidFill>
                <a:latin typeface="Inter"/>
                <a:ea typeface="Inter"/>
                <a:cs typeface="Inter"/>
                <a:sym typeface="Inter"/>
              </a:endParaRPr>
            </a:p>
          </p:txBody>
        </p:sp>
      </p:grpSp>
      <p:grpSp>
        <p:nvGrpSpPr>
          <p:cNvPr id="104" name="Google Shape;104;p14"/>
          <p:cNvGrpSpPr/>
          <p:nvPr/>
        </p:nvGrpSpPr>
        <p:grpSpPr>
          <a:xfrm>
            <a:off x="1371600" y="8763000"/>
            <a:ext cx="15544800" cy="571500"/>
            <a:chOff x="1371600" y="8763000"/>
            <a:chExt cx="15544800" cy="571500"/>
          </a:xfrm>
        </p:grpSpPr>
        <p:cxnSp>
          <p:nvCxnSpPr>
            <p:cNvPr id="105" name="Google Shape;105;p14"/>
            <p:cNvCxnSpPr/>
            <p:nvPr/>
          </p:nvCxnSpPr>
          <p:spPr>
            <a:xfrm>
              <a:off x="1371600" y="8763000"/>
              <a:ext cx="15544800" cy="0"/>
            </a:xfrm>
            <a:prstGeom prst="straightConnector1">
              <a:avLst/>
            </a:prstGeom>
            <a:solidFill>
              <a:srgbClr val="FFFFFF"/>
            </a:solidFill>
            <a:ln cap="flat" cmpd="sng" w="9525">
              <a:solidFill>
                <a:srgbClr val="E5E7EB"/>
              </a:solidFill>
              <a:prstDash val="solid"/>
              <a:round/>
              <a:headEnd len="sm" w="sm" type="none"/>
              <a:tailEnd len="sm" w="sm" type="none"/>
            </a:ln>
          </p:spPr>
        </p:cxnSp>
        <p:sp>
          <p:nvSpPr>
            <p:cNvPr id="106" name="Google Shape;106;p14"/>
            <p:cNvSpPr txBox="1"/>
            <p:nvPr/>
          </p:nvSpPr>
          <p:spPr>
            <a:xfrm>
              <a:off x="1371600" y="8953500"/>
              <a:ext cx="155448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US" sz="1400">
                  <a:solidFill>
                    <a:srgbClr val="9CA3AF"/>
                  </a:solidFill>
                  <a:latin typeface="Inter"/>
                  <a:ea typeface="Inter"/>
                  <a:cs typeface="Inter"/>
                  <a:sym typeface="Inter"/>
                </a:rPr>
                <a:t>Sostener el principio: Aprender haciendo</a:t>
              </a:r>
              <a:endParaRPr b="0" sz="1400">
                <a:solidFill>
                  <a:srgbClr val="9CA3AF"/>
                </a:solidFill>
                <a:latin typeface="Inter"/>
                <a:ea typeface="Inter"/>
                <a:cs typeface="Inter"/>
                <a:sym typeface="Inter"/>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 name="Shape 111"/>
        <p:cNvGrpSpPr/>
        <p:nvPr/>
      </p:nvGrpSpPr>
      <p:grpSpPr>
        <a:xfrm>
          <a:off x="0" y="0"/>
          <a:ext cx="0" cy="0"/>
          <a:chOff x="0" y="0"/>
          <a:chExt cx="0" cy="0"/>
        </a:xfrm>
      </p:grpSpPr>
      <p:sp>
        <p:nvSpPr>
          <p:cNvPr id="112" name="Google Shape;112;p15"/>
          <p:cNvSpPr txBox="1"/>
          <p:nvPr/>
        </p:nvSpPr>
        <p:spPr>
          <a:xfrm>
            <a:off x="7772400" y="1371600"/>
            <a:ext cx="2743200" cy="274320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1" i="0" lang="en-US" sz="18000" u="none" cap="none" strike="noStrike">
                <a:solidFill>
                  <a:srgbClr val="7C3AED"/>
                </a:solidFill>
                <a:latin typeface="Inter"/>
                <a:ea typeface="Inter"/>
                <a:cs typeface="Inter"/>
                <a:sym typeface="Inter"/>
              </a:rPr>
              <a:t>“</a:t>
            </a:r>
            <a:endParaRPr/>
          </a:p>
        </p:txBody>
      </p:sp>
      <p:sp>
        <p:nvSpPr>
          <p:cNvPr id="113" name="Google Shape;113;p15"/>
          <p:cNvSpPr txBox="1"/>
          <p:nvPr/>
        </p:nvSpPr>
        <p:spPr>
          <a:xfrm>
            <a:off x="1371600" y="4114800"/>
            <a:ext cx="15544800" cy="3657600"/>
          </a:xfrm>
          <a:prstGeom prst="rect">
            <a:avLst/>
          </a:prstGeom>
          <a:noFill/>
          <a:ln>
            <a:noFill/>
          </a:ln>
        </p:spPr>
        <p:txBody>
          <a:bodyPr anchorCtr="0" anchor="t" bIns="0" lIns="0" spcFirstLastPara="1" rIns="0" wrap="square" tIns="0">
            <a:spAutoFit/>
          </a:bodyPr>
          <a:lstStyle/>
          <a:p>
            <a:pPr indent="0" lvl="0" marL="0" marR="0" rtl="0" algn="ctr">
              <a:lnSpc>
                <a:spcPct val="130000"/>
              </a:lnSpc>
              <a:spcBef>
                <a:spcPts val="0"/>
              </a:spcBef>
              <a:spcAft>
                <a:spcPts val="0"/>
              </a:spcAft>
              <a:buNone/>
            </a:pPr>
            <a:r>
              <a:rPr b="1" i="0" lang="en-US" sz="4400" u="none" cap="none" strike="noStrike">
                <a:solidFill>
                  <a:srgbClr val="0A0915"/>
                </a:solidFill>
                <a:latin typeface="Inter"/>
                <a:ea typeface="Inter"/>
                <a:cs typeface="Inter"/>
                <a:sym typeface="Inter"/>
              </a:rPr>
              <a:t>Si al final del ciclo el gobierno no puede mover un trámite</a:t>
            </a:r>
            <a:endParaRPr/>
          </a:p>
          <a:p>
            <a:pPr indent="0" lvl="0" marL="0" marR="0" rtl="0" algn="ctr">
              <a:lnSpc>
                <a:spcPct val="130000"/>
              </a:lnSpc>
              <a:spcBef>
                <a:spcPts val="0"/>
              </a:spcBef>
              <a:spcAft>
                <a:spcPts val="0"/>
              </a:spcAft>
              <a:buNone/>
            </a:pPr>
            <a:r>
              <a:rPr b="1" i="0" lang="en-US" sz="4400" u="none" cap="none" strike="noStrike">
                <a:solidFill>
                  <a:srgbClr val="0A0915"/>
                </a:solidFill>
                <a:latin typeface="Inter"/>
                <a:ea typeface="Inter"/>
                <a:cs typeface="Inter"/>
                <a:sym typeface="Inter"/>
              </a:rPr>
              <a:t>sin que tú estés en la sala,</a:t>
            </a:r>
            <a:endParaRPr/>
          </a:p>
          <a:p>
            <a:pPr indent="0" lvl="0" marL="0" marR="0" rtl="0" algn="ctr">
              <a:lnSpc>
                <a:spcPct val="130000"/>
              </a:lnSpc>
              <a:spcBef>
                <a:spcPts val="0"/>
              </a:spcBef>
              <a:spcAft>
                <a:spcPts val="0"/>
              </a:spcAft>
              <a:buNone/>
            </a:pPr>
            <a:r>
              <a:rPr b="1" i="0" lang="en-US" sz="4400" u="none" cap="none" strike="noStrike">
                <a:solidFill>
                  <a:srgbClr val="0A0915"/>
                </a:solidFill>
                <a:latin typeface="Inter"/>
                <a:ea typeface="Inter"/>
                <a:cs typeface="Inter"/>
                <a:sym typeface="Inter"/>
              </a:rPr>
              <a:t>la implementación no fue exitosa.</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18" name="Shape 118"/>
        <p:cNvGrpSpPr/>
        <p:nvPr/>
      </p:nvGrpSpPr>
      <p:grpSpPr>
        <a:xfrm>
          <a:off x="0" y="0"/>
          <a:ext cx="0" cy="0"/>
          <a:chOff x="0" y="0"/>
          <a:chExt cx="0" cy="0"/>
        </a:xfrm>
      </p:grpSpPr>
      <p:pic>
        <p:nvPicPr>
          <p:cNvPr id="119" name="Google Shape;119;p16"/>
          <p:cNvPicPr preferRelativeResize="0"/>
          <p:nvPr/>
        </p:nvPicPr>
        <p:blipFill rotWithShape="1">
          <a:blip r:embed="rId4">
            <a:alphaModFix/>
          </a:blip>
          <a:srcRect b="0" l="0" r="0" t="0"/>
          <a:stretch/>
        </p:blipFill>
        <p:spPr>
          <a:xfrm>
            <a:off x="0" y="0"/>
            <a:ext cx="18288000" cy="10287000"/>
          </a:xfrm>
          <a:prstGeom prst="rect">
            <a:avLst/>
          </a:prstGeom>
          <a:noFill/>
          <a:ln>
            <a:noFill/>
          </a:ln>
        </p:spPr>
      </p:pic>
      <p:sp>
        <p:nvSpPr>
          <p:cNvPr id="120" name="Google Shape;120;p16"/>
          <p:cNvSpPr/>
          <p:nvPr/>
        </p:nvSpPr>
        <p:spPr>
          <a:xfrm>
            <a:off x="0" y="0"/>
            <a:ext cx="18288000" cy="228600"/>
          </a:xfrm>
          <a:prstGeom prst="rect">
            <a:avLst/>
          </a:prstGeom>
          <a:solidFill>
            <a:srgbClr val="7C3AED"/>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1" name="Google Shape;121;p16"/>
          <p:cNvSpPr txBox="1"/>
          <p:nvPr/>
        </p:nvSpPr>
        <p:spPr>
          <a:xfrm>
            <a:off x="1371600" y="952500"/>
            <a:ext cx="15544800" cy="1428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2000">
                <a:solidFill>
                  <a:srgbClr val="7C3AED"/>
                </a:solidFill>
                <a:latin typeface="Inter"/>
                <a:ea typeface="Inter"/>
                <a:cs typeface="Inter"/>
                <a:sym typeface="Inter"/>
              </a:rPr>
              <a:t>Metodología de Implementación</a:t>
            </a:r>
            <a:endParaRPr b="1" sz="2000">
              <a:solidFill>
                <a:srgbClr val="7C3AED"/>
              </a:solidFill>
              <a:latin typeface="Inter"/>
              <a:ea typeface="Inter"/>
              <a:cs typeface="Inter"/>
              <a:sym typeface="Inter"/>
            </a:endParaRPr>
          </a:p>
          <a:p>
            <a:pPr indent="0" lvl="0" marL="0" rtl="0" algn="l">
              <a:spcBef>
                <a:spcPts val="750"/>
              </a:spcBef>
              <a:spcAft>
                <a:spcPts val="0"/>
              </a:spcAft>
              <a:buNone/>
            </a:pPr>
            <a:r>
              <a:rPr b="1" lang="en-US" sz="5400">
                <a:solidFill>
                  <a:srgbClr val="0A0915"/>
                </a:solidFill>
                <a:latin typeface="Inter"/>
                <a:ea typeface="Inter"/>
                <a:cs typeface="Inter"/>
                <a:sym typeface="Inter"/>
              </a:rPr>
              <a:t>Esto cambia cómo armas cada actividad</a:t>
            </a:r>
            <a:endParaRPr b="1" sz="5400">
              <a:solidFill>
                <a:srgbClr val="0A0915"/>
              </a:solidFill>
              <a:latin typeface="Inter"/>
              <a:ea typeface="Inter"/>
              <a:cs typeface="Inter"/>
              <a:sym typeface="Inter"/>
            </a:endParaRPr>
          </a:p>
        </p:txBody>
      </p:sp>
      <p:grpSp>
        <p:nvGrpSpPr>
          <p:cNvPr id="122" name="Google Shape;122;p16"/>
          <p:cNvGrpSpPr/>
          <p:nvPr/>
        </p:nvGrpSpPr>
        <p:grpSpPr>
          <a:xfrm>
            <a:off x="1371600" y="3048000"/>
            <a:ext cx="4953000" cy="4762500"/>
            <a:chOff x="1371600" y="3048000"/>
            <a:chExt cx="4953000" cy="4762500"/>
          </a:xfrm>
        </p:grpSpPr>
        <p:sp>
          <p:nvSpPr>
            <p:cNvPr id="123" name="Google Shape;123;p16"/>
            <p:cNvSpPr/>
            <p:nvPr/>
          </p:nvSpPr>
          <p:spPr>
            <a:xfrm>
              <a:off x="1371600" y="3048000"/>
              <a:ext cx="4953000" cy="4762500"/>
            </a:xfrm>
            <a:prstGeom prst="roundRect">
              <a:avLst>
                <a:gd fmla="val 8000" name="adj"/>
              </a:avLst>
            </a:prstGeom>
            <a:solidFill>
              <a:srgbClr val="FFFFFF"/>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4" name="Google Shape;124;p16"/>
            <p:cNvSpPr/>
            <p:nvPr/>
          </p:nvSpPr>
          <p:spPr>
            <a:xfrm>
              <a:off x="1371600" y="3048000"/>
              <a:ext cx="4953000" cy="114300"/>
            </a:xfrm>
            <a:prstGeom prst="rect">
              <a:avLst/>
            </a:prstGeom>
            <a:solidFill>
              <a:srgbClr val="7C3AED"/>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5" name="Google Shape;125;p16"/>
            <p:cNvSpPr txBox="1"/>
            <p:nvPr/>
          </p:nvSpPr>
          <p:spPr>
            <a:xfrm>
              <a:off x="1752600" y="3524250"/>
              <a:ext cx="4191000" cy="3810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3200">
                  <a:solidFill>
                    <a:srgbClr val="7C3AED"/>
                  </a:solidFill>
                  <a:latin typeface="Inter"/>
                  <a:ea typeface="Inter"/>
                  <a:cs typeface="Inter"/>
                  <a:sym typeface="Inter"/>
                </a:rPr>
                <a:t>Capacitación</a:t>
              </a:r>
              <a:endParaRPr b="1" sz="3200">
                <a:solidFill>
                  <a:srgbClr val="7C3AED"/>
                </a:solidFill>
                <a:latin typeface="Inter"/>
                <a:ea typeface="Inter"/>
                <a:cs typeface="Inter"/>
                <a:sym typeface="Inter"/>
              </a:endParaRPr>
            </a:p>
            <a:p>
              <a:pPr indent="0" lvl="0" marL="0" rtl="0" algn="l">
                <a:spcBef>
                  <a:spcPts val="1875"/>
                </a:spcBef>
                <a:spcAft>
                  <a:spcPts val="0"/>
                </a:spcAft>
                <a:buNone/>
              </a:pPr>
              <a:r>
                <a:rPr b="0" lang="en-US" sz="2000">
                  <a:solidFill>
                    <a:srgbClr val="4B5563"/>
                  </a:solidFill>
                  <a:latin typeface="Inter"/>
                  <a:ea typeface="Inter"/>
                  <a:cs typeface="Inter"/>
                  <a:sym typeface="Inter"/>
                </a:rPr>
                <a:t>No es una presentación tradicional. Es una sesión práctica donde el funcionario opera la plataforma con sus propias manos.</a:t>
              </a:r>
              <a:endParaRPr b="0" sz="2000">
                <a:solidFill>
                  <a:srgbClr val="4B5563"/>
                </a:solidFill>
                <a:latin typeface="Inter"/>
                <a:ea typeface="Inter"/>
                <a:cs typeface="Inter"/>
                <a:sym typeface="Inter"/>
              </a:endParaRPr>
            </a:p>
          </p:txBody>
        </p:sp>
      </p:grpSp>
      <p:grpSp>
        <p:nvGrpSpPr>
          <p:cNvPr id="126" name="Google Shape;126;p16"/>
          <p:cNvGrpSpPr/>
          <p:nvPr/>
        </p:nvGrpSpPr>
        <p:grpSpPr>
          <a:xfrm>
            <a:off x="6667500" y="3048000"/>
            <a:ext cx="4953000" cy="4762500"/>
            <a:chOff x="6667500" y="3048000"/>
            <a:chExt cx="4953000" cy="4762500"/>
          </a:xfrm>
        </p:grpSpPr>
        <p:sp>
          <p:nvSpPr>
            <p:cNvPr id="127" name="Google Shape;127;p16"/>
            <p:cNvSpPr/>
            <p:nvPr/>
          </p:nvSpPr>
          <p:spPr>
            <a:xfrm>
              <a:off x="6667500" y="3048000"/>
              <a:ext cx="4953000" cy="4762500"/>
            </a:xfrm>
            <a:prstGeom prst="roundRect">
              <a:avLst>
                <a:gd fmla="val 8000" name="adj"/>
              </a:avLst>
            </a:prstGeom>
            <a:solidFill>
              <a:srgbClr val="7C3AED"/>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8" name="Google Shape;128;p16"/>
            <p:cNvSpPr txBox="1"/>
            <p:nvPr/>
          </p:nvSpPr>
          <p:spPr>
            <a:xfrm>
              <a:off x="7048500" y="3524250"/>
              <a:ext cx="4191000" cy="3810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3200">
                  <a:solidFill>
                    <a:srgbClr val="FFFFFF"/>
                  </a:solidFill>
                  <a:latin typeface="Inter"/>
                  <a:ea typeface="Inter"/>
                  <a:cs typeface="Inter"/>
                  <a:sym typeface="Inter"/>
                </a:rPr>
                <a:t>Decisión</a:t>
              </a:r>
              <a:endParaRPr b="1" sz="3200">
                <a:solidFill>
                  <a:srgbClr val="FFFFFF"/>
                </a:solidFill>
                <a:latin typeface="Inter"/>
                <a:ea typeface="Inter"/>
                <a:cs typeface="Inter"/>
                <a:sym typeface="Inter"/>
              </a:endParaRPr>
            </a:p>
            <a:p>
              <a:pPr indent="0" lvl="0" marL="0" rtl="0" algn="l">
                <a:spcBef>
                  <a:spcPts val="1875"/>
                </a:spcBef>
                <a:spcAft>
                  <a:spcPts val="0"/>
                </a:spcAft>
                <a:buNone/>
              </a:pPr>
              <a:r>
                <a:rPr b="0" lang="en-US" sz="2000">
                  <a:solidFill>
                    <a:srgbClr val="EDE9FE"/>
                  </a:solidFill>
                  <a:latin typeface="Inter"/>
                  <a:ea typeface="Inter"/>
                  <a:cs typeface="Inter"/>
                  <a:sym typeface="Inter"/>
                </a:rPr>
                <a:t>No la tomas tú por ellos. La presentas con sus trade-offs y permites que el gobierno mantenga la autoridad final.</a:t>
              </a:r>
              <a:endParaRPr b="0" sz="2000">
                <a:solidFill>
                  <a:srgbClr val="EDE9FE"/>
                </a:solidFill>
                <a:latin typeface="Inter"/>
                <a:ea typeface="Inter"/>
                <a:cs typeface="Inter"/>
                <a:sym typeface="Inter"/>
              </a:endParaRPr>
            </a:p>
          </p:txBody>
        </p:sp>
      </p:grpSp>
      <p:grpSp>
        <p:nvGrpSpPr>
          <p:cNvPr id="129" name="Google Shape;129;p16"/>
          <p:cNvGrpSpPr/>
          <p:nvPr/>
        </p:nvGrpSpPr>
        <p:grpSpPr>
          <a:xfrm>
            <a:off x="11963400" y="3048000"/>
            <a:ext cx="4953000" cy="4762500"/>
            <a:chOff x="11963400" y="3048000"/>
            <a:chExt cx="4953000" cy="4762500"/>
          </a:xfrm>
        </p:grpSpPr>
        <p:sp>
          <p:nvSpPr>
            <p:cNvPr id="130" name="Google Shape;130;p16"/>
            <p:cNvSpPr/>
            <p:nvPr/>
          </p:nvSpPr>
          <p:spPr>
            <a:xfrm>
              <a:off x="11963400" y="3048000"/>
              <a:ext cx="4953000" cy="4762500"/>
            </a:xfrm>
            <a:prstGeom prst="roundRect">
              <a:avLst>
                <a:gd fmla="val 8000" name="adj"/>
              </a:avLst>
            </a:prstGeom>
            <a:solidFill>
              <a:srgbClr val="FFFFFF"/>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31" name="Google Shape;131;p16"/>
            <p:cNvSpPr/>
            <p:nvPr/>
          </p:nvSpPr>
          <p:spPr>
            <a:xfrm>
              <a:off x="11963400" y="3048000"/>
              <a:ext cx="4953000" cy="114300"/>
            </a:xfrm>
            <a:prstGeom prst="rect">
              <a:avLst/>
            </a:prstGeom>
            <a:solidFill>
              <a:srgbClr val="7C3AED"/>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32" name="Google Shape;132;p16"/>
            <p:cNvSpPr txBox="1"/>
            <p:nvPr/>
          </p:nvSpPr>
          <p:spPr>
            <a:xfrm>
              <a:off x="12344400" y="3524250"/>
              <a:ext cx="4191000" cy="3810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3200">
                  <a:solidFill>
                    <a:srgbClr val="7C3AED"/>
                  </a:solidFill>
                  <a:latin typeface="Inter"/>
                  <a:ea typeface="Inter"/>
                  <a:cs typeface="Inter"/>
                  <a:sym typeface="Inter"/>
                </a:rPr>
                <a:t>Integración</a:t>
              </a:r>
              <a:endParaRPr b="1" sz="3200">
                <a:solidFill>
                  <a:srgbClr val="7C3AED"/>
                </a:solidFill>
                <a:latin typeface="Inter"/>
                <a:ea typeface="Inter"/>
                <a:cs typeface="Inter"/>
                <a:sym typeface="Inter"/>
              </a:endParaRPr>
            </a:p>
            <a:p>
              <a:pPr indent="0" lvl="0" marL="0" rtl="0" algn="l">
                <a:spcBef>
                  <a:spcPts val="1875"/>
                </a:spcBef>
                <a:spcAft>
                  <a:spcPts val="0"/>
                </a:spcAft>
                <a:buNone/>
              </a:pPr>
              <a:r>
                <a:rPr b="0" lang="en-US" sz="2000">
                  <a:solidFill>
                    <a:srgbClr val="4B5563"/>
                  </a:solidFill>
                  <a:latin typeface="Inter"/>
                  <a:ea typeface="Inter"/>
                  <a:cs typeface="Inter"/>
                  <a:sym typeface="Inter"/>
                </a:rPr>
                <a:t>No se construye de forma aislada. Se planifica y ejecuta codo a codo con el equipo técnico gubernamental.</a:t>
              </a:r>
              <a:endParaRPr b="0" sz="2000">
                <a:solidFill>
                  <a:srgbClr val="4B5563"/>
                </a:solidFill>
                <a:latin typeface="Inter"/>
                <a:ea typeface="Inter"/>
                <a:cs typeface="Inter"/>
                <a:sym typeface="Inter"/>
              </a:endParaRPr>
            </a:p>
          </p:txBody>
        </p:sp>
      </p:grpSp>
      <p:grpSp>
        <p:nvGrpSpPr>
          <p:cNvPr id="133" name="Google Shape;133;p16"/>
          <p:cNvGrpSpPr/>
          <p:nvPr/>
        </p:nvGrpSpPr>
        <p:grpSpPr>
          <a:xfrm>
            <a:off x="1371600" y="8763000"/>
            <a:ext cx="15544800" cy="571500"/>
            <a:chOff x="1371600" y="8763000"/>
            <a:chExt cx="15544800" cy="571500"/>
          </a:xfrm>
        </p:grpSpPr>
        <p:cxnSp>
          <p:nvCxnSpPr>
            <p:cNvPr id="134" name="Google Shape;134;p16"/>
            <p:cNvCxnSpPr/>
            <p:nvPr/>
          </p:nvCxnSpPr>
          <p:spPr>
            <a:xfrm>
              <a:off x="1371600" y="8763000"/>
              <a:ext cx="15544800" cy="0"/>
            </a:xfrm>
            <a:prstGeom prst="straightConnector1">
              <a:avLst/>
            </a:prstGeom>
            <a:solidFill>
              <a:srgbClr val="FFFFFF"/>
            </a:solidFill>
            <a:ln cap="flat" cmpd="sng" w="9525">
              <a:solidFill>
                <a:srgbClr val="E5E7EB"/>
              </a:solidFill>
              <a:prstDash val="solid"/>
              <a:round/>
              <a:headEnd len="sm" w="sm" type="none"/>
              <a:tailEnd len="sm" w="sm" type="none"/>
            </a:ln>
          </p:spPr>
        </p:cxnSp>
        <p:sp>
          <p:nvSpPr>
            <p:cNvPr id="135" name="Google Shape;135;p16"/>
            <p:cNvSpPr txBox="1"/>
            <p:nvPr/>
          </p:nvSpPr>
          <p:spPr>
            <a:xfrm>
              <a:off x="1371600" y="8953500"/>
              <a:ext cx="155448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lang="en-US" sz="1400">
                  <a:solidFill>
                    <a:srgbClr val="9CA3AF"/>
                  </a:solidFill>
                  <a:latin typeface="Inter"/>
                  <a:ea typeface="Inter"/>
                  <a:cs typeface="Inter"/>
                  <a:sym typeface="Inter"/>
                </a:rPr>
                <a:t>Sostener el principio: Aprender haciendo</a:t>
              </a:r>
              <a:endParaRPr sz="1400">
                <a:solidFill>
                  <a:srgbClr val="9CA3AF"/>
                </a:solidFill>
                <a:latin typeface="Inter"/>
                <a:ea typeface="Inter"/>
                <a:cs typeface="Inter"/>
                <a:sym typeface="Inter"/>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40" name="Shape 140"/>
        <p:cNvGrpSpPr/>
        <p:nvPr/>
      </p:nvGrpSpPr>
      <p:grpSpPr>
        <a:xfrm>
          <a:off x="0" y="0"/>
          <a:ext cx="0" cy="0"/>
          <a:chOff x="0" y="0"/>
          <a:chExt cx="0" cy="0"/>
        </a:xfrm>
      </p:grpSpPr>
      <p:sp>
        <p:nvSpPr>
          <p:cNvPr id="141" name="Google Shape;141;p17"/>
          <p:cNvSpPr/>
          <p:nvPr/>
        </p:nvSpPr>
        <p:spPr>
          <a:xfrm>
            <a:off x="0" y="0"/>
            <a:ext cx="18288000" cy="228600"/>
          </a:xfrm>
          <a:prstGeom prst="rect">
            <a:avLst/>
          </a:prstGeom>
          <a:solidFill>
            <a:srgbClr val="7C3AED"/>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2" name="Google Shape;142;p17"/>
          <p:cNvSpPr txBox="1"/>
          <p:nvPr/>
        </p:nvSpPr>
        <p:spPr>
          <a:xfrm>
            <a:off x="1371600" y="762000"/>
            <a:ext cx="15544800" cy="571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2000">
                <a:solidFill>
                  <a:srgbClr val="7C3AED"/>
                </a:solidFill>
                <a:latin typeface="Inter"/>
                <a:ea typeface="Inter"/>
                <a:cs typeface="Inter"/>
                <a:sym typeface="Inter"/>
              </a:rPr>
              <a:t>La trampa de la inmediatez</a:t>
            </a:r>
            <a:endParaRPr b="1" sz="2000">
              <a:solidFill>
                <a:srgbClr val="7C3AED"/>
              </a:solidFill>
              <a:latin typeface="Inter"/>
              <a:ea typeface="Inter"/>
              <a:cs typeface="Inter"/>
              <a:sym typeface="Inter"/>
            </a:endParaRPr>
          </a:p>
        </p:txBody>
      </p:sp>
      <p:sp>
        <p:nvSpPr>
          <p:cNvPr id="143" name="Google Shape;143;p17"/>
          <p:cNvSpPr txBox="1"/>
          <p:nvPr/>
        </p:nvSpPr>
        <p:spPr>
          <a:xfrm>
            <a:off x="1371600" y="1428750"/>
            <a:ext cx="15544800" cy="23814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6400">
                <a:solidFill>
                  <a:srgbClr val="0A0915"/>
                </a:solidFill>
                <a:latin typeface="Inter ExtraBold"/>
                <a:ea typeface="Inter ExtraBold"/>
                <a:cs typeface="Inter ExtraBold"/>
                <a:sym typeface="Inter ExtraBold"/>
              </a:rPr>
              <a:t>Vas a sentir la tentación de hacerlo tú porque es más rápido</a:t>
            </a:r>
            <a:endParaRPr b="0" sz="6400">
              <a:solidFill>
                <a:srgbClr val="0A0915"/>
              </a:solidFill>
              <a:latin typeface="Inter ExtraBold"/>
              <a:ea typeface="Inter ExtraBold"/>
              <a:cs typeface="Inter ExtraBold"/>
              <a:sym typeface="Inter ExtraBold"/>
            </a:endParaRPr>
          </a:p>
        </p:txBody>
      </p:sp>
      <p:grpSp>
        <p:nvGrpSpPr>
          <p:cNvPr id="144" name="Google Shape;144;p17"/>
          <p:cNvGrpSpPr/>
          <p:nvPr/>
        </p:nvGrpSpPr>
        <p:grpSpPr>
          <a:xfrm>
            <a:off x="1371600" y="4191000"/>
            <a:ext cx="15544800" cy="4000500"/>
            <a:chOff x="1371600" y="4191000"/>
            <a:chExt cx="15544800" cy="4000500"/>
          </a:xfrm>
        </p:grpSpPr>
        <p:sp>
          <p:nvSpPr>
            <p:cNvPr id="145" name="Google Shape;145;p17"/>
            <p:cNvSpPr/>
            <p:nvPr/>
          </p:nvSpPr>
          <p:spPr>
            <a:xfrm>
              <a:off x="1371600" y="4191000"/>
              <a:ext cx="15544800" cy="4000500"/>
            </a:xfrm>
            <a:prstGeom prst="roundRect">
              <a:avLst>
                <a:gd fmla="val 9523" name="adj"/>
              </a:avLst>
            </a:prstGeom>
            <a:solidFill>
              <a:srgbClr val="F9FAFB"/>
            </a:solidFill>
            <a:ln cap="flat" cmpd="sng" w="19050">
              <a:solidFill>
                <a:srgbClr val="E5E7EB"/>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6" name="Google Shape;146;p17"/>
            <p:cNvSpPr/>
            <p:nvPr/>
          </p:nvSpPr>
          <p:spPr>
            <a:xfrm>
              <a:off x="1371600" y="4191000"/>
              <a:ext cx="114300" cy="4000500"/>
            </a:xfrm>
            <a:prstGeom prst="rect">
              <a:avLst/>
            </a:prstGeom>
            <a:solidFill>
              <a:srgbClr val="7C3AED"/>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7" name="Google Shape;147;p17"/>
            <p:cNvSpPr txBox="1"/>
            <p:nvPr/>
          </p:nvSpPr>
          <p:spPr>
            <a:xfrm>
              <a:off x="1905000" y="4572000"/>
              <a:ext cx="14478000" cy="3238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US" sz="3200">
                  <a:solidFill>
                    <a:srgbClr val="1F2937"/>
                  </a:solidFill>
                  <a:latin typeface="Inter"/>
                  <a:ea typeface="Inter"/>
                  <a:cs typeface="Inter"/>
                  <a:sym typeface="Inter"/>
                </a:rPr>
                <a:t>Cada vez que resuelves algo que el gobierno podía resolver, </a:t>
              </a:r>
              <a:r>
                <a:rPr b="1" lang="en-US" sz="3200">
                  <a:solidFill>
                    <a:srgbClr val="7C3AED"/>
                  </a:solidFill>
                  <a:latin typeface="Inter"/>
                  <a:ea typeface="Inter"/>
                  <a:cs typeface="Inter"/>
                  <a:sym typeface="Inter"/>
                </a:rPr>
                <a:t>le restas autonomía.</a:t>
              </a:r>
              <a:endParaRPr b="0" sz="3200">
                <a:solidFill>
                  <a:srgbClr val="1F2937"/>
                </a:solidFill>
                <a:latin typeface="Inter"/>
                <a:ea typeface="Inter"/>
                <a:cs typeface="Inter"/>
                <a:sym typeface="Inter"/>
              </a:endParaRPr>
            </a:p>
            <a:p>
              <a:pPr indent="0" lvl="0" marL="0" rtl="0" algn="l">
                <a:spcBef>
                  <a:spcPts val="2250"/>
                </a:spcBef>
                <a:spcAft>
                  <a:spcPts val="0"/>
                </a:spcAft>
                <a:buNone/>
              </a:pPr>
              <a:r>
                <a:rPr b="0" lang="en-US" sz="2800">
                  <a:solidFill>
                    <a:srgbClr val="4B5563"/>
                  </a:solidFill>
                  <a:latin typeface="Inter"/>
                  <a:ea typeface="Inter"/>
                  <a:cs typeface="Inter"/>
                  <a:sym typeface="Inter"/>
                </a:rPr>
                <a:t>Y la autonomía es, precisamente, lo que debes entregar al final del proceso.</a:t>
              </a:r>
              <a:endParaRPr b="0" sz="2800">
                <a:solidFill>
                  <a:srgbClr val="4B5563"/>
                </a:solidFill>
                <a:latin typeface="Inter"/>
                <a:ea typeface="Inter"/>
                <a:cs typeface="Inter"/>
                <a:sym typeface="Inter"/>
              </a:endParaRPr>
            </a:p>
          </p:txBody>
        </p:sp>
      </p:grpSp>
      <p:grpSp>
        <p:nvGrpSpPr>
          <p:cNvPr id="148" name="Google Shape;148;p17"/>
          <p:cNvGrpSpPr/>
          <p:nvPr/>
        </p:nvGrpSpPr>
        <p:grpSpPr>
          <a:xfrm>
            <a:off x="1371600" y="8953500"/>
            <a:ext cx="15544800" cy="571500"/>
            <a:chOff x="1371600" y="8953500"/>
            <a:chExt cx="15544800" cy="571500"/>
          </a:xfrm>
        </p:grpSpPr>
        <p:cxnSp>
          <p:nvCxnSpPr>
            <p:cNvPr id="149" name="Google Shape;149;p17"/>
            <p:cNvCxnSpPr/>
            <p:nvPr/>
          </p:nvCxnSpPr>
          <p:spPr>
            <a:xfrm>
              <a:off x="1371600" y="8953500"/>
              <a:ext cx="15544800" cy="0"/>
            </a:xfrm>
            <a:prstGeom prst="straightConnector1">
              <a:avLst/>
            </a:prstGeom>
            <a:solidFill>
              <a:srgbClr val="FFFFFF"/>
            </a:solidFill>
            <a:ln cap="flat" cmpd="sng" w="9525">
              <a:solidFill>
                <a:srgbClr val="E5E7EB"/>
              </a:solidFill>
              <a:prstDash val="solid"/>
              <a:round/>
              <a:headEnd len="sm" w="sm" type="none"/>
              <a:tailEnd len="sm" w="sm" type="none"/>
            </a:ln>
          </p:spPr>
        </p:cxnSp>
        <p:sp>
          <p:nvSpPr>
            <p:cNvPr id="150" name="Google Shape;150;p17"/>
            <p:cNvSpPr txBox="1"/>
            <p:nvPr/>
          </p:nvSpPr>
          <p:spPr>
            <a:xfrm>
              <a:off x="1371600" y="9144000"/>
              <a:ext cx="155448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US" sz="1400">
                  <a:solidFill>
                    <a:srgbClr val="9CA3AF"/>
                  </a:solidFill>
                  <a:latin typeface="Inter"/>
                  <a:ea typeface="Inter"/>
                  <a:cs typeface="Inter"/>
                  <a:sym typeface="Inter"/>
                </a:rPr>
                <a:t>Sostener el principio: Aprender haciendo</a:t>
              </a:r>
              <a:endParaRPr b="0" sz="1400">
                <a:solidFill>
                  <a:srgbClr val="9CA3AF"/>
                </a:solidFill>
                <a:latin typeface="Inter"/>
                <a:ea typeface="Inter"/>
                <a:cs typeface="Inter"/>
                <a:sym typeface="Inter"/>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sp>
        <p:nvSpPr>
          <p:cNvPr id="156" name="Google Shape;156;p18"/>
          <p:cNvSpPr/>
          <p:nvPr/>
        </p:nvSpPr>
        <p:spPr>
          <a:xfrm>
            <a:off x="0" y="0"/>
            <a:ext cx="18288000" cy="1028700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7" name="Google Shape;157;p18"/>
          <p:cNvSpPr txBox="1"/>
          <p:nvPr/>
        </p:nvSpPr>
        <p:spPr>
          <a:xfrm>
            <a:off x="1371600" y="3200400"/>
            <a:ext cx="15544800" cy="137160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0" i="0" lang="en-US" sz="4200" u="none" cap="none" strike="noStrike">
                <a:solidFill>
                  <a:srgbClr val="FFFFFF"/>
                </a:solidFill>
                <a:latin typeface="Inter"/>
                <a:ea typeface="Inter"/>
                <a:cs typeface="Inter"/>
                <a:sym typeface="Inter"/>
              </a:rPr>
              <a:t>Si el gobierno no puede operar sin ti</a:t>
            </a:r>
            <a:endParaRPr/>
          </a:p>
        </p:txBody>
      </p:sp>
      <p:sp>
        <p:nvSpPr>
          <p:cNvPr id="158" name="Google Shape;158;p18"/>
          <p:cNvSpPr txBox="1"/>
          <p:nvPr/>
        </p:nvSpPr>
        <p:spPr>
          <a:xfrm>
            <a:off x="1371600" y="4754880"/>
            <a:ext cx="15544800" cy="22860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1" i="0" lang="en-US" sz="7800" u="none" cap="none" strike="noStrike">
                <a:solidFill>
                  <a:srgbClr val="FFFFFF"/>
                </a:solidFill>
                <a:latin typeface="Inter"/>
                <a:ea typeface="Inter"/>
                <a:cs typeface="Inter"/>
                <a:sym typeface="Inter"/>
              </a:rPr>
              <a:t>al día noventa y uno,</a:t>
            </a:r>
            <a:endParaRPr/>
          </a:p>
        </p:txBody>
      </p:sp>
      <p:sp>
        <p:nvSpPr>
          <p:cNvPr id="159" name="Google Shape;159;p18"/>
          <p:cNvSpPr txBox="1"/>
          <p:nvPr/>
        </p:nvSpPr>
        <p:spPr>
          <a:xfrm>
            <a:off x="1371600" y="7315200"/>
            <a:ext cx="15544800" cy="109728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0" i="0" lang="en-US" sz="3000" u="none" cap="none" strike="noStrike">
                <a:solidFill>
                  <a:srgbClr val="FFFFFF"/>
                </a:solidFill>
                <a:latin typeface="Inter"/>
                <a:ea typeface="Inter"/>
                <a:cs typeface="Inter"/>
                <a:sym typeface="Inter"/>
              </a:rPr>
              <a:t>no terminaste el trabajo.</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