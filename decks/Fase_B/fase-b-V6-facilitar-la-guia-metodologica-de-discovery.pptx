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y="10287000" cx="18288000"/>
  <p:notesSz cx="6858000" cy="9144000"/>
  <p:embeddedFontLst>
    <p:embeddedFont>
      <p:font typeface="Inter"/>
      <p:regular r:id="rId12"/>
      <p:bold r:id="rId13"/>
      <p:italic r:id="rId14"/>
      <p:boldItalic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font" Target="fonts/Inter-bold.fntdata"/><Relationship Id="rId12" Type="http://schemas.openxmlformats.org/officeDocument/2006/relationships/font" Target="fonts/Inter-regular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Inter-boldItalic.fntdata"/><Relationship Id="rId14" Type="http://schemas.openxmlformats.org/officeDocument/2006/relationships/font" Target="fonts/Inter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" name="Google Shape;82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[Duración estimada: 12.0s · 30 palabras]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La tercera reunión es la Guía Metodológica de Discovery de Trámites. Obligatoria, dos horas, y esta vez tiene que estar el dueño del proyecto, porque es quien aprueba la priorización.</a:t>
            </a:r>
            <a:endParaRPr/>
          </a:p>
        </p:txBody>
      </p:sp>
      <p:sp>
        <p:nvSpPr>
          <p:cNvPr id="83" name="Google Shape;83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" name="Google Shape;91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[Duración estimada: 26.8s · 67 palabras]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El objetivo de la reunión es que el gobierno sepa cómo relevar, priorizar y documentar sus propios trámites para digitalizar. No los relevas tú. Los relevan ellos, con tu facilitación. Esa distinción es clave: si tú haces el discovery, en la Fase C el gobierno no entiende por qué un trámite quedó adentro y otro afuera. Si lo hacen ellos guiados por ti, las prioridades se sostienen.</a:t>
            </a:r>
            <a:endParaRPr/>
          </a:p>
        </p:txBody>
      </p:sp>
      <p:sp>
        <p:nvSpPr>
          <p:cNvPr id="92" name="Google Shape;92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8" name="Google Shape;108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[Duración estimada: 34.8s · 87 palabras]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La agenda recorre cuatro temas. Primero, cómo relevar los trámites existentes, mirando tres fuentes: los operadores que los ejecutan hoy, los formularios en papel que se usan y la normativa que los regula. Segundo, el criterio de priorización. La fórmula es simple: alto volumen ciudadano, baja complejidad técnica, proceso interno claro. Los trámites que cumplen las tres condiciones son los primeros. Tercero, cómo definir gobernanza, que es asignar roles y permisos en la plataforma. Y cuarto, la decisión de autenticación ciudadana, que vemos en detalle más adelante.</a:t>
            </a:r>
            <a:endParaRPr/>
          </a:p>
        </p:txBody>
      </p:sp>
      <p:sp>
        <p:nvSpPr>
          <p:cNvPr id="109" name="Google Shape;109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7" name="Google Shape;137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[Duración estimada: 24.0s · 60 palabras]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Esta reunión deja cuatro entregables concretos. La lista priorizada de trámites para los noventa días, aprobada por el dueño del proyecto. La gobernanza definida, con nombre y apellido por rol. La decisión de autenticación registrada por escrito. Y los diccionarios de datos iniciados para los trámites priorizados, que es el insumo que vas a usar en toda la Fase C.</a:t>
            </a:r>
            <a:endParaRPr/>
          </a:p>
        </p:txBody>
      </p:sp>
      <p:sp>
        <p:nvSpPr>
          <p:cNvPr id="138" name="Google Shape;138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64" name="Google Shape;164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[Duración estimada: 11.6s · 29 palabras]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Una pregunta que conviene hacer en esta reunión: si el gobierno tiene una base de datos de usuarios existente. Si la tiene, una migración inicial acelera muchísimo la adopción.</a:t>
            </a:r>
            <a:endParaRPr/>
          </a:p>
        </p:txBody>
      </p:sp>
      <p:sp>
        <p:nvSpPr>
          <p:cNvPr id="165" name="Google Shape;165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1" name="Google Shape;181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[Duración estimada: 8.8s · 22 palabras]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El discovery no se entrega. Se facilita. Si lo haces tú, el gobierno no entiende sus propias prioridades en la Fase C.</a:t>
            </a:r>
            <a:endParaRPr/>
          </a:p>
        </p:txBody>
      </p:sp>
      <p:sp>
        <p:nvSpPr>
          <p:cNvPr id="182" name="Google Shape;182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/>
          <p:nvPr/>
        </p:nvSpPr>
        <p:spPr>
          <a:xfrm>
            <a:off x="0" y="0"/>
            <a:ext cx="18288000" cy="228600"/>
          </a:xfrm>
          <a:prstGeom prst="rect">
            <a:avLst/>
          </a:prstGeom>
          <a:solidFill>
            <a:srgbClr val="7C3AE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3"/>
          <p:cNvSpPr txBox="1"/>
          <p:nvPr/>
        </p:nvSpPr>
        <p:spPr>
          <a:xfrm>
            <a:off x="1371600" y="3200400"/>
            <a:ext cx="15544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7C3AED"/>
                </a:solidFill>
                <a:latin typeface="Inter"/>
                <a:ea typeface="Inter"/>
                <a:cs typeface="Inter"/>
                <a:sym typeface="Inter"/>
              </a:rPr>
              <a:t>FASE B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1371600" y="3840480"/>
            <a:ext cx="15544800" cy="25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0" u="none" cap="none" strike="noStrike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rPr>
              <a:t>Guía Metodológica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0" u="none" cap="none" strike="noStrike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rPr>
              <a:t>de Discovery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1371600" y="6517900"/>
            <a:ext cx="155448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888888"/>
                </a:solidFill>
                <a:latin typeface="Inter"/>
                <a:ea typeface="Inter"/>
                <a:cs typeface="Inter"/>
                <a:sym typeface="Inter"/>
              </a:rPr>
              <a:t>Obligatoria · 2 horas · con el dueño del proyecto presente, porque aprueba la priorización.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4"/>
          <p:cNvSpPr/>
          <p:nvPr/>
        </p:nvSpPr>
        <p:spPr>
          <a:xfrm>
            <a:off x="0" y="0"/>
            <a:ext cx="18288000" cy="2286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95" name="Google Shape;95;p14"/>
          <p:cNvGrpSpPr/>
          <p:nvPr/>
        </p:nvGrpSpPr>
        <p:grpSpPr>
          <a:xfrm>
            <a:off x="1371600" y="762000"/>
            <a:ext cx="15544800" cy="2000400"/>
            <a:chOff x="1371600" y="762000"/>
            <a:chExt cx="15544800" cy="2000400"/>
          </a:xfrm>
        </p:grpSpPr>
        <p:sp>
          <p:nvSpPr>
            <p:cNvPr id="96" name="Google Shape;96;p14"/>
            <p:cNvSpPr txBox="1"/>
            <p:nvPr/>
          </p:nvSpPr>
          <p:spPr>
            <a:xfrm>
              <a:off x="1371600" y="762000"/>
              <a:ext cx="155448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7C3AED"/>
                  </a:solidFill>
                  <a:latin typeface="Inter"/>
                  <a:ea typeface="Inter"/>
                  <a:cs typeface="Inter"/>
                  <a:sym typeface="Inter"/>
                </a:rPr>
                <a:t>EL OBJETIVO</a:t>
              </a:r>
              <a:endParaRPr b="1" sz="1800">
                <a:solidFill>
                  <a:srgbClr val="7C3AED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97" name="Google Shape;97;p14"/>
            <p:cNvSpPr txBox="1"/>
            <p:nvPr/>
          </p:nvSpPr>
          <p:spPr>
            <a:xfrm>
              <a:off x="1371600" y="1333500"/>
              <a:ext cx="15544800" cy="1428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480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rPr>
                <a:t>El gobierno es el protagonista</a:t>
              </a:r>
              <a:endParaRPr b="1" sz="48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98" name="Google Shape;98;p14"/>
          <p:cNvGrpSpPr/>
          <p:nvPr/>
        </p:nvGrpSpPr>
        <p:grpSpPr>
          <a:xfrm>
            <a:off x="1371600" y="3048000"/>
            <a:ext cx="15544800" cy="2667000"/>
            <a:chOff x="1371600" y="3048000"/>
            <a:chExt cx="15544800" cy="2667000"/>
          </a:xfrm>
        </p:grpSpPr>
        <p:sp>
          <p:nvSpPr>
            <p:cNvPr id="99" name="Google Shape;99;p14"/>
            <p:cNvSpPr/>
            <p:nvPr/>
          </p:nvSpPr>
          <p:spPr>
            <a:xfrm>
              <a:off x="1371600" y="3048000"/>
              <a:ext cx="15544800" cy="2667000"/>
            </a:xfrm>
            <a:prstGeom prst="roundRect">
              <a:avLst>
                <a:gd fmla="val 5714" name="adj"/>
              </a:avLst>
            </a:prstGeom>
            <a:solidFill>
              <a:srgbClr val="F3F4F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" name="Google Shape;100;p14"/>
            <p:cNvSpPr txBox="1"/>
            <p:nvPr/>
          </p:nvSpPr>
          <p:spPr>
            <a:xfrm>
              <a:off x="1905000" y="3429000"/>
              <a:ext cx="14478000" cy="1905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420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rPr>
                <a:t>Ellos relevan, priorizan y documentan sus trámites</a:t>
              </a:r>
              <a:endParaRPr b="1" sz="42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01" name="Google Shape;101;p14"/>
          <p:cNvGrpSpPr/>
          <p:nvPr/>
        </p:nvGrpSpPr>
        <p:grpSpPr>
          <a:xfrm>
            <a:off x="1371600" y="6096000"/>
            <a:ext cx="15544800" cy="3048000"/>
            <a:chOff x="1371600" y="6096000"/>
            <a:chExt cx="15544800" cy="3048000"/>
          </a:xfrm>
        </p:grpSpPr>
        <p:sp>
          <p:nvSpPr>
            <p:cNvPr id="102" name="Google Shape;102;p14"/>
            <p:cNvSpPr/>
            <p:nvPr/>
          </p:nvSpPr>
          <p:spPr>
            <a:xfrm>
              <a:off x="1371600" y="6096000"/>
              <a:ext cx="15544800" cy="3048000"/>
            </a:xfrm>
            <a:prstGeom prst="roundRect">
              <a:avLst>
                <a:gd fmla="val 5000" name="adj"/>
              </a:avLst>
            </a:prstGeom>
            <a:solidFill>
              <a:srgbClr val="F87171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" name="Google Shape;103;p14"/>
            <p:cNvSpPr txBox="1"/>
            <p:nvPr/>
          </p:nvSpPr>
          <p:spPr>
            <a:xfrm>
              <a:off x="1905000" y="6535420"/>
              <a:ext cx="571500" cy="571500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700">
                  <a:solidFill>
                    <a:srgbClr val="F87171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</a:t>
              </a:r>
              <a:endParaRPr sz="3700">
                <a:solidFill>
                  <a:srgbClr val="F87171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104" name="Google Shape;104;p14"/>
            <p:cNvSpPr txBox="1"/>
            <p:nvPr/>
          </p:nvSpPr>
          <p:spPr>
            <a:xfrm>
              <a:off x="2667000" y="6477000"/>
              <a:ext cx="13716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400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Tu rol es la facilitación, no la ejecución</a:t>
              </a:r>
              <a:endParaRPr b="1" sz="24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05" name="Google Shape;105;p14"/>
            <p:cNvSpPr txBox="1"/>
            <p:nvPr/>
          </p:nvSpPr>
          <p:spPr>
            <a:xfrm>
              <a:off x="2667000" y="7239000"/>
              <a:ext cx="13716000" cy="15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2200">
                  <a:solidFill>
                    <a:srgbClr val="D1D5DB"/>
                  </a:solidFill>
                  <a:latin typeface="Inter"/>
                  <a:ea typeface="Inter"/>
                  <a:cs typeface="Inter"/>
                  <a:sym typeface="Inter"/>
                </a:rPr>
                <a:t>Si tú haces el discovery, el gobierno no entenderá los criterios de priorización en la Fase C.</a:t>
              </a:r>
              <a:endParaRPr b="0" sz="2200">
                <a:solidFill>
                  <a:srgbClr val="D1D5D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0" lang="en-US" sz="2200">
                  <a:solidFill>
                    <a:srgbClr val="D1D5DB"/>
                  </a:solidFill>
                  <a:latin typeface="Inter"/>
                  <a:ea typeface="Inter"/>
                  <a:cs typeface="Inter"/>
                  <a:sym typeface="Inter"/>
                </a:rPr>
                <a:t>Es fundamental que ellos se apropien del proceso para garantizar el éxito del proyecto.</a:t>
              </a:r>
              <a:endParaRPr b="0" sz="2200">
                <a:solidFill>
                  <a:srgbClr val="D1D5DB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5"/>
          <p:cNvSpPr/>
          <p:nvPr/>
        </p:nvSpPr>
        <p:spPr>
          <a:xfrm>
            <a:off x="0" y="0"/>
            <a:ext cx="18288000" cy="2286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2" name="Google Shape;112;p15"/>
          <p:cNvGrpSpPr/>
          <p:nvPr/>
        </p:nvGrpSpPr>
        <p:grpSpPr>
          <a:xfrm>
            <a:off x="1371600" y="762000"/>
            <a:ext cx="15544800" cy="2000400"/>
            <a:chOff x="1371600" y="762000"/>
            <a:chExt cx="15544800" cy="2000400"/>
          </a:xfrm>
        </p:grpSpPr>
        <p:sp>
          <p:nvSpPr>
            <p:cNvPr id="113" name="Google Shape;113;p15"/>
            <p:cNvSpPr txBox="1"/>
            <p:nvPr/>
          </p:nvSpPr>
          <p:spPr>
            <a:xfrm>
              <a:off x="1371600" y="762000"/>
              <a:ext cx="155448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7C3AED"/>
                  </a:solidFill>
                  <a:latin typeface="Inter"/>
                  <a:ea typeface="Inter"/>
                  <a:cs typeface="Inter"/>
                  <a:sym typeface="Inter"/>
                </a:rPr>
                <a:t>LA AGENDA</a:t>
              </a:r>
              <a:endParaRPr b="1" sz="1800">
                <a:solidFill>
                  <a:srgbClr val="7C3AED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4" name="Google Shape;114;p15"/>
            <p:cNvSpPr txBox="1"/>
            <p:nvPr/>
          </p:nvSpPr>
          <p:spPr>
            <a:xfrm>
              <a:off x="1371600" y="1333500"/>
              <a:ext cx="15544800" cy="1428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480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rPr>
                <a:t>Cuatro temas clave para el éxito</a:t>
              </a:r>
              <a:endParaRPr b="1" sz="48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15" name="Google Shape;115;p15"/>
          <p:cNvGrpSpPr/>
          <p:nvPr/>
        </p:nvGrpSpPr>
        <p:grpSpPr>
          <a:xfrm>
            <a:off x="1371600" y="3048000"/>
            <a:ext cx="3695700" cy="4000500"/>
            <a:chOff x="1371600" y="3048000"/>
            <a:chExt cx="3695700" cy="4000500"/>
          </a:xfrm>
        </p:grpSpPr>
        <p:sp>
          <p:nvSpPr>
            <p:cNvPr id="116" name="Google Shape;116;p15"/>
            <p:cNvSpPr/>
            <p:nvPr/>
          </p:nvSpPr>
          <p:spPr>
            <a:xfrm>
              <a:off x="1371600" y="3048000"/>
              <a:ext cx="3695700" cy="4000500"/>
            </a:xfrm>
            <a:prstGeom prst="roundRect">
              <a:avLst>
                <a:gd fmla="val 4123" name="adj"/>
              </a:avLst>
            </a:prstGeom>
            <a:solidFill>
              <a:srgbClr val="F3F4F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" name="Google Shape;117;p15"/>
            <p:cNvSpPr txBox="1"/>
            <p:nvPr/>
          </p:nvSpPr>
          <p:spPr>
            <a:xfrm>
              <a:off x="1657350" y="3386328"/>
              <a:ext cx="571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600">
                  <a:solidFill>
                    <a:srgbClr val="7C3AED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</a:t>
              </a:r>
              <a:endParaRPr sz="3600">
                <a:solidFill>
                  <a:srgbClr val="7C3AED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118" name="Google Shape;118;p15"/>
            <p:cNvSpPr txBox="1"/>
            <p:nvPr/>
          </p:nvSpPr>
          <p:spPr>
            <a:xfrm>
              <a:off x="1657350" y="4095750"/>
              <a:ext cx="3124200" cy="266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rPr>
                <a:t>Relevamiento de trámites</a:t>
              </a:r>
              <a:endParaRPr b="1" sz="20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0" lang="en-US" sz="1400">
                  <a:solidFill>
                    <a:srgbClr val="4B5563"/>
                  </a:solidFill>
                  <a:latin typeface="Inter"/>
                  <a:ea typeface="Inter"/>
                  <a:cs typeface="Inter"/>
                  <a:sym typeface="Inter"/>
                </a:rPr>
                <a:t>Cómo relevar procesos existentes: operadores, formularios en papel y normativa vigente.</a:t>
              </a:r>
              <a:endParaRPr b="0" sz="14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19" name="Google Shape;119;p15"/>
          <p:cNvGrpSpPr/>
          <p:nvPr/>
        </p:nvGrpSpPr>
        <p:grpSpPr>
          <a:xfrm>
            <a:off x="5257800" y="3048000"/>
            <a:ext cx="3695700" cy="4000500"/>
            <a:chOff x="5257800" y="3048000"/>
            <a:chExt cx="3695700" cy="4000500"/>
          </a:xfrm>
        </p:grpSpPr>
        <p:sp>
          <p:nvSpPr>
            <p:cNvPr id="120" name="Google Shape;120;p15"/>
            <p:cNvSpPr/>
            <p:nvPr/>
          </p:nvSpPr>
          <p:spPr>
            <a:xfrm>
              <a:off x="5257800" y="3048000"/>
              <a:ext cx="3695700" cy="4000500"/>
            </a:xfrm>
            <a:prstGeom prst="roundRect">
              <a:avLst>
                <a:gd fmla="val 4123" name="adj"/>
              </a:avLst>
            </a:prstGeom>
            <a:solidFill>
              <a:srgbClr val="F3F4F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" name="Google Shape;121;p15"/>
            <p:cNvSpPr txBox="1"/>
            <p:nvPr/>
          </p:nvSpPr>
          <p:spPr>
            <a:xfrm>
              <a:off x="5543550" y="3386328"/>
              <a:ext cx="571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600">
                  <a:solidFill>
                    <a:srgbClr val="7C3AED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</a:t>
              </a:r>
              <a:endParaRPr sz="3600">
                <a:solidFill>
                  <a:srgbClr val="7C3AED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122" name="Google Shape;122;p15"/>
            <p:cNvSpPr txBox="1"/>
            <p:nvPr/>
          </p:nvSpPr>
          <p:spPr>
            <a:xfrm>
              <a:off x="5543550" y="4095750"/>
              <a:ext cx="3124200" cy="266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rPr>
                <a:t>Criterio de priorización</a:t>
              </a:r>
              <a:endParaRPr b="1" sz="20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0" lang="en-US" sz="1400">
                  <a:solidFill>
                    <a:srgbClr val="4B5563"/>
                  </a:solidFill>
                  <a:latin typeface="Inter"/>
                  <a:ea typeface="Inter"/>
                  <a:cs typeface="Inter"/>
                  <a:sym typeface="Inter"/>
                </a:rPr>
                <a:t>Enfoque en alto volumen, baja complejidad y procesos claros para resultados rápidos.</a:t>
              </a:r>
              <a:endParaRPr b="0" sz="14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23" name="Google Shape;123;p15"/>
          <p:cNvGrpSpPr/>
          <p:nvPr/>
        </p:nvGrpSpPr>
        <p:grpSpPr>
          <a:xfrm>
            <a:off x="9144000" y="3048000"/>
            <a:ext cx="3695700" cy="4000500"/>
            <a:chOff x="9144000" y="3048000"/>
            <a:chExt cx="3695700" cy="4000500"/>
          </a:xfrm>
        </p:grpSpPr>
        <p:sp>
          <p:nvSpPr>
            <p:cNvPr id="124" name="Google Shape;124;p15"/>
            <p:cNvSpPr/>
            <p:nvPr/>
          </p:nvSpPr>
          <p:spPr>
            <a:xfrm>
              <a:off x="9144000" y="3048000"/>
              <a:ext cx="3695700" cy="4000500"/>
            </a:xfrm>
            <a:prstGeom prst="roundRect">
              <a:avLst>
                <a:gd fmla="val 4123" name="adj"/>
              </a:avLst>
            </a:prstGeom>
            <a:solidFill>
              <a:srgbClr val="F3F4F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" name="Google Shape;125;p15"/>
            <p:cNvSpPr txBox="1"/>
            <p:nvPr/>
          </p:nvSpPr>
          <p:spPr>
            <a:xfrm>
              <a:off x="9429750" y="3386328"/>
              <a:ext cx="571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600">
                  <a:solidFill>
                    <a:srgbClr val="7C3AED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</a:t>
              </a:r>
              <a:endParaRPr sz="3600">
                <a:solidFill>
                  <a:srgbClr val="7C3AED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126" name="Google Shape;126;p15"/>
            <p:cNvSpPr txBox="1"/>
            <p:nvPr/>
          </p:nvSpPr>
          <p:spPr>
            <a:xfrm>
              <a:off x="9429750" y="4095750"/>
              <a:ext cx="3124200" cy="266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rPr>
                <a:t>Definición de gobernanza</a:t>
              </a:r>
              <a:endParaRPr b="1" sz="20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0" lang="en-US" sz="1400">
                  <a:solidFill>
                    <a:srgbClr val="4B5563"/>
                  </a:solidFill>
                  <a:latin typeface="Inter"/>
                  <a:ea typeface="Inter"/>
                  <a:cs typeface="Inter"/>
                  <a:sym typeface="Inter"/>
                </a:rPr>
                <a:t>Asignación estratégica de roles y permisos dentro de la plataforma.</a:t>
              </a:r>
              <a:endParaRPr b="0" sz="14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27" name="Google Shape;127;p15"/>
          <p:cNvGrpSpPr/>
          <p:nvPr/>
        </p:nvGrpSpPr>
        <p:grpSpPr>
          <a:xfrm>
            <a:off x="13030200" y="3048000"/>
            <a:ext cx="3695700" cy="4000500"/>
            <a:chOff x="13030200" y="3048000"/>
            <a:chExt cx="3695700" cy="4000500"/>
          </a:xfrm>
        </p:grpSpPr>
        <p:sp>
          <p:nvSpPr>
            <p:cNvPr id="128" name="Google Shape;128;p15"/>
            <p:cNvSpPr/>
            <p:nvPr/>
          </p:nvSpPr>
          <p:spPr>
            <a:xfrm>
              <a:off x="13030200" y="3048000"/>
              <a:ext cx="3695700" cy="4000500"/>
            </a:xfrm>
            <a:prstGeom prst="roundRect">
              <a:avLst>
                <a:gd fmla="val 4123" name="adj"/>
              </a:avLst>
            </a:prstGeom>
            <a:solidFill>
              <a:srgbClr val="F3F4F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" name="Google Shape;129;p15"/>
            <p:cNvSpPr txBox="1"/>
            <p:nvPr/>
          </p:nvSpPr>
          <p:spPr>
            <a:xfrm>
              <a:off x="13315950" y="3386328"/>
              <a:ext cx="571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600">
                  <a:solidFill>
                    <a:srgbClr val="7C3AED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</a:t>
              </a:r>
              <a:endParaRPr sz="3600">
                <a:solidFill>
                  <a:srgbClr val="7C3AED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130" name="Google Shape;130;p15"/>
            <p:cNvSpPr txBox="1"/>
            <p:nvPr/>
          </p:nvSpPr>
          <p:spPr>
            <a:xfrm>
              <a:off x="13315950" y="4095750"/>
              <a:ext cx="3124200" cy="266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rPr>
                <a:t>Autenticación ciudadana</a:t>
              </a:r>
              <a:endParaRPr b="1" sz="20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0" lang="en-US" sz="1400">
                  <a:solidFill>
                    <a:srgbClr val="4B5563"/>
                  </a:solidFill>
                  <a:latin typeface="Inter"/>
                  <a:ea typeface="Inter"/>
                  <a:cs typeface="Inter"/>
                  <a:sym typeface="Inter"/>
                </a:rPr>
                <a:t>La decisión estratégica sobre la identidad digital (se analiza en detalle a continuación).</a:t>
              </a:r>
              <a:endParaRPr b="0" sz="14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31" name="Google Shape;131;p15"/>
          <p:cNvGrpSpPr/>
          <p:nvPr/>
        </p:nvGrpSpPr>
        <p:grpSpPr>
          <a:xfrm>
            <a:off x="1371600" y="7620000"/>
            <a:ext cx="15354300" cy="1143000"/>
            <a:chOff x="1371600" y="7620000"/>
            <a:chExt cx="15354300" cy="1143000"/>
          </a:xfrm>
        </p:grpSpPr>
        <p:sp>
          <p:nvSpPr>
            <p:cNvPr id="132" name="Google Shape;132;p15"/>
            <p:cNvSpPr/>
            <p:nvPr/>
          </p:nvSpPr>
          <p:spPr>
            <a:xfrm>
              <a:off x="1371600" y="7620000"/>
              <a:ext cx="15354300" cy="1143000"/>
            </a:xfrm>
            <a:prstGeom prst="roundRect">
              <a:avLst>
                <a:gd fmla="val 10000" name="adj"/>
              </a:avLst>
            </a:prstGeom>
            <a:solidFill>
              <a:srgbClr val="7C3AED">
                <a:alpha val="10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" name="Google Shape;133;p15"/>
            <p:cNvSpPr txBox="1"/>
            <p:nvPr/>
          </p:nvSpPr>
          <p:spPr>
            <a:xfrm>
              <a:off x="1714500" y="7940802"/>
              <a:ext cx="381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C3AED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</a:t>
              </a:r>
              <a:endParaRPr sz="2400">
                <a:solidFill>
                  <a:srgbClr val="7C3AED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134" name="Google Shape;134;p15"/>
            <p:cNvSpPr txBox="1"/>
            <p:nvPr/>
          </p:nvSpPr>
          <p:spPr>
            <a:xfrm>
              <a:off x="2286000" y="7810500"/>
              <a:ext cx="140970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60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rPr>
                <a:t>Esta agenda garantiza que el </a:t>
              </a:r>
              <a:r>
                <a:rPr b="1" lang="en-US" sz="160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rPr>
                <a:t>Discovery</a:t>
              </a:r>
              <a:r>
                <a:rPr b="0" lang="en-US" sz="160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rPr>
                <a:t> sea integral y esté alineado con los objetivos del gobierno.</a:t>
              </a:r>
              <a:endParaRPr b="0" sz="16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6"/>
          <p:cNvSpPr/>
          <p:nvPr/>
        </p:nvSpPr>
        <p:spPr>
          <a:xfrm>
            <a:off x="0" y="0"/>
            <a:ext cx="18288000" cy="2286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16"/>
          <p:cNvSpPr txBox="1"/>
          <p:nvPr/>
        </p:nvSpPr>
        <p:spPr>
          <a:xfrm>
            <a:off x="1371600" y="762000"/>
            <a:ext cx="15544800" cy="646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2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rPr>
              <a:t>Cuatro entregables concretos</a:t>
            </a:r>
            <a:endParaRPr b="1" sz="4200">
              <a:solidFill>
                <a:srgbClr val="0A091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142" name="Google Shape;142;p16"/>
          <p:cNvGrpSpPr/>
          <p:nvPr/>
        </p:nvGrpSpPr>
        <p:grpSpPr>
          <a:xfrm>
            <a:off x="1371600" y="2095500"/>
            <a:ext cx="3695700" cy="4000500"/>
            <a:chOff x="1371600" y="2095500"/>
            <a:chExt cx="3695700" cy="4000500"/>
          </a:xfrm>
        </p:grpSpPr>
        <p:sp>
          <p:nvSpPr>
            <p:cNvPr id="143" name="Google Shape;143;p16"/>
            <p:cNvSpPr/>
            <p:nvPr/>
          </p:nvSpPr>
          <p:spPr>
            <a:xfrm>
              <a:off x="1371600" y="2095500"/>
              <a:ext cx="3695700" cy="4000500"/>
            </a:xfrm>
            <a:prstGeom prst="roundRect">
              <a:avLst>
                <a:gd fmla="val 4123" name="adj"/>
              </a:avLst>
            </a:prstGeom>
            <a:solidFill>
              <a:srgbClr val="F3F4F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4" name="Google Shape;144;p16"/>
            <p:cNvSpPr txBox="1"/>
            <p:nvPr/>
          </p:nvSpPr>
          <p:spPr>
            <a:xfrm>
              <a:off x="1657350" y="2433828"/>
              <a:ext cx="571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600">
                  <a:solidFill>
                    <a:srgbClr val="7C3AED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</a:t>
              </a:r>
              <a:endParaRPr sz="3600">
                <a:solidFill>
                  <a:srgbClr val="7C3AED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145" name="Google Shape;145;p16"/>
            <p:cNvSpPr txBox="1"/>
            <p:nvPr/>
          </p:nvSpPr>
          <p:spPr>
            <a:xfrm>
              <a:off x="1657350" y="3095625"/>
              <a:ext cx="3124200" cy="266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rPr>
                <a:t>Lista priorizada</a:t>
              </a:r>
              <a:endParaRPr b="1" sz="18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0" lang="en-US" sz="1400">
                  <a:solidFill>
                    <a:srgbClr val="4B5563"/>
                  </a:solidFill>
                  <a:latin typeface="Inter"/>
                  <a:ea typeface="Inter"/>
                  <a:cs typeface="Inter"/>
                  <a:sym typeface="Inter"/>
                </a:rPr>
                <a:t>Trámites para los 90 días, aprobada por el dueño del proyecto.</a:t>
              </a:r>
              <a:endParaRPr b="0" sz="14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46" name="Google Shape;146;p16"/>
          <p:cNvGrpSpPr/>
          <p:nvPr/>
        </p:nvGrpSpPr>
        <p:grpSpPr>
          <a:xfrm>
            <a:off x="5257800" y="2095500"/>
            <a:ext cx="3695700" cy="4000500"/>
            <a:chOff x="5257800" y="2095500"/>
            <a:chExt cx="3695700" cy="4000500"/>
          </a:xfrm>
        </p:grpSpPr>
        <p:sp>
          <p:nvSpPr>
            <p:cNvPr id="147" name="Google Shape;147;p16"/>
            <p:cNvSpPr/>
            <p:nvPr/>
          </p:nvSpPr>
          <p:spPr>
            <a:xfrm>
              <a:off x="5257800" y="2095500"/>
              <a:ext cx="3695700" cy="4000500"/>
            </a:xfrm>
            <a:prstGeom prst="roundRect">
              <a:avLst>
                <a:gd fmla="val 4123" name="adj"/>
              </a:avLst>
            </a:prstGeom>
            <a:solidFill>
              <a:srgbClr val="F3F4F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8" name="Google Shape;148;p16"/>
            <p:cNvSpPr txBox="1"/>
            <p:nvPr/>
          </p:nvSpPr>
          <p:spPr>
            <a:xfrm>
              <a:off x="5543550" y="2433828"/>
              <a:ext cx="571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600">
                  <a:solidFill>
                    <a:srgbClr val="7C3AED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</a:t>
              </a:r>
              <a:endParaRPr sz="3600">
                <a:solidFill>
                  <a:srgbClr val="7C3AED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149" name="Google Shape;149;p16"/>
            <p:cNvSpPr txBox="1"/>
            <p:nvPr/>
          </p:nvSpPr>
          <p:spPr>
            <a:xfrm>
              <a:off x="5543550" y="3095625"/>
              <a:ext cx="3124200" cy="266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rPr>
                <a:t>Gobernanza</a:t>
              </a:r>
              <a:endParaRPr b="1" sz="18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0" lang="en-US" sz="1400">
                  <a:solidFill>
                    <a:srgbClr val="4B5563"/>
                  </a:solidFill>
                  <a:latin typeface="Inter"/>
                  <a:ea typeface="Inter"/>
                  <a:cs typeface="Inter"/>
                  <a:sym typeface="Inter"/>
                </a:rPr>
                <a:t>Definida detalladamente, con nombre y apellido por cada rol.</a:t>
              </a:r>
              <a:endParaRPr b="0" sz="14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50" name="Google Shape;150;p16"/>
          <p:cNvGrpSpPr/>
          <p:nvPr/>
        </p:nvGrpSpPr>
        <p:grpSpPr>
          <a:xfrm>
            <a:off x="9144000" y="2095500"/>
            <a:ext cx="3695700" cy="4000500"/>
            <a:chOff x="9144000" y="2095500"/>
            <a:chExt cx="3695700" cy="4000500"/>
          </a:xfrm>
        </p:grpSpPr>
        <p:sp>
          <p:nvSpPr>
            <p:cNvPr id="151" name="Google Shape;151;p16"/>
            <p:cNvSpPr/>
            <p:nvPr/>
          </p:nvSpPr>
          <p:spPr>
            <a:xfrm>
              <a:off x="9144000" y="2095500"/>
              <a:ext cx="3695700" cy="4000500"/>
            </a:xfrm>
            <a:prstGeom prst="roundRect">
              <a:avLst>
                <a:gd fmla="val 4123" name="adj"/>
              </a:avLst>
            </a:prstGeom>
            <a:solidFill>
              <a:srgbClr val="F3F4F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" name="Google Shape;152;p16"/>
            <p:cNvSpPr txBox="1"/>
            <p:nvPr/>
          </p:nvSpPr>
          <p:spPr>
            <a:xfrm>
              <a:off x="9429750" y="2433828"/>
              <a:ext cx="571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600">
                  <a:solidFill>
                    <a:srgbClr val="7C3AED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</a:t>
              </a:r>
              <a:endParaRPr sz="3600">
                <a:solidFill>
                  <a:srgbClr val="7C3AED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153" name="Google Shape;153;p16"/>
            <p:cNvSpPr txBox="1"/>
            <p:nvPr/>
          </p:nvSpPr>
          <p:spPr>
            <a:xfrm>
              <a:off x="9429750" y="3095625"/>
              <a:ext cx="3124200" cy="266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rPr>
                <a:t>Autenticación</a:t>
              </a:r>
              <a:endParaRPr b="1" sz="18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0" lang="en-US" sz="1400">
                  <a:solidFill>
                    <a:srgbClr val="4B5563"/>
                  </a:solidFill>
                  <a:latin typeface="Inter"/>
                  <a:ea typeface="Inter"/>
                  <a:cs typeface="Inter"/>
                  <a:sym typeface="Inter"/>
                </a:rPr>
                <a:t>Decisión estratégica registrada formalmente por escrito.</a:t>
              </a:r>
              <a:endParaRPr b="0" sz="14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54" name="Google Shape;154;p16"/>
          <p:cNvGrpSpPr/>
          <p:nvPr/>
        </p:nvGrpSpPr>
        <p:grpSpPr>
          <a:xfrm>
            <a:off x="13030200" y="2095500"/>
            <a:ext cx="3695700" cy="4000500"/>
            <a:chOff x="13030200" y="2095500"/>
            <a:chExt cx="3695700" cy="4000500"/>
          </a:xfrm>
        </p:grpSpPr>
        <p:sp>
          <p:nvSpPr>
            <p:cNvPr id="155" name="Google Shape;155;p16"/>
            <p:cNvSpPr/>
            <p:nvPr/>
          </p:nvSpPr>
          <p:spPr>
            <a:xfrm>
              <a:off x="13030200" y="2095500"/>
              <a:ext cx="3695700" cy="4000500"/>
            </a:xfrm>
            <a:prstGeom prst="roundRect">
              <a:avLst>
                <a:gd fmla="val 4123" name="adj"/>
              </a:avLst>
            </a:prstGeom>
            <a:solidFill>
              <a:srgbClr val="F3F4F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" name="Google Shape;156;p16"/>
            <p:cNvSpPr txBox="1"/>
            <p:nvPr/>
          </p:nvSpPr>
          <p:spPr>
            <a:xfrm>
              <a:off x="13315950" y="2433828"/>
              <a:ext cx="571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600">
                  <a:solidFill>
                    <a:srgbClr val="7C3AED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</a:t>
              </a:r>
              <a:endParaRPr sz="3600">
                <a:solidFill>
                  <a:srgbClr val="7C3AED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157" name="Google Shape;157;p16"/>
            <p:cNvSpPr txBox="1"/>
            <p:nvPr/>
          </p:nvSpPr>
          <p:spPr>
            <a:xfrm>
              <a:off x="13315950" y="3095625"/>
              <a:ext cx="3124200" cy="266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rPr>
                <a:t>Diccionarios</a:t>
              </a:r>
              <a:endParaRPr b="1" sz="18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0" lang="en-US" sz="1400">
                  <a:solidFill>
                    <a:srgbClr val="4B5563"/>
                  </a:solidFill>
                  <a:latin typeface="Inter"/>
                  <a:ea typeface="Inter"/>
                  <a:cs typeface="Inter"/>
                  <a:sym typeface="Inter"/>
                </a:rPr>
                <a:t>Iniciados para todos los trámites que han sido priorizados.</a:t>
              </a:r>
              <a:endParaRPr b="0" sz="14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58" name="Google Shape;158;p16"/>
          <p:cNvGrpSpPr/>
          <p:nvPr/>
        </p:nvGrpSpPr>
        <p:grpSpPr>
          <a:xfrm>
            <a:off x="1371600" y="6667500"/>
            <a:ext cx="15354300" cy="1143000"/>
            <a:chOff x="1371600" y="6667500"/>
            <a:chExt cx="15354300" cy="1143000"/>
          </a:xfrm>
        </p:grpSpPr>
        <p:sp>
          <p:nvSpPr>
            <p:cNvPr id="159" name="Google Shape;159;p16"/>
            <p:cNvSpPr/>
            <p:nvPr/>
          </p:nvSpPr>
          <p:spPr>
            <a:xfrm>
              <a:off x="1371600" y="6667500"/>
              <a:ext cx="15354300" cy="1143000"/>
            </a:xfrm>
            <a:prstGeom prst="roundRect">
              <a:avLst>
                <a:gd fmla="val 10000" name="adj"/>
              </a:avLst>
            </a:prstGeom>
            <a:solidFill>
              <a:srgbClr val="7C3AED">
                <a:alpha val="10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" name="Google Shape;160;p16"/>
            <p:cNvSpPr txBox="1"/>
            <p:nvPr/>
          </p:nvSpPr>
          <p:spPr>
            <a:xfrm>
              <a:off x="1714500" y="7023354"/>
              <a:ext cx="381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C3AED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</a:t>
              </a:r>
              <a:endParaRPr sz="2400">
                <a:solidFill>
                  <a:srgbClr val="7C3AED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161" name="Google Shape;161;p16"/>
            <p:cNvSpPr txBox="1"/>
            <p:nvPr/>
          </p:nvSpPr>
          <p:spPr>
            <a:xfrm>
              <a:off x="2286000" y="6858000"/>
              <a:ext cx="140970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rPr>
                <a:t>Estos entregables aseguran que el </a:t>
              </a:r>
              <a:r>
                <a:rPr b="1" lang="en-US" sz="160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rPr>
                <a:t>Discovery</a:t>
              </a:r>
              <a:r>
                <a:rPr lang="en-US" sz="160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rPr>
                <a:t> concluya con definiciones sólidas para la ejecución.</a:t>
              </a:r>
              <a:endParaRPr sz="16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7"/>
          <p:cNvSpPr/>
          <p:nvPr/>
        </p:nvSpPr>
        <p:spPr>
          <a:xfrm>
            <a:off x="0" y="0"/>
            <a:ext cx="18288000" cy="2286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68" name="Google Shape;168;p17"/>
          <p:cNvGrpSpPr/>
          <p:nvPr/>
        </p:nvGrpSpPr>
        <p:grpSpPr>
          <a:xfrm>
            <a:off x="1371600" y="762000"/>
            <a:ext cx="15544800" cy="2000400"/>
            <a:chOff x="1371600" y="762000"/>
            <a:chExt cx="15544800" cy="2000400"/>
          </a:xfrm>
        </p:grpSpPr>
        <p:sp>
          <p:nvSpPr>
            <p:cNvPr id="169" name="Google Shape;169;p17"/>
            <p:cNvSpPr txBox="1"/>
            <p:nvPr/>
          </p:nvSpPr>
          <p:spPr>
            <a:xfrm>
              <a:off x="1371600" y="762000"/>
              <a:ext cx="155448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7C3AED"/>
                  </a:solidFill>
                  <a:latin typeface="Inter"/>
                  <a:ea typeface="Inter"/>
                  <a:cs typeface="Inter"/>
                  <a:sym typeface="Inter"/>
                </a:rPr>
                <a:t>PREGUNTA ESTRATÉGICA</a:t>
              </a:r>
              <a:endParaRPr b="1" sz="1800">
                <a:solidFill>
                  <a:srgbClr val="7C3AED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70" name="Google Shape;170;p17"/>
            <p:cNvSpPr txBox="1"/>
            <p:nvPr/>
          </p:nvSpPr>
          <p:spPr>
            <a:xfrm>
              <a:off x="1371600" y="1333500"/>
              <a:ext cx="15544800" cy="1428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480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rPr>
                <a:t>¿Existe una base de usuarios?</a:t>
              </a:r>
              <a:endParaRPr b="1" sz="48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71" name="Google Shape;171;p17"/>
          <p:cNvGrpSpPr/>
          <p:nvPr/>
        </p:nvGrpSpPr>
        <p:grpSpPr>
          <a:xfrm>
            <a:off x="1371600" y="3048000"/>
            <a:ext cx="15544800" cy="3333900"/>
            <a:chOff x="1371600" y="3048000"/>
            <a:chExt cx="15544800" cy="3333900"/>
          </a:xfrm>
        </p:grpSpPr>
        <p:sp>
          <p:nvSpPr>
            <p:cNvPr id="172" name="Google Shape;172;p17"/>
            <p:cNvSpPr/>
            <p:nvPr/>
          </p:nvSpPr>
          <p:spPr>
            <a:xfrm>
              <a:off x="1371600" y="3048000"/>
              <a:ext cx="15544800" cy="3333900"/>
            </a:xfrm>
            <a:prstGeom prst="roundRect">
              <a:avLst>
                <a:gd fmla="val 5714" name="adj"/>
              </a:avLst>
            </a:prstGeom>
            <a:solidFill>
              <a:srgbClr val="F3F4F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3" name="Google Shape;173;p17"/>
            <p:cNvSpPr txBox="1"/>
            <p:nvPr/>
          </p:nvSpPr>
          <p:spPr>
            <a:xfrm>
              <a:off x="1905000" y="3429000"/>
              <a:ext cx="14478000" cy="2571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420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rPr>
                <a:t>Una migración inicial acelera exponencialmente la adopción</a:t>
              </a:r>
              <a:endParaRPr b="1" sz="42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74" name="Google Shape;174;p17"/>
          <p:cNvGrpSpPr/>
          <p:nvPr/>
        </p:nvGrpSpPr>
        <p:grpSpPr>
          <a:xfrm>
            <a:off x="1371600" y="6858000"/>
            <a:ext cx="15354300" cy="1143000"/>
            <a:chOff x="1371600" y="6858000"/>
            <a:chExt cx="15354300" cy="1143000"/>
          </a:xfrm>
        </p:grpSpPr>
        <p:sp>
          <p:nvSpPr>
            <p:cNvPr id="175" name="Google Shape;175;p17"/>
            <p:cNvSpPr/>
            <p:nvPr/>
          </p:nvSpPr>
          <p:spPr>
            <a:xfrm>
              <a:off x="1371600" y="6858000"/>
              <a:ext cx="15354300" cy="1143000"/>
            </a:xfrm>
            <a:prstGeom prst="roundRect">
              <a:avLst>
                <a:gd fmla="val 10000" name="adj"/>
              </a:avLst>
            </a:prstGeom>
            <a:solidFill>
              <a:srgbClr val="7C3AED">
                <a:alpha val="10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6" name="Google Shape;176;p17"/>
            <p:cNvSpPr txBox="1"/>
            <p:nvPr/>
          </p:nvSpPr>
          <p:spPr>
            <a:xfrm>
              <a:off x="1714500" y="7274052"/>
              <a:ext cx="381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2400">
                  <a:solidFill>
                    <a:srgbClr val="7C3AED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</a:t>
              </a:r>
              <a:endParaRPr b="0" sz="2400">
                <a:solidFill>
                  <a:srgbClr val="7C3AED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177" name="Google Shape;177;p17"/>
            <p:cNvSpPr txBox="1"/>
            <p:nvPr/>
          </p:nvSpPr>
          <p:spPr>
            <a:xfrm>
              <a:off x="2286000" y="7048500"/>
              <a:ext cx="140970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80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rPr>
                <a:t>Aprovechar los datos existentes reduce la fricción de entrada y garantiza un </a:t>
              </a:r>
              <a:r>
                <a:rPr b="1" lang="en-US" sz="180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rPr>
                <a:t>arranque crítico</a:t>
              </a:r>
              <a:r>
                <a:rPr b="0" lang="en-US" sz="180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rPr>
                <a:t> para el nuevo sistema.</a:t>
              </a:r>
              <a:endParaRPr b="0" sz="18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pic>
        <p:nvPicPr>
          <p:cNvPr descr="A minimalist, high-quality digital illustration of diverse abstract user profiles connected by lines, representing a database migration, using purple and grey tones on a clean white background." id="178" name="Google Shape;178;p17"/>
          <p:cNvPicPr preferRelativeResize="0"/>
          <p:nvPr/>
        </p:nvPicPr>
        <p:blipFill rotWithShape="1">
          <a:blip r:embed="rId3">
            <a:alphaModFix/>
          </a:blip>
          <a:srcRect b="16667" l="0" r="0" t="16667"/>
          <a:stretch/>
        </p:blipFill>
        <p:spPr>
          <a:xfrm>
            <a:off x="7239000" y="8382000"/>
            <a:ext cx="3810000" cy="1428900"/>
          </a:xfrm>
          <a:prstGeom prst="roundRect">
            <a:avLst>
              <a:gd fmla="val 6666" name="adj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18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7C3AE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18"/>
          <p:cNvSpPr txBox="1"/>
          <p:nvPr/>
        </p:nvSpPr>
        <p:spPr>
          <a:xfrm>
            <a:off x="1371600" y="3200400"/>
            <a:ext cx="155448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El discovery no se entrega</a:t>
            </a:r>
            <a:endParaRPr/>
          </a:p>
        </p:txBody>
      </p:sp>
      <p:sp>
        <p:nvSpPr>
          <p:cNvPr id="186" name="Google Shape;186;p18"/>
          <p:cNvSpPr txBox="1"/>
          <p:nvPr/>
        </p:nvSpPr>
        <p:spPr>
          <a:xfrm>
            <a:off x="1371600" y="4754880"/>
            <a:ext cx="15544800" cy="12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8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Se facilita</a:t>
            </a:r>
            <a:endParaRPr/>
          </a:p>
        </p:txBody>
      </p:sp>
      <p:sp>
        <p:nvSpPr>
          <p:cNvPr id="187" name="Google Shape;187;p18"/>
          <p:cNvSpPr txBox="1"/>
          <p:nvPr/>
        </p:nvSpPr>
        <p:spPr>
          <a:xfrm>
            <a:off x="1371600" y="7315200"/>
            <a:ext cx="155448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0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Si lo haces tú, el gobierno no entiende sus prioridades en Fase C.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