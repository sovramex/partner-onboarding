
<file path=[Content_Types].xml><?xml version="1.0" encoding="utf-8"?>
<Types xmlns="http://schemas.openxmlformats.org/package/2006/content-types">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Lst>
  <p:sldSz cy="10287000" cx="18288000"/>
  <p:notesSz cx="6858000" cy="9144000"/>
  <p:embeddedFontLst>
    <p:embeddedFont>
      <p:font typeface="Inter"/>
      <p:regular r:id="rId12"/>
      <p:bold r:id="rId13"/>
      <p:italic r:id="rId14"/>
      <p:boldItalic r:id="rId1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font" Target="fonts/Inter-bold.fntdata"/><Relationship Id="rId12" Type="http://schemas.openxmlformats.org/officeDocument/2006/relationships/font" Target="fonts/Inter-regular.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Inter-boldItalic.fntdata"/><Relationship Id="rId14" Type="http://schemas.openxmlformats.org/officeDocument/2006/relationships/font" Target="fonts/Inter-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7.6s · 19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Fase B tiene cuatro errores que se repiten. Si los reconocés temprano, los corregís antes de que escalen.</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25.6s · 64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El primero. El gobierno dice que quiere digitalizar todo. Suena positivo, pero es la primera señal de fracaso. Si entran sesenta trámites al ciclo de noventa días, ninguno sale bien. Tu trabajo es redirigir: cinco trámites bien hechos valen más que veinte a medias. Esta conversación se da en la reunión de discovery, con el dueño del proyecto en la sala. Antes no funciona.</a:t>
            </a:r>
            <a:endParaRPr/>
          </a:p>
        </p:txBody>
      </p:sp>
      <p:sp>
        <p:nvSpPr>
          <p:cNvPr id="92" name="Google Shape;92;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24.0s · 60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El segundo. El técnico del gobierno no aparece. Aparece en el organigrama, pero no entra a las reuniones, no responde mensajes, no se asigna tareas. Esto no se resuelve esperando. Se escala al coordinador en la misma semana, no en la siguiente. Si en la semana cinco el técnico sigue ausente, es indicador casi seguro de atraso en Fase C.</a:t>
            </a:r>
            <a:endParaRPr/>
          </a:p>
        </p:txBody>
      </p:sp>
      <p:sp>
        <p:nvSpPr>
          <p:cNvPr id="108" name="Google Shape;10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8" name="Google Shape;128;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20.0s · 50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El tercero. Capacitación sin práctica. Una capacitación funcional donde el especialista funcional no toca la plataforma es una capacitación perdida. Las diapositivas sirven para contexto, máximo veinte minutos. El resto de la sesión, manos en la plataforma. Si te encuentras presentando diapositivas dos horas seguidas, corta y abre la instancia.</a:t>
            </a:r>
            <a:endParaRPr/>
          </a:p>
        </p:txBody>
      </p:sp>
      <p:sp>
        <p:nvSpPr>
          <p:cNvPr id="129" name="Google Shape;129;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9" name="Google Shape;149;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24.0s · 60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El cuarto. Los diccionarios de datos quedan incompletos. Esto pasa porque el partner intenta llenarlos solo. No es tu rol. Tu rol es facilitar el formato y revisar el contenido. El gobierno llena los campos, porque son sus trámites y sus datos. Si te pones a llenarlos, te llevas el conocimiento cuando te vas y el gobierno queda sin contexto.</a:t>
            </a:r>
            <a:endParaRPr/>
          </a:p>
        </p:txBody>
      </p:sp>
      <p:sp>
        <p:nvSpPr>
          <p:cNvPr id="150" name="Google Shape;150;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0" name="Google Shape;170;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12.0s · 30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Los cuatro errores tienen el mismo patrón de fondo: el partner haciendo lo que le toca al gobierno. La corrección siempre es devolverle la tarea, con facilitación, no con presión.</a:t>
            </a:r>
            <a:endParaRPr/>
          </a:p>
        </p:txBody>
      </p:sp>
      <p:sp>
        <p:nvSpPr>
          <p:cNvPr id="171" name="Google Shape;171;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p:nvPr/>
        </p:nvSpPr>
        <p:spPr>
          <a:xfrm>
            <a:off x="0" y="0"/>
            <a:ext cx="18288000" cy="2286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3"/>
          <p:cNvSpPr txBox="1"/>
          <p:nvPr/>
        </p:nvSpPr>
        <p:spPr>
          <a:xfrm>
            <a:off x="1371600" y="3200400"/>
            <a:ext cx="15544800" cy="5486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800" u="none" cap="none" strike="noStrike">
                <a:solidFill>
                  <a:srgbClr val="7C3AED"/>
                </a:solidFill>
                <a:latin typeface="Inter"/>
                <a:ea typeface="Inter"/>
                <a:cs typeface="Inter"/>
                <a:sym typeface="Inter"/>
              </a:rPr>
              <a:t>FASE B</a:t>
            </a:r>
            <a:endParaRPr/>
          </a:p>
        </p:txBody>
      </p:sp>
      <p:sp>
        <p:nvSpPr>
          <p:cNvPr id="87" name="Google Shape;87;p13"/>
          <p:cNvSpPr txBox="1"/>
          <p:nvPr/>
        </p:nvSpPr>
        <p:spPr>
          <a:xfrm>
            <a:off x="1371600" y="3840480"/>
            <a:ext cx="15544800" cy="2586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Los cuatro errores</a:t>
            </a:r>
            <a:endParaRPr/>
          </a:p>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comunes de la fase</a:t>
            </a:r>
            <a:endParaRPr/>
          </a:p>
        </p:txBody>
      </p:sp>
      <p:sp>
        <p:nvSpPr>
          <p:cNvPr id="88" name="Google Shape;88;p13"/>
          <p:cNvSpPr txBox="1"/>
          <p:nvPr/>
        </p:nvSpPr>
        <p:spPr>
          <a:xfrm>
            <a:off x="1371600" y="6517900"/>
            <a:ext cx="15544800" cy="338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US" sz="2200" u="none" cap="none" strike="noStrike">
                <a:solidFill>
                  <a:srgbClr val="888888"/>
                </a:solidFill>
                <a:latin typeface="Inter"/>
                <a:ea typeface="Inter"/>
                <a:cs typeface="Inter"/>
                <a:sym typeface="Inter"/>
              </a:rPr>
              <a:t>Si los reconoces temprano, los corriges antes de que escalen.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4"/>
          <p:cNvSpPr/>
          <p:nvPr/>
        </p:nvSpPr>
        <p:spPr>
          <a:xfrm>
            <a:off x="0" y="0"/>
            <a:ext cx="18288000" cy="228600"/>
          </a:xfrm>
          <a:prstGeom prst="rect">
            <a:avLst/>
          </a:prstGeom>
          <a:solidFill>
            <a:srgbClr val="7C3A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 name="Google Shape;95;p14"/>
          <p:cNvSpPr txBox="1"/>
          <p:nvPr/>
        </p:nvSpPr>
        <p:spPr>
          <a:xfrm>
            <a:off x="1371600" y="952500"/>
            <a:ext cx="15544800" cy="8004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i="0" lang="en-US" sz="5200">
                <a:solidFill>
                  <a:srgbClr val="0A0915"/>
                </a:solidFill>
                <a:latin typeface="Inter"/>
                <a:ea typeface="Inter"/>
                <a:cs typeface="Inter"/>
                <a:sym typeface="Inter"/>
              </a:rPr>
              <a:t>Error 1: "Queremos digitalizar todo"</a:t>
            </a:r>
            <a:endParaRPr b="1" i="0" sz="5200">
              <a:solidFill>
                <a:srgbClr val="0A0915"/>
              </a:solidFill>
              <a:latin typeface="Inter"/>
              <a:ea typeface="Inter"/>
              <a:cs typeface="Inter"/>
              <a:sym typeface="Inter"/>
            </a:endParaRPr>
          </a:p>
        </p:txBody>
      </p:sp>
      <p:sp>
        <p:nvSpPr>
          <p:cNvPr id="96" name="Google Shape;96;p14"/>
          <p:cNvSpPr/>
          <p:nvPr/>
        </p:nvSpPr>
        <p:spPr>
          <a:xfrm>
            <a:off x="1809750" y="3048000"/>
            <a:ext cx="6667500" cy="4762500"/>
          </a:xfrm>
          <a:prstGeom prst="roundRect">
            <a:avLst>
              <a:gd fmla="val 8000" name="adj"/>
            </a:avLst>
          </a:prstGeom>
          <a:solidFill>
            <a:srgbClr val="FEF2F2"/>
          </a:solidFill>
          <a:ln cap="flat" cmpd="sng" w="19050">
            <a:solidFill>
              <a:srgbClr val="FEE2E2"/>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7" name="Google Shape;97;p14"/>
          <p:cNvSpPr txBox="1"/>
          <p:nvPr/>
        </p:nvSpPr>
        <p:spPr>
          <a:xfrm>
            <a:off x="2381250" y="3619500"/>
            <a:ext cx="762000" cy="7695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5000">
                <a:solidFill>
                  <a:srgbClr val="DC2626"/>
                </a:solidFill>
                <a:latin typeface="Inter"/>
                <a:ea typeface="Inter"/>
                <a:cs typeface="Inter"/>
                <a:sym typeface="Inter"/>
              </a:rPr>
              <a:t>✗</a:t>
            </a:r>
            <a:endParaRPr b="1" sz="5000">
              <a:solidFill>
                <a:srgbClr val="DC2626"/>
              </a:solidFill>
              <a:latin typeface="Inter"/>
              <a:ea typeface="Inter"/>
              <a:cs typeface="Inter"/>
              <a:sym typeface="Inter"/>
            </a:endParaRPr>
          </a:p>
        </p:txBody>
      </p:sp>
      <p:sp>
        <p:nvSpPr>
          <p:cNvPr id="98" name="Google Shape;98;p14"/>
          <p:cNvSpPr txBox="1"/>
          <p:nvPr/>
        </p:nvSpPr>
        <p:spPr>
          <a:xfrm>
            <a:off x="2381250" y="4572000"/>
            <a:ext cx="5524500" cy="523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3400">
                <a:solidFill>
                  <a:srgbClr val="0A0915"/>
                </a:solidFill>
                <a:latin typeface="Inter"/>
                <a:ea typeface="Inter"/>
                <a:cs typeface="Inter"/>
                <a:sym typeface="Inter"/>
              </a:rPr>
              <a:t>60 trámites al ciclo</a:t>
            </a:r>
            <a:endParaRPr b="1" sz="3400">
              <a:solidFill>
                <a:srgbClr val="0A0915"/>
              </a:solidFill>
              <a:latin typeface="Inter"/>
              <a:ea typeface="Inter"/>
              <a:cs typeface="Inter"/>
              <a:sym typeface="Inter"/>
            </a:endParaRPr>
          </a:p>
        </p:txBody>
      </p:sp>
      <p:sp>
        <p:nvSpPr>
          <p:cNvPr id="99" name="Google Shape;99;p14"/>
          <p:cNvSpPr txBox="1"/>
          <p:nvPr/>
        </p:nvSpPr>
        <p:spPr>
          <a:xfrm>
            <a:off x="2381250" y="5619750"/>
            <a:ext cx="5524500" cy="1067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2000">
                <a:solidFill>
                  <a:srgbClr val="4B5563"/>
                </a:solidFill>
                <a:latin typeface="Inter"/>
                <a:ea typeface="Inter"/>
                <a:cs typeface="Inter"/>
                <a:sym typeface="Inter"/>
              </a:rPr>
              <a:t>Suena positivo, pero es la primera señal de fracaso.</a:t>
            </a:r>
            <a:endParaRPr b="0" sz="2000">
              <a:solidFill>
                <a:srgbClr val="4B5563"/>
              </a:solidFill>
              <a:latin typeface="Inter"/>
              <a:ea typeface="Inter"/>
              <a:cs typeface="Inter"/>
              <a:sym typeface="Inter"/>
            </a:endParaRPr>
          </a:p>
          <a:p>
            <a:pPr indent="0" lvl="0" marL="0" rtl="0" algn="l">
              <a:spcBef>
                <a:spcPts val="1125"/>
              </a:spcBef>
              <a:spcAft>
                <a:spcPts val="0"/>
              </a:spcAft>
              <a:buNone/>
            </a:pPr>
            <a:r>
              <a:rPr b="1" lang="en-US" sz="2000">
                <a:solidFill>
                  <a:srgbClr val="DC2626"/>
                </a:solidFill>
                <a:latin typeface="Inter"/>
                <a:ea typeface="Inter"/>
                <a:cs typeface="Inter"/>
                <a:sym typeface="Inter"/>
              </a:rPr>
              <a:t>Ninguno sale bien.</a:t>
            </a:r>
            <a:endParaRPr b="1" sz="2000">
              <a:solidFill>
                <a:srgbClr val="DC2626"/>
              </a:solidFill>
              <a:latin typeface="Inter"/>
              <a:ea typeface="Inter"/>
              <a:cs typeface="Inter"/>
              <a:sym typeface="Inter"/>
            </a:endParaRPr>
          </a:p>
        </p:txBody>
      </p:sp>
      <p:sp>
        <p:nvSpPr>
          <p:cNvPr id="100" name="Google Shape;100;p14"/>
          <p:cNvSpPr/>
          <p:nvPr/>
        </p:nvSpPr>
        <p:spPr>
          <a:xfrm>
            <a:off x="9810750" y="3048000"/>
            <a:ext cx="6667500" cy="4762500"/>
          </a:xfrm>
          <a:prstGeom prst="roundRect">
            <a:avLst>
              <a:gd fmla="val 8000" name="adj"/>
            </a:avLst>
          </a:prstGeom>
          <a:solidFill>
            <a:srgbClr val="ECFDF5"/>
          </a:solidFill>
          <a:ln cap="flat" cmpd="sng" w="19050">
            <a:solidFill>
              <a:srgbClr val="A7F3D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1" name="Google Shape;101;p14"/>
          <p:cNvSpPr txBox="1"/>
          <p:nvPr/>
        </p:nvSpPr>
        <p:spPr>
          <a:xfrm>
            <a:off x="10382250" y="3619500"/>
            <a:ext cx="762000" cy="7695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5000">
                <a:solidFill>
                  <a:srgbClr val="10B981"/>
                </a:solidFill>
                <a:latin typeface="Inter"/>
                <a:ea typeface="Inter"/>
                <a:cs typeface="Inter"/>
                <a:sym typeface="Inter"/>
              </a:rPr>
              <a:t>✓</a:t>
            </a:r>
            <a:endParaRPr b="1" sz="5000">
              <a:solidFill>
                <a:srgbClr val="10B981"/>
              </a:solidFill>
              <a:latin typeface="Inter"/>
              <a:ea typeface="Inter"/>
              <a:cs typeface="Inter"/>
              <a:sym typeface="Inter"/>
            </a:endParaRPr>
          </a:p>
        </p:txBody>
      </p:sp>
      <p:sp>
        <p:nvSpPr>
          <p:cNvPr id="102" name="Google Shape;102;p14"/>
          <p:cNvSpPr txBox="1"/>
          <p:nvPr/>
        </p:nvSpPr>
        <p:spPr>
          <a:xfrm>
            <a:off x="10382250" y="4572000"/>
            <a:ext cx="5524500" cy="523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3400">
                <a:solidFill>
                  <a:srgbClr val="0A0915"/>
                </a:solidFill>
                <a:latin typeface="Inter"/>
                <a:ea typeface="Inter"/>
                <a:cs typeface="Inter"/>
                <a:sym typeface="Inter"/>
              </a:rPr>
              <a:t>5 trámites bien hechos</a:t>
            </a:r>
            <a:endParaRPr b="1" sz="3400">
              <a:solidFill>
                <a:srgbClr val="0A0915"/>
              </a:solidFill>
              <a:latin typeface="Inter"/>
              <a:ea typeface="Inter"/>
              <a:cs typeface="Inter"/>
              <a:sym typeface="Inter"/>
            </a:endParaRPr>
          </a:p>
        </p:txBody>
      </p:sp>
      <p:sp>
        <p:nvSpPr>
          <p:cNvPr id="103" name="Google Shape;103;p14"/>
          <p:cNvSpPr txBox="1"/>
          <p:nvPr/>
        </p:nvSpPr>
        <p:spPr>
          <a:xfrm>
            <a:off x="10382250" y="5619750"/>
            <a:ext cx="5524500" cy="1067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000">
                <a:solidFill>
                  <a:srgbClr val="10B981"/>
                </a:solidFill>
                <a:latin typeface="Inter"/>
                <a:ea typeface="Inter"/>
                <a:cs typeface="Inter"/>
                <a:sym typeface="Inter"/>
              </a:rPr>
              <a:t>Valen más que 20 a medias.</a:t>
            </a:r>
            <a:endParaRPr b="0" sz="2000">
              <a:solidFill>
                <a:srgbClr val="4B5563"/>
              </a:solidFill>
              <a:latin typeface="Inter"/>
              <a:ea typeface="Inter"/>
              <a:cs typeface="Inter"/>
              <a:sym typeface="Inter"/>
            </a:endParaRPr>
          </a:p>
          <a:p>
            <a:pPr indent="0" lvl="0" marL="0" rtl="0" algn="l">
              <a:spcBef>
                <a:spcPts val="1125"/>
              </a:spcBef>
              <a:spcAft>
                <a:spcPts val="0"/>
              </a:spcAft>
              <a:buNone/>
            </a:pPr>
            <a:r>
              <a:rPr b="0" lang="en-US" sz="2000">
                <a:solidFill>
                  <a:srgbClr val="4B5563"/>
                </a:solidFill>
                <a:latin typeface="Inter"/>
                <a:ea typeface="Inter"/>
                <a:cs typeface="Inter"/>
                <a:sym typeface="Inter"/>
              </a:rPr>
              <a:t>La conversación se da en discovery, con el dueño del proyecto en la sala.</a:t>
            </a:r>
            <a:endParaRPr b="0" sz="2000">
              <a:solidFill>
                <a:srgbClr val="4B5563"/>
              </a:solidFill>
              <a:latin typeface="Inter"/>
              <a:ea typeface="Inter"/>
              <a:cs typeface="Inter"/>
              <a:sym typeface="Inter"/>
            </a:endParaRPr>
          </a:p>
        </p:txBody>
      </p:sp>
      <p:sp>
        <p:nvSpPr>
          <p:cNvPr id="104" name="Google Shape;104;p14"/>
          <p:cNvSpPr txBox="1"/>
          <p:nvPr/>
        </p:nvSpPr>
        <p:spPr>
          <a:xfrm>
            <a:off x="1371600" y="9048750"/>
            <a:ext cx="155448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400">
                <a:solidFill>
                  <a:srgbClr val="9CA3AF"/>
                </a:solidFill>
                <a:latin typeface="Inter"/>
                <a:ea typeface="Inter"/>
                <a:cs typeface="Inter"/>
                <a:sym typeface="Inter"/>
              </a:rPr>
              <a:t>FASE B | ERRORES COMUNES</a:t>
            </a:r>
            <a:endParaRPr b="1" sz="1400">
              <a:solidFill>
                <a:srgbClr val="9CA3AF"/>
              </a:solidFill>
              <a:latin typeface="Inter"/>
              <a:ea typeface="Inter"/>
              <a:cs typeface="Inter"/>
              <a:sym typeface="Inte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p:nvPr/>
        </p:nvSpPr>
        <p:spPr>
          <a:xfrm>
            <a:off x="0" y="0"/>
            <a:ext cx="18288000" cy="228600"/>
          </a:xfrm>
          <a:prstGeom prst="rect">
            <a:avLst/>
          </a:prstGeom>
          <a:solidFill>
            <a:srgbClr val="7C3A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1" name="Google Shape;111;p15"/>
          <p:cNvSpPr txBox="1"/>
          <p:nvPr/>
        </p:nvSpPr>
        <p:spPr>
          <a:xfrm>
            <a:off x="1371600" y="762000"/>
            <a:ext cx="15544800" cy="277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1800">
                <a:solidFill>
                  <a:srgbClr val="7C3AED"/>
                </a:solidFill>
                <a:latin typeface="Inter"/>
                <a:ea typeface="Inter"/>
                <a:cs typeface="Inter"/>
                <a:sym typeface="Inter"/>
              </a:rPr>
              <a:t>ERROR 2</a:t>
            </a:r>
            <a:endParaRPr b="1" i="0" sz="1800">
              <a:solidFill>
                <a:srgbClr val="7C3AED"/>
              </a:solidFill>
              <a:latin typeface="Inter"/>
              <a:ea typeface="Inter"/>
              <a:cs typeface="Inter"/>
              <a:sym typeface="Inter"/>
            </a:endParaRPr>
          </a:p>
        </p:txBody>
      </p:sp>
      <p:sp>
        <p:nvSpPr>
          <p:cNvPr id="112" name="Google Shape;112;p15"/>
          <p:cNvSpPr txBox="1"/>
          <p:nvPr/>
        </p:nvSpPr>
        <p:spPr>
          <a:xfrm>
            <a:off x="1371600" y="1333500"/>
            <a:ext cx="15544800" cy="8004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5200">
                <a:solidFill>
                  <a:srgbClr val="0A0915"/>
                </a:solidFill>
                <a:latin typeface="Inter"/>
                <a:ea typeface="Inter"/>
                <a:cs typeface="Inter"/>
                <a:sym typeface="Inter"/>
              </a:rPr>
              <a:t>El técnico del gobierno no aparece</a:t>
            </a:r>
            <a:endParaRPr b="1" i="0" sz="5200">
              <a:solidFill>
                <a:srgbClr val="0A0915"/>
              </a:solidFill>
              <a:latin typeface="Inter"/>
              <a:ea typeface="Inter"/>
              <a:cs typeface="Inter"/>
              <a:sym typeface="Inter"/>
            </a:endParaRPr>
          </a:p>
        </p:txBody>
      </p:sp>
      <p:grpSp>
        <p:nvGrpSpPr>
          <p:cNvPr id="113" name="Google Shape;113;p15"/>
          <p:cNvGrpSpPr/>
          <p:nvPr/>
        </p:nvGrpSpPr>
        <p:grpSpPr>
          <a:xfrm>
            <a:off x="1371600" y="2857500"/>
            <a:ext cx="15544800" cy="2286000"/>
            <a:chOff x="1371600" y="2857500"/>
            <a:chExt cx="15544800" cy="2286000"/>
          </a:xfrm>
        </p:grpSpPr>
        <p:sp>
          <p:nvSpPr>
            <p:cNvPr id="114" name="Google Shape;114;p15"/>
            <p:cNvSpPr/>
            <p:nvPr/>
          </p:nvSpPr>
          <p:spPr>
            <a:xfrm>
              <a:off x="1371600" y="2857500"/>
              <a:ext cx="15544800" cy="2286000"/>
            </a:xfrm>
            <a:prstGeom prst="roundRect">
              <a:avLst>
                <a:gd fmla="val 10000" name="adj"/>
              </a:avLst>
            </a:prstGeom>
            <a:solidFill>
              <a:srgbClr val="FEE2E2"/>
            </a:solidFill>
            <a:ln cap="flat" cmpd="sng" w="19050">
              <a:solidFill>
                <a:srgbClr val="F87171"/>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5" name="Google Shape;115;p15"/>
            <p:cNvSpPr txBox="1"/>
            <p:nvPr/>
          </p:nvSpPr>
          <p:spPr>
            <a:xfrm>
              <a:off x="1752600" y="311810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DC2626"/>
                  </a:solidFill>
                  <a:latin typeface="Material Icons"/>
                  <a:ea typeface="Material Icons"/>
                  <a:cs typeface="Material Icons"/>
                  <a:sym typeface="Material Icons"/>
                </a:rPr>
                <a:t></a:t>
              </a:r>
              <a:endParaRPr sz="4800">
                <a:solidFill>
                  <a:srgbClr val="DC2626"/>
                </a:solidFill>
                <a:latin typeface="Material Icons"/>
                <a:ea typeface="Material Icons"/>
                <a:cs typeface="Material Icons"/>
                <a:sym typeface="Material Icons"/>
              </a:endParaRPr>
            </a:p>
          </p:txBody>
        </p:sp>
        <p:sp>
          <p:nvSpPr>
            <p:cNvPr id="116" name="Google Shape;116;p15"/>
            <p:cNvSpPr txBox="1"/>
            <p:nvPr/>
          </p:nvSpPr>
          <p:spPr>
            <a:xfrm>
              <a:off x="2705100" y="3048000"/>
              <a:ext cx="13830300" cy="1905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2400">
                  <a:solidFill>
                    <a:srgbClr val="0A0915"/>
                  </a:solidFill>
                  <a:latin typeface="Inter"/>
                  <a:ea typeface="Inter"/>
                  <a:cs typeface="Inter"/>
                  <a:sym typeface="Inter"/>
                </a:rPr>
                <a:t>Aparece en el organigrama, pero no entra a reuniones, no responde mensajes, no se asigna tareas.</a:t>
              </a:r>
              <a:endParaRPr b="0" sz="2400">
                <a:solidFill>
                  <a:srgbClr val="0A0915"/>
                </a:solidFill>
                <a:latin typeface="Inter"/>
                <a:ea typeface="Inter"/>
                <a:cs typeface="Inter"/>
                <a:sym typeface="Inter"/>
              </a:endParaRPr>
            </a:p>
          </p:txBody>
        </p:sp>
      </p:grpSp>
      <p:grpSp>
        <p:nvGrpSpPr>
          <p:cNvPr id="117" name="Google Shape;117;p15"/>
          <p:cNvGrpSpPr/>
          <p:nvPr/>
        </p:nvGrpSpPr>
        <p:grpSpPr>
          <a:xfrm>
            <a:off x="1371600" y="5524500"/>
            <a:ext cx="7620000" cy="2857500"/>
            <a:chOff x="1371600" y="5524500"/>
            <a:chExt cx="7620000" cy="2857500"/>
          </a:xfrm>
        </p:grpSpPr>
        <p:sp>
          <p:nvSpPr>
            <p:cNvPr id="118" name="Google Shape;118;p15"/>
            <p:cNvSpPr/>
            <p:nvPr/>
          </p:nvSpPr>
          <p:spPr>
            <a:xfrm>
              <a:off x="1371600" y="5524500"/>
              <a:ext cx="7620000" cy="2857500"/>
            </a:xfrm>
            <a:prstGeom prst="roundRect">
              <a:avLst>
                <a:gd fmla="val 8000" name="adj"/>
              </a:avLst>
            </a:prstGeom>
            <a:solidFill>
              <a:srgbClr val="F3F4F6"/>
            </a:solidFill>
            <a:ln cap="flat" cmpd="sng" w="19050">
              <a:solidFill>
                <a:srgbClr val="D1D5D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9" name="Google Shape;119;p15"/>
            <p:cNvSpPr txBox="1"/>
            <p:nvPr/>
          </p:nvSpPr>
          <p:spPr>
            <a:xfrm>
              <a:off x="1752600" y="5856986"/>
              <a:ext cx="571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3200">
                  <a:solidFill>
                    <a:srgbClr val="4B5563"/>
                  </a:solidFill>
                  <a:latin typeface="Material Icons"/>
                  <a:ea typeface="Material Icons"/>
                  <a:cs typeface="Material Icons"/>
                  <a:sym typeface="Material Icons"/>
                </a:rPr>
                <a:t></a:t>
              </a:r>
              <a:endParaRPr sz="3200">
                <a:solidFill>
                  <a:srgbClr val="4B5563"/>
                </a:solidFill>
                <a:latin typeface="Material Icons"/>
                <a:ea typeface="Material Icons"/>
                <a:cs typeface="Material Icons"/>
                <a:sym typeface="Material Icons"/>
              </a:endParaRPr>
            </a:p>
          </p:txBody>
        </p:sp>
        <p:sp>
          <p:nvSpPr>
            <p:cNvPr id="120" name="Google Shape;120;p15"/>
            <p:cNvSpPr txBox="1"/>
            <p:nvPr/>
          </p:nvSpPr>
          <p:spPr>
            <a:xfrm>
              <a:off x="1752600" y="6477000"/>
              <a:ext cx="6858000" cy="16191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000">
                  <a:solidFill>
                    <a:srgbClr val="0A0915"/>
                  </a:solidFill>
                  <a:latin typeface="Inter"/>
                  <a:ea typeface="Inter"/>
                  <a:cs typeface="Inter"/>
                  <a:sym typeface="Inter"/>
                </a:rPr>
                <a:t>Acción Inmediata</a:t>
              </a:r>
              <a:endParaRPr b="1" sz="2000">
                <a:solidFill>
                  <a:srgbClr val="0A0915"/>
                </a:solidFill>
                <a:latin typeface="Inter"/>
                <a:ea typeface="Inter"/>
                <a:cs typeface="Inter"/>
                <a:sym typeface="Inter"/>
              </a:endParaRPr>
            </a:p>
            <a:p>
              <a:pPr indent="0" lvl="0" marL="0" rtl="0" algn="l">
                <a:spcBef>
                  <a:spcPts val="750"/>
                </a:spcBef>
                <a:spcAft>
                  <a:spcPts val="0"/>
                </a:spcAft>
                <a:buNone/>
              </a:pPr>
              <a:r>
                <a:rPr b="0" lang="en-US" sz="2000">
                  <a:solidFill>
                    <a:srgbClr val="374151"/>
                  </a:solidFill>
                  <a:latin typeface="Inter"/>
                  <a:ea typeface="Inter"/>
                  <a:cs typeface="Inter"/>
                  <a:sym typeface="Inter"/>
                </a:rPr>
                <a:t>Se escala al coordinador en la </a:t>
              </a:r>
              <a:r>
                <a:rPr b="1" lang="en-US" sz="2000">
                  <a:solidFill>
                    <a:srgbClr val="374151"/>
                  </a:solidFill>
                  <a:latin typeface="Inter"/>
                  <a:ea typeface="Inter"/>
                  <a:cs typeface="Inter"/>
                  <a:sym typeface="Inter"/>
                </a:rPr>
                <a:t>misma semana</a:t>
              </a:r>
              <a:r>
                <a:rPr b="0" lang="en-US" sz="2000">
                  <a:solidFill>
                    <a:srgbClr val="374151"/>
                  </a:solidFill>
                  <a:latin typeface="Inter"/>
                  <a:ea typeface="Inter"/>
                  <a:cs typeface="Inter"/>
                  <a:sym typeface="Inter"/>
                </a:rPr>
                <a:t>, no en la siguiente.</a:t>
              </a:r>
              <a:endParaRPr b="0" sz="2000">
                <a:solidFill>
                  <a:srgbClr val="374151"/>
                </a:solidFill>
                <a:latin typeface="Inter"/>
                <a:ea typeface="Inter"/>
                <a:cs typeface="Inter"/>
                <a:sym typeface="Inter"/>
              </a:endParaRPr>
            </a:p>
          </p:txBody>
        </p:sp>
      </p:grpSp>
      <p:grpSp>
        <p:nvGrpSpPr>
          <p:cNvPr id="121" name="Google Shape;121;p15"/>
          <p:cNvGrpSpPr/>
          <p:nvPr/>
        </p:nvGrpSpPr>
        <p:grpSpPr>
          <a:xfrm>
            <a:off x="9296400" y="5524500"/>
            <a:ext cx="7620000" cy="2857500"/>
            <a:chOff x="9296400" y="5524500"/>
            <a:chExt cx="7620000" cy="2857500"/>
          </a:xfrm>
        </p:grpSpPr>
        <p:sp>
          <p:nvSpPr>
            <p:cNvPr id="122" name="Google Shape;122;p15"/>
            <p:cNvSpPr/>
            <p:nvPr/>
          </p:nvSpPr>
          <p:spPr>
            <a:xfrm>
              <a:off x="9296400" y="5524500"/>
              <a:ext cx="7620000" cy="2857500"/>
            </a:xfrm>
            <a:prstGeom prst="roundRect">
              <a:avLst>
                <a:gd fmla="val 8000" name="adj"/>
              </a:avLst>
            </a:prstGeom>
            <a:solidFill>
              <a:srgbClr val="FEF2F2"/>
            </a:solidFill>
            <a:ln cap="flat" cmpd="sng" w="19050">
              <a:solidFill>
                <a:srgbClr val="EF4444"/>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3" name="Google Shape;123;p15"/>
            <p:cNvSpPr txBox="1"/>
            <p:nvPr/>
          </p:nvSpPr>
          <p:spPr>
            <a:xfrm>
              <a:off x="9677400" y="5856986"/>
              <a:ext cx="571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3200">
                  <a:solidFill>
                    <a:srgbClr val="EF4444"/>
                  </a:solidFill>
                  <a:latin typeface="Material Icons"/>
                  <a:ea typeface="Material Icons"/>
                  <a:cs typeface="Material Icons"/>
                  <a:sym typeface="Material Icons"/>
                </a:rPr>
                <a:t></a:t>
              </a:r>
              <a:endParaRPr sz="3200">
                <a:solidFill>
                  <a:srgbClr val="EF4444"/>
                </a:solidFill>
                <a:latin typeface="Material Icons"/>
                <a:ea typeface="Material Icons"/>
                <a:cs typeface="Material Icons"/>
                <a:sym typeface="Material Icons"/>
              </a:endParaRPr>
            </a:p>
          </p:txBody>
        </p:sp>
        <p:sp>
          <p:nvSpPr>
            <p:cNvPr id="124" name="Google Shape;124;p15"/>
            <p:cNvSpPr txBox="1"/>
            <p:nvPr/>
          </p:nvSpPr>
          <p:spPr>
            <a:xfrm>
              <a:off x="9677400" y="6477000"/>
              <a:ext cx="6858000" cy="16191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000">
                  <a:solidFill>
                    <a:srgbClr val="991B1B"/>
                  </a:solidFill>
                  <a:latin typeface="Inter"/>
                  <a:ea typeface="Inter"/>
                  <a:cs typeface="Inter"/>
                  <a:sym typeface="Inter"/>
                </a:rPr>
                <a:t>Riesgo Crítico</a:t>
              </a:r>
              <a:endParaRPr b="1" sz="2000">
                <a:solidFill>
                  <a:srgbClr val="991B1B"/>
                </a:solidFill>
                <a:latin typeface="Inter"/>
                <a:ea typeface="Inter"/>
                <a:cs typeface="Inter"/>
                <a:sym typeface="Inter"/>
              </a:endParaRPr>
            </a:p>
            <a:p>
              <a:pPr indent="0" lvl="0" marL="0" rtl="0" algn="l">
                <a:spcBef>
                  <a:spcPts val="750"/>
                </a:spcBef>
                <a:spcAft>
                  <a:spcPts val="0"/>
                </a:spcAft>
                <a:buNone/>
              </a:pPr>
              <a:r>
                <a:rPr b="0" lang="en-US" sz="2000">
                  <a:solidFill>
                    <a:srgbClr val="374151"/>
                  </a:solidFill>
                  <a:latin typeface="Inter"/>
                  <a:ea typeface="Inter"/>
                  <a:cs typeface="Inter"/>
                  <a:sym typeface="Inter"/>
                </a:rPr>
                <a:t>Si en la </a:t>
              </a:r>
              <a:r>
                <a:rPr b="1" lang="en-US" sz="2000">
                  <a:solidFill>
                    <a:srgbClr val="374151"/>
                  </a:solidFill>
                  <a:latin typeface="Inter"/>
                  <a:ea typeface="Inter"/>
                  <a:cs typeface="Inter"/>
                  <a:sym typeface="Inter"/>
                </a:rPr>
                <a:t>semana 5</a:t>
              </a:r>
              <a:r>
                <a:rPr b="0" lang="en-US" sz="2000">
                  <a:solidFill>
                    <a:srgbClr val="374151"/>
                  </a:solidFill>
                  <a:latin typeface="Inter"/>
                  <a:ea typeface="Inter"/>
                  <a:cs typeface="Inter"/>
                  <a:sym typeface="Inter"/>
                </a:rPr>
                <a:t> sigue ausente, es indicador casi seguro de </a:t>
              </a:r>
              <a:r>
                <a:rPr b="1" lang="en-US" sz="2000">
                  <a:solidFill>
                    <a:srgbClr val="DC2626"/>
                  </a:solidFill>
                  <a:latin typeface="Inter"/>
                  <a:ea typeface="Inter"/>
                  <a:cs typeface="Inter"/>
                  <a:sym typeface="Inter"/>
                </a:rPr>
                <a:t>atraso en Fase C</a:t>
              </a:r>
              <a:r>
                <a:rPr b="0" lang="en-US" sz="2000">
                  <a:solidFill>
                    <a:srgbClr val="374151"/>
                  </a:solidFill>
                  <a:latin typeface="Inter"/>
                  <a:ea typeface="Inter"/>
                  <a:cs typeface="Inter"/>
                  <a:sym typeface="Inter"/>
                </a:rPr>
                <a:t>.</a:t>
              </a:r>
              <a:endParaRPr b="0" sz="2000">
                <a:solidFill>
                  <a:srgbClr val="374151"/>
                </a:solidFill>
                <a:latin typeface="Inter"/>
                <a:ea typeface="Inter"/>
                <a:cs typeface="Inter"/>
                <a:sym typeface="Inter"/>
              </a:endParaRPr>
            </a:p>
          </p:txBody>
        </p:sp>
      </p:grpSp>
      <p:sp>
        <p:nvSpPr>
          <p:cNvPr id="125" name="Google Shape;125;p15"/>
          <p:cNvSpPr txBox="1"/>
          <p:nvPr/>
        </p:nvSpPr>
        <p:spPr>
          <a:xfrm>
            <a:off x="1371600" y="9048750"/>
            <a:ext cx="15544800" cy="381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400">
                <a:solidFill>
                  <a:srgbClr val="9CA3AF"/>
                </a:solidFill>
                <a:latin typeface="Inter"/>
                <a:ea typeface="Inter"/>
                <a:cs typeface="Inter"/>
                <a:sym typeface="Inter"/>
              </a:rPr>
              <a:t>FASE B | ERRORES COMUNES</a:t>
            </a:r>
            <a:endParaRPr b="1" i="0" sz="1400">
              <a:solidFill>
                <a:srgbClr val="9CA3AF"/>
              </a:solidFill>
              <a:latin typeface="Inter"/>
              <a:ea typeface="Inter"/>
              <a:cs typeface="Inter"/>
              <a:sym typeface="Inte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16"/>
          <p:cNvSpPr/>
          <p:nvPr/>
        </p:nvSpPr>
        <p:spPr>
          <a:xfrm>
            <a:off x="0" y="0"/>
            <a:ext cx="18288000" cy="228600"/>
          </a:xfrm>
          <a:prstGeom prst="rect">
            <a:avLst/>
          </a:prstGeom>
          <a:solidFill>
            <a:srgbClr val="7C3A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2" name="Google Shape;132;p16"/>
          <p:cNvSpPr txBox="1"/>
          <p:nvPr/>
        </p:nvSpPr>
        <p:spPr>
          <a:xfrm>
            <a:off x="1371600" y="762000"/>
            <a:ext cx="15544800" cy="2772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800">
                <a:solidFill>
                  <a:srgbClr val="7C3AED"/>
                </a:solidFill>
                <a:latin typeface="Inter"/>
                <a:ea typeface="Inter"/>
                <a:cs typeface="Inter"/>
                <a:sym typeface="Inter"/>
              </a:rPr>
              <a:t>ERROR 3</a:t>
            </a:r>
            <a:endParaRPr b="1" i="0" sz="1800">
              <a:solidFill>
                <a:srgbClr val="7C3AED"/>
              </a:solidFill>
              <a:latin typeface="Inter"/>
              <a:ea typeface="Inter"/>
              <a:cs typeface="Inter"/>
              <a:sym typeface="Inter"/>
            </a:endParaRPr>
          </a:p>
        </p:txBody>
      </p:sp>
      <p:sp>
        <p:nvSpPr>
          <p:cNvPr id="133" name="Google Shape;133;p16"/>
          <p:cNvSpPr txBox="1"/>
          <p:nvPr/>
        </p:nvSpPr>
        <p:spPr>
          <a:xfrm>
            <a:off x="1371600" y="1333500"/>
            <a:ext cx="15544800" cy="8004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5200">
                <a:solidFill>
                  <a:srgbClr val="0A0915"/>
                </a:solidFill>
                <a:latin typeface="Inter"/>
                <a:ea typeface="Inter"/>
                <a:cs typeface="Inter"/>
                <a:sym typeface="Inter"/>
              </a:rPr>
              <a:t>Capacitación sin práctica</a:t>
            </a:r>
            <a:endParaRPr b="1" i="0" sz="5200">
              <a:solidFill>
                <a:srgbClr val="0A0915"/>
              </a:solidFill>
              <a:latin typeface="Inter"/>
              <a:ea typeface="Inter"/>
              <a:cs typeface="Inter"/>
              <a:sym typeface="Inter"/>
            </a:endParaRPr>
          </a:p>
        </p:txBody>
      </p:sp>
      <p:grpSp>
        <p:nvGrpSpPr>
          <p:cNvPr id="134" name="Google Shape;134;p16"/>
          <p:cNvGrpSpPr/>
          <p:nvPr/>
        </p:nvGrpSpPr>
        <p:grpSpPr>
          <a:xfrm>
            <a:off x="1371600" y="2857500"/>
            <a:ext cx="15544800" cy="2286000"/>
            <a:chOff x="1371600" y="2857500"/>
            <a:chExt cx="15544800" cy="2286000"/>
          </a:xfrm>
        </p:grpSpPr>
        <p:sp>
          <p:nvSpPr>
            <p:cNvPr id="135" name="Google Shape;135;p16"/>
            <p:cNvSpPr/>
            <p:nvPr/>
          </p:nvSpPr>
          <p:spPr>
            <a:xfrm>
              <a:off x="1371600" y="2857500"/>
              <a:ext cx="15544800" cy="2286000"/>
            </a:xfrm>
            <a:prstGeom prst="roundRect">
              <a:avLst>
                <a:gd fmla="val 10000" name="adj"/>
              </a:avLst>
            </a:prstGeom>
            <a:solidFill>
              <a:srgbClr val="FEE2E2"/>
            </a:solidFill>
            <a:ln cap="flat" cmpd="sng" w="19050">
              <a:solidFill>
                <a:srgbClr val="F87171"/>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6" name="Google Shape;136;p16"/>
            <p:cNvSpPr txBox="1"/>
            <p:nvPr/>
          </p:nvSpPr>
          <p:spPr>
            <a:xfrm>
              <a:off x="1752600" y="3184779"/>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DC2626"/>
                  </a:solidFill>
                  <a:latin typeface="Material Icons"/>
                  <a:ea typeface="Material Icons"/>
                  <a:cs typeface="Material Icons"/>
                  <a:sym typeface="Material Icons"/>
                </a:rPr>
                <a:t></a:t>
              </a:r>
              <a:endParaRPr sz="4800">
                <a:solidFill>
                  <a:srgbClr val="DC2626"/>
                </a:solidFill>
                <a:latin typeface="Material Icons"/>
                <a:ea typeface="Material Icons"/>
                <a:cs typeface="Material Icons"/>
                <a:sym typeface="Material Icons"/>
              </a:endParaRPr>
            </a:p>
          </p:txBody>
        </p:sp>
        <p:sp>
          <p:nvSpPr>
            <p:cNvPr id="137" name="Google Shape;137;p16"/>
            <p:cNvSpPr txBox="1"/>
            <p:nvPr/>
          </p:nvSpPr>
          <p:spPr>
            <a:xfrm>
              <a:off x="2705100" y="3048000"/>
              <a:ext cx="13830300" cy="1905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2400">
                  <a:solidFill>
                    <a:srgbClr val="0A0915"/>
                  </a:solidFill>
                  <a:latin typeface="Inter"/>
                  <a:ea typeface="Inter"/>
                  <a:cs typeface="Inter"/>
                  <a:sym typeface="Inter"/>
                </a:rPr>
                <a:t>Una capacitación funcional donde el especialista funcional no toca la plataforma es una capacitación perdida.</a:t>
              </a:r>
              <a:endParaRPr b="0" sz="2400">
                <a:solidFill>
                  <a:srgbClr val="0A0915"/>
                </a:solidFill>
                <a:latin typeface="Inter"/>
                <a:ea typeface="Inter"/>
                <a:cs typeface="Inter"/>
                <a:sym typeface="Inter"/>
              </a:endParaRPr>
            </a:p>
          </p:txBody>
        </p:sp>
      </p:grpSp>
      <p:grpSp>
        <p:nvGrpSpPr>
          <p:cNvPr id="138" name="Google Shape;138;p16"/>
          <p:cNvGrpSpPr/>
          <p:nvPr/>
        </p:nvGrpSpPr>
        <p:grpSpPr>
          <a:xfrm>
            <a:off x="1371600" y="5524500"/>
            <a:ext cx="7620000" cy="2857500"/>
            <a:chOff x="1371600" y="5524500"/>
            <a:chExt cx="7620000" cy="2857500"/>
          </a:xfrm>
        </p:grpSpPr>
        <p:sp>
          <p:nvSpPr>
            <p:cNvPr id="139" name="Google Shape;139;p16"/>
            <p:cNvSpPr/>
            <p:nvPr/>
          </p:nvSpPr>
          <p:spPr>
            <a:xfrm>
              <a:off x="1371600" y="5524500"/>
              <a:ext cx="7620000" cy="2857500"/>
            </a:xfrm>
            <a:prstGeom prst="roundRect">
              <a:avLst>
                <a:gd fmla="val 8000" name="adj"/>
              </a:avLst>
            </a:prstGeom>
            <a:solidFill>
              <a:srgbClr val="ECFDF5"/>
            </a:solidFill>
            <a:ln cap="flat" cmpd="sng" w="19050">
              <a:solidFill>
                <a:srgbClr val="A7F3D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0" name="Google Shape;140;p16"/>
            <p:cNvSpPr txBox="1"/>
            <p:nvPr/>
          </p:nvSpPr>
          <p:spPr>
            <a:xfrm>
              <a:off x="1752600" y="5904611"/>
              <a:ext cx="571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3200">
                  <a:solidFill>
                    <a:srgbClr val="10B981"/>
                  </a:solidFill>
                  <a:latin typeface="Material Icons"/>
                  <a:ea typeface="Material Icons"/>
                  <a:cs typeface="Material Icons"/>
                  <a:sym typeface="Material Icons"/>
                </a:rPr>
                <a:t></a:t>
              </a:r>
              <a:endParaRPr sz="3200">
                <a:solidFill>
                  <a:srgbClr val="10B981"/>
                </a:solidFill>
                <a:latin typeface="Material Icons"/>
                <a:ea typeface="Material Icons"/>
                <a:cs typeface="Material Icons"/>
                <a:sym typeface="Material Icons"/>
              </a:endParaRPr>
            </a:p>
          </p:txBody>
        </p:sp>
        <p:sp>
          <p:nvSpPr>
            <p:cNvPr id="141" name="Google Shape;141;p16"/>
            <p:cNvSpPr txBox="1"/>
            <p:nvPr/>
          </p:nvSpPr>
          <p:spPr>
            <a:xfrm>
              <a:off x="1752600" y="6477000"/>
              <a:ext cx="6858000" cy="16191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000">
                  <a:solidFill>
                    <a:srgbClr val="0A0915"/>
                  </a:solidFill>
                  <a:latin typeface="Inter"/>
                  <a:ea typeface="Inter"/>
                  <a:cs typeface="Inter"/>
                  <a:sym typeface="Inter"/>
                </a:rPr>
                <a:t>Regla de Oro</a:t>
              </a:r>
              <a:endParaRPr b="1" sz="2000">
                <a:solidFill>
                  <a:srgbClr val="0A0915"/>
                </a:solidFill>
                <a:latin typeface="Inter"/>
                <a:ea typeface="Inter"/>
                <a:cs typeface="Inter"/>
                <a:sym typeface="Inter"/>
              </a:endParaRPr>
            </a:p>
            <a:p>
              <a:pPr indent="0" lvl="0" marL="0" rtl="0" algn="l">
                <a:spcBef>
                  <a:spcPts val="750"/>
                </a:spcBef>
                <a:spcAft>
                  <a:spcPts val="0"/>
                </a:spcAft>
                <a:buNone/>
              </a:pPr>
              <a:r>
                <a:rPr b="0" lang="en-US" sz="2000">
                  <a:solidFill>
                    <a:srgbClr val="374151"/>
                  </a:solidFill>
                  <a:latin typeface="Inter"/>
                  <a:ea typeface="Inter"/>
                  <a:cs typeface="Inter"/>
                  <a:sym typeface="Inter"/>
                </a:rPr>
                <a:t>Las diapositivas sirven para contexto, </a:t>
              </a:r>
              <a:r>
                <a:rPr b="1" lang="en-US" sz="2000">
                  <a:solidFill>
                    <a:srgbClr val="10B981"/>
                  </a:solidFill>
                  <a:latin typeface="Inter"/>
                  <a:ea typeface="Inter"/>
                  <a:cs typeface="Inter"/>
                  <a:sym typeface="Inter"/>
                </a:rPr>
                <a:t>máximo 20 minutos.</a:t>
              </a:r>
              <a:endParaRPr b="0" sz="2000">
                <a:solidFill>
                  <a:srgbClr val="374151"/>
                </a:solidFill>
                <a:latin typeface="Inter"/>
                <a:ea typeface="Inter"/>
                <a:cs typeface="Inter"/>
                <a:sym typeface="Inter"/>
              </a:endParaRPr>
            </a:p>
          </p:txBody>
        </p:sp>
      </p:grpSp>
      <p:grpSp>
        <p:nvGrpSpPr>
          <p:cNvPr id="142" name="Google Shape;142;p16"/>
          <p:cNvGrpSpPr/>
          <p:nvPr/>
        </p:nvGrpSpPr>
        <p:grpSpPr>
          <a:xfrm>
            <a:off x="9296400" y="5524500"/>
            <a:ext cx="7620000" cy="2857500"/>
            <a:chOff x="9296400" y="5524500"/>
            <a:chExt cx="7620000" cy="2857500"/>
          </a:xfrm>
        </p:grpSpPr>
        <p:sp>
          <p:nvSpPr>
            <p:cNvPr id="143" name="Google Shape;143;p16"/>
            <p:cNvSpPr/>
            <p:nvPr/>
          </p:nvSpPr>
          <p:spPr>
            <a:xfrm>
              <a:off x="9296400" y="5524500"/>
              <a:ext cx="7620000" cy="2857500"/>
            </a:xfrm>
            <a:prstGeom prst="roundRect">
              <a:avLst>
                <a:gd fmla="val 8000" name="adj"/>
              </a:avLst>
            </a:prstGeom>
            <a:solidFill>
              <a:srgbClr val="F3F4F6"/>
            </a:solidFill>
            <a:ln cap="flat" cmpd="sng" w="19050">
              <a:solidFill>
                <a:srgbClr val="D1D5D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4" name="Google Shape;144;p16"/>
            <p:cNvSpPr txBox="1"/>
            <p:nvPr/>
          </p:nvSpPr>
          <p:spPr>
            <a:xfrm>
              <a:off x="9677400" y="5904611"/>
              <a:ext cx="571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3200">
                  <a:solidFill>
                    <a:srgbClr val="4B5563"/>
                  </a:solidFill>
                  <a:latin typeface="Material Icons"/>
                  <a:ea typeface="Material Icons"/>
                  <a:cs typeface="Material Icons"/>
                  <a:sym typeface="Material Icons"/>
                </a:rPr>
                <a:t></a:t>
              </a:r>
              <a:endParaRPr sz="3200">
                <a:solidFill>
                  <a:srgbClr val="4B5563"/>
                </a:solidFill>
                <a:latin typeface="Material Icons"/>
                <a:ea typeface="Material Icons"/>
                <a:cs typeface="Material Icons"/>
                <a:sym typeface="Material Icons"/>
              </a:endParaRPr>
            </a:p>
          </p:txBody>
        </p:sp>
        <p:sp>
          <p:nvSpPr>
            <p:cNvPr id="145" name="Google Shape;145;p16"/>
            <p:cNvSpPr txBox="1"/>
            <p:nvPr/>
          </p:nvSpPr>
          <p:spPr>
            <a:xfrm>
              <a:off x="9677400" y="6477000"/>
              <a:ext cx="6858000" cy="16191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000">
                  <a:solidFill>
                    <a:srgbClr val="0A0915"/>
                  </a:solidFill>
                  <a:latin typeface="Inter"/>
                  <a:ea typeface="Inter"/>
                  <a:cs typeface="Inter"/>
                  <a:sym typeface="Inter"/>
                </a:rPr>
                <a:t>Corte Reactivo</a:t>
              </a:r>
              <a:endParaRPr b="1" sz="2000">
                <a:solidFill>
                  <a:srgbClr val="0A0915"/>
                </a:solidFill>
                <a:latin typeface="Inter"/>
                <a:ea typeface="Inter"/>
                <a:cs typeface="Inter"/>
                <a:sym typeface="Inter"/>
              </a:endParaRPr>
            </a:p>
            <a:p>
              <a:pPr indent="0" lvl="0" marL="0" rtl="0" algn="l">
                <a:spcBef>
                  <a:spcPts val="750"/>
                </a:spcBef>
                <a:spcAft>
                  <a:spcPts val="0"/>
                </a:spcAft>
                <a:buNone/>
              </a:pPr>
              <a:r>
                <a:rPr b="0" lang="en-US" sz="2000">
                  <a:solidFill>
                    <a:srgbClr val="374151"/>
                  </a:solidFill>
                  <a:latin typeface="Inter"/>
                  <a:ea typeface="Inter"/>
                  <a:cs typeface="Inter"/>
                  <a:sym typeface="Inter"/>
                </a:rPr>
                <a:t>Si te encuentras presentando dos horas seguidas, </a:t>
              </a:r>
              <a:r>
                <a:rPr b="1" lang="en-US" sz="2000">
                  <a:solidFill>
                    <a:srgbClr val="7C3AED"/>
                  </a:solidFill>
                  <a:latin typeface="Inter"/>
                  <a:ea typeface="Inter"/>
                  <a:cs typeface="Inter"/>
                  <a:sym typeface="Inter"/>
                </a:rPr>
                <a:t>corta y abre la instancia.</a:t>
              </a:r>
              <a:endParaRPr b="0" sz="2000">
                <a:solidFill>
                  <a:srgbClr val="374151"/>
                </a:solidFill>
                <a:latin typeface="Inter"/>
                <a:ea typeface="Inter"/>
                <a:cs typeface="Inter"/>
                <a:sym typeface="Inter"/>
              </a:endParaRPr>
            </a:p>
          </p:txBody>
        </p:sp>
      </p:grpSp>
      <p:sp>
        <p:nvSpPr>
          <p:cNvPr id="146" name="Google Shape;146;p16"/>
          <p:cNvSpPr txBox="1"/>
          <p:nvPr/>
        </p:nvSpPr>
        <p:spPr>
          <a:xfrm>
            <a:off x="1371600" y="9048750"/>
            <a:ext cx="15544800" cy="381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400">
                <a:solidFill>
                  <a:srgbClr val="9CA3AF"/>
                </a:solidFill>
                <a:latin typeface="Inter"/>
                <a:ea typeface="Inter"/>
                <a:cs typeface="Inter"/>
                <a:sym typeface="Inter"/>
              </a:rPr>
              <a:t>FASE B | ERRORES COMUNES</a:t>
            </a:r>
            <a:endParaRPr b="1" i="0" sz="1400">
              <a:solidFill>
                <a:srgbClr val="9CA3AF"/>
              </a:solidFill>
              <a:latin typeface="Inter"/>
              <a:ea typeface="Inter"/>
              <a:cs typeface="Inter"/>
              <a:sym typeface="Inte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7"/>
          <p:cNvSpPr/>
          <p:nvPr/>
        </p:nvSpPr>
        <p:spPr>
          <a:xfrm>
            <a:off x="0" y="0"/>
            <a:ext cx="18288000" cy="228600"/>
          </a:xfrm>
          <a:prstGeom prst="rect">
            <a:avLst/>
          </a:prstGeom>
          <a:solidFill>
            <a:srgbClr val="7C3A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3" name="Google Shape;153;p17"/>
          <p:cNvSpPr txBox="1"/>
          <p:nvPr/>
        </p:nvSpPr>
        <p:spPr>
          <a:xfrm>
            <a:off x="1371600" y="762000"/>
            <a:ext cx="15544800" cy="2772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7C3AED"/>
                </a:solidFill>
                <a:latin typeface="Inter"/>
                <a:ea typeface="Inter"/>
                <a:cs typeface="Inter"/>
                <a:sym typeface="Inter"/>
              </a:rPr>
              <a:t>ERROR 4</a:t>
            </a:r>
            <a:endParaRPr b="1" sz="1800">
              <a:solidFill>
                <a:srgbClr val="7C3AED"/>
              </a:solidFill>
              <a:latin typeface="Inter"/>
              <a:ea typeface="Inter"/>
              <a:cs typeface="Inter"/>
              <a:sym typeface="Inter"/>
            </a:endParaRPr>
          </a:p>
        </p:txBody>
      </p:sp>
      <p:sp>
        <p:nvSpPr>
          <p:cNvPr id="154" name="Google Shape;154;p17"/>
          <p:cNvSpPr txBox="1"/>
          <p:nvPr/>
        </p:nvSpPr>
        <p:spPr>
          <a:xfrm>
            <a:off x="1371600" y="1333500"/>
            <a:ext cx="15544800" cy="800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US" sz="5200">
                <a:solidFill>
                  <a:srgbClr val="0A0915"/>
                </a:solidFill>
                <a:latin typeface="Inter"/>
                <a:ea typeface="Inter"/>
                <a:cs typeface="Inter"/>
                <a:sym typeface="Inter"/>
              </a:rPr>
              <a:t>Diccionarios de datos incompletos</a:t>
            </a:r>
            <a:endParaRPr b="1" sz="5200">
              <a:solidFill>
                <a:srgbClr val="0A0915"/>
              </a:solidFill>
              <a:latin typeface="Inter"/>
              <a:ea typeface="Inter"/>
              <a:cs typeface="Inter"/>
              <a:sym typeface="Inter"/>
            </a:endParaRPr>
          </a:p>
        </p:txBody>
      </p:sp>
      <p:grpSp>
        <p:nvGrpSpPr>
          <p:cNvPr id="155" name="Google Shape;155;p17"/>
          <p:cNvGrpSpPr/>
          <p:nvPr/>
        </p:nvGrpSpPr>
        <p:grpSpPr>
          <a:xfrm>
            <a:off x="1371600" y="2667000"/>
            <a:ext cx="15544800" cy="1905000"/>
            <a:chOff x="1371600" y="2667000"/>
            <a:chExt cx="15544800" cy="1905000"/>
          </a:xfrm>
        </p:grpSpPr>
        <p:sp>
          <p:nvSpPr>
            <p:cNvPr id="156" name="Google Shape;156;p17"/>
            <p:cNvSpPr/>
            <p:nvPr/>
          </p:nvSpPr>
          <p:spPr>
            <a:xfrm>
              <a:off x="1371600" y="2667000"/>
              <a:ext cx="15544800" cy="1905000"/>
            </a:xfrm>
            <a:prstGeom prst="roundRect">
              <a:avLst>
                <a:gd fmla="val 12000" name="adj"/>
              </a:avLst>
            </a:prstGeom>
            <a:solidFill>
              <a:srgbClr val="FEF2F2"/>
            </a:solidFill>
            <a:ln cap="flat" cmpd="sng" w="19050">
              <a:solidFill>
                <a:srgbClr val="F87171"/>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7" name="Google Shape;157;p17"/>
            <p:cNvSpPr txBox="1"/>
            <p:nvPr/>
          </p:nvSpPr>
          <p:spPr>
            <a:xfrm>
              <a:off x="1752600" y="3022854"/>
              <a:ext cx="762000" cy="762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DC2626"/>
                  </a:solidFill>
                  <a:latin typeface="Material Icons"/>
                  <a:ea typeface="Material Icons"/>
                  <a:cs typeface="Material Icons"/>
                  <a:sym typeface="Material Icons"/>
                </a:rPr>
                <a:t></a:t>
              </a:r>
              <a:endParaRPr sz="4800">
                <a:solidFill>
                  <a:srgbClr val="DC2626"/>
                </a:solidFill>
                <a:latin typeface="Material Icons"/>
                <a:ea typeface="Material Icons"/>
                <a:cs typeface="Material Icons"/>
                <a:sym typeface="Material Icons"/>
              </a:endParaRPr>
            </a:p>
          </p:txBody>
        </p:sp>
        <p:sp>
          <p:nvSpPr>
            <p:cNvPr id="158" name="Google Shape;158;p17"/>
            <p:cNvSpPr txBox="1"/>
            <p:nvPr/>
          </p:nvSpPr>
          <p:spPr>
            <a:xfrm>
              <a:off x="2705100" y="2952750"/>
              <a:ext cx="13830300" cy="1333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2400">
                  <a:solidFill>
                    <a:srgbClr val="0A0915"/>
                  </a:solidFill>
                  <a:latin typeface="Inter"/>
                  <a:ea typeface="Inter"/>
                  <a:cs typeface="Inter"/>
                  <a:sym typeface="Inter"/>
                </a:rPr>
                <a:t>Pasa porque el partner intenta llenarlos solo. No es tu rol.</a:t>
              </a:r>
              <a:endParaRPr b="0" sz="2400">
                <a:solidFill>
                  <a:srgbClr val="0A0915"/>
                </a:solidFill>
                <a:latin typeface="Inter"/>
                <a:ea typeface="Inter"/>
                <a:cs typeface="Inter"/>
                <a:sym typeface="Inter"/>
              </a:endParaRPr>
            </a:p>
          </p:txBody>
        </p:sp>
      </p:grpSp>
      <p:grpSp>
        <p:nvGrpSpPr>
          <p:cNvPr id="159" name="Google Shape;159;p17"/>
          <p:cNvGrpSpPr/>
          <p:nvPr/>
        </p:nvGrpSpPr>
        <p:grpSpPr>
          <a:xfrm>
            <a:off x="1371600" y="4953000"/>
            <a:ext cx="7620000" cy="3238500"/>
            <a:chOff x="1371600" y="4953000"/>
            <a:chExt cx="7620000" cy="3238500"/>
          </a:xfrm>
        </p:grpSpPr>
        <p:sp>
          <p:nvSpPr>
            <p:cNvPr id="160" name="Google Shape;160;p17"/>
            <p:cNvSpPr/>
            <p:nvPr/>
          </p:nvSpPr>
          <p:spPr>
            <a:xfrm>
              <a:off x="1371600" y="4953000"/>
              <a:ext cx="7620000" cy="3238500"/>
            </a:xfrm>
            <a:prstGeom prst="roundRect">
              <a:avLst>
                <a:gd fmla="val 7058" name="adj"/>
              </a:avLst>
            </a:prstGeom>
            <a:solidFill>
              <a:srgbClr val="ECFDF5"/>
            </a:solidFill>
            <a:ln cap="flat" cmpd="sng" w="19050">
              <a:solidFill>
                <a:srgbClr val="A7F3D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1" name="Google Shape;161;p17"/>
            <p:cNvSpPr txBox="1"/>
            <p:nvPr/>
          </p:nvSpPr>
          <p:spPr>
            <a:xfrm>
              <a:off x="1752600" y="5333111"/>
              <a:ext cx="571500" cy="571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lang="en-US" sz="3200">
                  <a:solidFill>
                    <a:srgbClr val="10B981"/>
                  </a:solidFill>
                  <a:latin typeface="Material Icons"/>
                  <a:ea typeface="Material Icons"/>
                  <a:cs typeface="Material Icons"/>
                  <a:sym typeface="Material Icons"/>
                </a:rPr>
                <a:t></a:t>
              </a:r>
              <a:endParaRPr sz="3200">
                <a:solidFill>
                  <a:srgbClr val="10B981"/>
                </a:solidFill>
                <a:latin typeface="Material Icons"/>
                <a:ea typeface="Material Icons"/>
                <a:cs typeface="Material Icons"/>
                <a:sym typeface="Material Icons"/>
              </a:endParaRPr>
            </a:p>
          </p:txBody>
        </p:sp>
        <p:sp>
          <p:nvSpPr>
            <p:cNvPr id="162" name="Google Shape;162;p17"/>
            <p:cNvSpPr txBox="1"/>
            <p:nvPr/>
          </p:nvSpPr>
          <p:spPr>
            <a:xfrm>
              <a:off x="1752600" y="5905500"/>
              <a:ext cx="6858000" cy="1905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US" sz="2000">
                  <a:solidFill>
                    <a:srgbClr val="065F46"/>
                  </a:solidFill>
                  <a:latin typeface="Inter"/>
                  <a:ea typeface="Inter"/>
                  <a:cs typeface="Inter"/>
                  <a:sym typeface="Inter"/>
                </a:rPr>
                <a:t>Tu Nuevo Rol</a:t>
              </a:r>
              <a:endParaRPr b="1" sz="2000">
                <a:solidFill>
                  <a:srgbClr val="065F46"/>
                </a:solidFill>
                <a:latin typeface="Inter"/>
                <a:ea typeface="Inter"/>
                <a:cs typeface="Inter"/>
                <a:sym typeface="Inter"/>
              </a:endParaRPr>
            </a:p>
            <a:p>
              <a:pPr indent="0" lvl="0" marL="0" rtl="0" algn="l">
                <a:spcBef>
                  <a:spcPts val="750"/>
                </a:spcBef>
                <a:spcAft>
                  <a:spcPts val="0"/>
                </a:spcAft>
                <a:buNone/>
              </a:pPr>
              <a:r>
                <a:rPr b="0" lang="en-US" sz="1800">
                  <a:solidFill>
                    <a:srgbClr val="374151"/>
                  </a:solidFill>
                  <a:latin typeface="Inter"/>
                  <a:ea typeface="Inter"/>
                  <a:cs typeface="Inter"/>
                  <a:sym typeface="Inter"/>
                </a:rPr>
                <a:t>Tu rol es facilitar el formato y revisar el contenido.</a:t>
              </a:r>
              <a:endParaRPr b="0" sz="1800">
                <a:solidFill>
                  <a:srgbClr val="374151"/>
                </a:solidFill>
                <a:latin typeface="Inter"/>
                <a:ea typeface="Inter"/>
                <a:cs typeface="Inter"/>
                <a:sym typeface="Inter"/>
              </a:endParaRPr>
            </a:p>
          </p:txBody>
        </p:sp>
      </p:grpSp>
      <p:grpSp>
        <p:nvGrpSpPr>
          <p:cNvPr id="163" name="Google Shape;163;p17"/>
          <p:cNvGrpSpPr/>
          <p:nvPr/>
        </p:nvGrpSpPr>
        <p:grpSpPr>
          <a:xfrm>
            <a:off x="9296400" y="4953000"/>
            <a:ext cx="7620000" cy="3238500"/>
            <a:chOff x="9296400" y="4953000"/>
            <a:chExt cx="7620000" cy="3238500"/>
          </a:xfrm>
        </p:grpSpPr>
        <p:sp>
          <p:nvSpPr>
            <p:cNvPr id="164" name="Google Shape;164;p17"/>
            <p:cNvSpPr/>
            <p:nvPr/>
          </p:nvSpPr>
          <p:spPr>
            <a:xfrm>
              <a:off x="9296400" y="4953000"/>
              <a:ext cx="7620000" cy="3238500"/>
            </a:xfrm>
            <a:prstGeom prst="roundRect">
              <a:avLst>
                <a:gd fmla="val 7058" name="adj"/>
              </a:avLst>
            </a:prstGeom>
            <a:solidFill>
              <a:srgbClr val="F3F4F6"/>
            </a:solidFill>
            <a:ln cap="flat" cmpd="sng" w="19050">
              <a:solidFill>
                <a:srgbClr val="D1D5D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5" name="Google Shape;165;p17"/>
            <p:cNvSpPr txBox="1"/>
            <p:nvPr/>
          </p:nvSpPr>
          <p:spPr>
            <a:xfrm>
              <a:off x="9677400" y="5333111"/>
              <a:ext cx="571500" cy="571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lang="en-US" sz="3200">
                  <a:solidFill>
                    <a:srgbClr val="4B5563"/>
                  </a:solidFill>
                  <a:latin typeface="Material Icons"/>
                  <a:ea typeface="Material Icons"/>
                  <a:cs typeface="Material Icons"/>
                  <a:sym typeface="Material Icons"/>
                </a:rPr>
                <a:t></a:t>
              </a:r>
              <a:endParaRPr sz="3200">
                <a:solidFill>
                  <a:srgbClr val="4B5563"/>
                </a:solidFill>
                <a:latin typeface="Material Icons"/>
                <a:ea typeface="Material Icons"/>
                <a:cs typeface="Material Icons"/>
                <a:sym typeface="Material Icons"/>
              </a:endParaRPr>
            </a:p>
          </p:txBody>
        </p:sp>
        <p:sp>
          <p:nvSpPr>
            <p:cNvPr id="166" name="Google Shape;166;p17"/>
            <p:cNvSpPr txBox="1"/>
            <p:nvPr/>
          </p:nvSpPr>
          <p:spPr>
            <a:xfrm>
              <a:off x="9677400" y="5905500"/>
              <a:ext cx="6858000" cy="1905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US" sz="2000">
                  <a:solidFill>
                    <a:srgbClr val="111827"/>
                  </a:solidFill>
                  <a:latin typeface="Inter"/>
                  <a:ea typeface="Inter"/>
                  <a:cs typeface="Inter"/>
                  <a:sym typeface="Inter"/>
                </a:rPr>
                <a:t>Responsabilidad del Gobierno</a:t>
              </a:r>
              <a:endParaRPr b="1" sz="2000">
                <a:solidFill>
                  <a:srgbClr val="111827"/>
                </a:solidFill>
                <a:latin typeface="Inter"/>
                <a:ea typeface="Inter"/>
                <a:cs typeface="Inter"/>
                <a:sym typeface="Inter"/>
              </a:endParaRPr>
            </a:p>
            <a:p>
              <a:pPr indent="0" lvl="0" marL="0" rtl="0" algn="l">
                <a:spcBef>
                  <a:spcPts val="750"/>
                </a:spcBef>
                <a:spcAft>
                  <a:spcPts val="0"/>
                </a:spcAft>
                <a:buNone/>
              </a:pPr>
              <a:r>
                <a:rPr b="0" lang="en-US" sz="1800">
                  <a:solidFill>
                    <a:srgbClr val="374151"/>
                  </a:solidFill>
                  <a:latin typeface="Inter"/>
                  <a:ea typeface="Inter"/>
                  <a:cs typeface="Inter"/>
                  <a:sym typeface="Inter"/>
                </a:rPr>
                <a:t>El gobierno llena los campos, porque son sus trámites y sus datos.</a:t>
              </a:r>
              <a:endParaRPr b="0" sz="1800">
                <a:solidFill>
                  <a:srgbClr val="374151"/>
                </a:solidFill>
                <a:latin typeface="Inter"/>
                <a:ea typeface="Inter"/>
                <a:cs typeface="Inter"/>
                <a:sym typeface="Inter"/>
              </a:endParaRPr>
            </a:p>
          </p:txBody>
        </p:sp>
      </p:grpSp>
      <p:sp>
        <p:nvSpPr>
          <p:cNvPr id="167" name="Google Shape;167;p17"/>
          <p:cNvSpPr txBox="1"/>
          <p:nvPr/>
        </p:nvSpPr>
        <p:spPr>
          <a:xfrm>
            <a:off x="1371600" y="9048750"/>
            <a:ext cx="15544800" cy="381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US" sz="1400">
                <a:solidFill>
                  <a:srgbClr val="9CA3AF"/>
                </a:solidFill>
                <a:latin typeface="Inter"/>
                <a:ea typeface="Inter"/>
                <a:cs typeface="Inter"/>
                <a:sym typeface="Inter"/>
              </a:rPr>
              <a:t>FASE B | ERRORES COMUNES</a:t>
            </a:r>
            <a:endParaRPr b="1" sz="1400">
              <a:solidFill>
                <a:srgbClr val="9CA3AF"/>
              </a:solidFill>
              <a:latin typeface="Inter"/>
              <a:ea typeface="Inter"/>
              <a:cs typeface="Inter"/>
              <a:sym typeface="Inte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18"/>
          <p:cNvSpPr/>
          <p:nvPr/>
        </p:nvSpPr>
        <p:spPr>
          <a:xfrm>
            <a:off x="0" y="0"/>
            <a:ext cx="18288000" cy="102870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4" name="Google Shape;174;p18"/>
          <p:cNvSpPr txBox="1"/>
          <p:nvPr/>
        </p:nvSpPr>
        <p:spPr>
          <a:xfrm>
            <a:off x="1371600" y="2743200"/>
            <a:ext cx="15544800" cy="6465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4200" u="none" cap="none" strike="noStrike">
                <a:solidFill>
                  <a:srgbClr val="FFFFFF"/>
                </a:solidFill>
                <a:latin typeface="Inter"/>
                <a:ea typeface="Inter"/>
                <a:cs typeface="Inter"/>
                <a:sym typeface="Inter"/>
              </a:rPr>
              <a:t>Los cuatro errores tienen el mismo patrón:</a:t>
            </a:r>
            <a:endParaRPr/>
          </a:p>
        </p:txBody>
      </p:sp>
      <p:sp>
        <p:nvSpPr>
          <p:cNvPr id="175" name="Google Shape;175;p18"/>
          <p:cNvSpPr txBox="1"/>
          <p:nvPr/>
        </p:nvSpPr>
        <p:spPr>
          <a:xfrm>
            <a:off x="1371600" y="3882905"/>
            <a:ext cx="15544800" cy="25212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n-US" sz="7800" u="none" cap="none" strike="noStrike">
                <a:solidFill>
                  <a:srgbClr val="FFFFFF"/>
                </a:solidFill>
                <a:latin typeface="Inter"/>
                <a:ea typeface="Inter"/>
                <a:cs typeface="Inter"/>
                <a:sym typeface="Inter"/>
              </a:rPr>
              <a:t>el partner haciendo lo que le toca al gobierno</a:t>
            </a:r>
            <a:endParaRPr/>
          </a:p>
        </p:txBody>
      </p:sp>
      <p:sp>
        <p:nvSpPr>
          <p:cNvPr id="176" name="Google Shape;176;p18"/>
          <p:cNvSpPr txBox="1"/>
          <p:nvPr/>
        </p:nvSpPr>
        <p:spPr>
          <a:xfrm>
            <a:off x="1371600" y="7315200"/>
            <a:ext cx="15544800" cy="109728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3000" u="none" cap="none" strike="noStrike">
                <a:solidFill>
                  <a:srgbClr val="FFFFFF"/>
                </a:solidFill>
                <a:latin typeface="Inter"/>
                <a:ea typeface="Inter"/>
                <a:cs typeface="Inter"/>
                <a:sym typeface="Inter"/>
              </a:rPr>
              <a:t>La corrección es devolverle la tarea, con facilitación.</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