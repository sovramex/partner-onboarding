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7.6s · 19 palabras]</a:t>
            </a:r>
          </a:p>
          <a:p/>
          <a:p>
            <a:r>
              <a:t>La Fase B tiene cuatro errores que se repiten. Si los reconocés temprano, los corregís antes de que escalen.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25.6s · 64 palabras]</a:t>
            </a:r>
          </a:p>
          <a:p/>
          <a:p>
            <a:r>
              <a:t>El primero. El gobierno dice que quiere digitalizar todo. Suena positivo, pero es la primera señal de fracaso. Si entran sesenta trámites al ciclo de noventa días, ninguno sale bien. Tu trabajo es redirigir: cinco trámites bien hechos valen más que veinte a medias. Esta conversación se da en la reunión de discovery, con el dueño del proyecto en la sala. Antes no funciona.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24.0s · 60 palabras]</a:t>
            </a:r>
          </a:p>
          <a:p/>
          <a:p>
            <a:r>
              <a:t>El segundo. El técnico del gobierno no aparece. Aparece en el organigrama, pero no entra a las reuniones, no responde mensajes, no se asigna tareas. Esto no se resuelve esperando. Se escala al coordinador en la misma semana, no en la siguiente. Si en la semana cinco el técnico sigue ausente, es indicador casi seguro de atraso en Fase 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20.0s · 50 palabras]</a:t>
            </a:r>
          </a:p>
          <a:p/>
          <a:p>
            <a:r>
              <a:t>El tercero. Capacitación sin práctica. Una capacitación funcional donde el especialista funcional no toca la plataforma es una capacitación perdida. Las diapositivas sirven para contexto, máximo veinte minutos. El resto de la sesión, manos en la plataforma. Si te encuentras presentando diapositivas dos horas seguidas, corta y abre la instancia.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24.0s · 60 palabras]</a:t>
            </a:r>
          </a:p>
          <a:p/>
          <a:p>
            <a:r>
              <a:t>El cuarto. Los diccionarios de datos quedan incompletos. Esto pasa porque el partner intenta llenarlos solo. No es tu rol. Tu rol es facilitar el formato y revisar el contenido. El gobierno llena los campos, porque son sus trámites y sus datos. Si te pones a llenarlos, te llevas el conocimiento cuando te vas y el gobierno queda sin contexto.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12.0s · 30 palabras]</a:t>
            </a:r>
          </a:p>
          <a:p/>
          <a:p>
            <a:r>
              <a:t>Los cuatro errores tienen el mismo patrón de fondo: el partner haciendo lo que le toca al gobierno. La corrección siempre es devolverle la tarea, con facilitación, no con presión.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2286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548640"/>
          </a:xfrm>
          <a:prstGeom prst="rect">
            <a:avLst/>
          </a:prstGeom>
          <a:noFill/>
        </p:spPr>
        <p:txBody>
          <a:bodyPr wrap="square" anchor="t" lIns="0" rIns="0" tIns="0" bIns="0">
            <a:spAutoFit/>
          </a:bodyPr>
          <a:lstStyle/>
          <a:p>
            <a:pPr algn="l">
              <a:lnSpc>
                <a:spcPct val="115000"/>
              </a:lnSpc>
            </a:pPr>
            <a:r>
              <a:rPr sz="1800" b="1" i="0">
                <a:solidFill>
                  <a:srgbClr val="7C3AED"/>
                </a:solidFill>
                <a:latin typeface="Figtree"/>
              </a:rPr>
              <a:t>FASE B</a:t>
            </a:r>
          </a:p>
        </p:txBody>
      </p:sp>
      <p:sp>
        <p:nvSpPr>
          <p:cNvPr id="4" name="TextBox 3"/>
          <p:cNvSpPr txBox="1"/>
          <p:nvPr/>
        </p:nvSpPr>
        <p:spPr>
          <a:xfrm>
            <a:off x="1371600" y="3840480"/>
            <a:ext cx="15544800" cy="3657600"/>
          </a:xfrm>
          <a:prstGeom prst="rect">
            <a:avLst/>
          </a:prstGeom>
          <a:noFill/>
        </p:spPr>
        <p:txBody>
          <a:bodyPr wrap="square" anchor="t" lIns="0" rIns="0" tIns="0" bIns="0">
            <a:spAutoFit/>
          </a:bodyPr>
          <a:lstStyle/>
          <a:p>
            <a:pPr algn="l">
              <a:lnSpc>
                <a:spcPct val="110000"/>
              </a:lnSpc>
            </a:pPr>
            <a:r>
              <a:rPr sz="8000" b="1" i="0">
                <a:solidFill>
                  <a:srgbClr val="0A0915"/>
                </a:solidFill>
                <a:latin typeface="Plus Jakarta Sans"/>
              </a:rPr>
              <a:t>Los cuatro errores</a:t>
            </a:r>
          </a:p>
          <a:p>
            <a:pPr algn="l">
              <a:lnSpc>
                <a:spcPct val="110000"/>
              </a:lnSpc>
            </a:pPr>
            <a:r>
              <a:rPr sz="8000" b="1" i="0">
                <a:solidFill>
                  <a:srgbClr val="0A0915"/>
                </a:solidFill>
                <a:latin typeface="Plus Jakarta Sans"/>
              </a:rPr>
              <a:t>comunes de la fase.</a:t>
            </a:r>
          </a:p>
        </p:txBody>
      </p:sp>
      <p:sp>
        <p:nvSpPr>
          <p:cNvPr id="5" name="TextBox 4"/>
          <p:cNvSpPr txBox="1"/>
          <p:nvPr/>
        </p:nvSpPr>
        <p:spPr>
          <a:xfrm>
            <a:off x="1371600" y="7772400"/>
            <a:ext cx="15544800" cy="1371600"/>
          </a:xfrm>
          <a:prstGeom prst="rect">
            <a:avLst/>
          </a:prstGeom>
          <a:noFill/>
        </p:spPr>
        <p:txBody>
          <a:bodyPr wrap="square" anchor="t" lIns="0" rIns="0" tIns="0" bIns="0">
            <a:spAutoFit/>
          </a:bodyPr>
          <a:lstStyle/>
          <a:p>
            <a:pPr algn="l">
              <a:lnSpc>
                <a:spcPct val="130000"/>
              </a:lnSpc>
            </a:pPr>
            <a:r>
              <a:rPr sz="2200" b="0" i="0">
                <a:solidFill>
                  <a:srgbClr val="888888"/>
                </a:solidFill>
                <a:latin typeface="Figtree"/>
              </a:rPr>
              <a:t>Si los reconoces temprano, los corriges antes de que escalen.</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2286000"/>
          </a:xfrm>
          <a:prstGeom prst="rect">
            <a:avLst/>
          </a:prstGeom>
          <a:noFill/>
        </p:spPr>
        <p:txBody>
          <a:bodyPr wrap="square" anchor="t" lIns="0" rIns="0" tIns="0" bIns="0">
            <a:spAutoFit/>
          </a:bodyPr>
          <a:lstStyle/>
          <a:p>
            <a:pPr algn="ctr">
              <a:lnSpc>
                <a:spcPct val="110000"/>
              </a:lnSpc>
            </a:pPr>
            <a:r>
              <a:rPr sz="4600" b="1" i="0">
                <a:solidFill>
                  <a:srgbClr val="0A0915"/>
                </a:solidFill>
                <a:latin typeface="Plus Jakarta Sans"/>
              </a:rPr>
              <a:t>Error 1: "Queremos digitalizar todo."</a:t>
            </a:r>
          </a:p>
        </p:txBody>
      </p:sp>
      <p:sp>
        <p:nvSpPr>
          <p:cNvPr id="3" name="Rounded Rectangle 2"/>
          <p:cNvSpPr/>
          <p:nvPr/>
        </p:nvSpPr>
        <p:spPr>
          <a:xfrm>
            <a:off x="1828800" y="4754880"/>
            <a:ext cx="6400800" cy="4114800"/>
          </a:xfrm>
          <a:prstGeom prst="roundRect">
            <a:avLst/>
          </a:prstGeom>
          <a:solidFill>
            <a:srgbClr val="FEF2F2"/>
          </a:solidFill>
          <a:ln w="12700">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5120640"/>
            <a:ext cx="914400" cy="1097280"/>
          </a:xfrm>
          <a:prstGeom prst="rect">
            <a:avLst/>
          </a:prstGeom>
          <a:noFill/>
        </p:spPr>
        <p:txBody>
          <a:bodyPr wrap="square" anchor="t" lIns="0" rIns="0" tIns="0" bIns="0">
            <a:spAutoFit/>
          </a:bodyPr>
          <a:lstStyle/>
          <a:p>
            <a:pPr algn="l">
              <a:lnSpc>
                <a:spcPct val="115000"/>
              </a:lnSpc>
            </a:pPr>
            <a:r>
              <a:rPr sz="3600" b="1" i="0">
                <a:solidFill>
                  <a:srgbClr val="DC2626"/>
                </a:solidFill>
                <a:latin typeface="Plus Jakarta Sans"/>
              </a:rPr>
              <a:t>✗</a:t>
            </a:r>
          </a:p>
        </p:txBody>
      </p:sp>
      <p:sp>
        <p:nvSpPr>
          <p:cNvPr id="5" name="TextBox 4"/>
          <p:cNvSpPr txBox="1"/>
          <p:nvPr/>
        </p:nvSpPr>
        <p:spPr>
          <a:xfrm>
            <a:off x="2286000" y="6217920"/>
            <a:ext cx="5486400" cy="1371600"/>
          </a:xfrm>
          <a:prstGeom prst="rect">
            <a:avLst/>
          </a:prstGeom>
          <a:noFill/>
        </p:spPr>
        <p:txBody>
          <a:bodyPr wrap="square" anchor="t" lIns="0" rIns="0" tIns="0" bIns="0">
            <a:spAutoFit/>
          </a:bodyPr>
          <a:lstStyle/>
          <a:p>
            <a:pPr algn="l">
              <a:lnSpc>
                <a:spcPct val="115000"/>
              </a:lnSpc>
            </a:pPr>
            <a:r>
              <a:rPr sz="3000" b="1" i="0">
                <a:solidFill>
                  <a:srgbClr val="0A0915"/>
                </a:solidFill>
                <a:latin typeface="Plus Jakarta Sans"/>
              </a:rPr>
              <a:t>60 trámites al ciclo</a:t>
            </a:r>
          </a:p>
        </p:txBody>
      </p:sp>
      <p:sp>
        <p:nvSpPr>
          <p:cNvPr id="6" name="TextBox 5"/>
          <p:cNvSpPr txBox="1"/>
          <p:nvPr/>
        </p:nvSpPr>
        <p:spPr>
          <a:xfrm>
            <a:off x="2286000" y="7315200"/>
            <a:ext cx="5486400" cy="1371600"/>
          </a:xfrm>
          <a:prstGeom prst="rect">
            <a:avLst/>
          </a:prstGeom>
          <a:noFill/>
        </p:spPr>
        <p:txBody>
          <a:bodyPr wrap="square" anchor="t" lIns="0" rIns="0" tIns="0" bIns="0">
            <a:spAutoFit/>
          </a:bodyPr>
          <a:lstStyle/>
          <a:p>
            <a:pPr algn="l">
              <a:lnSpc>
                <a:spcPct val="140000"/>
              </a:lnSpc>
            </a:pPr>
            <a:r>
              <a:rPr sz="1800" b="0" i="0">
                <a:solidFill>
                  <a:srgbClr val="888888"/>
                </a:solidFill>
                <a:latin typeface="Figtree"/>
              </a:rPr>
              <a:t>Suena positivo, pero es la primera señal de fracaso.</a:t>
            </a:r>
          </a:p>
          <a:p>
            <a:pPr algn="l">
              <a:lnSpc>
                <a:spcPct val="140000"/>
              </a:lnSpc>
            </a:pPr>
            <a:r>
              <a:rPr sz="1800" b="0" i="0">
                <a:solidFill>
                  <a:srgbClr val="888888"/>
                </a:solidFill>
                <a:latin typeface="Figtree"/>
              </a:rPr>
              <a:t>Ninguno sale bien.</a:t>
            </a:r>
          </a:p>
        </p:txBody>
      </p:sp>
      <p:sp>
        <p:nvSpPr>
          <p:cNvPr id="7" name="Rounded Rectangle 6"/>
          <p:cNvSpPr/>
          <p:nvPr/>
        </p:nvSpPr>
        <p:spPr>
          <a:xfrm>
            <a:off x="10058400" y="4754880"/>
            <a:ext cx="6400800" cy="411480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5120640"/>
            <a:ext cx="914400" cy="1097280"/>
          </a:xfrm>
          <a:prstGeom prst="rect">
            <a:avLst/>
          </a:prstGeom>
          <a:noFill/>
        </p:spPr>
        <p:txBody>
          <a:bodyPr wrap="square" anchor="t" lIns="0" rIns="0" tIns="0" bIns="0">
            <a:spAutoFit/>
          </a:bodyPr>
          <a:lstStyle/>
          <a:p>
            <a:pPr algn="l">
              <a:lnSpc>
                <a:spcPct val="115000"/>
              </a:lnSpc>
            </a:pPr>
            <a:r>
              <a:rPr sz="3600" b="1" i="0">
                <a:solidFill>
                  <a:srgbClr val="10B981"/>
                </a:solidFill>
                <a:latin typeface="Plus Jakarta Sans"/>
              </a:rPr>
              <a:t>✓</a:t>
            </a:r>
          </a:p>
        </p:txBody>
      </p:sp>
      <p:sp>
        <p:nvSpPr>
          <p:cNvPr id="9" name="TextBox 8"/>
          <p:cNvSpPr txBox="1"/>
          <p:nvPr/>
        </p:nvSpPr>
        <p:spPr>
          <a:xfrm>
            <a:off x="10515600" y="6217920"/>
            <a:ext cx="5486400" cy="1371600"/>
          </a:xfrm>
          <a:prstGeom prst="rect">
            <a:avLst/>
          </a:prstGeom>
          <a:noFill/>
        </p:spPr>
        <p:txBody>
          <a:bodyPr wrap="square" anchor="t" lIns="0" rIns="0" tIns="0" bIns="0">
            <a:spAutoFit/>
          </a:bodyPr>
          <a:lstStyle/>
          <a:p>
            <a:pPr algn="l">
              <a:lnSpc>
                <a:spcPct val="115000"/>
              </a:lnSpc>
            </a:pPr>
            <a:r>
              <a:rPr sz="3000" b="1" i="0">
                <a:solidFill>
                  <a:srgbClr val="0A0915"/>
                </a:solidFill>
                <a:latin typeface="Plus Jakarta Sans"/>
              </a:rPr>
              <a:t>5 trámites bien hechos</a:t>
            </a:r>
          </a:p>
        </p:txBody>
      </p:sp>
      <p:sp>
        <p:nvSpPr>
          <p:cNvPr id="10" name="TextBox 9"/>
          <p:cNvSpPr txBox="1"/>
          <p:nvPr/>
        </p:nvSpPr>
        <p:spPr>
          <a:xfrm>
            <a:off x="10515600" y="7315200"/>
            <a:ext cx="5486400" cy="1371600"/>
          </a:xfrm>
          <a:prstGeom prst="rect">
            <a:avLst/>
          </a:prstGeom>
          <a:noFill/>
        </p:spPr>
        <p:txBody>
          <a:bodyPr wrap="square" anchor="t" lIns="0" rIns="0" tIns="0" bIns="0">
            <a:spAutoFit/>
          </a:bodyPr>
          <a:lstStyle/>
          <a:p>
            <a:pPr algn="l">
              <a:lnSpc>
                <a:spcPct val="140000"/>
              </a:lnSpc>
            </a:pPr>
            <a:r>
              <a:rPr sz="1800" b="0" i="0">
                <a:solidFill>
                  <a:srgbClr val="888888"/>
                </a:solidFill>
                <a:latin typeface="Figtree"/>
              </a:rPr>
              <a:t>Valen más que 20 a medias.</a:t>
            </a:r>
          </a:p>
          <a:p>
            <a:pPr algn="l">
              <a:lnSpc>
                <a:spcPct val="140000"/>
              </a:lnSpc>
            </a:pPr>
            <a:r>
              <a:rPr sz="1800" b="0" i="0">
                <a:solidFill>
                  <a:srgbClr val="888888"/>
                </a:solidFill>
                <a:latin typeface="Figtree"/>
              </a:rPr>
              <a:t>La conversación se da en discovery, con el dueño del proyecto en la sala.</a:t>
            </a:r>
          </a:p>
        </p:txBody>
      </p:sp>
      <p:sp>
        <p:nvSpPr>
          <p:cNvPr id="11" name="TextBox 10"/>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7C3AED"/>
                </a:solidFill>
                <a:latin typeface="Figtree"/>
              </a:rPr>
              <a:t>Error 2</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El técnico del gobierno</a:t>
            </a:r>
          </a:p>
          <a:p>
            <a:pPr algn="ctr">
              <a:lnSpc>
                <a:spcPct val="115000"/>
              </a:lnSpc>
            </a:pPr>
            <a:r>
              <a:rPr sz="5600" b="1" i="0">
                <a:solidFill>
                  <a:srgbClr val="0A0915"/>
                </a:solidFill>
                <a:latin typeface="Plus Jakarta Sans"/>
              </a:rPr>
              <a:t>no aparece.</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Aparece en el organigrama, pero no entra a reuniones, no responde mensajes, no se asigna tareas. Se escala al coordinador en la misma semana, no en la siguiente. Si en la semana 5 sigue ausente, es indicador casi seguro de atraso en Fase C.</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7C3AED"/>
                </a:solidFill>
                <a:latin typeface="Figtree"/>
              </a:rPr>
              <a:t>Error 3</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Capacitación sin práctica.</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Una capacitación funcional donde el especialista funcional no toca la plataforma es una capacitación perdida. Las diapositivas sirven para contexto, máximo 20 minutos. Si te encuentras presentando dos horas seguidas, corta y abre la instancia.</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7C3AED"/>
                </a:solidFill>
                <a:latin typeface="Figtree"/>
              </a:rPr>
              <a:t>Error 4</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Diccionarios de datos</a:t>
            </a:r>
          </a:p>
          <a:p>
            <a:pPr algn="ctr">
              <a:lnSpc>
                <a:spcPct val="115000"/>
              </a:lnSpc>
            </a:pPr>
            <a:r>
              <a:rPr sz="5600" b="1" i="0">
                <a:solidFill>
                  <a:srgbClr val="0A0915"/>
                </a:solidFill>
                <a:latin typeface="Plus Jakarta Sans"/>
              </a:rPr>
              <a:t>incompletos.</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Pasa porque el partner intenta llenarlos solo. No es tu rol. Tu rol es facilitar el formato y revisar el contenido. El gobierno llena los campos, porque son sus trámites y sus datos.</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1371600"/>
          </a:xfrm>
          <a:prstGeom prst="rect">
            <a:avLst/>
          </a:prstGeom>
          <a:noFill/>
        </p:spPr>
        <p:txBody>
          <a:bodyPr wrap="square" anchor="t" lIns="0" rIns="0" tIns="0" bIns="0">
            <a:spAutoFit/>
          </a:bodyPr>
          <a:lstStyle/>
          <a:p>
            <a:pPr algn="ctr">
              <a:lnSpc>
                <a:spcPct val="115000"/>
              </a:lnSpc>
            </a:pPr>
            <a:r>
              <a:rPr sz="4200" b="0" i="0">
                <a:solidFill>
                  <a:srgbClr val="FFFFFF"/>
                </a:solidFill>
                <a:latin typeface="Plus Jakarta Sans"/>
              </a:rPr>
              <a:t>Los cuatro errores tienen el mismo patrón:</a:t>
            </a:r>
          </a:p>
        </p:txBody>
      </p:sp>
      <p:sp>
        <p:nvSpPr>
          <p:cNvPr id="4" name="TextBox 3"/>
          <p:cNvSpPr txBox="1"/>
          <p:nvPr/>
        </p:nvSpPr>
        <p:spPr>
          <a:xfrm>
            <a:off x="1371600" y="4754880"/>
            <a:ext cx="15544800" cy="2286000"/>
          </a:xfrm>
          <a:prstGeom prst="rect">
            <a:avLst/>
          </a:prstGeom>
          <a:noFill/>
        </p:spPr>
        <p:txBody>
          <a:bodyPr wrap="square" anchor="t" lIns="0" rIns="0" tIns="0" bIns="0">
            <a:spAutoFit/>
          </a:bodyPr>
          <a:lstStyle/>
          <a:p>
            <a:pPr algn="ctr">
              <a:lnSpc>
                <a:spcPct val="110000"/>
              </a:lnSpc>
            </a:pPr>
            <a:r>
              <a:rPr sz="7800" b="1" i="0">
                <a:solidFill>
                  <a:srgbClr val="FFFFFF"/>
                </a:solidFill>
                <a:latin typeface="Plus Jakarta Sans"/>
              </a:rPr>
              <a:t>el partner haciendo lo que le toca al gobierno.</a:t>
            </a:r>
          </a:p>
        </p:txBody>
      </p:sp>
      <p:sp>
        <p:nvSpPr>
          <p:cNvPr id="5" name="TextBox 4"/>
          <p:cNvSpPr txBox="1"/>
          <p:nvPr/>
        </p:nvSpPr>
        <p:spPr>
          <a:xfrm>
            <a:off x="1371600" y="7315200"/>
            <a:ext cx="15544800" cy="1097280"/>
          </a:xfrm>
          <a:prstGeom prst="rect">
            <a:avLst/>
          </a:prstGeom>
          <a:noFill/>
        </p:spPr>
        <p:txBody>
          <a:bodyPr wrap="square" anchor="t" lIns="0" rIns="0" tIns="0" bIns="0">
            <a:spAutoFit/>
          </a:bodyPr>
          <a:lstStyle/>
          <a:p>
            <a:pPr algn="ctr">
              <a:lnSpc>
                <a:spcPct val="115000"/>
              </a:lnSpc>
            </a:pPr>
            <a:r>
              <a:rPr sz="3000" b="0" i="0">
                <a:solidFill>
                  <a:srgbClr val="FFFFFF"/>
                </a:solidFill>
                <a:latin typeface="Plus Jakarta Sans"/>
              </a:rPr>
              <a:t>La corrección es devolverle la tarea, con facilitación.</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CCE5FF"/>
                </a:solidFill>
                <a:latin typeface="Figtree"/>
              </a:rPr>
              <a:t>Sovra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