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10287000" cx="18288000"/>
  <p:notesSz cx="6858000" cy="9144000"/>
  <p:embeddedFontLst>
    <p:embeddedFont>
      <p:font typeface="Inter SemiBold"/>
      <p:regular r:id="rId11"/>
      <p:bold r:id="rId12"/>
      <p:italic r:id="rId13"/>
      <p:boldItalic r:id="rId14"/>
    </p:embeddedFont>
    <p:embeddedFont>
      <p:font typeface="Inter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InterSemiBold-regular.fntdata"/><Relationship Id="rId10" Type="http://schemas.openxmlformats.org/officeDocument/2006/relationships/slide" Target="slides/slide5.xml"/><Relationship Id="rId13" Type="http://schemas.openxmlformats.org/officeDocument/2006/relationships/font" Target="fonts/InterSemiBold-italic.fntdata"/><Relationship Id="rId12" Type="http://schemas.openxmlformats.org/officeDocument/2006/relationships/font" Target="fonts/InterSemiBold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Inter-regular.fntdata"/><Relationship Id="rId14" Type="http://schemas.openxmlformats.org/officeDocument/2006/relationships/font" Target="fonts/InterSemiBold-boldItalic.fntdata"/><Relationship Id="rId17" Type="http://schemas.openxmlformats.org/officeDocument/2006/relationships/font" Target="fonts/Inter-italic.fntdata"/><Relationship Id="rId16" Type="http://schemas.openxmlformats.org/officeDocument/2006/relationships/font" Target="fonts/Inter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font" Target="fonts/Inter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2" name="Google Shape;82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[Duración estimada: 15.6s · 39 palabras]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Cuando termines la Fase B, el gobierno sabe operar la plataforma en lo básico, tiene sus trámites priorizados, su gobernanza definida y un plan técnico acordado. La instancia ya tiene identidad propia. El equipo está alineado y con accesos.</a:t>
            </a:r>
            <a:endParaRPr/>
          </a:p>
        </p:txBody>
      </p:sp>
      <p:sp>
        <p:nvSpPr>
          <p:cNvPr id="83" name="Google Shape;83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[Duración estimada: 15.6s · 39 palabras]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Cuando termines la Fase B, el gobierno sabe operar la plataforma en lo básico, tiene sus trámites priorizados, su gobernanza definida y un plan técnico acordado. La instancia ya tiene identidad propia. El equipo está alineado y con accesos.</a:t>
            </a:r>
            <a:endParaRPr/>
          </a:p>
        </p:txBody>
      </p:sp>
      <p:sp>
        <p:nvSpPr>
          <p:cNvPr id="92" name="Google Shape;92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7" name="Google Shape;117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[Duración estimada: 22.4s · 56 palabras]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Lo que viene es la Fase C, Modelado y configuración, entre las semanas seis y ocho. Es la fase donde el gobierno y tú modelan en concreto los trámites priorizados. Formularios, etapas, documento de salida, ficha del trámite. Las decisiones que tomaste en Fase B se materializan en pantallas reales que el ciudadano va a usar.</a:t>
            </a:r>
            <a:endParaRPr/>
          </a:p>
        </p:txBody>
      </p:sp>
      <p:sp>
        <p:nvSpPr>
          <p:cNvPr id="118" name="Google Shape;118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3" name="Google Shape;143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[Duración estimada: 16.0s · 40 palabras]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En la próxima fase vas a ver cómo se traduce el discovery en configuración concreta, cómo se modela un formulario sin sobre-ingeniería, y cómo se arman las etapas para que el funcionario gestione sin perderse. Nos vemos en Fase C.</a:t>
            </a:r>
            <a:endParaRPr/>
          </a:p>
        </p:txBody>
      </p:sp>
      <p:sp>
        <p:nvSpPr>
          <p:cNvPr id="144" name="Google Shape;144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2" name="Google Shape;162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[Duración estimada: 9.6s · 24 palabras]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La Fase B prepara al equipo. La Fase C construye los trámites. Si la B quedó cerrada en serio, la C avanza sin frenos.</a:t>
            </a:r>
            <a:endParaRPr/>
          </a:p>
        </p:txBody>
      </p:sp>
      <p:sp>
        <p:nvSpPr>
          <p:cNvPr id="163" name="Google Shape;163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/>
          <p:nvPr/>
        </p:nvSpPr>
        <p:spPr>
          <a:xfrm>
            <a:off x="0" y="0"/>
            <a:ext cx="18288000" cy="228600"/>
          </a:xfrm>
          <a:prstGeom prst="rect">
            <a:avLst/>
          </a:prstGeom>
          <a:solidFill>
            <a:srgbClr val="7C3AE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1371600" y="3200400"/>
            <a:ext cx="15544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7C3AED"/>
                </a:solidFill>
                <a:latin typeface="Inter"/>
                <a:ea typeface="Inter"/>
                <a:cs typeface="Inter"/>
                <a:sym typeface="Inter"/>
              </a:rPr>
              <a:t>FASE B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1371600" y="3840480"/>
            <a:ext cx="15544800" cy="25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0" u="none" cap="none" strike="noStrike">
                <a:solidFill>
                  <a:srgbClr val="0A0915"/>
                </a:solidFill>
                <a:latin typeface="Inter"/>
                <a:ea typeface="Inter"/>
                <a:cs typeface="Inter"/>
                <a:sym typeface="Inter"/>
              </a:rPr>
              <a:t>Qué viene: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0" u="none" cap="none" strike="noStrike">
                <a:solidFill>
                  <a:srgbClr val="0A0915"/>
                </a:solidFill>
                <a:latin typeface="Inter"/>
                <a:ea typeface="Inter"/>
                <a:cs typeface="Inter"/>
                <a:sym typeface="Inter"/>
              </a:rPr>
              <a:t>Fase C — Modelado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1371600" y="6517900"/>
            <a:ext cx="15544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rPr>
              <a:t>Semanas 6 a 8. Las decisiones de Fase B se materializan en pantallas reales.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4"/>
          <p:cNvSpPr/>
          <p:nvPr/>
        </p:nvSpPr>
        <p:spPr>
          <a:xfrm>
            <a:off x="0" y="0"/>
            <a:ext cx="18288000" cy="2286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1371600" y="762000"/>
            <a:ext cx="15544800" cy="738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>
                <a:solidFill>
                  <a:srgbClr val="0A0915"/>
                </a:solidFill>
                <a:latin typeface="Inter"/>
                <a:ea typeface="Inter"/>
                <a:cs typeface="Inter"/>
                <a:sym typeface="Inter"/>
              </a:rPr>
              <a:t>Lo que cerraste en </a:t>
            </a:r>
            <a:r>
              <a:rPr b="1" i="0" lang="en-US" sz="4800">
                <a:solidFill>
                  <a:srgbClr val="7C3AED"/>
                </a:solidFill>
                <a:latin typeface="Inter"/>
                <a:ea typeface="Inter"/>
                <a:cs typeface="Inter"/>
                <a:sym typeface="Inter"/>
              </a:rPr>
              <a:t>Fase B</a:t>
            </a:r>
            <a:endParaRPr b="1" i="0" sz="4800">
              <a:solidFill>
                <a:srgbClr val="0A091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96" name="Google Shape;96;p14"/>
          <p:cNvGrpSpPr/>
          <p:nvPr/>
        </p:nvGrpSpPr>
        <p:grpSpPr>
          <a:xfrm>
            <a:off x="1371600" y="2286000"/>
            <a:ext cx="7524900" cy="2476500"/>
            <a:chOff x="1371600" y="2286000"/>
            <a:chExt cx="7524900" cy="2476500"/>
          </a:xfrm>
        </p:grpSpPr>
        <p:sp>
          <p:nvSpPr>
            <p:cNvPr id="97" name="Google Shape;97;p14"/>
            <p:cNvSpPr/>
            <p:nvPr/>
          </p:nvSpPr>
          <p:spPr>
            <a:xfrm>
              <a:off x="1371600" y="2286000"/>
              <a:ext cx="7524900" cy="2476500"/>
            </a:xfrm>
            <a:prstGeom prst="roundRect">
              <a:avLst>
                <a:gd fmla="val 6153" name="adj"/>
              </a:avLst>
            </a:prstGeom>
            <a:solidFill>
              <a:srgbClr val="F3F4F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14"/>
            <p:cNvSpPr txBox="1"/>
            <p:nvPr/>
          </p:nvSpPr>
          <p:spPr>
            <a:xfrm>
              <a:off x="1657350" y="2624328"/>
              <a:ext cx="571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>
                  <a:solidFill>
                    <a:srgbClr val="7C3AED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</a:t>
              </a:r>
              <a:endParaRPr sz="3600">
                <a:solidFill>
                  <a:srgbClr val="7C3AED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99" name="Google Shape;99;p14"/>
            <p:cNvSpPr txBox="1"/>
            <p:nvPr/>
          </p:nvSpPr>
          <p:spPr>
            <a:xfrm>
              <a:off x="1657350" y="3238500"/>
              <a:ext cx="69534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200">
                  <a:solidFill>
                    <a:srgbClr val="7C3AED"/>
                  </a:solidFill>
                  <a:latin typeface="Inter"/>
                  <a:ea typeface="Inter"/>
                  <a:cs typeface="Inter"/>
                  <a:sym typeface="Inter"/>
                </a:rPr>
                <a:t>Capacitación Base</a:t>
              </a:r>
              <a:endParaRPr b="1" sz="2200">
                <a:solidFill>
                  <a:srgbClr val="7C3AED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2200">
                  <a:solidFill>
                    <a:srgbClr val="0A0915"/>
                  </a:solidFill>
                  <a:latin typeface="Inter"/>
                  <a:ea typeface="Inter"/>
                  <a:cs typeface="Inter"/>
                  <a:sym typeface="Inter"/>
                </a:rPr>
                <a:t>El gobierno sabe operar la plataforma en lo básico.</a:t>
              </a:r>
              <a:endParaRPr b="0" sz="2200">
                <a:solidFill>
                  <a:srgbClr val="0A091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00" name="Google Shape;100;p14"/>
          <p:cNvGrpSpPr/>
          <p:nvPr/>
        </p:nvGrpSpPr>
        <p:grpSpPr>
          <a:xfrm>
            <a:off x="9391650" y="2286000"/>
            <a:ext cx="7524900" cy="2476500"/>
            <a:chOff x="9391650" y="2286000"/>
            <a:chExt cx="7524900" cy="2476500"/>
          </a:xfrm>
        </p:grpSpPr>
        <p:sp>
          <p:nvSpPr>
            <p:cNvPr id="101" name="Google Shape;101;p14"/>
            <p:cNvSpPr/>
            <p:nvPr/>
          </p:nvSpPr>
          <p:spPr>
            <a:xfrm>
              <a:off x="9391650" y="2286000"/>
              <a:ext cx="7524900" cy="2476500"/>
            </a:xfrm>
            <a:prstGeom prst="roundRect">
              <a:avLst>
                <a:gd fmla="val 6153" name="adj"/>
              </a:avLst>
            </a:prstGeom>
            <a:solidFill>
              <a:srgbClr val="F3F4F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4"/>
            <p:cNvSpPr txBox="1"/>
            <p:nvPr/>
          </p:nvSpPr>
          <p:spPr>
            <a:xfrm>
              <a:off x="9677400" y="2624328"/>
              <a:ext cx="571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>
                  <a:solidFill>
                    <a:srgbClr val="7C3AED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</a:t>
              </a:r>
              <a:endParaRPr sz="3600">
                <a:solidFill>
                  <a:srgbClr val="7C3AED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03" name="Google Shape;103;p14"/>
            <p:cNvSpPr txBox="1"/>
            <p:nvPr/>
          </p:nvSpPr>
          <p:spPr>
            <a:xfrm>
              <a:off x="9677400" y="3238500"/>
              <a:ext cx="69534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200">
                  <a:solidFill>
                    <a:srgbClr val="7C3AED"/>
                  </a:solidFill>
                  <a:latin typeface="Inter"/>
                  <a:ea typeface="Inter"/>
                  <a:cs typeface="Inter"/>
                  <a:sym typeface="Inter"/>
                </a:rPr>
                <a:t>Estrategia Definida</a:t>
              </a:r>
              <a:endParaRPr b="1" sz="2200">
                <a:solidFill>
                  <a:srgbClr val="7C3AED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2200">
                  <a:solidFill>
                    <a:srgbClr val="0A0915"/>
                  </a:solidFill>
                  <a:latin typeface="Inter"/>
                  <a:ea typeface="Inter"/>
                  <a:cs typeface="Inter"/>
                  <a:sym typeface="Inter"/>
                </a:rPr>
                <a:t>Trámites priorizados, gobernanza definida y plan técnico acordado.</a:t>
              </a:r>
              <a:endParaRPr b="0" sz="2200">
                <a:solidFill>
                  <a:srgbClr val="0A091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04" name="Google Shape;104;p14"/>
          <p:cNvGrpSpPr/>
          <p:nvPr/>
        </p:nvGrpSpPr>
        <p:grpSpPr>
          <a:xfrm>
            <a:off x="1371600" y="5048250"/>
            <a:ext cx="7524900" cy="2476500"/>
            <a:chOff x="1371600" y="5048250"/>
            <a:chExt cx="7524900" cy="2476500"/>
          </a:xfrm>
        </p:grpSpPr>
        <p:sp>
          <p:nvSpPr>
            <p:cNvPr id="105" name="Google Shape;105;p14"/>
            <p:cNvSpPr/>
            <p:nvPr/>
          </p:nvSpPr>
          <p:spPr>
            <a:xfrm>
              <a:off x="1371600" y="5048250"/>
              <a:ext cx="7524900" cy="2476500"/>
            </a:xfrm>
            <a:prstGeom prst="roundRect">
              <a:avLst>
                <a:gd fmla="val 6153" name="adj"/>
              </a:avLst>
            </a:prstGeom>
            <a:solidFill>
              <a:srgbClr val="F3F4F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" name="Google Shape;106;p14"/>
            <p:cNvSpPr txBox="1"/>
            <p:nvPr/>
          </p:nvSpPr>
          <p:spPr>
            <a:xfrm>
              <a:off x="1657350" y="5386578"/>
              <a:ext cx="571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>
                  <a:solidFill>
                    <a:srgbClr val="7C3AED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</a:t>
              </a:r>
              <a:endParaRPr sz="3600">
                <a:solidFill>
                  <a:srgbClr val="7C3AED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07" name="Google Shape;107;p14"/>
            <p:cNvSpPr txBox="1"/>
            <p:nvPr/>
          </p:nvSpPr>
          <p:spPr>
            <a:xfrm>
              <a:off x="1657350" y="6000750"/>
              <a:ext cx="69534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200">
                  <a:solidFill>
                    <a:srgbClr val="7C3AED"/>
                  </a:solidFill>
                  <a:latin typeface="Inter"/>
                  <a:ea typeface="Inter"/>
                  <a:cs typeface="Inter"/>
                  <a:sym typeface="Inter"/>
                </a:rPr>
                <a:t>Identidad Consolidada</a:t>
              </a:r>
              <a:endParaRPr b="1" sz="2200">
                <a:solidFill>
                  <a:srgbClr val="7C3AED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2200">
                  <a:solidFill>
                    <a:srgbClr val="0A0915"/>
                  </a:solidFill>
                  <a:latin typeface="Inter"/>
                  <a:ea typeface="Inter"/>
                  <a:cs typeface="Inter"/>
                  <a:sym typeface="Inter"/>
                </a:rPr>
                <a:t>La instancia ya tiene identidad propia.</a:t>
              </a:r>
              <a:endParaRPr b="0" sz="2200">
                <a:solidFill>
                  <a:srgbClr val="0A091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08" name="Google Shape;108;p14"/>
          <p:cNvGrpSpPr/>
          <p:nvPr/>
        </p:nvGrpSpPr>
        <p:grpSpPr>
          <a:xfrm>
            <a:off x="9391650" y="5048250"/>
            <a:ext cx="7524900" cy="2476500"/>
            <a:chOff x="9391650" y="5048250"/>
            <a:chExt cx="7524900" cy="2476500"/>
          </a:xfrm>
        </p:grpSpPr>
        <p:sp>
          <p:nvSpPr>
            <p:cNvPr id="109" name="Google Shape;109;p14"/>
            <p:cNvSpPr/>
            <p:nvPr/>
          </p:nvSpPr>
          <p:spPr>
            <a:xfrm>
              <a:off x="9391650" y="5048250"/>
              <a:ext cx="7524900" cy="2476500"/>
            </a:xfrm>
            <a:prstGeom prst="roundRect">
              <a:avLst>
                <a:gd fmla="val 6153" name="adj"/>
              </a:avLst>
            </a:prstGeom>
            <a:solidFill>
              <a:srgbClr val="F3F4F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4"/>
            <p:cNvSpPr txBox="1"/>
            <p:nvPr/>
          </p:nvSpPr>
          <p:spPr>
            <a:xfrm>
              <a:off x="9677400" y="5386578"/>
              <a:ext cx="571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>
                  <a:solidFill>
                    <a:srgbClr val="7C3AED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</a:t>
              </a:r>
              <a:endParaRPr sz="3600">
                <a:solidFill>
                  <a:srgbClr val="7C3AED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11" name="Google Shape;111;p14"/>
            <p:cNvSpPr txBox="1"/>
            <p:nvPr/>
          </p:nvSpPr>
          <p:spPr>
            <a:xfrm>
              <a:off x="9677400" y="6000750"/>
              <a:ext cx="69534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200">
                  <a:solidFill>
                    <a:srgbClr val="7C3AED"/>
                  </a:solidFill>
                  <a:latin typeface="Inter"/>
                  <a:ea typeface="Inter"/>
                  <a:cs typeface="Inter"/>
                  <a:sym typeface="Inter"/>
                </a:rPr>
                <a:t>Equipo Operativo</a:t>
              </a:r>
              <a:endParaRPr b="1" sz="2200">
                <a:solidFill>
                  <a:srgbClr val="7C3AED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2200">
                  <a:solidFill>
                    <a:srgbClr val="0A0915"/>
                  </a:solidFill>
                  <a:latin typeface="Inter"/>
                  <a:ea typeface="Inter"/>
                  <a:cs typeface="Inter"/>
                  <a:sym typeface="Inter"/>
                </a:rPr>
                <a:t>Equipo alineado y con accesos.</a:t>
              </a:r>
              <a:endParaRPr b="0" sz="2200">
                <a:solidFill>
                  <a:srgbClr val="0A091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12" name="Google Shape;112;p14"/>
          <p:cNvGrpSpPr/>
          <p:nvPr/>
        </p:nvGrpSpPr>
        <p:grpSpPr>
          <a:xfrm>
            <a:off x="1371600" y="8191500"/>
            <a:ext cx="15544800" cy="952500"/>
            <a:chOff x="1371600" y="8191500"/>
            <a:chExt cx="15544800" cy="952500"/>
          </a:xfrm>
        </p:grpSpPr>
        <p:sp>
          <p:nvSpPr>
            <p:cNvPr id="113" name="Google Shape;113;p14"/>
            <p:cNvSpPr/>
            <p:nvPr/>
          </p:nvSpPr>
          <p:spPr>
            <a:xfrm>
              <a:off x="1371600" y="8191500"/>
              <a:ext cx="15544800" cy="952500"/>
            </a:xfrm>
            <a:prstGeom prst="roundRect">
              <a:avLst>
                <a:gd fmla="val 12000" name="adj"/>
              </a:avLst>
            </a:prstGeom>
            <a:solidFill>
              <a:srgbClr val="7C3AED">
                <a:alpha val="5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4"/>
            <p:cNvSpPr txBox="1"/>
            <p:nvPr/>
          </p:nvSpPr>
          <p:spPr>
            <a:xfrm>
              <a:off x="1371600" y="8191500"/>
              <a:ext cx="155448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800">
                  <a:solidFill>
                    <a:srgbClr val="6B7280"/>
                  </a:solidFill>
                  <a:latin typeface="Inter"/>
                  <a:ea typeface="Inter"/>
                  <a:cs typeface="Inter"/>
                  <a:sym typeface="Inter"/>
                </a:rPr>
                <a:t>Hitos alcanzados satisfactoriamente para el inicio de la Fase C.</a:t>
              </a:r>
              <a:endParaRPr b="0" sz="1800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5"/>
          <p:cNvSpPr/>
          <p:nvPr/>
        </p:nvSpPr>
        <p:spPr>
          <a:xfrm>
            <a:off x="0" y="0"/>
            <a:ext cx="18288000" cy="2286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1" name="Google Shape;121;p15"/>
          <p:cNvGrpSpPr/>
          <p:nvPr/>
        </p:nvGrpSpPr>
        <p:grpSpPr>
          <a:xfrm>
            <a:off x="1371600" y="762000"/>
            <a:ext cx="15544800" cy="1524000"/>
            <a:chOff x="1371600" y="762000"/>
            <a:chExt cx="15544800" cy="1524000"/>
          </a:xfrm>
        </p:grpSpPr>
        <p:sp>
          <p:nvSpPr>
            <p:cNvPr id="122" name="Google Shape;122;p15"/>
            <p:cNvSpPr txBox="1"/>
            <p:nvPr/>
          </p:nvSpPr>
          <p:spPr>
            <a:xfrm>
              <a:off x="1371600" y="762000"/>
              <a:ext cx="155448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7C3AED"/>
                  </a:solidFill>
                  <a:latin typeface="Inter"/>
                  <a:ea typeface="Inter"/>
                  <a:cs typeface="Inter"/>
                  <a:sym typeface="Inter"/>
                </a:rPr>
                <a:t>LO QUE SIGUE</a:t>
              </a:r>
              <a:endParaRPr b="1" sz="1800">
                <a:solidFill>
                  <a:srgbClr val="7C3AED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23" name="Google Shape;123;p15"/>
            <p:cNvSpPr txBox="1"/>
            <p:nvPr/>
          </p:nvSpPr>
          <p:spPr>
            <a:xfrm>
              <a:off x="1371600" y="1333500"/>
              <a:ext cx="155448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5600">
                  <a:solidFill>
                    <a:srgbClr val="0A0915"/>
                  </a:solidFill>
                  <a:latin typeface="Inter"/>
                  <a:ea typeface="Inter"/>
                  <a:cs typeface="Inter"/>
                  <a:sym typeface="Inter"/>
                </a:rPr>
                <a:t>Fase C: Modelado y configuración</a:t>
              </a:r>
              <a:endParaRPr b="1" sz="5600">
                <a:solidFill>
                  <a:srgbClr val="0A091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24" name="Google Shape;124;p15"/>
          <p:cNvGrpSpPr/>
          <p:nvPr/>
        </p:nvGrpSpPr>
        <p:grpSpPr>
          <a:xfrm>
            <a:off x="1371600" y="3048000"/>
            <a:ext cx="15544800" cy="2857500"/>
            <a:chOff x="1371600" y="3048000"/>
            <a:chExt cx="15544800" cy="2857500"/>
          </a:xfrm>
        </p:grpSpPr>
        <p:sp>
          <p:nvSpPr>
            <p:cNvPr id="125" name="Google Shape;125;p15"/>
            <p:cNvSpPr/>
            <p:nvPr/>
          </p:nvSpPr>
          <p:spPr>
            <a:xfrm>
              <a:off x="1371600" y="3048000"/>
              <a:ext cx="15544800" cy="2857500"/>
            </a:xfrm>
            <a:prstGeom prst="roundRect">
              <a:avLst>
                <a:gd fmla="val 6666" name="adj"/>
              </a:avLst>
            </a:prstGeom>
            <a:solidFill>
              <a:srgbClr val="F3F4F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" name="Google Shape;126;p15"/>
            <p:cNvSpPr txBox="1"/>
            <p:nvPr/>
          </p:nvSpPr>
          <p:spPr>
            <a:xfrm>
              <a:off x="1752600" y="3429000"/>
              <a:ext cx="147828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400">
                  <a:solidFill>
                    <a:srgbClr val="0A0915"/>
                  </a:solidFill>
                  <a:latin typeface="Inter"/>
                  <a:ea typeface="Inter"/>
                  <a:cs typeface="Inter"/>
                  <a:sym typeface="Inter"/>
                </a:rPr>
                <a:t>El gobierno y tú modelan en concreto los trámites priorizados. Las decisiones que tomaste en </a:t>
              </a:r>
              <a:r>
                <a:rPr b="1" lang="en-US" sz="2400">
                  <a:solidFill>
                    <a:srgbClr val="7C3AED"/>
                  </a:solidFill>
                  <a:latin typeface="Inter"/>
                  <a:ea typeface="Inter"/>
                  <a:cs typeface="Inter"/>
                  <a:sym typeface="Inter"/>
                </a:rPr>
                <a:t>Fase B</a:t>
              </a:r>
              <a:r>
                <a:rPr b="0" lang="en-US" sz="2400">
                  <a:solidFill>
                    <a:srgbClr val="0A0915"/>
                  </a:solidFill>
                  <a:latin typeface="Inter"/>
                  <a:ea typeface="Inter"/>
                  <a:cs typeface="Inter"/>
                  <a:sym typeface="Inter"/>
                </a:rPr>
                <a:t> se materializan en pantallas reales que el ciudadano va a usar.</a:t>
              </a:r>
              <a:endParaRPr b="0" sz="2400">
                <a:solidFill>
                  <a:srgbClr val="0A091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0" lang="en-US" sz="1800">
                  <a:solidFill>
                    <a:srgbClr val="6B7280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Incluye: Formularios, etapas, documento de salida y ficha del trámite.</a:t>
              </a:r>
              <a:endParaRPr b="0" sz="1800">
                <a:solidFill>
                  <a:srgbClr val="6B7280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grpSp>
        <p:nvGrpSpPr>
          <p:cNvPr id="127" name="Google Shape;127;p15"/>
          <p:cNvGrpSpPr/>
          <p:nvPr/>
        </p:nvGrpSpPr>
        <p:grpSpPr>
          <a:xfrm>
            <a:off x="1371600" y="6286500"/>
            <a:ext cx="15535275" cy="2286000"/>
            <a:chOff x="1371600" y="6286500"/>
            <a:chExt cx="15535275" cy="2286000"/>
          </a:xfrm>
        </p:grpSpPr>
        <p:grpSp>
          <p:nvGrpSpPr>
            <p:cNvPr id="128" name="Google Shape;128;p15"/>
            <p:cNvGrpSpPr/>
            <p:nvPr/>
          </p:nvGrpSpPr>
          <p:grpSpPr>
            <a:xfrm>
              <a:off x="1371600" y="6286500"/>
              <a:ext cx="3619500" cy="2286000"/>
              <a:chOff x="1371600" y="6286500"/>
              <a:chExt cx="3619500" cy="2286000"/>
            </a:xfrm>
          </p:grpSpPr>
          <p:sp>
            <p:nvSpPr>
              <p:cNvPr id="129" name="Google Shape;129;p15"/>
              <p:cNvSpPr/>
              <p:nvPr/>
            </p:nvSpPr>
            <p:spPr>
              <a:xfrm>
                <a:off x="1371600" y="6286500"/>
                <a:ext cx="3619500" cy="2286000"/>
              </a:xfrm>
              <a:prstGeom prst="roundRect">
                <a:avLst>
                  <a:gd fmla="val 6250" name="adj"/>
                </a:avLst>
              </a:prstGeom>
              <a:solidFill>
                <a:srgbClr val="FFFFFF"/>
              </a:solidFill>
              <a:ln cap="flat" cmpd="sng" w="19050">
                <a:solidFill>
                  <a:srgbClr val="E5E7E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" name="Google Shape;130;p15"/>
              <p:cNvSpPr txBox="1"/>
              <p:nvPr/>
            </p:nvSpPr>
            <p:spPr>
              <a:xfrm>
                <a:off x="1371600" y="6286500"/>
                <a:ext cx="3619500" cy="2286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190500" lIns="190500" spcFirstLastPara="1" rIns="190500" wrap="square" tIns="1905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4800">
                    <a:solidFill>
                      <a:srgbClr val="7C3AED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</a:t>
                </a:r>
                <a:endParaRPr sz="4800">
                  <a:solidFill>
                    <a:srgbClr val="7C3AED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  <a:p>
                <a:pPr indent="0" lvl="0" marL="0" rtl="0" algn="ctr">
                  <a:spcBef>
                    <a:spcPts val="1125"/>
                  </a:spcBef>
                  <a:spcAft>
                    <a:spcPts val="0"/>
                  </a:spcAft>
                  <a:buNone/>
                </a:pPr>
                <a:r>
                  <a:rPr b="1" lang="en-US" sz="1600">
                    <a:solidFill>
                      <a:srgbClr val="0A0915"/>
                    </a:solidFill>
                    <a:latin typeface="Inter"/>
                    <a:ea typeface="Inter"/>
                    <a:cs typeface="Inter"/>
                    <a:sym typeface="Inter"/>
                  </a:rPr>
                  <a:t>Formularios</a:t>
                </a:r>
                <a:endParaRPr b="1" sz="1600">
                  <a:solidFill>
                    <a:srgbClr val="0A0915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131" name="Google Shape;131;p15"/>
            <p:cNvGrpSpPr/>
            <p:nvPr/>
          </p:nvGrpSpPr>
          <p:grpSpPr>
            <a:xfrm>
              <a:off x="5343525" y="6286500"/>
              <a:ext cx="3619500" cy="2286000"/>
              <a:chOff x="5343525" y="6286500"/>
              <a:chExt cx="3619500" cy="2286000"/>
            </a:xfrm>
          </p:grpSpPr>
          <p:sp>
            <p:nvSpPr>
              <p:cNvPr id="132" name="Google Shape;132;p15"/>
              <p:cNvSpPr/>
              <p:nvPr/>
            </p:nvSpPr>
            <p:spPr>
              <a:xfrm>
                <a:off x="5343525" y="6286500"/>
                <a:ext cx="3619500" cy="2286000"/>
              </a:xfrm>
              <a:prstGeom prst="roundRect">
                <a:avLst>
                  <a:gd fmla="val 6250" name="adj"/>
                </a:avLst>
              </a:prstGeom>
              <a:solidFill>
                <a:srgbClr val="FFFFFF"/>
              </a:solidFill>
              <a:ln cap="flat" cmpd="sng" w="19050">
                <a:solidFill>
                  <a:srgbClr val="E5E7E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3" name="Google Shape;133;p15"/>
              <p:cNvSpPr txBox="1"/>
              <p:nvPr/>
            </p:nvSpPr>
            <p:spPr>
              <a:xfrm>
                <a:off x="5343525" y="6286500"/>
                <a:ext cx="3619500" cy="2286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190500" lIns="190500" spcFirstLastPara="1" rIns="190500" wrap="square" tIns="1905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4800">
                    <a:solidFill>
                      <a:srgbClr val="7C3AED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</a:t>
                </a:r>
                <a:endParaRPr sz="4800">
                  <a:solidFill>
                    <a:srgbClr val="7C3AED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  <a:p>
                <a:pPr indent="0" lvl="0" marL="0" rtl="0" algn="ctr">
                  <a:spcBef>
                    <a:spcPts val="1125"/>
                  </a:spcBef>
                  <a:spcAft>
                    <a:spcPts val="0"/>
                  </a:spcAft>
                  <a:buNone/>
                </a:pPr>
                <a:r>
                  <a:rPr b="1" lang="en-US" sz="1600">
                    <a:solidFill>
                      <a:srgbClr val="0A0915"/>
                    </a:solidFill>
                    <a:latin typeface="Inter"/>
                    <a:ea typeface="Inter"/>
                    <a:cs typeface="Inter"/>
                    <a:sym typeface="Inter"/>
                  </a:rPr>
                  <a:t>Etapas</a:t>
                </a:r>
                <a:endParaRPr b="1" sz="1600">
                  <a:solidFill>
                    <a:srgbClr val="0A0915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134" name="Google Shape;134;p15"/>
            <p:cNvGrpSpPr/>
            <p:nvPr/>
          </p:nvGrpSpPr>
          <p:grpSpPr>
            <a:xfrm>
              <a:off x="9315450" y="6286500"/>
              <a:ext cx="3619500" cy="2286000"/>
              <a:chOff x="9315450" y="6286500"/>
              <a:chExt cx="3619500" cy="2286000"/>
            </a:xfrm>
          </p:grpSpPr>
          <p:sp>
            <p:nvSpPr>
              <p:cNvPr id="135" name="Google Shape;135;p15"/>
              <p:cNvSpPr/>
              <p:nvPr/>
            </p:nvSpPr>
            <p:spPr>
              <a:xfrm>
                <a:off x="9315450" y="6286500"/>
                <a:ext cx="3619500" cy="2286000"/>
              </a:xfrm>
              <a:prstGeom prst="roundRect">
                <a:avLst>
                  <a:gd fmla="val 6250" name="adj"/>
                </a:avLst>
              </a:prstGeom>
              <a:solidFill>
                <a:srgbClr val="FFFFFF"/>
              </a:solidFill>
              <a:ln cap="flat" cmpd="sng" w="19050">
                <a:solidFill>
                  <a:srgbClr val="E5E7E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" name="Google Shape;136;p15"/>
              <p:cNvSpPr txBox="1"/>
              <p:nvPr/>
            </p:nvSpPr>
            <p:spPr>
              <a:xfrm>
                <a:off x="9315450" y="6286500"/>
                <a:ext cx="3619500" cy="2286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190500" lIns="190500" spcFirstLastPara="1" rIns="190500" wrap="square" tIns="1905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4800">
                    <a:solidFill>
                      <a:srgbClr val="7C3AED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</a:t>
                </a:r>
                <a:endParaRPr sz="4800">
                  <a:solidFill>
                    <a:srgbClr val="7C3AED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  <a:p>
                <a:pPr indent="0" lvl="0" marL="0" rtl="0" algn="ctr">
                  <a:spcBef>
                    <a:spcPts val="1125"/>
                  </a:spcBef>
                  <a:spcAft>
                    <a:spcPts val="0"/>
                  </a:spcAft>
                  <a:buNone/>
                </a:pPr>
                <a:r>
                  <a:rPr b="1" lang="en-US" sz="1600">
                    <a:solidFill>
                      <a:srgbClr val="0A0915"/>
                    </a:solidFill>
                    <a:latin typeface="Inter"/>
                    <a:ea typeface="Inter"/>
                    <a:cs typeface="Inter"/>
                    <a:sym typeface="Inter"/>
                  </a:rPr>
                  <a:t>Documentos</a:t>
                </a:r>
                <a:endParaRPr b="1" sz="1600">
                  <a:solidFill>
                    <a:srgbClr val="0A0915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137" name="Google Shape;137;p15"/>
            <p:cNvGrpSpPr/>
            <p:nvPr/>
          </p:nvGrpSpPr>
          <p:grpSpPr>
            <a:xfrm>
              <a:off x="13287375" y="6286500"/>
              <a:ext cx="3619500" cy="2286000"/>
              <a:chOff x="13287375" y="6286500"/>
              <a:chExt cx="3619500" cy="2286000"/>
            </a:xfrm>
          </p:grpSpPr>
          <p:sp>
            <p:nvSpPr>
              <p:cNvPr id="138" name="Google Shape;138;p15"/>
              <p:cNvSpPr/>
              <p:nvPr/>
            </p:nvSpPr>
            <p:spPr>
              <a:xfrm>
                <a:off x="13287375" y="6286500"/>
                <a:ext cx="3619500" cy="2286000"/>
              </a:xfrm>
              <a:prstGeom prst="roundRect">
                <a:avLst>
                  <a:gd fmla="val 6250" name="adj"/>
                </a:avLst>
              </a:prstGeom>
              <a:solidFill>
                <a:srgbClr val="FFFFFF"/>
              </a:solidFill>
              <a:ln cap="flat" cmpd="sng" w="19050">
                <a:solidFill>
                  <a:srgbClr val="E5E7E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" name="Google Shape;139;p15"/>
              <p:cNvSpPr txBox="1"/>
              <p:nvPr/>
            </p:nvSpPr>
            <p:spPr>
              <a:xfrm>
                <a:off x="13287375" y="6286500"/>
                <a:ext cx="3619500" cy="2286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190500" lIns="190500" spcFirstLastPara="1" rIns="190500" wrap="square" tIns="1905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4800">
                    <a:solidFill>
                      <a:srgbClr val="7C3AED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</a:t>
                </a:r>
                <a:endParaRPr sz="4800">
                  <a:solidFill>
                    <a:srgbClr val="7C3AED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  <a:p>
                <a:pPr indent="0" lvl="0" marL="0" rtl="0" algn="ctr">
                  <a:spcBef>
                    <a:spcPts val="1125"/>
                  </a:spcBef>
                  <a:spcAft>
                    <a:spcPts val="0"/>
                  </a:spcAft>
                  <a:buNone/>
                </a:pPr>
                <a:r>
                  <a:rPr b="1" lang="en-US" sz="1600">
                    <a:solidFill>
                      <a:srgbClr val="0A0915"/>
                    </a:solidFill>
                    <a:latin typeface="Inter"/>
                    <a:ea typeface="Inter"/>
                    <a:cs typeface="Inter"/>
                    <a:sym typeface="Inter"/>
                  </a:rPr>
                  <a:t>Pantallas Reales</a:t>
                </a:r>
                <a:endParaRPr b="1" sz="1600">
                  <a:solidFill>
                    <a:srgbClr val="0A0915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sp>
        <p:nvSpPr>
          <p:cNvPr id="140" name="Google Shape;140;p15"/>
          <p:cNvSpPr txBox="1"/>
          <p:nvPr/>
        </p:nvSpPr>
        <p:spPr>
          <a:xfrm>
            <a:off x="1371600" y="9144000"/>
            <a:ext cx="155448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Transformando decisiones estratégicas en una experiencia ciudadana tangible.</a:t>
            </a:r>
            <a:endParaRPr b="0" sz="1400">
              <a:solidFill>
                <a:srgbClr val="9CA3AF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6"/>
          <p:cNvSpPr/>
          <p:nvPr/>
        </p:nvSpPr>
        <p:spPr>
          <a:xfrm>
            <a:off x="0" y="0"/>
            <a:ext cx="18288000" cy="2286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6"/>
          <p:cNvSpPr txBox="1"/>
          <p:nvPr/>
        </p:nvSpPr>
        <p:spPr>
          <a:xfrm>
            <a:off x="1371600" y="762000"/>
            <a:ext cx="15544800" cy="861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600">
                <a:solidFill>
                  <a:srgbClr val="0A0915"/>
                </a:solidFill>
                <a:latin typeface="Inter"/>
                <a:ea typeface="Inter"/>
                <a:cs typeface="Inter"/>
                <a:sym typeface="Inter"/>
              </a:rPr>
              <a:t>En la próxima fase vas a ver</a:t>
            </a:r>
            <a:endParaRPr b="1" sz="5600">
              <a:solidFill>
                <a:srgbClr val="0A091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148" name="Google Shape;148;p16"/>
          <p:cNvGrpSpPr/>
          <p:nvPr/>
        </p:nvGrpSpPr>
        <p:grpSpPr>
          <a:xfrm>
            <a:off x="1371600" y="2667000"/>
            <a:ext cx="4953000" cy="3810000"/>
            <a:chOff x="1371600" y="2667000"/>
            <a:chExt cx="4953000" cy="3810000"/>
          </a:xfrm>
        </p:grpSpPr>
        <p:sp>
          <p:nvSpPr>
            <p:cNvPr id="149" name="Google Shape;149;p16"/>
            <p:cNvSpPr/>
            <p:nvPr/>
          </p:nvSpPr>
          <p:spPr>
            <a:xfrm>
              <a:off x="1371600" y="2667000"/>
              <a:ext cx="4953000" cy="3810000"/>
            </a:xfrm>
            <a:prstGeom prst="roundRect">
              <a:avLst>
                <a:gd fmla="val 5000" name="adj"/>
              </a:avLst>
            </a:prstGeom>
            <a:solidFill>
              <a:srgbClr val="F3F4F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" name="Google Shape;150;p16"/>
            <p:cNvSpPr txBox="1"/>
            <p:nvPr/>
          </p:nvSpPr>
          <p:spPr>
            <a:xfrm>
              <a:off x="1752600" y="3048000"/>
              <a:ext cx="4191000" cy="304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800">
                  <a:solidFill>
                    <a:srgbClr val="7C3AED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</a:t>
              </a:r>
              <a:endParaRPr sz="4800">
                <a:solidFill>
                  <a:srgbClr val="7C3AED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0A0915"/>
                  </a:solidFill>
                  <a:latin typeface="Inter"/>
                  <a:ea typeface="Inter"/>
                  <a:cs typeface="Inter"/>
                  <a:sym typeface="Inter"/>
                </a:rPr>
                <a:t>Configuración Concreta</a:t>
              </a:r>
              <a:endParaRPr b="1" sz="2400">
                <a:solidFill>
                  <a:srgbClr val="0A091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0" lang="en-US" sz="1800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rPr>
                <a:t>Cómo se traduce el discovery en configuraciones reales y operativas.</a:t>
              </a:r>
              <a:endParaRPr b="0" sz="18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51" name="Google Shape;151;p16"/>
          <p:cNvGrpSpPr/>
          <p:nvPr/>
        </p:nvGrpSpPr>
        <p:grpSpPr>
          <a:xfrm>
            <a:off x="6667500" y="2667000"/>
            <a:ext cx="4953000" cy="3810000"/>
            <a:chOff x="6667500" y="2667000"/>
            <a:chExt cx="4953000" cy="3810000"/>
          </a:xfrm>
        </p:grpSpPr>
        <p:sp>
          <p:nvSpPr>
            <p:cNvPr id="152" name="Google Shape;152;p16"/>
            <p:cNvSpPr/>
            <p:nvPr/>
          </p:nvSpPr>
          <p:spPr>
            <a:xfrm>
              <a:off x="6667500" y="2667000"/>
              <a:ext cx="4953000" cy="3810000"/>
            </a:xfrm>
            <a:prstGeom prst="roundRect">
              <a:avLst>
                <a:gd fmla="val 5000" name="adj"/>
              </a:avLst>
            </a:prstGeom>
            <a:solidFill>
              <a:srgbClr val="F3F4F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16"/>
            <p:cNvSpPr txBox="1"/>
            <p:nvPr/>
          </p:nvSpPr>
          <p:spPr>
            <a:xfrm>
              <a:off x="7048500" y="3048000"/>
              <a:ext cx="4191000" cy="304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800">
                  <a:solidFill>
                    <a:srgbClr val="7C3AED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</a:t>
              </a:r>
              <a:endParaRPr sz="4800">
                <a:solidFill>
                  <a:srgbClr val="7C3AED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0A0915"/>
                  </a:solidFill>
                  <a:latin typeface="Inter"/>
                  <a:ea typeface="Inter"/>
                  <a:cs typeface="Inter"/>
                  <a:sym typeface="Inter"/>
                </a:rPr>
                <a:t>Modelado Ágil</a:t>
              </a:r>
              <a:endParaRPr b="1" sz="2400">
                <a:solidFill>
                  <a:srgbClr val="0A091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0" lang="en-US" sz="1800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rPr>
                <a:t>Cómo se modela un formulario eficiente, evitando la sobre-ingeniería innecesaria.</a:t>
              </a:r>
              <a:endParaRPr b="0" sz="18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54" name="Google Shape;154;p16"/>
          <p:cNvGrpSpPr/>
          <p:nvPr/>
        </p:nvGrpSpPr>
        <p:grpSpPr>
          <a:xfrm>
            <a:off x="11963400" y="2667000"/>
            <a:ext cx="4953000" cy="3810000"/>
            <a:chOff x="11963400" y="2667000"/>
            <a:chExt cx="4953000" cy="3810000"/>
          </a:xfrm>
        </p:grpSpPr>
        <p:sp>
          <p:nvSpPr>
            <p:cNvPr id="155" name="Google Shape;155;p16"/>
            <p:cNvSpPr/>
            <p:nvPr/>
          </p:nvSpPr>
          <p:spPr>
            <a:xfrm>
              <a:off x="11963400" y="2667000"/>
              <a:ext cx="4953000" cy="3810000"/>
            </a:xfrm>
            <a:prstGeom prst="roundRect">
              <a:avLst>
                <a:gd fmla="val 5000" name="adj"/>
              </a:avLst>
            </a:prstGeom>
            <a:solidFill>
              <a:srgbClr val="F3F4F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" name="Google Shape;156;p16"/>
            <p:cNvSpPr txBox="1"/>
            <p:nvPr/>
          </p:nvSpPr>
          <p:spPr>
            <a:xfrm>
              <a:off x="12344400" y="3048000"/>
              <a:ext cx="4191000" cy="304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800">
                  <a:solidFill>
                    <a:srgbClr val="7C3AED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</a:t>
              </a:r>
              <a:endParaRPr sz="4800">
                <a:solidFill>
                  <a:srgbClr val="7C3AED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0A0915"/>
                  </a:solidFill>
                  <a:latin typeface="Inter"/>
                  <a:ea typeface="Inter"/>
                  <a:cs typeface="Inter"/>
                  <a:sym typeface="Inter"/>
                </a:rPr>
                <a:t>Gestión de Etapas</a:t>
              </a:r>
              <a:endParaRPr b="1" sz="2400">
                <a:solidFill>
                  <a:srgbClr val="0A091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0" lang="en-US" sz="1800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rPr>
                <a:t>Diseño de flujos de trabajo claros para que el funcionario gestione sin perderse.</a:t>
              </a:r>
              <a:endParaRPr b="0" sz="18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57" name="Google Shape;157;p16"/>
          <p:cNvGrpSpPr/>
          <p:nvPr/>
        </p:nvGrpSpPr>
        <p:grpSpPr>
          <a:xfrm>
            <a:off x="1371600" y="7620000"/>
            <a:ext cx="15544800" cy="762000"/>
            <a:chOff x="1371600" y="7620000"/>
            <a:chExt cx="15544800" cy="762000"/>
          </a:xfrm>
        </p:grpSpPr>
        <p:sp>
          <p:nvSpPr>
            <p:cNvPr id="158" name="Google Shape;158;p16"/>
            <p:cNvSpPr/>
            <p:nvPr/>
          </p:nvSpPr>
          <p:spPr>
            <a:xfrm>
              <a:off x="1371600" y="7620000"/>
              <a:ext cx="15544800" cy="762000"/>
            </a:xfrm>
            <a:prstGeom prst="roundRect">
              <a:avLst>
                <a:gd fmla="val 15000" name="adj"/>
              </a:avLst>
            </a:prstGeom>
            <a:solidFill>
              <a:srgbClr val="7C3AED">
                <a:alpha val="5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" name="Google Shape;159;p16"/>
            <p:cNvSpPr txBox="1"/>
            <p:nvPr/>
          </p:nvSpPr>
          <p:spPr>
            <a:xfrm>
              <a:off x="1371600" y="7620000"/>
              <a:ext cx="155448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800">
                  <a:solidFill>
                    <a:srgbClr val="6B7280"/>
                  </a:solidFill>
                  <a:latin typeface="Inter"/>
                  <a:ea typeface="Inter"/>
                  <a:cs typeface="Inter"/>
                  <a:sym typeface="Inter"/>
                </a:rPr>
                <a:t>Objetivos clave para garantizar una transición exitosa hacia la Fase C.</a:t>
              </a:r>
              <a:endParaRPr b="0" sz="1800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7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7C3AE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7"/>
          <p:cNvSpPr txBox="1"/>
          <p:nvPr/>
        </p:nvSpPr>
        <p:spPr>
          <a:xfrm>
            <a:off x="1371600" y="2861525"/>
            <a:ext cx="15544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La Fase B prepara al equipo.</a:t>
            </a:r>
            <a:endParaRPr/>
          </a:p>
        </p:txBody>
      </p:sp>
      <p:sp>
        <p:nvSpPr>
          <p:cNvPr id="167" name="Google Shape;167;p17"/>
          <p:cNvSpPr txBox="1"/>
          <p:nvPr/>
        </p:nvSpPr>
        <p:spPr>
          <a:xfrm>
            <a:off x="1371600" y="3882905"/>
            <a:ext cx="15544800" cy="252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La Fase C construye los trámites</a:t>
            </a:r>
            <a:endParaRPr/>
          </a:p>
        </p:txBody>
      </p:sp>
      <p:sp>
        <p:nvSpPr>
          <p:cNvPr id="168" name="Google Shape;168;p17"/>
          <p:cNvSpPr txBox="1"/>
          <p:nvPr/>
        </p:nvSpPr>
        <p:spPr>
          <a:xfrm>
            <a:off x="1371600" y="6778975"/>
            <a:ext cx="15544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Si la B quedó cerrada en serio, la C avanza sin frenos.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