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ExtraBold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12.0s · 30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primera reunión de la Fase B es la Capacitación Conceptual. Obligatoria, entre dos y tres horas, con el equipo core completo. Si el dueño del proyecto puede asistir, mejor.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27.6s · 69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objetivo es nivelar el lenguaje. Que todos los que van a trabajar el ciclo entiendan, en el mismo idioma, qué es identidad digital, qué son las credenciales verificables, qué es una ventanilla digital y qué significa interoperabilidad. Esto no es técnico, es conceptual. No estás enseñando a configurar nada todavía. Estás dándole al gobierno el vocabulario con el que van a tomar decisiones durante los próximos noventa días.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26.4s · 66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agenda recorre cinco temas. Qué es identidad digital y por qué importa. Qué son las credenciales verificables, cómo funcionan y en qué casos reales se aplican. Qué es una ventanilla digital y en qué se diferencia de un portal tradicional. Cómo se conectan los sistemas entre sí, que es lo que llamamos interoperabilidad. Y casos reales de otros gobiernos: Nuevo León, San Miguel, San Juan.</a:t>
            </a: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5.6s · 14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casos son clave. La teoría sin ejemplo concreto se olvida en una semana.</a:t>
            </a:r>
            <a:endParaRPr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18.0s · 45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Tres entregables salen de esta reunión. El equipo core alineado en los conceptos fundamentales. Una lista de preguntas frecuentes documentadas, porque siempre las hay. Y una base compartida de lenguaje, que es el insumo más valioso: a partir de acá todos hablan el mismo idioma.</a:t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9.6s · 24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capacitación conceptual no enseña a usar la plataforma. Enseña a pensar en plataforma. Sin eso, todo lo demás llega al gobierno como ruido.</a:t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FASE 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Capacitación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Conceptual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Obligatoria · 2 a 3 horas · equipo core completo. Si el dueño del proyecto puede asistir, mejor.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" name="Google Shape;95;p14"/>
          <p:cNvGrpSpPr/>
          <p:nvPr/>
        </p:nvGrpSpPr>
        <p:grpSpPr>
          <a:xfrm>
            <a:off x="1371600" y="762000"/>
            <a:ext cx="15544800" cy="1428750"/>
            <a:chOff x="1371600" y="762000"/>
            <a:chExt cx="15544800" cy="1428750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1371600" y="762000"/>
              <a:ext cx="15544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EL OBJETIVO</a:t>
              </a:r>
              <a:endParaRPr b="1" sz="1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371600" y="1238250"/>
              <a:ext cx="1554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92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Nivelar el lenguaje</a:t>
              </a:r>
              <a:endParaRPr b="1" sz="592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1371600" y="2476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Garantizar que todos los participantes del ciclo comprendan y utilicen los mismos conceptos fundamentales:</a:t>
            </a:r>
            <a:endParaRPr b="0" sz="22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1371600" y="3810000"/>
            <a:ext cx="14954400" cy="3810000"/>
            <a:chOff x="1371600" y="3810000"/>
            <a:chExt cx="14954400" cy="3810000"/>
          </a:xfrm>
        </p:grpSpPr>
        <p:sp>
          <p:nvSpPr>
            <p:cNvPr id="100" name="Google Shape;100;p14"/>
            <p:cNvSpPr/>
            <p:nvPr/>
          </p:nvSpPr>
          <p:spPr>
            <a:xfrm>
              <a:off x="1371600" y="3810000"/>
              <a:ext cx="3524400" cy="3810000"/>
            </a:xfrm>
            <a:prstGeom prst="roundRect">
              <a:avLst>
                <a:gd fmla="val 6486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1657350" y="4095750"/>
              <a:ext cx="2952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</a:t>
              </a:r>
              <a:endParaRPr sz="32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Identidad Digital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 base de la representación única de personas y empresas en el entorno digital.</a:t>
              </a:r>
              <a:endParaRPr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5181600" y="3810000"/>
              <a:ext cx="3524400" cy="3810000"/>
            </a:xfrm>
            <a:prstGeom prst="roundRect">
              <a:avLst>
                <a:gd fmla="val 6486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5467350" y="4095750"/>
              <a:ext cx="2952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</a:t>
              </a:r>
              <a:endParaRPr sz="32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Credenciales Verificables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Documentos digitales seguros que permiten validar atributos de forma instantánea.</a:t>
              </a:r>
              <a:endParaRPr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8991600" y="3810000"/>
              <a:ext cx="3524400" cy="3810000"/>
            </a:xfrm>
            <a:prstGeom prst="roundRect">
              <a:avLst>
                <a:gd fmla="val 6486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9277350" y="4095750"/>
              <a:ext cx="2952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</a:t>
              </a:r>
              <a:endParaRPr sz="32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Ventanilla Digital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El punto de acceso unificado para la gestión de trámites y servicios.</a:t>
              </a:r>
              <a:endParaRPr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12801600" y="3810000"/>
              <a:ext cx="3524400" cy="3810000"/>
            </a:xfrm>
            <a:prstGeom prst="roundRect">
              <a:avLst>
                <a:gd fmla="val 6486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 txBox="1"/>
            <p:nvPr/>
          </p:nvSpPr>
          <p:spPr>
            <a:xfrm>
              <a:off x="13087350" y="4095750"/>
              <a:ext cx="2952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</a:t>
              </a:r>
              <a:endParaRPr sz="32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Interoperabilidad</a:t>
              </a:r>
              <a:endParaRPr b="1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La capacidad de los sistemas para intercambiar y utilizar información de manera efectiva.</a:t>
              </a:r>
              <a:endParaRPr sz="14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8" name="Google Shape;108;p14"/>
          <p:cNvGrpSpPr/>
          <p:nvPr/>
        </p:nvGrpSpPr>
        <p:grpSpPr>
          <a:xfrm>
            <a:off x="1371600" y="8191500"/>
            <a:ext cx="15544800" cy="952500"/>
            <a:chOff x="1371600" y="8191500"/>
            <a:chExt cx="15544800" cy="952500"/>
          </a:xfrm>
        </p:grpSpPr>
        <p:sp>
          <p:nvSpPr>
            <p:cNvPr id="109" name="Google Shape;109;p14"/>
            <p:cNvSpPr/>
            <p:nvPr/>
          </p:nvSpPr>
          <p:spPr>
            <a:xfrm>
              <a:off x="1371600" y="8191500"/>
              <a:ext cx="15544800" cy="952500"/>
            </a:xfrm>
            <a:prstGeom prst="roundRect">
              <a:avLst>
                <a:gd fmla="val 16000" name="adj"/>
              </a:avLst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1657350" y="8191500"/>
              <a:ext cx="1497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Hablar el mismo idioma es el primer paso para una implementación exitosa.</a:t>
              </a:r>
              <a:endParaRPr b="0" sz="200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371600" y="952500"/>
            <a:ext cx="15544800" cy="62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8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agenda recorre cinco temas</a:t>
            </a:r>
            <a:endParaRPr b="1" sz="408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1371600" y="2095500"/>
            <a:ext cx="15544800" cy="1047900"/>
            <a:chOff x="1371600" y="2095500"/>
            <a:chExt cx="15544800" cy="1047900"/>
          </a:xfrm>
        </p:grpSpPr>
        <p:sp>
          <p:nvSpPr>
            <p:cNvPr id="119" name="Google Shape;119;p15"/>
            <p:cNvSpPr/>
            <p:nvPr/>
          </p:nvSpPr>
          <p:spPr>
            <a:xfrm>
              <a:off x="1371600" y="2095500"/>
              <a:ext cx="15544800" cy="1047900"/>
            </a:xfrm>
            <a:prstGeom prst="roundRect">
              <a:avLst>
                <a:gd fmla="val 14545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5"/>
            <p:cNvSpPr txBox="1"/>
            <p:nvPr/>
          </p:nvSpPr>
          <p:spPr>
            <a:xfrm>
              <a:off x="1752600" y="209550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b="0" sz="32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2705100" y="2095500"/>
              <a:ext cx="1383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Qué es identidad digital y por qué importa.</a:t>
              </a:r>
              <a:endParaRPr b="0" sz="2400">
                <a:solidFill>
                  <a:srgbClr val="0A091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1371600" y="3333750"/>
            <a:ext cx="15544800" cy="1047900"/>
            <a:chOff x="1371600" y="3333750"/>
            <a:chExt cx="15544800" cy="1047900"/>
          </a:xfrm>
        </p:grpSpPr>
        <p:sp>
          <p:nvSpPr>
            <p:cNvPr id="123" name="Google Shape;123;p15"/>
            <p:cNvSpPr/>
            <p:nvPr/>
          </p:nvSpPr>
          <p:spPr>
            <a:xfrm>
              <a:off x="1371600" y="3333750"/>
              <a:ext cx="15544800" cy="1047900"/>
            </a:xfrm>
            <a:prstGeom prst="roundRect">
              <a:avLst>
                <a:gd fmla="val 14545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1752600" y="333375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b="0" sz="32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2705100" y="3333750"/>
              <a:ext cx="1383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Qué son las credenciales verificables y en qué casos reales se aplican.</a:t>
              </a:r>
              <a:endParaRPr b="0" sz="2400">
                <a:solidFill>
                  <a:srgbClr val="0A091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371600" y="4572000"/>
            <a:ext cx="15544800" cy="1047900"/>
            <a:chOff x="1371600" y="4572000"/>
            <a:chExt cx="15544800" cy="1047900"/>
          </a:xfrm>
        </p:grpSpPr>
        <p:sp>
          <p:nvSpPr>
            <p:cNvPr id="127" name="Google Shape;127;p15"/>
            <p:cNvSpPr/>
            <p:nvPr/>
          </p:nvSpPr>
          <p:spPr>
            <a:xfrm>
              <a:off x="1371600" y="4572000"/>
              <a:ext cx="15544800" cy="1047900"/>
            </a:xfrm>
            <a:prstGeom prst="roundRect">
              <a:avLst>
                <a:gd fmla="val 14545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5"/>
            <p:cNvSpPr txBox="1"/>
            <p:nvPr/>
          </p:nvSpPr>
          <p:spPr>
            <a:xfrm>
              <a:off x="1752600" y="457200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b="0" sz="32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2705100" y="4572000"/>
              <a:ext cx="1383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Qué es una ventanilla digital y en qué se diferencia de un portal tradicional.</a:t>
              </a:r>
              <a:endParaRPr b="0" sz="2400">
                <a:solidFill>
                  <a:srgbClr val="0A091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1371600" y="5810250"/>
            <a:ext cx="15544800" cy="1047900"/>
            <a:chOff x="1371600" y="5810250"/>
            <a:chExt cx="15544800" cy="1047900"/>
          </a:xfrm>
        </p:grpSpPr>
        <p:sp>
          <p:nvSpPr>
            <p:cNvPr id="131" name="Google Shape;131;p15"/>
            <p:cNvSpPr/>
            <p:nvPr/>
          </p:nvSpPr>
          <p:spPr>
            <a:xfrm>
              <a:off x="1371600" y="5810250"/>
              <a:ext cx="15544800" cy="1047900"/>
            </a:xfrm>
            <a:prstGeom prst="roundRect">
              <a:avLst>
                <a:gd fmla="val 14545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1752600" y="581025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b="0" sz="32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2705100" y="5810250"/>
              <a:ext cx="1383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Cómo se conectan los sistemas: interoperabilidad.</a:t>
              </a:r>
              <a:endParaRPr b="0" sz="2400">
                <a:solidFill>
                  <a:srgbClr val="0A091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4" name="Google Shape;134;p15"/>
          <p:cNvGrpSpPr/>
          <p:nvPr/>
        </p:nvGrpSpPr>
        <p:grpSpPr>
          <a:xfrm>
            <a:off x="1371600" y="7048500"/>
            <a:ext cx="15544800" cy="1047900"/>
            <a:chOff x="1371600" y="7048500"/>
            <a:chExt cx="15544800" cy="1047900"/>
          </a:xfrm>
        </p:grpSpPr>
        <p:sp>
          <p:nvSpPr>
            <p:cNvPr id="135" name="Google Shape;135;p15"/>
            <p:cNvSpPr/>
            <p:nvPr/>
          </p:nvSpPr>
          <p:spPr>
            <a:xfrm>
              <a:off x="1371600" y="7048500"/>
              <a:ext cx="15544800" cy="1047900"/>
            </a:xfrm>
            <a:prstGeom prst="roundRect">
              <a:avLst>
                <a:gd fmla="val 14545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5"/>
            <p:cNvSpPr txBox="1"/>
            <p:nvPr/>
          </p:nvSpPr>
          <p:spPr>
            <a:xfrm>
              <a:off x="1752600" y="7048500"/>
              <a:ext cx="762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7C3AED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b="0" sz="3200">
                <a:solidFill>
                  <a:srgbClr val="7C3AED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2705100" y="7048500"/>
              <a:ext cx="138303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Casos reales: Nuevo León, San Miguel, San Juan.</a:t>
              </a:r>
              <a:endParaRPr b="0" sz="2400">
                <a:solidFill>
                  <a:srgbClr val="0A0915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8" name="Google Shape;138;p15"/>
          <p:cNvGrpSpPr/>
          <p:nvPr/>
        </p:nvGrpSpPr>
        <p:grpSpPr>
          <a:xfrm>
            <a:off x="1371600" y="8382000"/>
            <a:ext cx="15544800" cy="762000"/>
            <a:chOff x="1371600" y="8382000"/>
            <a:chExt cx="15544800" cy="762000"/>
          </a:xfrm>
        </p:grpSpPr>
        <p:sp>
          <p:nvSpPr>
            <p:cNvPr id="139" name="Google Shape;139;p15"/>
            <p:cNvSpPr/>
            <p:nvPr/>
          </p:nvSpPr>
          <p:spPr>
            <a:xfrm>
              <a:off x="1371600" y="8382000"/>
              <a:ext cx="15544800" cy="762000"/>
            </a:xfrm>
            <a:prstGeom prst="roundRect">
              <a:avLst>
                <a:gd fmla="val 20000" name="adj"/>
              </a:avLst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5"/>
            <p:cNvSpPr txBox="1"/>
            <p:nvPr/>
          </p:nvSpPr>
          <p:spPr>
            <a:xfrm>
              <a:off x="1371600" y="8382000"/>
              <a:ext cx="155448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 recorrido estratégico por los pilares de la transformación digital.</a:t>
              </a:r>
              <a:endParaRPr b="0" sz="180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371600" y="762000"/>
            <a:ext cx="15544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POR QUÉ LOS CASOS SON CLAVE</a:t>
            </a:r>
            <a:endParaRPr b="1" sz="1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371600" y="1238250"/>
            <a:ext cx="15544800" cy="146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teoría sin ejemplo concreto</a:t>
            </a:r>
            <a:endParaRPr b="1" sz="476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se olvida en una semana</a:t>
            </a:r>
            <a:endParaRPr b="1" sz="476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9" name="Google Shape;149;p16"/>
          <p:cNvGrpSpPr/>
          <p:nvPr/>
        </p:nvGrpSpPr>
        <p:grpSpPr>
          <a:xfrm>
            <a:off x="1371600" y="3619500"/>
            <a:ext cx="15544800" cy="3810000"/>
            <a:chOff x="1371600" y="3619500"/>
            <a:chExt cx="15544800" cy="3810000"/>
          </a:xfrm>
        </p:grpSpPr>
        <p:sp>
          <p:nvSpPr>
            <p:cNvPr id="150" name="Google Shape;150;p16"/>
            <p:cNvSpPr/>
            <p:nvPr/>
          </p:nvSpPr>
          <p:spPr>
            <a:xfrm>
              <a:off x="1371600" y="3619500"/>
              <a:ext cx="7429500" cy="3810000"/>
            </a:xfrm>
            <a:prstGeom prst="roundRect">
              <a:avLst>
                <a:gd fmla="val 6000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 txBox="1"/>
            <p:nvPr/>
          </p:nvSpPr>
          <p:spPr>
            <a:xfrm>
              <a:off x="1657350" y="3905250"/>
              <a:ext cx="685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</a:t>
              </a:r>
              <a:endParaRPr sz="40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Solo Teoría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Conceptos abstractos que no logran anclarse en la realidad operativa.</a:t>
              </a:r>
              <a:endParaRPr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6B7280"/>
                </a:buClr>
                <a:buSzPts val="1400"/>
                <a:buFont typeface="Inter"/>
                <a:buChar char="●"/>
              </a:pPr>
              <a:r>
                <a:rPr lang="en-US" sz="14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Dificultad de retención</a:t>
              </a:r>
              <a:endParaRPr sz="14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B7280"/>
                </a:buClr>
                <a:buSzPts val="1400"/>
                <a:buFont typeface="Inter"/>
                <a:buChar char="●"/>
              </a:pPr>
              <a:r>
                <a:rPr lang="en-US" sz="14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Desconexión con la práctica</a:t>
              </a:r>
              <a:endParaRPr sz="14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6B7280"/>
                </a:buClr>
                <a:buSzPts val="1400"/>
                <a:buFont typeface="Inter"/>
                <a:buChar char="●"/>
              </a:pPr>
              <a:r>
                <a:rPr lang="en-US" sz="14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Se percibe como "ruido"</a:t>
              </a:r>
              <a:endParaRPr sz="14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9486900" y="3619500"/>
              <a:ext cx="7429500" cy="3810000"/>
            </a:xfrm>
            <a:prstGeom prst="roundRect">
              <a:avLst>
                <a:gd fmla="val 6000" name="adj"/>
              </a:avLst>
            </a:prstGeom>
            <a:solidFill>
              <a:srgbClr val="F5F3FF"/>
            </a:solidFill>
            <a:ln cap="flat" cmpd="sng" w="1905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6"/>
            <p:cNvSpPr txBox="1"/>
            <p:nvPr/>
          </p:nvSpPr>
          <p:spPr>
            <a:xfrm>
              <a:off x="9772650" y="3905250"/>
              <a:ext cx="685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</a:t>
              </a:r>
              <a:endParaRPr sz="40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Casos Reales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Los casos reales fijan los conceptos y transforman la visión en acción.</a:t>
              </a:r>
              <a:endParaRPr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B556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Anclaje de conceptos fundamentales</a:t>
              </a:r>
              <a:endParaRPr b="0" sz="14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Validación de la teoría</a:t>
              </a:r>
              <a:endParaRPr b="0" sz="14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400"/>
                <a:buFont typeface="Inter"/>
                <a:buChar char="●"/>
              </a:pPr>
              <a:r>
                <a:rPr b="0" lang="en-US" sz="14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Claridad estratégica inmediata</a:t>
              </a:r>
              <a:endParaRPr b="0" sz="14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154" name="Google Shape;154;p16"/>
          <p:cNvSpPr txBox="1"/>
          <p:nvPr/>
        </p:nvSpPr>
        <p:spPr>
          <a:xfrm>
            <a:off x="1371600" y="8191500"/>
            <a:ext cx="15544800" cy="307800"/>
          </a:xfrm>
          <a:prstGeom prst="rect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"Sin ejemplos, todo lo demás llega como ruido."</a:t>
            </a:r>
            <a:endParaRPr b="0" sz="2000">
              <a:solidFill>
                <a:srgbClr val="7C3AE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71600" y="762000"/>
            <a:ext cx="155448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Tres entregables clave</a:t>
            </a:r>
            <a:endParaRPr b="1" sz="5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1371600" y="1809750"/>
            <a:ext cx="155448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RESULTADOS DE LA REUNIÓN</a:t>
            </a:r>
            <a:endParaRPr b="1" sz="18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63" name="Google Shape;163;p17"/>
          <p:cNvGrpSpPr/>
          <p:nvPr/>
        </p:nvGrpSpPr>
        <p:grpSpPr>
          <a:xfrm>
            <a:off x="1371600" y="3048000"/>
            <a:ext cx="4953000" cy="4000500"/>
            <a:chOff x="1371600" y="3048000"/>
            <a:chExt cx="4953000" cy="4000500"/>
          </a:xfrm>
        </p:grpSpPr>
        <p:sp>
          <p:nvSpPr>
            <p:cNvPr id="164" name="Google Shape;164;p17"/>
            <p:cNvSpPr/>
            <p:nvPr/>
          </p:nvSpPr>
          <p:spPr>
            <a:xfrm>
              <a:off x="1371600" y="3048000"/>
              <a:ext cx="4953000" cy="4000500"/>
            </a:xfrm>
            <a:prstGeom prst="roundRect">
              <a:avLst>
                <a:gd fmla="val 5714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1752600" y="3429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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Equipo core alineado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Todos comparten y validan los conceptos fundamentales del proyecto.</a:t>
              </a:r>
              <a:endParaRPr b="0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7"/>
          <p:cNvGrpSpPr/>
          <p:nvPr/>
        </p:nvGrpSpPr>
        <p:grpSpPr>
          <a:xfrm>
            <a:off x="6667500" y="3048000"/>
            <a:ext cx="4953000" cy="4000500"/>
            <a:chOff x="6667500" y="3048000"/>
            <a:chExt cx="4953000" cy="4000500"/>
          </a:xfrm>
        </p:grpSpPr>
        <p:sp>
          <p:nvSpPr>
            <p:cNvPr id="167" name="Google Shape;167;p17"/>
            <p:cNvSpPr/>
            <p:nvPr/>
          </p:nvSpPr>
          <p:spPr>
            <a:xfrm>
              <a:off x="6667500" y="3048000"/>
              <a:ext cx="4953000" cy="4000500"/>
            </a:xfrm>
            <a:prstGeom prst="roundRect">
              <a:avLst>
                <a:gd fmla="val 5714" name="adj"/>
              </a:avLst>
            </a:prstGeom>
            <a:solidFill>
              <a:srgbClr val="F9FAFB"/>
            </a:solidFill>
            <a:ln cap="flat" cmpd="sng" w="1905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7048500" y="3429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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Preguntas frecuentes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Documentación clara de las dudas comunes detectadas durante la sesión.</a:t>
              </a:r>
              <a:endParaRPr b="0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9" name="Google Shape;169;p17"/>
          <p:cNvGrpSpPr/>
          <p:nvPr/>
        </p:nvGrpSpPr>
        <p:grpSpPr>
          <a:xfrm>
            <a:off x="11963400" y="3048000"/>
            <a:ext cx="4953000" cy="4000500"/>
            <a:chOff x="11963400" y="3048000"/>
            <a:chExt cx="4953000" cy="4000500"/>
          </a:xfrm>
        </p:grpSpPr>
        <p:sp>
          <p:nvSpPr>
            <p:cNvPr id="170" name="Google Shape;170;p17"/>
            <p:cNvSpPr/>
            <p:nvPr/>
          </p:nvSpPr>
          <p:spPr>
            <a:xfrm>
              <a:off x="11963400" y="3048000"/>
              <a:ext cx="4953000" cy="4000500"/>
            </a:xfrm>
            <a:prstGeom prst="roundRect">
              <a:avLst>
                <a:gd fmla="val 5714" name="adj"/>
              </a:avLst>
            </a:prstGeom>
            <a:solidFill>
              <a:srgbClr val="F5F3FF"/>
            </a:solidFill>
            <a:ln cap="flat" cmpd="sng" w="19050">
              <a:solidFill>
                <a:srgbClr val="7C3A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7"/>
            <p:cNvSpPr txBox="1"/>
            <p:nvPr/>
          </p:nvSpPr>
          <p:spPr>
            <a:xfrm>
              <a:off x="12344400" y="3429000"/>
              <a:ext cx="4191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7C3AED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</a:t>
              </a:r>
              <a:endParaRPr sz="4800">
                <a:solidFill>
                  <a:srgbClr val="7C3AED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Base de lenguaje compartida</a:t>
              </a:r>
              <a:endParaRPr b="1" sz="2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El insumo más valioso: a partir de este punto todos hablan el mismo idioma técnico.</a:t>
              </a:r>
              <a:endParaRPr b="0" sz="16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17"/>
          <p:cNvGrpSpPr/>
          <p:nvPr/>
        </p:nvGrpSpPr>
        <p:grpSpPr>
          <a:xfrm>
            <a:off x="1371600" y="7810500"/>
            <a:ext cx="15544800" cy="952500"/>
            <a:chOff x="1371600" y="7810500"/>
            <a:chExt cx="15544800" cy="952500"/>
          </a:xfrm>
        </p:grpSpPr>
        <p:sp>
          <p:nvSpPr>
            <p:cNvPr id="173" name="Google Shape;173;p17"/>
            <p:cNvSpPr/>
            <p:nvPr/>
          </p:nvSpPr>
          <p:spPr>
            <a:xfrm>
              <a:off x="1371600" y="7810500"/>
              <a:ext cx="15544800" cy="952500"/>
            </a:xfrm>
            <a:prstGeom prst="roundRect">
              <a:avLst>
                <a:gd fmla="val 16000" name="adj"/>
              </a:avLst>
            </a:prstGeom>
            <a:solidFill>
              <a:srgbClr val="7C3AED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7"/>
            <p:cNvSpPr txBox="1"/>
            <p:nvPr/>
          </p:nvSpPr>
          <p:spPr>
            <a:xfrm>
              <a:off x="1371600" y="7810500"/>
              <a:ext cx="15544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7C3AED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Unificar criterios es la base para la ejecución estratégica.</a:t>
              </a:r>
              <a:endParaRPr b="0" sz="2000">
                <a:solidFill>
                  <a:srgbClr val="7C3AED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371600" y="3200400"/>
            <a:ext cx="1554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 conceptual no enseña a usar la plataforma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371600" y="4754880"/>
            <a:ext cx="15544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Enseña a pensar en plataforma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eso, todo lo demás llega como ruido.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