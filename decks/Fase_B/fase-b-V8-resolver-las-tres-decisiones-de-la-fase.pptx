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10287000" cx="18288000"/>
  <p:notesSz cx="6858000" cy="9144000"/>
  <p:embeddedFontLst>
    <p:embeddedFont>
      <p:font typeface="Inter SemiBold"/>
      <p:regular r:id="rId11"/>
      <p:bold r:id="rId12"/>
      <p:italic r:id="rId13"/>
      <p:boldItalic r:id="rId14"/>
    </p:embeddedFont>
    <p:embeddedFont>
      <p:font typeface="Inter"/>
      <p:regular r:id="rId15"/>
      <p:bold r:id="rId16"/>
      <p:italic r:id="rId17"/>
      <p:boldItalic r:id="rId18"/>
    </p:embeddedFont>
    <p:embeddedFont>
      <p:font typeface="Inter ExtraBold"/>
      <p:bold r:id="rId19"/>
      <p:boldItalic r:id="rId20"/>
    </p:embeddedFont>
    <p:embeddedFont>
      <p:font typeface="Inter Medium"/>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ExtraBold-boldItalic.fntdata"/><Relationship Id="rId11" Type="http://schemas.openxmlformats.org/officeDocument/2006/relationships/font" Target="fonts/InterSemiBold-regular.fntdata"/><Relationship Id="rId22" Type="http://schemas.openxmlformats.org/officeDocument/2006/relationships/font" Target="fonts/InterMedium-bold.fntdata"/><Relationship Id="rId10" Type="http://schemas.openxmlformats.org/officeDocument/2006/relationships/slide" Target="slides/slide5.xml"/><Relationship Id="rId21" Type="http://schemas.openxmlformats.org/officeDocument/2006/relationships/font" Target="fonts/InterMedium-regular.fntdata"/><Relationship Id="rId13" Type="http://schemas.openxmlformats.org/officeDocument/2006/relationships/font" Target="fonts/InterSemiBold-italic.fntdata"/><Relationship Id="rId24" Type="http://schemas.openxmlformats.org/officeDocument/2006/relationships/font" Target="fonts/InterMedium-boldItalic.fntdata"/><Relationship Id="rId12" Type="http://schemas.openxmlformats.org/officeDocument/2006/relationships/font" Target="fonts/InterSemiBold-bold.fntdata"/><Relationship Id="rId23" Type="http://schemas.openxmlformats.org/officeDocument/2006/relationships/font" Target="fonts/Inter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regular.fntdata"/><Relationship Id="rId14" Type="http://schemas.openxmlformats.org/officeDocument/2006/relationships/font" Target="fonts/InterSemiBold-boldItalic.fntdata"/><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notesMaster" Target="notesMasters/notesMaster1.xml"/><Relationship Id="rId19" Type="http://schemas.openxmlformats.org/officeDocument/2006/relationships/font" Target="fonts/InterExtraBold-bold.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9.2s · 23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el medio de la Fase B vas a enfrentar tres decisiones que condicionan todo lo que viene. Conviene anticiparlas para no improvisar.</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35.2s · 88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primera. ¿Autenticación propia o proveedor de identidad del gobierno? Esta decisión la toma el gobierno, no tú. Tu trabajo es presentar los trade-offs con honestidad. Si se integra el proveedor de identidad del gobierno, no hay migración: los ciudadanos entran con la cuenta que ya tienen. Si se elige autenticación propia de SovraGov, arrancan rápido pero el gobierno queda con dos bases de usuarios separadas, que es deuda que paga después. El default recomendado es integrar el proveedor del gobierno, pero la decisión final no es tuya.</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26.4s · 66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segunda. ¿Qué trámites incluyen pagos? Los trámites con pagos son entre dos y tres veces más complejos de modelar e integrar. La recomendación es hacer un piloto sin pagos primero. Validas el flujo completo del ciudadano y la operación del funcionario, y después sumas pagos en una segunda iteración. Meter pagos en el piloto inicial es la causa más común de demoras en Fase C.</a:t>
            </a:r>
            <a:endParaRPr/>
          </a:p>
        </p:txBody>
      </p:sp>
      <p:sp>
        <p:nvSpPr>
          <p:cNvPr id="106" name="Google Shape;10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22.4s · 56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tercera. ¿El gobierno tiene equipo de digitalización interno? Si lo tiene, foméntalo. Que ese equipo entre a las capacitaciones, que tome notas, que se apropie del proyecto. Si no lo tiene, el especialista funcional cumple ese rol, pero vas a tener que cuidar más la transferencia, porque el conocimiento queda concentrado en una sola persona.</a:t>
            </a:r>
            <a:endParaRPr/>
          </a:p>
        </p:txBody>
      </p:sp>
      <p:sp>
        <p:nvSpPr>
          <p:cNvPr id="123" name="Google Shape;12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12.0s · 30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 tres decisiones se presentan con sus trade-offs. La decisión final es del gobierno. Tu rol es que la tomen con la información completa, no que la tomes por ellos.</a:t>
            </a:r>
            <a:endParaRPr/>
          </a:p>
        </p:txBody>
      </p:sp>
      <p:sp>
        <p:nvSpPr>
          <p:cNvPr id="142" name="Google Shape;14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7C3AED"/>
                </a:solidFill>
                <a:latin typeface="Inter"/>
                <a:ea typeface="Inter"/>
                <a:cs typeface="Inter"/>
                <a:sym typeface="Inter"/>
              </a:rPr>
              <a:t>FASE B</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Las tres decisiones</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de la Fase B</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Condicionan todo lo que viene. Conviene anticiparlas para no improvisar.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9144000"/>
            <a:ext cx="18288000" cy="11430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4800">
                <a:solidFill>
                  <a:srgbClr val="0A0915"/>
                </a:solidFill>
                <a:latin typeface="Inter ExtraBold"/>
                <a:ea typeface="Inter ExtraBold"/>
                <a:cs typeface="Inter ExtraBold"/>
                <a:sym typeface="Inter ExtraBold"/>
              </a:rPr>
              <a:t>¿Autenticación propia o del gobierno?</a:t>
            </a:r>
            <a:endParaRPr b="0" sz="4800">
              <a:solidFill>
                <a:srgbClr val="0A0915"/>
              </a:solidFill>
              <a:latin typeface="Inter ExtraBold"/>
              <a:ea typeface="Inter ExtraBold"/>
              <a:cs typeface="Inter ExtraBold"/>
              <a:sym typeface="Inter ExtraBold"/>
            </a:endParaRPr>
          </a:p>
        </p:txBody>
      </p:sp>
      <p:grpSp>
        <p:nvGrpSpPr>
          <p:cNvPr id="96" name="Google Shape;96;p14"/>
          <p:cNvGrpSpPr/>
          <p:nvPr/>
        </p:nvGrpSpPr>
        <p:grpSpPr>
          <a:xfrm>
            <a:off x="1905000" y="2667000"/>
            <a:ext cx="6667500" cy="5238900"/>
            <a:chOff x="1905000" y="2667000"/>
            <a:chExt cx="6667500" cy="5238900"/>
          </a:xfrm>
        </p:grpSpPr>
        <p:sp>
          <p:nvSpPr>
            <p:cNvPr id="97" name="Google Shape;97;p14"/>
            <p:cNvSpPr/>
            <p:nvPr/>
          </p:nvSpPr>
          <p:spPr>
            <a:xfrm>
              <a:off x="1905000" y="2667000"/>
              <a:ext cx="6667500" cy="5238900"/>
            </a:xfrm>
            <a:prstGeom prst="roundRect">
              <a:avLst>
                <a:gd fmla="val 7272" name="adj"/>
              </a:avLst>
            </a:prstGeom>
            <a:solidFill>
              <a:srgbClr val="F8F9FA"/>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4"/>
            <p:cNvSpPr txBox="1"/>
            <p:nvPr/>
          </p:nvSpPr>
          <p:spPr>
            <a:xfrm>
              <a:off x="2381250" y="3143250"/>
              <a:ext cx="5715000" cy="428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64748B"/>
                  </a:solidFill>
                  <a:latin typeface="Inter"/>
                  <a:ea typeface="Inter"/>
                  <a:cs typeface="Inter"/>
                  <a:sym typeface="Inter"/>
                </a:rPr>
                <a:t>OPCIÓN A</a:t>
              </a:r>
              <a:endParaRPr b="1" sz="2000">
                <a:solidFill>
                  <a:srgbClr val="64748B"/>
                </a:solidFill>
                <a:latin typeface="Inter"/>
                <a:ea typeface="Inter"/>
                <a:cs typeface="Inter"/>
                <a:sym typeface="Inter"/>
              </a:endParaRPr>
            </a:p>
            <a:p>
              <a:pPr indent="0" lvl="0" marL="0" rtl="0" algn="l">
                <a:spcBef>
                  <a:spcPts val="2250"/>
                </a:spcBef>
                <a:spcAft>
                  <a:spcPts val="0"/>
                </a:spcAft>
                <a:buNone/>
              </a:pPr>
              <a:r>
                <a:rPr b="0" lang="en-US" sz="3200">
                  <a:solidFill>
                    <a:srgbClr val="1E293B"/>
                  </a:solidFill>
                  <a:latin typeface="Inter ExtraBold"/>
                  <a:ea typeface="Inter ExtraBold"/>
                  <a:cs typeface="Inter ExtraBold"/>
                  <a:sym typeface="Inter ExtraBold"/>
                </a:rPr>
                <a:t>Autenticación propia SovraGov</a:t>
              </a:r>
              <a:endParaRPr b="0" sz="3200">
                <a:solidFill>
                  <a:srgbClr val="1E293B"/>
                </a:solidFill>
                <a:latin typeface="Inter ExtraBold"/>
                <a:ea typeface="Inter ExtraBold"/>
                <a:cs typeface="Inter ExtraBold"/>
                <a:sym typeface="Inter ExtraBold"/>
              </a:endParaRPr>
            </a:p>
            <a:p>
              <a:pPr indent="0" lvl="0" marL="0" rtl="0" algn="l">
                <a:spcBef>
                  <a:spcPts val="3000"/>
                </a:spcBef>
                <a:spcAft>
                  <a:spcPts val="0"/>
                </a:spcAft>
                <a:buNone/>
              </a:pPr>
              <a:r>
                <a:rPr lang="en-US" sz="2800">
                  <a:solidFill>
                    <a:srgbClr val="EF4444"/>
                  </a:solidFill>
                  <a:latin typeface="Material Icons"/>
                  <a:ea typeface="Material Icons"/>
                  <a:cs typeface="Material Icons"/>
                  <a:sym typeface="Material Icons"/>
                </a:rPr>
                <a:t></a:t>
              </a:r>
              <a:r>
                <a:rPr b="0" lang="en-US" sz="2200">
                  <a:solidFill>
                    <a:srgbClr val="334155"/>
                  </a:solidFill>
                  <a:latin typeface="Inter"/>
                  <a:ea typeface="Inter"/>
                  <a:cs typeface="Inter"/>
                  <a:sym typeface="Inter"/>
                </a:rPr>
                <a:t>Arrancan rápido.</a:t>
              </a:r>
              <a:endParaRPr/>
            </a:p>
            <a:p>
              <a:pPr indent="0" lvl="0" marL="0" rtl="0" algn="l">
                <a:spcBef>
                  <a:spcPts val="1875"/>
                </a:spcBef>
                <a:spcAft>
                  <a:spcPts val="0"/>
                </a:spcAft>
                <a:buNone/>
              </a:pPr>
              <a:r>
                <a:rPr lang="en-US" sz="2800">
                  <a:solidFill>
                    <a:srgbClr val="EF4444"/>
                  </a:solidFill>
                  <a:latin typeface="Material Icons"/>
                  <a:ea typeface="Material Icons"/>
                  <a:cs typeface="Material Icons"/>
                  <a:sym typeface="Material Icons"/>
                </a:rPr>
                <a:t></a:t>
              </a:r>
              <a:r>
                <a:rPr b="0" lang="en-US" sz="2200">
                  <a:solidFill>
                    <a:srgbClr val="334155"/>
                  </a:solidFill>
                  <a:latin typeface="Inter"/>
                  <a:ea typeface="Inter"/>
                  <a:cs typeface="Inter"/>
                  <a:sym typeface="Inter"/>
                </a:rPr>
                <a:t>Doble base de usuarios.</a:t>
              </a:r>
              <a:endParaRPr/>
            </a:p>
            <a:p>
              <a:pPr indent="0" lvl="0" marL="0" rtl="0" algn="l">
                <a:spcBef>
                  <a:spcPts val="1875"/>
                </a:spcBef>
                <a:spcAft>
                  <a:spcPts val="0"/>
                </a:spcAft>
                <a:buNone/>
              </a:pPr>
              <a:r>
                <a:rPr lang="en-US" sz="2800">
                  <a:solidFill>
                    <a:srgbClr val="EF4444"/>
                  </a:solidFill>
                  <a:latin typeface="Material Icons"/>
                  <a:ea typeface="Material Icons"/>
                  <a:cs typeface="Material Icons"/>
                  <a:sym typeface="Material Icons"/>
                </a:rPr>
                <a:t></a:t>
              </a:r>
              <a:r>
                <a:rPr b="0" lang="en-US" sz="2200">
                  <a:solidFill>
                    <a:srgbClr val="334155"/>
                  </a:solidFill>
                  <a:latin typeface="Inter"/>
                  <a:ea typeface="Inter"/>
                  <a:cs typeface="Inter"/>
                  <a:sym typeface="Inter"/>
                </a:rPr>
                <a:t>Deuda técnica a futuro.</a:t>
              </a:r>
              <a:endParaRPr/>
            </a:p>
          </p:txBody>
        </p:sp>
      </p:grpSp>
      <p:grpSp>
        <p:nvGrpSpPr>
          <p:cNvPr id="99" name="Google Shape;99;p14"/>
          <p:cNvGrpSpPr/>
          <p:nvPr/>
        </p:nvGrpSpPr>
        <p:grpSpPr>
          <a:xfrm>
            <a:off x="9715500" y="2667000"/>
            <a:ext cx="6667500" cy="5238900"/>
            <a:chOff x="9715500" y="2667000"/>
            <a:chExt cx="6667500" cy="5238900"/>
          </a:xfrm>
        </p:grpSpPr>
        <p:sp>
          <p:nvSpPr>
            <p:cNvPr id="100" name="Google Shape;100;p14"/>
            <p:cNvSpPr/>
            <p:nvPr/>
          </p:nvSpPr>
          <p:spPr>
            <a:xfrm>
              <a:off x="9715500" y="2667000"/>
              <a:ext cx="6667500" cy="5238900"/>
            </a:xfrm>
            <a:prstGeom prst="roundRect">
              <a:avLst>
                <a:gd fmla="val 7272"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10191750" y="3143250"/>
              <a:ext cx="5715000" cy="428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C4B5FD"/>
                  </a:solidFill>
                  <a:latin typeface="Inter"/>
                  <a:ea typeface="Inter"/>
                  <a:cs typeface="Inter"/>
                  <a:sym typeface="Inter"/>
                </a:rPr>
                <a:t>OPCIÓN B (RECOMENDADA)</a:t>
              </a:r>
              <a:endParaRPr b="1" sz="2000">
                <a:solidFill>
                  <a:srgbClr val="C4B5FD"/>
                </a:solidFill>
                <a:latin typeface="Inter"/>
                <a:ea typeface="Inter"/>
                <a:cs typeface="Inter"/>
                <a:sym typeface="Inter"/>
              </a:endParaRPr>
            </a:p>
            <a:p>
              <a:pPr indent="0" lvl="0" marL="0" rtl="0" algn="l">
                <a:spcBef>
                  <a:spcPts val="2250"/>
                </a:spcBef>
                <a:spcAft>
                  <a:spcPts val="0"/>
                </a:spcAft>
                <a:buNone/>
              </a:pPr>
              <a:r>
                <a:rPr b="0" lang="en-US" sz="3200">
                  <a:solidFill>
                    <a:srgbClr val="FFFFFF"/>
                  </a:solidFill>
                  <a:latin typeface="Inter ExtraBold"/>
                  <a:ea typeface="Inter ExtraBold"/>
                  <a:cs typeface="Inter ExtraBold"/>
                  <a:sym typeface="Inter ExtraBold"/>
                </a:rPr>
                <a:t>Proveedor de identidad del gobierno</a:t>
              </a:r>
              <a:endParaRPr b="0" sz="3200">
                <a:solidFill>
                  <a:srgbClr val="FFFFFF"/>
                </a:solidFill>
                <a:latin typeface="Inter ExtraBold"/>
                <a:ea typeface="Inter ExtraBold"/>
                <a:cs typeface="Inter ExtraBold"/>
                <a:sym typeface="Inter ExtraBold"/>
              </a:endParaRPr>
            </a:p>
            <a:p>
              <a:pPr indent="0" lvl="0" marL="0" rtl="0" algn="l">
                <a:spcBef>
                  <a:spcPts val="3000"/>
                </a:spcBef>
                <a:spcAft>
                  <a:spcPts val="0"/>
                </a:spcAft>
                <a:buNone/>
              </a:pPr>
              <a:r>
                <a:rPr lang="en-US" sz="2800">
                  <a:solidFill>
                    <a:srgbClr val="A5B4FC"/>
                  </a:solidFill>
                  <a:latin typeface="Material Icons"/>
                  <a:ea typeface="Material Icons"/>
                  <a:cs typeface="Material Icons"/>
                  <a:sym typeface="Material Icons"/>
                </a:rPr>
                <a:t></a:t>
              </a:r>
              <a:r>
                <a:rPr b="0" lang="en-US" sz="2200">
                  <a:solidFill>
                    <a:srgbClr val="F3F4F6"/>
                  </a:solidFill>
                  <a:latin typeface="Inter"/>
                  <a:ea typeface="Inter"/>
                  <a:cs typeface="Inter"/>
                  <a:sym typeface="Inter"/>
                </a:rPr>
                <a:t>Sin procesos de migración.</a:t>
              </a:r>
              <a:endParaRPr/>
            </a:p>
            <a:p>
              <a:pPr indent="0" lvl="0" marL="0" rtl="0" algn="l">
                <a:spcBef>
                  <a:spcPts val="1875"/>
                </a:spcBef>
                <a:spcAft>
                  <a:spcPts val="0"/>
                </a:spcAft>
                <a:buNone/>
              </a:pPr>
              <a:r>
                <a:rPr lang="en-US" sz="2800">
                  <a:solidFill>
                    <a:srgbClr val="A5B4FC"/>
                  </a:solidFill>
                  <a:latin typeface="Material Icons"/>
                  <a:ea typeface="Material Icons"/>
                  <a:cs typeface="Material Icons"/>
                  <a:sym typeface="Material Icons"/>
                </a:rPr>
                <a:t></a:t>
              </a:r>
              <a:r>
                <a:rPr b="0" lang="en-US" sz="2200">
                  <a:solidFill>
                    <a:srgbClr val="F3F4F6"/>
                  </a:solidFill>
                  <a:latin typeface="Inter"/>
                  <a:ea typeface="Inter"/>
                  <a:cs typeface="Inter"/>
                  <a:sym typeface="Inter"/>
                </a:rPr>
                <a:t>Usa cuentas ciudadanas existentes.</a:t>
              </a:r>
              <a:endParaRPr/>
            </a:p>
            <a:p>
              <a:pPr indent="0" lvl="0" marL="0" rtl="0" algn="l">
                <a:spcBef>
                  <a:spcPts val="1875"/>
                </a:spcBef>
                <a:spcAft>
                  <a:spcPts val="0"/>
                </a:spcAft>
                <a:buNone/>
              </a:pPr>
              <a:r>
                <a:rPr lang="en-US" sz="2800">
                  <a:solidFill>
                    <a:srgbClr val="A5B4FC"/>
                  </a:solidFill>
                  <a:latin typeface="Material Icons"/>
                  <a:ea typeface="Material Icons"/>
                  <a:cs typeface="Material Icons"/>
                  <a:sym typeface="Material Icons"/>
                </a:rPr>
                <a:t></a:t>
              </a:r>
              <a:r>
                <a:rPr b="0" lang="en-US" sz="2200">
                  <a:solidFill>
                    <a:srgbClr val="F3F4F6"/>
                  </a:solidFill>
                  <a:latin typeface="Inter SemiBold"/>
                  <a:ea typeface="Inter SemiBold"/>
                  <a:cs typeface="Inter SemiBold"/>
                  <a:sym typeface="Inter SemiBold"/>
                </a:rPr>
                <a:t>Default recomendado.</a:t>
              </a:r>
              <a:endParaRPr/>
            </a:p>
          </p:txBody>
        </p:sp>
      </p:grpSp>
      <p:sp>
        <p:nvSpPr>
          <p:cNvPr id="102" name="Google Shape;102;p14"/>
          <p:cNvSpPr txBox="1"/>
          <p:nvPr/>
        </p:nvSpPr>
        <p:spPr>
          <a:xfrm>
            <a:off x="1371600" y="9144000"/>
            <a:ext cx="15544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64748B"/>
                </a:solidFill>
                <a:latin typeface="Inter Medium"/>
                <a:ea typeface="Inter Medium"/>
                <a:cs typeface="Inter Medium"/>
                <a:sym typeface="Inter Medium"/>
              </a:rPr>
              <a:t>Decisión 1 • Fase B: Definición de Estrategia Digital</a:t>
            </a:r>
            <a:endParaRPr b="0" sz="1800">
              <a:solidFill>
                <a:srgbClr val="64748B"/>
              </a:solidFill>
              <a:latin typeface="Inter Medium"/>
              <a:ea typeface="Inter Medium"/>
              <a:cs typeface="Inter Medium"/>
              <a:sym typeface="Inter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p:nvPr/>
        </p:nvSpPr>
        <p:spPr>
          <a:xfrm>
            <a:off x="0" y="9144000"/>
            <a:ext cx="18288000" cy="11430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9" name="Google Shape;109;p15"/>
          <p:cNvGrpSpPr/>
          <p:nvPr/>
        </p:nvGrpSpPr>
        <p:grpSpPr>
          <a:xfrm>
            <a:off x="1371600" y="762000"/>
            <a:ext cx="1905000" cy="457200"/>
            <a:chOff x="1371600" y="762000"/>
            <a:chExt cx="1905000" cy="457200"/>
          </a:xfrm>
        </p:grpSpPr>
        <p:sp>
          <p:nvSpPr>
            <p:cNvPr id="110" name="Google Shape;110;p15"/>
            <p:cNvSpPr/>
            <p:nvPr/>
          </p:nvSpPr>
          <p:spPr>
            <a:xfrm>
              <a:off x="1371600" y="762000"/>
              <a:ext cx="1905000" cy="4572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1371600" y="762000"/>
              <a:ext cx="1905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Inter"/>
                  <a:ea typeface="Inter"/>
                  <a:cs typeface="Inter"/>
                  <a:sym typeface="Inter"/>
                </a:rPr>
                <a:t>DECISIÓN 2</a:t>
              </a:r>
              <a:endParaRPr b="1" sz="1400">
                <a:solidFill>
                  <a:srgbClr val="FFFFFF"/>
                </a:solidFill>
                <a:latin typeface="Inter"/>
                <a:ea typeface="Inter"/>
                <a:cs typeface="Inter"/>
                <a:sym typeface="Inter"/>
              </a:endParaRPr>
            </a:p>
          </p:txBody>
        </p:sp>
      </p:grpSp>
      <p:sp>
        <p:nvSpPr>
          <p:cNvPr id="112" name="Google Shape;112;p15"/>
          <p:cNvSpPr txBox="1"/>
          <p:nvPr/>
        </p:nvSpPr>
        <p:spPr>
          <a:xfrm>
            <a:off x="1371600" y="13335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4800">
                <a:solidFill>
                  <a:srgbClr val="0A0915"/>
                </a:solidFill>
                <a:latin typeface="Inter ExtraBold"/>
                <a:ea typeface="Inter ExtraBold"/>
                <a:cs typeface="Inter ExtraBold"/>
                <a:sym typeface="Inter ExtraBold"/>
              </a:rPr>
              <a:t>¿Qué trámites incluyen pagos?</a:t>
            </a:r>
            <a:endParaRPr b="0" sz="4800">
              <a:solidFill>
                <a:srgbClr val="0A0915"/>
              </a:solidFill>
              <a:latin typeface="Inter ExtraBold"/>
              <a:ea typeface="Inter ExtraBold"/>
              <a:cs typeface="Inter ExtraBold"/>
              <a:sym typeface="Inter ExtraBold"/>
            </a:endParaRPr>
          </a:p>
        </p:txBody>
      </p:sp>
      <p:grpSp>
        <p:nvGrpSpPr>
          <p:cNvPr id="113" name="Google Shape;113;p15"/>
          <p:cNvGrpSpPr/>
          <p:nvPr/>
        </p:nvGrpSpPr>
        <p:grpSpPr>
          <a:xfrm>
            <a:off x="1371600" y="2857500"/>
            <a:ext cx="7429500" cy="4572000"/>
            <a:chOff x="1371600" y="2857500"/>
            <a:chExt cx="7429500" cy="4572000"/>
          </a:xfrm>
        </p:grpSpPr>
        <p:sp>
          <p:nvSpPr>
            <p:cNvPr id="114" name="Google Shape;114;p15"/>
            <p:cNvSpPr/>
            <p:nvPr/>
          </p:nvSpPr>
          <p:spPr>
            <a:xfrm>
              <a:off x="1371600" y="2857500"/>
              <a:ext cx="7429500" cy="4572000"/>
            </a:xfrm>
            <a:prstGeom prst="roundRect">
              <a:avLst>
                <a:gd fmla="val 8333" name="adj"/>
              </a:avLst>
            </a:prstGeom>
            <a:solidFill>
              <a:srgbClr val="FEF2F2"/>
            </a:solidFill>
            <a:ln cap="flat" cmpd="sng" w="19050">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txBox="1"/>
            <p:nvPr/>
          </p:nvSpPr>
          <p:spPr>
            <a:xfrm>
              <a:off x="1752600" y="3238500"/>
              <a:ext cx="666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EF4444"/>
                  </a:solidFill>
                  <a:latin typeface="Material Icons"/>
                  <a:ea typeface="Material Icons"/>
                  <a:cs typeface="Material Icons"/>
                  <a:sym typeface="Material Icons"/>
                </a:rPr>
                <a:t></a:t>
              </a:r>
              <a:endParaRPr>
                <a:latin typeface="Inter"/>
                <a:ea typeface="Inter"/>
                <a:cs typeface="Inter"/>
                <a:sym typeface="Inter"/>
              </a:endParaRPr>
            </a:p>
            <a:p>
              <a:pPr indent="0" lvl="0" marL="0" rtl="0" algn="l">
                <a:spcBef>
                  <a:spcPts val="1500"/>
                </a:spcBef>
                <a:spcAft>
                  <a:spcPts val="0"/>
                </a:spcAft>
                <a:buNone/>
              </a:pPr>
              <a:r>
                <a:rPr b="0" lang="en-US" sz="2800">
                  <a:solidFill>
                    <a:srgbClr val="991B1B"/>
                  </a:solidFill>
                  <a:latin typeface="Inter ExtraBold"/>
                  <a:ea typeface="Inter ExtraBold"/>
                  <a:cs typeface="Inter ExtraBold"/>
                  <a:sym typeface="Inter ExtraBold"/>
                </a:rPr>
                <a:t>El riesgo de los pagos</a:t>
              </a:r>
              <a:endParaRPr b="0" sz="2800">
                <a:solidFill>
                  <a:srgbClr val="991B1B"/>
                </a:solidFill>
                <a:latin typeface="Inter ExtraBold"/>
                <a:ea typeface="Inter ExtraBold"/>
                <a:cs typeface="Inter ExtraBold"/>
                <a:sym typeface="Inter ExtraBold"/>
              </a:endParaRPr>
            </a:p>
            <a:p>
              <a:pPr indent="0" lvl="0" marL="0" rtl="0" algn="l">
                <a:spcBef>
                  <a:spcPts val="1800"/>
                </a:spcBef>
                <a:spcAft>
                  <a:spcPts val="0"/>
                </a:spcAft>
                <a:buNone/>
              </a:pPr>
              <a:r>
                <a:rPr b="0" lang="en-US" sz="2200">
                  <a:solidFill>
                    <a:srgbClr val="B91C1C"/>
                  </a:solidFill>
                  <a:latin typeface="Inter"/>
                  <a:ea typeface="Inter"/>
                  <a:cs typeface="Inter"/>
                  <a:sym typeface="Inter"/>
                </a:rPr>
                <a:t>Los trámites con pagos son </a:t>
              </a:r>
              <a:r>
                <a:rPr b="0" lang="en-US" sz="2200">
                  <a:solidFill>
                    <a:srgbClr val="B91C1C"/>
                  </a:solidFill>
                  <a:latin typeface="Inter ExtraBold"/>
                  <a:ea typeface="Inter ExtraBold"/>
                  <a:cs typeface="Inter ExtraBold"/>
                  <a:sym typeface="Inter ExtraBold"/>
                </a:rPr>
                <a:t>2 a 3 veces más complejos</a:t>
              </a:r>
              <a:r>
                <a:rPr b="0" lang="en-US" sz="2200">
                  <a:solidFill>
                    <a:srgbClr val="B91C1C"/>
                  </a:solidFill>
                  <a:latin typeface="Inter"/>
                  <a:ea typeface="Inter"/>
                  <a:cs typeface="Inter"/>
                  <a:sym typeface="Inter"/>
                </a:rPr>
                <a:t> de modelar e integrar.</a:t>
              </a:r>
              <a:endParaRPr b="0" sz="2200">
                <a:solidFill>
                  <a:srgbClr val="B91C1C"/>
                </a:solidFill>
                <a:latin typeface="Inter"/>
                <a:ea typeface="Inter"/>
                <a:cs typeface="Inter"/>
                <a:sym typeface="Inter"/>
              </a:endParaRPr>
            </a:p>
            <a:p>
              <a:pPr indent="0" lvl="0" marL="0" rtl="0" algn="l">
                <a:spcBef>
                  <a:spcPts val="1500"/>
                </a:spcBef>
                <a:spcAft>
                  <a:spcPts val="0"/>
                </a:spcAft>
                <a:buNone/>
              </a:pPr>
              <a:r>
                <a:rPr b="0" lang="en-US" sz="1800">
                  <a:solidFill>
                    <a:srgbClr val="7F1D1D"/>
                  </a:solidFill>
                  <a:latin typeface="Inter"/>
                  <a:ea typeface="Inter"/>
                  <a:cs typeface="Inter"/>
                  <a:sym typeface="Inter"/>
                </a:rPr>
                <a:t>Es la causa más común de demoras críticas en la Fase C.</a:t>
              </a:r>
              <a:endParaRPr b="0" sz="1800">
                <a:solidFill>
                  <a:srgbClr val="7F1D1D"/>
                </a:solidFill>
                <a:latin typeface="Inter"/>
                <a:ea typeface="Inter"/>
                <a:cs typeface="Inter"/>
                <a:sym typeface="Inter"/>
              </a:endParaRPr>
            </a:p>
          </p:txBody>
        </p:sp>
      </p:grpSp>
      <p:grpSp>
        <p:nvGrpSpPr>
          <p:cNvPr id="116" name="Google Shape;116;p15"/>
          <p:cNvGrpSpPr/>
          <p:nvPr/>
        </p:nvGrpSpPr>
        <p:grpSpPr>
          <a:xfrm>
            <a:off x="9486900" y="2857500"/>
            <a:ext cx="7429500" cy="4572000"/>
            <a:chOff x="9486900" y="2857500"/>
            <a:chExt cx="7429500" cy="4572000"/>
          </a:xfrm>
        </p:grpSpPr>
        <p:sp>
          <p:nvSpPr>
            <p:cNvPr id="117" name="Google Shape;117;p15"/>
            <p:cNvSpPr/>
            <p:nvPr/>
          </p:nvSpPr>
          <p:spPr>
            <a:xfrm>
              <a:off x="9486900" y="2857500"/>
              <a:ext cx="7429500" cy="4572000"/>
            </a:xfrm>
            <a:prstGeom prst="roundRect">
              <a:avLst>
                <a:gd fmla="val 8333"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5"/>
            <p:cNvSpPr txBox="1"/>
            <p:nvPr/>
          </p:nvSpPr>
          <p:spPr>
            <a:xfrm>
              <a:off x="9867900" y="3238500"/>
              <a:ext cx="666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DDD6FE"/>
                  </a:solidFill>
                  <a:latin typeface="Material Icons"/>
                  <a:ea typeface="Material Icons"/>
                  <a:cs typeface="Material Icons"/>
                  <a:sym typeface="Material Icons"/>
                </a:rPr>
                <a:t></a:t>
              </a:r>
              <a:endParaRPr>
                <a:latin typeface="Inter"/>
                <a:ea typeface="Inter"/>
                <a:cs typeface="Inter"/>
                <a:sym typeface="Inter"/>
              </a:endParaRPr>
            </a:p>
            <a:p>
              <a:pPr indent="0" lvl="0" marL="0" rtl="0" algn="l">
                <a:spcBef>
                  <a:spcPts val="1500"/>
                </a:spcBef>
                <a:spcAft>
                  <a:spcPts val="0"/>
                </a:spcAft>
                <a:buNone/>
              </a:pPr>
              <a:r>
                <a:rPr b="0" lang="en-US" sz="2800">
                  <a:solidFill>
                    <a:srgbClr val="FFFFFF"/>
                  </a:solidFill>
                  <a:latin typeface="Inter ExtraBold"/>
                  <a:ea typeface="Inter ExtraBold"/>
                  <a:cs typeface="Inter ExtraBold"/>
                  <a:sym typeface="Inter ExtraBold"/>
                </a:rPr>
                <a:t>Recomendación Sovra</a:t>
              </a:r>
              <a:endParaRPr b="0" sz="2800">
                <a:solidFill>
                  <a:srgbClr val="FFFFFF"/>
                </a:solidFill>
                <a:latin typeface="Inter ExtraBold"/>
                <a:ea typeface="Inter ExtraBold"/>
                <a:cs typeface="Inter ExtraBold"/>
                <a:sym typeface="Inter ExtraBold"/>
              </a:endParaRPr>
            </a:p>
            <a:p>
              <a:pPr indent="0" lvl="0" marL="0" rtl="0" algn="l">
                <a:spcBef>
                  <a:spcPts val="1800"/>
                </a:spcBef>
                <a:spcAft>
                  <a:spcPts val="0"/>
                </a:spcAft>
                <a:buNone/>
              </a:pPr>
              <a:r>
                <a:rPr b="1" lang="en-US" sz="2200">
                  <a:solidFill>
                    <a:srgbClr val="F3F4F6"/>
                  </a:solidFill>
                  <a:latin typeface="Inter"/>
                  <a:ea typeface="Inter"/>
                  <a:cs typeface="Inter"/>
                  <a:sym typeface="Inter"/>
                </a:rPr>
                <a:t>Piloto sin pagos primero.</a:t>
              </a:r>
              <a:endParaRPr b="1" sz="2200">
                <a:solidFill>
                  <a:srgbClr val="F3F4F6"/>
                </a:solidFill>
                <a:latin typeface="Inter"/>
                <a:ea typeface="Inter"/>
                <a:cs typeface="Inter"/>
                <a:sym typeface="Inter"/>
              </a:endParaRPr>
            </a:p>
            <a:p>
              <a:pPr indent="0" lvl="0" marL="0" rtl="0" algn="l">
                <a:spcBef>
                  <a:spcPts val="1500"/>
                </a:spcBef>
                <a:spcAft>
                  <a:spcPts val="0"/>
                </a:spcAft>
                <a:buNone/>
              </a:pPr>
              <a:r>
                <a:rPr lang="en-US" sz="2000">
                  <a:solidFill>
                    <a:srgbClr val="A5B4FC"/>
                  </a:solidFill>
                  <a:latin typeface="Material Icons"/>
                  <a:ea typeface="Material Icons"/>
                  <a:cs typeface="Material Icons"/>
                  <a:sym typeface="Material Icons"/>
                </a:rPr>
                <a:t></a:t>
              </a:r>
              <a:r>
                <a:rPr b="0" lang="en-US" sz="1800">
                  <a:solidFill>
                    <a:srgbClr val="FFFFFF"/>
                  </a:solidFill>
                  <a:latin typeface="Inter"/>
                  <a:ea typeface="Inter"/>
                  <a:cs typeface="Inter"/>
                  <a:sym typeface="Inter"/>
                </a:rPr>
                <a:t>Validas el flujo del ciudadano.</a:t>
              </a:r>
              <a:endParaRPr>
                <a:latin typeface="Inter"/>
                <a:ea typeface="Inter"/>
                <a:cs typeface="Inter"/>
                <a:sym typeface="Inter"/>
              </a:endParaRPr>
            </a:p>
            <a:p>
              <a:pPr indent="0" lvl="0" marL="0" rtl="0" algn="l">
                <a:spcBef>
                  <a:spcPts val="900"/>
                </a:spcBef>
                <a:spcAft>
                  <a:spcPts val="0"/>
                </a:spcAft>
                <a:buNone/>
              </a:pPr>
              <a:r>
                <a:rPr lang="en-US" sz="2000">
                  <a:solidFill>
                    <a:srgbClr val="A5B4FC"/>
                  </a:solidFill>
                  <a:latin typeface="Material Icons"/>
                  <a:ea typeface="Material Icons"/>
                  <a:cs typeface="Material Icons"/>
                  <a:sym typeface="Material Icons"/>
                </a:rPr>
                <a:t></a:t>
              </a:r>
              <a:r>
                <a:rPr b="0" lang="en-US" sz="1800">
                  <a:solidFill>
                    <a:srgbClr val="FFFFFF"/>
                  </a:solidFill>
                  <a:latin typeface="Inter"/>
                  <a:ea typeface="Inter"/>
                  <a:cs typeface="Inter"/>
                  <a:sym typeface="Inter"/>
                </a:rPr>
                <a:t>Validas la operación del funcionario.</a:t>
              </a:r>
              <a:endParaRPr>
                <a:latin typeface="Inter"/>
                <a:ea typeface="Inter"/>
                <a:cs typeface="Inter"/>
                <a:sym typeface="Inter"/>
              </a:endParaRPr>
            </a:p>
            <a:p>
              <a:pPr indent="0" lvl="0" marL="0" rtl="0" algn="l">
                <a:spcBef>
                  <a:spcPts val="900"/>
                </a:spcBef>
                <a:spcAft>
                  <a:spcPts val="0"/>
                </a:spcAft>
                <a:buNone/>
              </a:pPr>
              <a:r>
                <a:rPr lang="en-US" sz="2000">
                  <a:solidFill>
                    <a:srgbClr val="A5B4FC"/>
                  </a:solidFill>
                  <a:latin typeface="Material Icons"/>
                  <a:ea typeface="Material Icons"/>
                  <a:cs typeface="Material Icons"/>
                  <a:sym typeface="Material Icons"/>
                </a:rPr>
                <a:t></a:t>
              </a:r>
              <a:r>
                <a:rPr b="0" lang="en-US" sz="1800">
                  <a:solidFill>
                    <a:srgbClr val="FFFFFF"/>
                  </a:solidFill>
                  <a:latin typeface="Inter"/>
                  <a:ea typeface="Inter"/>
                  <a:cs typeface="Inter"/>
                  <a:sym typeface="Inter"/>
                </a:rPr>
                <a:t>Sumas pagos en la 2da iteración.</a:t>
              </a:r>
              <a:endParaRPr>
                <a:latin typeface="Inter"/>
                <a:ea typeface="Inter"/>
                <a:cs typeface="Inter"/>
                <a:sym typeface="Inter"/>
              </a:endParaRPr>
            </a:p>
          </p:txBody>
        </p:sp>
      </p:grpSp>
      <p:sp>
        <p:nvSpPr>
          <p:cNvPr id="119" name="Google Shape;119;p15"/>
          <p:cNvSpPr txBox="1"/>
          <p:nvPr/>
        </p:nvSpPr>
        <p:spPr>
          <a:xfrm>
            <a:off x="1371600" y="9144000"/>
            <a:ext cx="15544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64748B"/>
                </a:solidFill>
                <a:latin typeface="Inter Medium"/>
                <a:ea typeface="Inter Medium"/>
                <a:cs typeface="Inter Medium"/>
                <a:sym typeface="Inter Medium"/>
              </a:rPr>
              <a:t>Decisión 2 • Fase B: Definición de Estrategia Digital</a:t>
            </a:r>
            <a:endParaRPr b="0" sz="1800">
              <a:solidFill>
                <a:srgbClr val="64748B"/>
              </a:solidFill>
              <a:latin typeface="Inter Medium"/>
              <a:ea typeface="Inter Medium"/>
              <a:cs typeface="Inter Medium"/>
              <a:sym typeface="Inter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p:nvPr/>
        </p:nvSpPr>
        <p:spPr>
          <a:xfrm>
            <a:off x="0" y="9144000"/>
            <a:ext cx="18288000" cy="11430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6" name="Google Shape;126;p16"/>
          <p:cNvGrpSpPr/>
          <p:nvPr/>
        </p:nvGrpSpPr>
        <p:grpSpPr>
          <a:xfrm>
            <a:off x="1371600" y="762000"/>
            <a:ext cx="1905000" cy="457200"/>
            <a:chOff x="1371600" y="762000"/>
            <a:chExt cx="1905000" cy="457200"/>
          </a:xfrm>
        </p:grpSpPr>
        <p:sp>
          <p:nvSpPr>
            <p:cNvPr id="127" name="Google Shape;127;p16"/>
            <p:cNvSpPr/>
            <p:nvPr/>
          </p:nvSpPr>
          <p:spPr>
            <a:xfrm>
              <a:off x="1371600" y="762000"/>
              <a:ext cx="1905000" cy="4572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txBox="1"/>
            <p:nvPr/>
          </p:nvSpPr>
          <p:spPr>
            <a:xfrm>
              <a:off x="1371600" y="762000"/>
              <a:ext cx="1905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Inter"/>
                  <a:ea typeface="Inter"/>
                  <a:cs typeface="Inter"/>
                  <a:sym typeface="Inter"/>
                </a:rPr>
                <a:t>DECISIÓN 3</a:t>
              </a:r>
              <a:endParaRPr b="1" sz="1400">
                <a:solidFill>
                  <a:srgbClr val="FFFFFF"/>
                </a:solidFill>
                <a:latin typeface="Inter"/>
                <a:ea typeface="Inter"/>
                <a:cs typeface="Inter"/>
                <a:sym typeface="Inter"/>
              </a:endParaRPr>
            </a:p>
          </p:txBody>
        </p:sp>
      </p:grpSp>
      <p:sp>
        <p:nvSpPr>
          <p:cNvPr id="129" name="Google Shape;129;p16"/>
          <p:cNvSpPr txBox="1"/>
          <p:nvPr/>
        </p:nvSpPr>
        <p:spPr>
          <a:xfrm>
            <a:off x="1371600" y="13335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i="0" lang="en-US" sz="4800">
                <a:solidFill>
                  <a:srgbClr val="0A0915"/>
                </a:solidFill>
                <a:latin typeface="Inter ExtraBold"/>
                <a:ea typeface="Inter ExtraBold"/>
                <a:cs typeface="Inter ExtraBold"/>
                <a:sym typeface="Inter ExtraBold"/>
              </a:rPr>
              <a:t>¿El gobierno tiene equipo de digitalización interno?</a:t>
            </a:r>
            <a:endParaRPr b="0" i="0" sz="4800">
              <a:solidFill>
                <a:srgbClr val="0A0915"/>
              </a:solidFill>
              <a:latin typeface="Inter ExtraBold"/>
              <a:ea typeface="Inter ExtraBold"/>
              <a:cs typeface="Inter ExtraBold"/>
              <a:sym typeface="Inter ExtraBold"/>
            </a:endParaRPr>
          </a:p>
        </p:txBody>
      </p:sp>
      <p:grpSp>
        <p:nvGrpSpPr>
          <p:cNvPr id="130" name="Google Shape;130;p16"/>
          <p:cNvGrpSpPr/>
          <p:nvPr/>
        </p:nvGrpSpPr>
        <p:grpSpPr>
          <a:xfrm>
            <a:off x="1371600" y="2667000"/>
            <a:ext cx="7429500" cy="4953000"/>
            <a:chOff x="1371600" y="2667000"/>
            <a:chExt cx="7429500" cy="4953000"/>
          </a:xfrm>
        </p:grpSpPr>
        <p:sp>
          <p:nvSpPr>
            <p:cNvPr id="131" name="Google Shape;131;p16"/>
            <p:cNvSpPr/>
            <p:nvPr/>
          </p:nvSpPr>
          <p:spPr>
            <a:xfrm>
              <a:off x="1371600" y="2667000"/>
              <a:ext cx="7429500" cy="4953000"/>
            </a:xfrm>
            <a:prstGeom prst="roundRect">
              <a:avLst>
                <a:gd fmla="val 7692"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txBox="1"/>
            <p:nvPr/>
          </p:nvSpPr>
          <p:spPr>
            <a:xfrm>
              <a:off x="1752600" y="3048000"/>
              <a:ext cx="66675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DDD6FE"/>
                  </a:solidFill>
                  <a:latin typeface="Material Icons"/>
                  <a:ea typeface="Material Icons"/>
                  <a:cs typeface="Material Icons"/>
                  <a:sym typeface="Material Icons"/>
                </a:rPr>
                <a:t></a:t>
              </a:r>
              <a:endParaRPr sz="4000">
                <a:solidFill>
                  <a:srgbClr val="DDD6FE"/>
                </a:solidFill>
                <a:latin typeface="Material Icons"/>
                <a:ea typeface="Material Icons"/>
                <a:cs typeface="Material Icons"/>
                <a:sym typeface="Material Icons"/>
              </a:endParaRPr>
            </a:p>
            <a:p>
              <a:pPr indent="0" lvl="0" marL="0" rtl="0" algn="l">
                <a:spcBef>
                  <a:spcPts val="1500"/>
                </a:spcBef>
                <a:spcAft>
                  <a:spcPts val="0"/>
                </a:spcAft>
                <a:buNone/>
              </a:pPr>
              <a:r>
                <a:rPr b="0" lang="en-US" sz="2800">
                  <a:solidFill>
                    <a:srgbClr val="FFFFFF"/>
                  </a:solidFill>
                  <a:latin typeface="Inter ExtraBold"/>
                  <a:ea typeface="Inter ExtraBold"/>
                  <a:cs typeface="Inter ExtraBold"/>
                  <a:sym typeface="Inter ExtraBold"/>
                </a:rPr>
                <a:t>Si tiene equipo interno</a:t>
              </a:r>
              <a:endParaRPr b="0" sz="2800">
                <a:solidFill>
                  <a:srgbClr val="FFFFFF"/>
                </a:solidFill>
                <a:latin typeface="Inter ExtraBold"/>
                <a:ea typeface="Inter ExtraBold"/>
                <a:cs typeface="Inter ExtraBold"/>
                <a:sym typeface="Inter ExtraBold"/>
              </a:endParaRPr>
            </a:p>
            <a:p>
              <a:pPr indent="0" lvl="0" marL="0" rtl="0" algn="l">
                <a:spcBef>
                  <a:spcPts val="1875"/>
                </a:spcBef>
                <a:spcAft>
                  <a:spcPts val="0"/>
                </a:spcAft>
                <a:buNone/>
              </a:pPr>
              <a:r>
                <a:rPr b="1" lang="en-US" sz="2200">
                  <a:solidFill>
                    <a:srgbClr val="F3F4F6"/>
                  </a:solidFill>
                  <a:latin typeface="Inter"/>
                  <a:ea typeface="Inter"/>
                  <a:cs typeface="Inter"/>
                  <a:sym typeface="Inter"/>
                </a:rPr>
                <a:t>Fomenta la participación activa:</a:t>
              </a:r>
              <a:endParaRPr b="1" sz="2200">
                <a:solidFill>
                  <a:srgbClr val="F3F4F6"/>
                </a:solidFill>
                <a:latin typeface="Inter"/>
                <a:ea typeface="Inter"/>
                <a:cs typeface="Inter"/>
                <a:sym typeface="Inter"/>
              </a:endParaRPr>
            </a:p>
            <a:p>
              <a:pPr indent="0" lvl="0" marL="0" rtl="0" algn="l">
                <a:spcBef>
                  <a:spcPts val="1500"/>
                </a:spcBef>
                <a:spcAft>
                  <a:spcPts val="0"/>
                </a:spcAft>
                <a:buNone/>
              </a:pPr>
              <a:r>
                <a:rPr lang="en-US" sz="2000">
                  <a:solidFill>
                    <a:srgbClr val="A5B4FC"/>
                  </a:solidFill>
                  <a:latin typeface="Material Icons"/>
                  <a:ea typeface="Material Icons"/>
                  <a:cs typeface="Material Icons"/>
                  <a:sym typeface="Material Icons"/>
                </a:rPr>
                <a:t></a:t>
              </a:r>
              <a:r>
                <a:rPr b="0" lang="en-US" sz="1800">
                  <a:solidFill>
                    <a:srgbClr val="FFFFFF"/>
                  </a:solidFill>
                  <a:latin typeface="Inter"/>
                  <a:ea typeface="Inter"/>
                  <a:cs typeface="Inter"/>
                  <a:sym typeface="Inter"/>
                </a:rPr>
                <a:t>Que participe en todas las capacitaciones.</a:t>
              </a:r>
              <a:endParaRPr>
                <a:latin typeface="Inter"/>
                <a:ea typeface="Inter"/>
                <a:cs typeface="Inter"/>
                <a:sym typeface="Inter"/>
              </a:endParaRPr>
            </a:p>
            <a:p>
              <a:pPr indent="0" lvl="0" marL="0" rtl="0" algn="l">
                <a:spcBef>
                  <a:spcPts val="1125"/>
                </a:spcBef>
                <a:spcAft>
                  <a:spcPts val="0"/>
                </a:spcAft>
                <a:buNone/>
              </a:pPr>
              <a:r>
                <a:rPr lang="en-US" sz="2000">
                  <a:solidFill>
                    <a:srgbClr val="A5B4FC"/>
                  </a:solidFill>
                  <a:latin typeface="Material Icons"/>
                  <a:ea typeface="Material Icons"/>
                  <a:cs typeface="Material Icons"/>
                  <a:sym typeface="Material Icons"/>
                </a:rPr>
                <a:t></a:t>
              </a:r>
              <a:r>
                <a:rPr b="0" lang="en-US" sz="1800">
                  <a:solidFill>
                    <a:srgbClr val="FFFFFF"/>
                  </a:solidFill>
                  <a:latin typeface="Inter"/>
                  <a:ea typeface="Inter"/>
                  <a:cs typeface="Inter"/>
                  <a:sym typeface="Inter"/>
                </a:rPr>
                <a:t>Que tome notas y documente procesos.</a:t>
              </a:r>
              <a:endParaRPr>
                <a:latin typeface="Inter"/>
                <a:ea typeface="Inter"/>
                <a:cs typeface="Inter"/>
                <a:sym typeface="Inter"/>
              </a:endParaRPr>
            </a:p>
            <a:p>
              <a:pPr indent="0" lvl="0" marL="0" rtl="0" algn="l">
                <a:spcBef>
                  <a:spcPts val="1125"/>
                </a:spcBef>
                <a:spcAft>
                  <a:spcPts val="0"/>
                </a:spcAft>
                <a:buNone/>
              </a:pPr>
              <a:r>
                <a:rPr lang="en-US" sz="2000">
                  <a:solidFill>
                    <a:srgbClr val="A5B4FC"/>
                  </a:solidFill>
                  <a:latin typeface="Material Icons"/>
                  <a:ea typeface="Material Icons"/>
                  <a:cs typeface="Material Icons"/>
                  <a:sym typeface="Material Icons"/>
                </a:rPr>
                <a:t></a:t>
              </a:r>
              <a:r>
                <a:rPr b="0" lang="en-US" sz="1800">
                  <a:solidFill>
                    <a:srgbClr val="FFFFFF"/>
                  </a:solidFill>
                  <a:latin typeface="Inter"/>
                  <a:ea typeface="Inter"/>
                  <a:cs typeface="Inter"/>
                  <a:sym typeface="Inter"/>
                </a:rPr>
                <a:t>Que se apropie del proyecto gradualmente.</a:t>
              </a:r>
              <a:endParaRPr>
                <a:latin typeface="Inter"/>
                <a:ea typeface="Inter"/>
                <a:cs typeface="Inter"/>
                <a:sym typeface="Inter"/>
              </a:endParaRPr>
            </a:p>
          </p:txBody>
        </p:sp>
      </p:grpSp>
      <p:grpSp>
        <p:nvGrpSpPr>
          <p:cNvPr id="133" name="Google Shape;133;p16"/>
          <p:cNvGrpSpPr/>
          <p:nvPr/>
        </p:nvGrpSpPr>
        <p:grpSpPr>
          <a:xfrm>
            <a:off x="9486900" y="2667000"/>
            <a:ext cx="7429500" cy="4953000"/>
            <a:chOff x="9486900" y="2667000"/>
            <a:chExt cx="7429500" cy="4953000"/>
          </a:xfrm>
        </p:grpSpPr>
        <p:sp>
          <p:nvSpPr>
            <p:cNvPr id="134" name="Google Shape;134;p16"/>
            <p:cNvSpPr/>
            <p:nvPr/>
          </p:nvSpPr>
          <p:spPr>
            <a:xfrm>
              <a:off x="9486900" y="2667000"/>
              <a:ext cx="7429500" cy="4953000"/>
            </a:xfrm>
            <a:prstGeom prst="roundRect">
              <a:avLst>
                <a:gd fmla="val 7692" name="adj"/>
              </a:avLst>
            </a:prstGeom>
            <a:solidFill>
              <a:srgbClr val="F8F9FA"/>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9867900" y="3048000"/>
              <a:ext cx="66675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94A3B8"/>
                  </a:solidFill>
                  <a:latin typeface="Material Icons"/>
                  <a:ea typeface="Material Icons"/>
                  <a:cs typeface="Material Icons"/>
                  <a:sym typeface="Material Icons"/>
                </a:rPr>
                <a:t></a:t>
              </a:r>
              <a:endParaRPr sz="4000">
                <a:solidFill>
                  <a:srgbClr val="94A3B8"/>
                </a:solidFill>
                <a:latin typeface="Material Icons"/>
                <a:ea typeface="Material Icons"/>
                <a:cs typeface="Material Icons"/>
                <a:sym typeface="Material Icons"/>
              </a:endParaRPr>
            </a:p>
            <a:p>
              <a:pPr indent="0" lvl="0" marL="0" rtl="0" algn="l">
                <a:spcBef>
                  <a:spcPts val="1500"/>
                </a:spcBef>
                <a:spcAft>
                  <a:spcPts val="0"/>
                </a:spcAft>
                <a:buNone/>
              </a:pPr>
              <a:r>
                <a:rPr b="0" lang="en-US" sz="2800">
                  <a:solidFill>
                    <a:srgbClr val="1E293B"/>
                  </a:solidFill>
                  <a:latin typeface="Inter ExtraBold"/>
                  <a:ea typeface="Inter ExtraBold"/>
                  <a:cs typeface="Inter ExtraBold"/>
                  <a:sym typeface="Inter ExtraBold"/>
                </a:rPr>
                <a:t>Si no tiene equipo</a:t>
              </a:r>
              <a:endParaRPr b="0" sz="2800">
                <a:solidFill>
                  <a:srgbClr val="1E293B"/>
                </a:solidFill>
                <a:latin typeface="Inter ExtraBold"/>
                <a:ea typeface="Inter ExtraBold"/>
                <a:cs typeface="Inter ExtraBold"/>
                <a:sym typeface="Inter ExtraBold"/>
              </a:endParaRPr>
            </a:p>
            <a:p>
              <a:pPr indent="0" lvl="0" marL="0" rtl="0" algn="l">
                <a:spcBef>
                  <a:spcPts val="1875"/>
                </a:spcBef>
                <a:spcAft>
                  <a:spcPts val="0"/>
                </a:spcAft>
                <a:buNone/>
              </a:pPr>
              <a:r>
                <a:rPr b="1" lang="en-US" sz="2200">
                  <a:solidFill>
                    <a:srgbClr val="475569"/>
                  </a:solidFill>
                  <a:latin typeface="Inter"/>
                  <a:ea typeface="Inter"/>
                  <a:cs typeface="Inter"/>
                  <a:sym typeface="Inter"/>
                </a:rPr>
                <a:t>El rol lo asume el Especialista Funcional:</a:t>
              </a:r>
              <a:endParaRPr b="1" sz="2200">
                <a:solidFill>
                  <a:srgbClr val="475569"/>
                </a:solidFill>
                <a:latin typeface="Inter"/>
                <a:ea typeface="Inter"/>
                <a:cs typeface="Inter"/>
                <a:sym typeface="Inter"/>
              </a:endParaRPr>
            </a:p>
            <a:p>
              <a:pPr indent="0" lvl="0" marL="0" rtl="0" algn="l">
                <a:spcBef>
                  <a:spcPts val="1500"/>
                </a:spcBef>
                <a:spcAft>
                  <a:spcPts val="0"/>
                </a:spcAft>
                <a:buNone/>
              </a:pPr>
              <a:r>
                <a:rPr lang="en-US" sz="2000">
                  <a:solidFill>
                    <a:srgbClr val="F87171"/>
                  </a:solidFill>
                  <a:latin typeface="Material Icons"/>
                  <a:ea typeface="Material Icons"/>
                  <a:cs typeface="Material Icons"/>
                  <a:sym typeface="Material Icons"/>
                </a:rPr>
                <a:t></a:t>
              </a:r>
              <a:r>
                <a:rPr b="0" lang="en-US" sz="1800">
                  <a:solidFill>
                    <a:srgbClr val="334155"/>
                  </a:solidFill>
                  <a:latin typeface="Inter"/>
                  <a:ea typeface="Inter"/>
                  <a:cs typeface="Inter"/>
                  <a:sym typeface="Inter"/>
                </a:rPr>
                <a:t>Requiere mayor cuidado en la transferencia.</a:t>
              </a:r>
              <a:endParaRPr>
                <a:latin typeface="Inter"/>
                <a:ea typeface="Inter"/>
                <a:cs typeface="Inter"/>
                <a:sym typeface="Inter"/>
              </a:endParaRPr>
            </a:p>
            <a:p>
              <a:pPr indent="0" lvl="0" marL="0" rtl="0" algn="l">
                <a:spcBef>
                  <a:spcPts val="1125"/>
                </a:spcBef>
                <a:spcAft>
                  <a:spcPts val="0"/>
                </a:spcAft>
                <a:buNone/>
              </a:pPr>
              <a:r>
                <a:rPr lang="en-US" sz="2000">
                  <a:solidFill>
                    <a:srgbClr val="64748B"/>
                  </a:solidFill>
                  <a:latin typeface="Material Icons"/>
                  <a:ea typeface="Material Icons"/>
                  <a:cs typeface="Material Icons"/>
                  <a:sym typeface="Material Icons"/>
                </a:rPr>
                <a:t></a:t>
              </a:r>
              <a:r>
                <a:rPr b="0" lang="en-US" sz="1800">
                  <a:solidFill>
                    <a:srgbClr val="334155"/>
                  </a:solidFill>
                  <a:latin typeface="Inter"/>
                  <a:ea typeface="Inter"/>
                  <a:cs typeface="Inter"/>
                  <a:sym typeface="Inter"/>
                </a:rPr>
                <a:t>Dependencia crítica del consultor funcional.</a:t>
              </a:r>
              <a:endParaRPr>
                <a:latin typeface="Inter"/>
                <a:ea typeface="Inter"/>
                <a:cs typeface="Inter"/>
                <a:sym typeface="Inter"/>
              </a:endParaRPr>
            </a:p>
            <a:p>
              <a:pPr indent="0" lvl="0" marL="0" rtl="0" algn="l">
                <a:spcBef>
                  <a:spcPts val="1125"/>
                </a:spcBef>
                <a:spcAft>
                  <a:spcPts val="0"/>
                </a:spcAft>
                <a:buNone/>
              </a:pPr>
              <a:r>
                <a:rPr lang="en-US" sz="2000">
                  <a:solidFill>
                    <a:srgbClr val="64748B"/>
                  </a:solidFill>
                  <a:latin typeface="Material Icons"/>
                  <a:ea typeface="Material Icons"/>
                  <a:cs typeface="Material Icons"/>
                  <a:sym typeface="Material Icons"/>
                </a:rPr>
                <a:t></a:t>
              </a:r>
              <a:r>
                <a:rPr b="0" lang="en-US" sz="1800">
                  <a:solidFill>
                    <a:srgbClr val="334155"/>
                  </a:solidFill>
                  <a:latin typeface="Inter"/>
                  <a:ea typeface="Inter"/>
                  <a:cs typeface="Inter"/>
                  <a:sym typeface="Inter"/>
                </a:rPr>
                <a:t>Planificar transferencia de conocimiento lenta.</a:t>
              </a:r>
              <a:endParaRPr>
                <a:latin typeface="Inter"/>
                <a:ea typeface="Inter"/>
                <a:cs typeface="Inter"/>
                <a:sym typeface="Inter"/>
              </a:endParaRPr>
            </a:p>
          </p:txBody>
        </p:sp>
      </p:grpSp>
      <p:grpSp>
        <p:nvGrpSpPr>
          <p:cNvPr id="136" name="Google Shape;136;p16"/>
          <p:cNvGrpSpPr/>
          <p:nvPr/>
        </p:nvGrpSpPr>
        <p:grpSpPr>
          <a:xfrm>
            <a:off x="1371600" y="9144000"/>
            <a:ext cx="15544800" cy="1143000"/>
            <a:chOff x="1371600" y="9144000"/>
            <a:chExt cx="15544800" cy="1143000"/>
          </a:xfrm>
        </p:grpSpPr>
        <p:sp>
          <p:nvSpPr>
            <p:cNvPr id="137" name="Google Shape;137;p16"/>
            <p:cNvSpPr/>
            <p:nvPr/>
          </p:nvSpPr>
          <p:spPr>
            <a:xfrm>
              <a:off x="1371600" y="9144000"/>
              <a:ext cx="155448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1371600" y="9144000"/>
              <a:ext cx="15544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64748B"/>
                  </a:solidFill>
                  <a:latin typeface="Inter Medium"/>
                  <a:ea typeface="Inter Medium"/>
                  <a:cs typeface="Inter Medium"/>
                  <a:sym typeface="Inter Medium"/>
                </a:rPr>
                <a:t>Decisión 3 • Fase B: Definición de Estrategia Digital</a:t>
              </a:r>
              <a:endParaRPr b="0" sz="1800">
                <a:solidFill>
                  <a:srgbClr val="64748B"/>
                </a:solidFill>
                <a:latin typeface="Inter Medium"/>
                <a:ea typeface="Inter Medium"/>
                <a:cs typeface="Inter Medium"/>
                <a:sym typeface="Inter Medium"/>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p:nvPr/>
        </p:nvSpPr>
        <p:spPr>
          <a:xfrm>
            <a:off x="0" y="0"/>
            <a:ext cx="18288000" cy="10287000"/>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7"/>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Las tres decisiones se presentan con sus trade-offs</a:t>
            </a:r>
            <a:endParaRPr/>
          </a:p>
        </p:txBody>
      </p:sp>
      <p:sp>
        <p:nvSpPr>
          <p:cNvPr id="146" name="Google Shape;146;p17"/>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La decisión final es del gobierno</a:t>
            </a:r>
            <a:endParaRPr/>
          </a:p>
        </p:txBody>
      </p:sp>
      <p:sp>
        <p:nvSpPr>
          <p:cNvPr id="147" name="Google Shape;147;p17"/>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Tu rol es que la tomen con la información completa.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