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9.2s · 23 palabras]</a:t>
            </a:r>
          </a:p>
          <a:p/>
          <a:p>
            <a:r>
              <a:t>En el medio de la Fase B vas a enfrentar tres decisiones que condicionan todo lo que viene. Conviene anticiparlas para no improvisar.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35.2s · 88 palabras]</a:t>
            </a:r>
          </a:p>
          <a:p/>
          <a:p>
            <a:r>
              <a:t>La primera. ¿Autenticación propia o proveedor de identidad del gobierno? Esta decisión la toma el gobierno, no tú. Tu trabajo es presentar los trade-offs con honestidad. Si se integra el proveedor de identidad del gobierno, no hay migración: los ciudadanos entran con la cuenta que ya tienen. Si se elige autenticación propia de SovraGov, arrancan rápido pero el gobierno queda con dos bases de usuarios separadas, que es deuda que paga después. El default recomendado es integrar el proveedor del gobierno, pero la decisión final no es tuya.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26.4s · 66 palabras]</a:t>
            </a:r>
          </a:p>
          <a:p/>
          <a:p>
            <a:r>
              <a:t>La segunda. ¿Qué trámites incluyen pagos? Los trámites con pagos son entre dos y tres veces más complejos de modelar e integrar. La recomendación es hacer un piloto sin pagos primero. Validas el flujo completo del ciudadano y la operación del funcionario, y después sumas pagos en una segunda iteración. Meter pagos en el piloto inicial es la causa más común de demoras en Fase 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22.4s · 56 palabras]</a:t>
            </a:r>
          </a:p>
          <a:p/>
          <a:p>
            <a:r>
              <a:t>La tercera. ¿El gobierno tiene equipo de digitalización interno? Si lo tiene, foméntalo. Que ese equipo entre a las capacitaciones, que tome notas, que se apropie del proyecto. Si no lo tiene, el especialista funcional cumple ese rol, pero vas a tener que cuidar más la transferencia, porque el conocimiento queda concentrado en una sola persona.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12.0s · 30 palabras]</a:t>
            </a:r>
          </a:p>
          <a:p/>
          <a:p>
            <a:r>
              <a:t>Las tres decisiones se presentan con sus trade-offs. La decisión final es del gobierno. Tu rol es que la tomen con la información completa, no que la tomes por ellos.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7C3AED"/>
                </a:solidFill>
                <a:latin typeface="Figtree"/>
              </a:rPr>
              <a:t>FASE B</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Las tres decisiones</a:t>
            </a:r>
          </a:p>
          <a:p>
            <a:pPr algn="l">
              <a:lnSpc>
                <a:spcPct val="110000"/>
              </a:lnSpc>
            </a:pPr>
            <a:r>
              <a:rPr sz="8000" b="1" i="0">
                <a:solidFill>
                  <a:srgbClr val="0A0915"/>
                </a:solidFill>
                <a:latin typeface="Plus Jakarta Sans"/>
              </a:rPr>
              <a:t>de la Fase B.</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Condicionan todo lo que viene. Conviene anticiparlas para no improvisar.</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Decisión 1: ¿Autenticación propia</a:t>
            </a:r>
          </a:p>
          <a:p>
            <a:pPr algn="ctr">
              <a:lnSpc>
                <a:spcPct val="115000"/>
              </a:lnSpc>
            </a:pPr>
            <a:r>
              <a:rPr sz="4400" b="1" i="0">
                <a:solidFill>
                  <a:srgbClr val="0A0915"/>
                </a:solidFill>
                <a:latin typeface="Plus Jakarta Sans"/>
              </a:rPr>
              <a:t>o proveedor de identidad del gobierno?</a:t>
            </a:r>
          </a:p>
        </p:txBody>
      </p:sp>
      <p:sp>
        <p:nvSpPr>
          <p:cNvPr id="3" name="Rounded Rectangle 2"/>
          <p:cNvSpPr/>
          <p:nvPr/>
        </p:nvSpPr>
        <p:spPr>
          <a:xfrm>
            <a:off x="1828800" y="4572000"/>
            <a:ext cx="6400800" cy="411480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029200"/>
            <a:ext cx="5486400" cy="731520"/>
          </a:xfrm>
          <a:prstGeom prst="rect">
            <a:avLst/>
          </a:prstGeom>
          <a:noFill/>
        </p:spPr>
        <p:txBody>
          <a:bodyPr wrap="square" anchor="t" lIns="0" rIns="0" tIns="0" bIns="0">
            <a:spAutoFit/>
          </a:bodyPr>
          <a:lstStyle/>
          <a:p>
            <a:pPr algn="l">
              <a:lnSpc>
                <a:spcPct val="115000"/>
              </a:lnSpc>
            </a:pPr>
            <a:r>
              <a:rPr sz="1800" b="1" i="0">
                <a:solidFill>
                  <a:srgbClr val="888888"/>
                </a:solidFill>
                <a:latin typeface="Figtree"/>
              </a:rPr>
              <a:t>Autenticación propia SovraGov</a:t>
            </a:r>
          </a:p>
        </p:txBody>
      </p:sp>
      <p:sp>
        <p:nvSpPr>
          <p:cNvPr id="5" name="TextBox 4"/>
          <p:cNvSpPr txBox="1"/>
          <p:nvPr/>
        </p:nvSpPr>
        <p:spPr>
          <a:xfrm>
            <a:off x="2286000" y="6035040"/>
            <a:ext cx="5486400" cy="2286000"/>
          </a:xfrm>
          <a:prstGeom prst="rect">
            <a:avLst/>
          </a:prstGeom>
          <a:noFill/>
        </p:spPr>
        <p:txBody>
          <a:bodyPr wrap="square" anchor="t" lIns="0" rIns="0" tIns="0" bIns="0">
            <a:spAutoFit/>
          </a:bodyPr>
          <a:lstStyle/>
          <a:p>
            <a:pPr algn="l">
              <a:lnSpc>
                <a:spcPct val="130000"/>
              </a:lnSpc>
            </a:pPr>
            <a:r>
              <a:rPr sz="2800" b="0" i="0">
                <a:solidFill>
                  <a:srgbClr val="0A0915"/>
                </a:solidFill>
                <a:latin typeface="Plus Jakarta Sans"/>
              </a:rPr>
              <a:t>Arrancan rápido,</a:t>
            </a:r>
          </a:p>
          <a:p>
            <a:pPr algn="l">
              <a:lnSpc>
                <a:spcPct val="130000"/>
              </a:lnSpc>
            </a:pPr>
            <a:r>
              <a:rPr sz="2800" b="0" i="0">
                <a:solidFill>
                  <a:srgbClr val="0A0915"/>
                </a:solidFill>
                <a:latin typeface="Plus Jakarta Sans"/>
              </a:rPr>
              <a:t>pero el gobierno queda con dos bases de usuarios.</a:t>
            </a:r>
          </a:p>
          <a:p>
            <a:pPr algn="l">
              <a:lnSpc>
                <a:spcPct val="130000"/>
              </a:lnSpc>
            </a:pPr>
            <a:r>
              <a:rPr sz="2800" b="0" i="0">
                <a:solidFill>
                  <a:srgbClr val="0A0915"/>
                </a:solidFill>
                <a:latin typeface="Plus Jakarta Sans"/>
              </a:rPr>
              <a:t>Deuda que paga después.</a:t>
            </a:r>
          </a:p>
        </p:txBody>
      </p:sp>
      <p:sp>
        <p:nvSpPr>
          <p:cNvPr id="6" name="Rounded Rectangle 5"/>
          <p:cNvSpPr/>
          <p:nvPr/>
        </p:nvSpPr>
        <p:spPr>
          <a:xfrm>
            <a:off x="10058400" y="4572000"/>
            <a:ext cx="6400800" cy="41148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5029200"/>
            <a:ext cx="5486400" cy="731520"/>
          </a:xfrm>
          <a:prstGeom prst="rect">
            <a:avLst/>
          </a:prstGeom>
          <a:noFill/>
        </p:spPr>
        <p:txBody>
          <a:bodyPr wrap="square" anchor="t" lIns="0" rIns="0" tIns="0" bIns="0">
            <a:spAutoFit/>
          </a:bodyPr>
          <a:lstStyle/>
          <a:p>
            <a:pPr algn="l">
              <a:lnSpc>
                <a:spcPct val="115000"/>
              </a:lnSpc>
            </a:pPr>
            <a:r>
              <a:rPr sz="1800" b="1" i="0">
                <a:solidFill>
                  <a:srgbClr val="FFFFFF"/>
                </a:solidFill>
                <a:latin typeface="Figtree"/>
              </a:rPr>
              <a:t>Proveedor de identidad del gobierno</a:t>
            </a:r>
          </a:p>
        </p:txBody>
      </p:sp>
      <p:sp>
        <p:nvSpPr>
          <p:cNvPr id="8" name="TextBox 7"/>
          <p:cNvSpPr txBox="1"/>
          <p:nvPr/>
        </p:nvSpPr>
        <p:spPr>
          <a:xfrm>
            <a:off x="10515600" y="6035040"/>
            <a:ext cx="5486400" cy="2286000"/>
          </a:xfrm>
          <a:prstGeom prst="rect">
            <a:avLst/>
          </a:prstGeom>
          <a:noFill/>
        </p:spPr>
        <p:txBody>
          <a:bodyPr wrap="square" anchor="t" lIns="0" rIns="0" tIns="0" bIns="0">
            <a:spAutoFit/>
          </a:bodyPr>
          <a:lstStyle/>
          <a:p>
            <a:pPr algn="l">
              <a:lnSpc>
                <a:spcPct val="130000"/>
              </a:lnSpc>
            </a:pPr>
            <a:r>
              <a:rPr sz="2800" b="0" i="0">
                <a:solidFill>
                  <a:srgbClr val="FFFFFF"/>
                </a:solidFill>
                <a:latin typeface="Plus Jakarta Sans"/>
              </a:rPr>
              <a:t>Sin migración: los ciudadanos</a:t>
            </a:r>
          </a:p>
          <a:p>
            <a:pPr algn="l">
              <a:lnSpc>
                <a:spcPct val="130000"/>
              </a:lnSpc>
            </a:pPr>
            <a:r>
              <a:rPr sz="2800" b="0" i="0">
                <a:solidFill>
                  <a:srgbClr val="FFFFFF"/>
                </a:solidFill>
                <a:latin typeface="Plus Jakarta Sans"/>
              </a:rPr>
              <a:t>entran con la cuenta que ya tienen.</a:t>
            </a:r>
          </a:p>
          <a:p>
            <a:pPr algn="l">
              <a:lnSpc>
                <a:spcPct val="130000"/>
              </a:lnSpc>
            </a:pPr>
            <a:r>
              <a:rPr sz="2800" b="0" i="0">
                <a:solidFill>
                  <a:srgbClr val="FFFFFF"/>
                </a:solidFill>
                <a:latin typeface="Plus Jakarta Sans"/>
              </a:rPr>
              <a:t>Default recomendado.</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7C3AED"/>
                </a:solidFill>
                <a:latin typeface="Figtree"/>
              </a:rPr>
              <a:t>Decisión 2</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¿Qué trámites incluyen pagos?</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Los trámites con pagos son 2 a 3 veces más complejos de modelar e integrar. Recomendación: piloto sin pagos primero. Validas flujo del ciudadano y operación del funcionario, y después sumas pagos en una segunda iteración. Meter pagos en el piloto inicial es la causa más común de demoras en Fase C.</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7C3AED"/>
                </a:solidFill>
                <a:latin typeface="Figtree"/>
              </a:rPr>
              <a:t>Decisión 3</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¿El gobierno tiene equipo</a:t>
            </a:r>
          </a:p>
          <a:p>
            <a:pPr algn="ctr">
              <a:lnSpc>
                <a:spcPct val="115000"/>
              </a:lnSpc>
            </a:pPr>
            <a:r>
              <a:rPr sz="5600" b="1" i="0">
                <a:solidFill>
                  <a:srgbClr val="0A0915"/>
                </a:solidFill>
                <a:latin typeface="Plus Jakarta Sans"/>
              </a:rPr>
              <a:t>de digitalización interno?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Si lo tiene, foméntalo: que entre a las capacitaciones, que tome notas, que se apropie del proyecto. Si no lo tiene, el especialista funcional cumple ese rol, pero vas a tener que cuidar más la transferencia.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Las tres decisiones se presentan con sus trade-offs.</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La decisión final es del gobierno.</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Tu rol es que la tomen con la información completa.</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