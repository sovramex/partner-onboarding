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10287000" cx="18288000"/>
  <p:notesSz cx="6858000" cy="9144000"/>
  <p:embeddedFontLst>
    <p:embeddedFont>
      <p:font typeface="Inter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Inter-regular.fntdata"/><Relationship Id="rId10" Type="http://schemas.openxmlformats.org/officeDocument/2006/relationships/slide" Target="slides/slide5.xml"/><Relationship Id="rId13" Type="http://schemas.openxmlformats.org/officeDocument/2006/relationships/font" Target="fonts/Inter-italic.fntdata"/><Relationship Id="rId12" Type="http://schemas.openxmlformats.org/officeDocument/2006/relationships/font" Target="fonts/Inter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font" Target="fonts/Inter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6.4s · 16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Antes de la primera capacitación, tú tienes que conocer los temas a profundidad. Eso significa estudiar.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20.8s · 52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Kit de Fase B trae material estándar, pero la preparación real no está ahí. Está en dos lugares: en sovra.io/es/knowledge y en los manuales de la plataforma. Esos manuales documentan cómo funciona cada módulo de SovraGov, paso a paso. Apariencia, catálogos, trámites, etapas, documento de salida, pagos, citas, inspectores, usuarios. Todo.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22.8s · 57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¿Por qué importa tanto? Porque el gobierno lo nota. Si te subes a una capacitación funcional sin haber tocado la plataforma o sin saber explicar por qué un catálogo se vincula a un trámite, lo van a percibir en los primeros quince minutos. Y a partir de ese momento perdiste autoridad para todo el resto del ciclo.</a:t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38.0s · 95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preparación se hace en concreto. Antes de la capacitación conceptual, repasas identidad digital, credenciales verificables, ventanilla digital e interoperabilidad. Tienes que poder explicarlos sin leer. Antes de la capacitación funcional, recorres la instancia sandbox completa. Haces tú mismo un trámite de punta a punta. Configuras un catálogo. Ajustas la apariencia. Si te trabas en algo, lo resuelves antes, no en la sesión. Y antes de la reunión técnica, lees la documentación de APIs y el plan técnico tipo. No para presentarlo, sino para anticipar las preguntas que el técnico del gobierno va a hacer.</a:t>
            </a:r>
            <a:endParaRPr/>
          </a:p>
        </p:txBody>
      </p:sp>
      <p:sp>
        <p:nvSpPr>
          <p:cNvPr id="118" name="Google Shape;11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7.2s · 18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presentes lo que no entiendes. La capacitación es el primer test público de tu dominio del producto.</a:t>
            </a:r>
            <a:endParaRPr/>
          </a:p>
        </p:txBody>
      </p:sp>
      <p:sp>
        <p:nvSpPr>
          <p:cNvPr id="142" name="Google Shape;14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rPr>
              <a:t>FASE B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Prepararte antes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de capacitar al gobierno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Antes de la primera capacitación, tú tienes que conocer los temas a profundidad.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8858250" y="2286000"/>
            <a:ext cx="571500" cy="7620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5" name="Google Shape;95;p14"/>
          <p:cNvGrpSpPr/>
          <p:nvPr/>
        </p:nvGrpSpPr>
        <p:grpSpPr>
          <a:xfrm>
            <a:off x="1905000" y="3619500"/>
            <a:ext cx="6667500" cy="3810000"/>
            <a:chOff x="1905000" y="3619500"/>
            <a:chExt cx="6667500" cy="3810000"/>
          </a:xfrm>
        </p:grpSpPr>
        <p:sp>
          <p:nvSpPr>
            <p:cNvPr id="96" name="Google Shape;96;p14"/>
            <p:cNvSpPr/>
            <p:nvPr/>
          </p:nvSpPr>
          <p:spPr>
            <a:xfrm>
              <a:off x="1905000" y="3619500"/>
              <a:ext cx="6667500" cy="38100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19050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4"/>
            <p:cNvSpPr txBox="1"/>
            <p:nvPr/>
          </p:nvSpPr>
          <p:spPr>
            <a:xfrm>
              <a:off x="2381250" y="4095750"/>
              <a:ext cx="57150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Lo que trae el Kit</a:t>
              </a:r>
              <a:endParaRPr b="1" sz="200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Material estándar de Fase B.</a:t>
              </a:r>
              <a:endParaRPr b="0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6B7280"/>
                  </a:solidFill>
                  <a:latin typeface="Inter"/>
                  <a:ea typeface="Inter"/>
                  <a:cs typeface="Inter"/>
                  <a:sym typeface="Inter"/>
                </a:rPr>
                <a:t>Es solo un punto de partida.</a:t>
              </a:r>
              <a:endParaRPr b="0" sz="24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8" name="Google Shape;98;p14"/>
          <p:cNvGrpSpPr/>
          <p:nvPr/>
        </p:nvGrpSpPr>
        <p:grpSpPr>
          <a:xfrm>
            <a:off x="9715500" y="3619500"/>
            <a:ext cx="6667500" cy="3810000"/>
            <a:chOff x="9715500" y="3619500"/>
            <a:chExt cx="6667500" cy="3810000"/>
          </a:xfrm>
        </p:grpSpPr>
        <p:sp>
          <p:nvSpPr>
            <p:cNvPr id="99" name="Google Shape;99;p14"/>
            <p:cNvSpPr/>
            <p:nvPr/>
          </p:nvSpPr>
          <p:spPr>
            <a:xfrm>
              <a:off x="9715500" y="3619500"/>
              <a:ext cx="6667500" cy="3810000"/>
            </a:xfrm>
            <a:prstGeom prst="roundRect">
              <a:avLst>
                <a:gd fmla="val 10000" name="adj"/>
              </a:avLst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4"/>
            <p:cNvSpPr txBox="1"/>
            <p:nvPr/>
          </p:nvSpPr>
          <p:spPr>
            <a:xfrm>
              <a:off x="10191750" y="4095750"/>
              <a:ext cx="57150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DE9FE"/>
                  </a:solidFill>
                  <a:latin typeface="Inter"/>
                  <a:ea typeface="Inter"/>
                  <a:cs typeface="Inter"/>
                  <a:sym typeface="Inter"/>
                </a:rPr>
                <a:t>Dónde estudias de verdad</a:t>
              </a:r>
              <a:endParaRPr b="1" sz="2000">
                <a:solidFill>
                  <a:srgbClr val="EDE9FE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sovra.io/es/knowledge</a:t>
              </a:r>
              <a:endParaRPr b="1" sz="3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DDD6FE"/>
                  </a:solidFill>
                  <a:latin typeface="Inter"/>
                  <a:ea typeface="Inter"/>
                  <a:cs typeface="Inter"/>
                  <a:sym typeface="Inter"/>
                </a:rPr>
                <a:t>y los manuales profundos de la plataforma.</a:t>
              </a:r>
              <a:endParaRPr b="0" sz="2400">
                <a:solidFill>
                  <a:srgbClr val="DDD6F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01" name="Google Shape;101;p14"/>
          <p:cNvSpPr txBox="1"/>
          <p:nvPr/>
        </p:nvSpPr>
        <p:spPr>
          <a:xfrm>
            <a:off x="1371600" y="1143000"/>
            <a:ext cx="155448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¿Dónde está la preparación real?</a:t>
            </a:r>
            <a:endParaRPr b="1" sz="54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8" name="Google Shape;108;p15"/>
          <p:cNvGrpSpPr/>
          <p:nvPr/>
        </p:nvGrpSpPr>
        <p:grpSpPr>
          <a:xfrm>
            <a:off x="1371600" y="1143000"/>
            <a:ext cx="15544800" cy="2857500"/>
            <a:chOff x="1371600" y="1143000"/>
            <a:chExt cx="15544800" cy="2857500"/>
          </a:xfrm>
        </p:grpSpPr>
        <p:sp>
          <p:nvSpPr>
            <p:cNvPr id="109" name="Google Shape;109;p15"/>
            <p:cNvSpPr txBox="1"/>
            <p:nvPr/>
          </p:nvSpPr>
          <p:spPr>
            <a:xfrm>
              <a:off x="1371600" y="11430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POR QUÉ IMPORTA</a:t>
              </a:r>
              <a:endParaRPr b="1" sz="1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0" name="Google Shape;110;p15"/>
            <p:cNvSpPr txBox="1"/>
            <p:nvPr/>
          </p:nvSpPr>
          <p:spPr>
            <a:xfrm>
              <a:off x="1371600" y="1714500"/>
              <a:ext cx="155448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74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El gobierno lo nota en</a:t>
              </a:r>
              <a:endParaRPr b="1" sz="7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74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los primeros 15 minutos</a:t>
              </a:r>
              <a:endParaRPr b="1" sz="7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1" name="Google Shape;111;p15"/>
          <p:cNvGrpSpPr/>
          <p:nvPr/>
        </p:nvGrpSpPr>
        <p:grpSpPr>
          <a:xfrm>
            <a:off x="1371600" y="4572000"/>
            <a:ext cx="15544800" cy="4000500"/>
            <a:chOff x="1371600" y="4572000"/>
            <a:chExt cx="15544800" cy="4000500"/>
          </a:xfrm>
        </p:grpSpPr>
        <p:sp>
          <p:nvSpPr>
            <p:cNvPr id="112" name="Google Shape;112;p15"/>
            <p:cNvSpPr/>
            <p:nvPr/>
          </p:nvSpPr>
          <p:spPr>
            <a:xfrm>
              <a:off x="1371600" y="4572000"/>
              <a:ext cx="15544800" cy="4000500"/>
            </a:xfrm>
            <a:prstGeom prst="roundRect">
              <a:avLst>
                <a:gd fmla="val 9523" name="adj"/>
              </a:avLst>
            </a:prstGeom>
            <a:solidFill>
              <a:srgbClr val="F8F9FA"/>
            </a:solidFill>
            <a:ln cap="flat" cmpd="sng" w="19050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5"/>
            <p:cNvSpPr txBox="1"/>
            <p:nvPr/>
          </p:nvSpPr>
          <p:spPr>
            <a:xfrm>
              <a:off x="2133600" y="4572000"/>
              <a:ext cx="140208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Si te subes a una capacitación funcional sin haber tocado la plataforma o sin saber explicar por qué un catálogo se vincula a un trámite...</a:t>
              </a:r>
              <a:endParaRPr b="0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36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...perdiste autoridad para todo el resto del ciclo.</a:t>
              </a:r>
              <a:endParaRPr b="1" sz="36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14" name="Google Shape;114;p15"/>
          <p:cNvSpPr/>
          <p:nvPr/>
        </p:nvSpPr>
        <p:spPr>
          <a:xfrm>
            <a:off x="1524000" y="6000750"/>
            <a:ext cx="76200" cy="114300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"/>
          <p:cNvSpPr txBox="1"/>
          <p:nvPr/>
        </p:nvSpPr>
        <p:spPr>
          <a:xfrm>
            <a:off x="1371600" y="762000"/>
            <a:ext cx="155448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La preparación se hace en concreto</a:t>
            </a:r>
            <a:endParaRPr b="1" sz="54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21" name="Google Shape;121;p16"/>
          <p:cNvGrpSpPr/>
          <p:nvPr/>
        </p:nvGrpSpPr>
        <p:grpSpPr>
          <a:xfrm>
            <a:off x="1143000" y="2667000"/>
            <a:ext cx="4953000" cy="5715000"/>
            <a:chOff x="1143000" y="2667000"/>
            <a:chExt cx="4953000" cy="5715000"/>
          </a:xfrm>
        </p:grpSpPr>
        <p:sp>
          <p:nvSpPr>
            <p:cNvPr id="122" name="Google Shape;122;p16"/>
            <p:cNvSpPr/>
            <p:nvPr/>
          </p:nvSpPr>
          <p:spPr>
            <a:xfrm>
              <a:off x="1143000" y="2667000"/>
              <a:ext cx="4953000" cy="5715000"/>
            </a:xfrm>
            <a:prstGeom prst="roundRect">
              <a:avLst>
                <a:gd fmla="val 4615" name="adj"/>
              </a:avLst>
            </a:prstGeom>
            <a:solidFill>
              <a:srgbClr val="FFFFFF"/>
            </a:solidFill>
            <a:ln cap="flat" cmpd="sng" w="19050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6"/>
            <p:cNvSpPr/>
            <p:nvPr/>
          </p:nvSpPr>
          <p:spPr>
            <a:xfrm>
              <a:off x="1143000" y="2667000"/>
              <a:ext cx="4953000" cy="1143000"/>
            </a:xfrm>
            <a:prstGeom prst="roundRect">
              <a:avLst>
                <a:gd fmla="val 20000" name="adj"/>
              </a:avLst>
            </a:prstGeom>
            <a:solidFill>
              <a:srgbClr val="F5F3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6"/>
            <p:cNvSpPr/>
            <p:nvPr/>
          </p:nvSpPr>
          <p:spPr>
            <a:xfrm>
              <a:off x="1143000" y="3238500"/>
              <a:ext cx="4953000" cy="571500"/>
            </a:xfrm>
            <a:prstGeom prst="rect">
              <a:avLst/>
            </a:prstGeom>
            <a:solidFill>
              <a:srgbClr val="F5F3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1524000" y="2952750"/>
              <a:ext cx="419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Antes de la conceptual</a:t>
              </a:r>
              <a:endParaRPr b="1" sz="2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6" name="Google Shape;126;p16"/>
            <p:cNvSpPr txBox="1"/>
            <p:nvPr/>
          </p:nvSpPr>
          <p:spPr>
            <a:xfrm>
              <a:off x="1524000" y="4000500"/>
              <a:ext cx="41910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Repasas los pilares teóricos para fundamentar el proyecto: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55600" lvl="0" marL="457200" rtl="0" algn="l">
                <a:spcBef>
                  <a:spcPts val="1500"/>
                </a:spcBef>
                <a:spcAft>
                  <a:spcPts val="0"/>
                </a:spcAft>
                <a:buClr>
                  <a:srgbClr val="0A0915"/>
                </a:buClr>
                <a:buSzPts val="2000"/>
                <a:buFont typeface="Inter"/>
                <a:buChar char="●"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Identidad digital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556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0A0915"/>
                </a:buClr>
                <a:buSzPts val="2000"/>
                <a:buFont typeface="Inter"/>
                <a:buChar char="●"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Credenciales verificables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556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0A0915"/>
                </a:buClr>
                <a:buSzPts val="2000"/>
                <a:buFont typeface="Inter"/>
                <a:buChar char="●"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Ventanilla digital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556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0A0915"/>
                </a:buClr>
                <a:buSzPts val="2000"/>
                <a:buFont typeface="Inter"/>
                <a:buChar char="●"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Interoperabilidad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Tienes que poder explicarlos sin leer.</a:t>
              </a:r>
              <a:endParaRPr b="1" sz="20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7" name="Google Shape;127;p16"/>
          <p:cNvGrpSpPr/>
          <p:nvPr/>
        </p:nvGrpSpPr>
        <p:grpSpPr>
          <a:xfrm>
            <a:off x="6667500" y="2667000"/>
            <a:ext cx="4953000" cy="5715000"/>
            <a:chOff x="6667500" y="2667000"/>
            <a:chExt cx="4953000" cy="5715000"/>
          </a:xfrm>
        </p:grpSpPr>
        <p:sp>
          <p:nvSpPr>
            <p:cNvPr id="128" name="Google Shape;128;p16"/>
            <p:cNvSpPr/>
            <p:nvPr/>
          </p:nvSpPr>
          <p:spPr>
            <a:xfrm>
              <a:off x="6667500" y="2667000"/>
              <a:ext cx="4953000" cy="5715000"/>
            </a:xfrm>
            <a:prstGeom prst="roundRect">
              <a:avLst>
                <a:gd fmla="val 4615" name="adj"/>
              </a:avLst>
            </a:prstGeom>
            <a:solidFill>
              <a:srgbClr val="FFFFFF"/>
            </a:solidFill>
            <a:ln cap="flat" cmpd="sng" w="19050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6"/>
            <p:cNvSpPr/>
            <p:nvPr/>
          </p:nvSpPr>
          <p:spPr>
            <a:xfrm>
              <a:off x="6667500" y="2667000"/>
              <a:ext cx="4953000" cy="1143000"/>
            </a:xfrm>
            <a:prstGeom prst="roundRect">
              <a:avLst>
                <a:gd fmla="val 20000" name="adj"/>
              </a:avLst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6"/>
            <p:cNvSpPr/>
            <p:nvPr/>
          </p:nvSpPr>
          <p:spPr>
            <a:xfrm>
              <a:off x="6667500" y="3238500"/>
              <a:ext cx="4953000" cy="571500"/>
            </a:xfrm>
            <a:prstGeom prst="rect">
              <a:avLst/>
            </a:prstGeom>
            <a:solidFill>
              <a:srgbClr val="7C3AE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16"/>
            <p:cNvSpPr txBox="1"/>
            <p:nvPr/>
          </p:nvSpPr>
          <p:spPr>
            <a:xfrm>
              <a:off x="7048500" y="2952750"/>
              <a:ext cx="419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Antes de la funcional</a:t>
              </a:r>
              <a:endParaRPr b="1" sz="2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2" name="Google Shape;132;p16"/>
            <p:cNvSpPr txBox="1"/>
            <p:nvPr/>
          </p:nvSpPr>
          <p:spPr>
            <a:xfrm>
              <a:off x="7048500" y="4000500"/>
              <a:ext cx="41910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Dominio total de la herramienta a través de la práctica: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55600" lvl="0" marL="457200" rtl="0" algn="l">
                <a:spcBef>
                  <a:spcPts val="1500"/>
                </a:spcBef>
                <a:spcAft>
                  <a:spcPts val="0"/>
                </a:spcAft>
                <a:buClr>
                  <a:srgbClr val="0A0915"/>
                </a:buClr>
                <a:buSzPts val="2000"/>
                <a:buFont typeface="Inter"/>
                <a:buChar char="●"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Recorres la instancia sandbox completa.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556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0A0915"/>
                </a:buClr>
                <a:buSzPts val="2000"/>
                <a:buFont typeface="Inter"/>
                <a:buChar char="●"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Haces un trámite de punta a punta.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556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0A0915"/>
                </a:buClr>
                <a:buSzPts val="2000"/>
                <a:buFont typeface="Inter"/>
                <a:buChar char="●"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Configuras un catálogo.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556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0A0915"/>
                </a:buClr>
                <a:buSzPts val="2000"/>
                <a:buFont typeface="Inter"/>
                <a:buChar char="●"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Ajustas la apariencia visual.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i="1" lang="en-US" sz="2000">
                  <a:solidFill>
                    <a:srgbClr val="6B7280"/>
                  </a:solidFill>
                  <a:latin typeface="Inter"/>
                  <a:ea typeface="Inter"/>
                  <a:cs typeface="Inter"/>
                  <a:sym typeface="Inter"/>
                </a:rPr>
                <a:t>Aprender haciendo es la clave.</a:t>
              </a:r>
              <a:endParaRPr b="0" i="1" sz="2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3" name="Google Shape;133;p16"/>
          <p:cNvGrpSpPr/>
          <p:nvPr/>
        </p:nvGrpSpPr>
        <p:grpSpPr>
          <a:xfrm>
            <a:off x="12192000" y="2667000"/>
            <a:ext cx="4953000" cy="5715000"/>
            <a:chOff x="12192000" y="2667000"/>
            <a:chExt cx="4953000" cy="5715000"/>
          </a:xfrm>
        </p:grpSpPr>
        <p:sp>
          <p:nvSpPr>
            <p:cNvPr id="134" name="Google Shape;134;p16"/>
            <p:cNvSpPr/>
            <p:nvPr/>
          </p:nvSpPr>
          <p:spPr>
            <a:xfrm>
              <a:off x="12192000" y="2667000"/>
              <a:ext cx="4953000" cy="5715000"/>
            </a:xfrm>
            <a:prstGeom prst="roundRect">
              <a:avLst>
                <a:gd fmla="val 4615" name="adj"/>
              </a:avLst>
            </a:prstGeom>
            <a:solidFill>
              <a:srgbClr val="FFFFFF"/>
            </a:solidFill>
            <a:ln cap="flat" cmpd="sng" w="19050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16"/>
            <p:cNvSpPr/>
            <p:nvPr/>
          </p:nvSpPr>
          <p:spPr>
            <a:xfrm>
              <a:off x="12192000" y="2667000"/>
              <a:ext cx="4953000" cy="1143000"/>
            </a:xfrm>
            <a:prstGeom prst="roundRect">
              <a:avLst>
                <a:gd fmla="val 20000" name="adj"/>
              </a:avLst>
            </a:prstGeom>
            <a:solidFill>
              <a:srgbClr val="F5F3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6"/>
            <p:cNvSpPr/>
            <p:nvPr/>
          </p:nvSpPr>
          <p:spPr>
            <a:xfrm>
              <a:off x="12192000" y="3238500"/>
              <a:ext cx="4953000" cy="571500"/>
            </a:xfrm>
            <a:prstGeom prst="rect">
              <a:avLst/>
            </a:prstGeom>
            <a:solidFill>
              <a:srgbClr val="F5F3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16"/>
            <p:cNvSpPr txBox="1"/>
            <p:nvPr/>
          </p:nvSpPr>
          <p:spPr>
            <a:xfrm>
              <a:off x="12573000" y="2952750"/>
              <a:ext cx="419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Antes de la técnica</a:t>
              </a:r>
              <a:endParaRPr b="1" sz="2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8" name="Google Shape;138;p16"/>
            <p:cNvSpPr txBox="1"/>
            <p:nvPr/>
          </p:nvSpPr>
          <p:spPr>
            <a:xfrm>
              <a:off x="12573000" y="4000500"/>
              <a:ext cx="41910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Anticipación y solvencia ante el equipo de TI: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55600" lvl="0" marL="457200" rtl="0" algn="l">
                <a:spcBef>
                  <a:spcPts val="1500"/>
                </a:spcBef>
                <a:spcAft>
                  <a:spcPts val="0"/>
                </a:spcAft>
                <a:buClr>
                  <a:srgbClr val="0A0915"/>
                </a:buClr>
                <a:buSzPts val="2000"/>
                <a:buFont typeface="Inter"/>
                <a:buChar char="●"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Lees la documentación de APIs a fondo.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556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0A0915"/>
                </a:buClr>
                <a:buSzPts val="2000"/>
                <a:buFont typeface="Inter"/>
                <a:buChar char="●"/>
              </a:pPr>
              <a:r>
                <a:rPr b="0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Analizas el plan técnico tipo.</a:t>
              </a:r>
              <a:endParaRPr b="0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El objetivo no es presentar el plan, sino estar listo para anticipar cada pregunta técnica.</a:t>
              </a:r>
              <a:endParaRPr b="1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1371600" y="3200400"/>
            <a:ext cx="15544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No presentes lo que no entiendes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1371600" y="4000505"/>
            <a:ext cx="15544800" cy="25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La capacitación es el primer test público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1371600" y="6782700"/>
            <a:ext cx="1554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tu dominio del producto.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