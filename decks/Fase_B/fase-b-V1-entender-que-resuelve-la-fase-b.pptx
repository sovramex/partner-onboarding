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Inter"/>
      <p:regular r:id="rId13"/>
      <p:bold r:id="rId14"/>
      <p:italic r:id="rId15"/>
      <p:boldItalic r:id="rId16"/>
    </p:embeddedFont>
    <p:embeddedFont>
      <p:font typeface="Inter ExtraBold"/>
      <p:bold r:id="rId17"/>
      <p:boldItalic r:id="rId18"/>
    </p:embeddedFont>
    <p:embeddedFont>
      <p:font typeface="Inter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slide" Target="slides/slide6.xml"/><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InterExtraBold-bold.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23.6s · 59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Llegaste hasta acá porque cerraste la Fase A. Tienes roles asignados con nombre y apellido, un alcance alineado, los canales de comunicación abiertos, el Gantt aprobado y el dominio pedido a TI. Esos son los cimientos. Ahora arranca la fase más densa de los noventa días: la Fase B, Preparación, que ocupa de la semana dos a la cinco.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14.4s · 36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Llegaste hasta acá porque cerraste la Fase A. Tienes roles asignados con nombre y apellido, un alcance alineado, los canales de comunicación abiertos, el Gantt aprobado y el dominio pedido a TI. Esos son los cimientos.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23.6s · 59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¿Qué vas a hacer en estas cuatro semanas? Cuatro cosas que se cruzan entre sí. Capacitar al equipo del gobierno, en lo conceptual y en lo funcional. Priorizar los trámites que van a entrar al ciclo. Definir la gobernanza, es decir, quién puede hacer qué dentro de la plataforma. Y dejar acordadas las integraciones técnicas, con plan y responsables.</a:t>
            </a:r>
            <a:endParaRPr/>
          </a:p>
        </p:txBody>
      </p:sp>
      <p:sp>
        <p:nvSpPr>
          <p:cNvPr id="116" name="Google Shape;11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 name="Google Shape;14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18.4s · 46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cambio de mentalidad respecto de la Fase A es importante. En A vendiste visión y armaste el equipo. En B, el gobierno sale sabiendo operar. Cuando termine la fase, el especialista funcional del gobierno tiene que poder entrar a la instancia y moverse sin ayuda.</a:t>
            </a:r>
            <a:endParaRPr/>
          </a:p>
        </p:txBody>
      </p:sp>
      <p:sp>
        <p:nvSpPr>
          <p:cNvPr id="141" name="Google Shape;14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17.2s · 43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Por eso los roles críticos cambian de peso. El especialista funcional del gobierno entra al cien por ciento de dedicación. El técnico del gobierno aparece de verdad, no nominalmente. Y el coordinador empieza a hacer seguimiento real de tareas, no solo de reuniones.</a:t>
            </a:r>
            <a:endParaRPr/>
          </a:p>
        </p:txBody>
      </p:sp>
      <p:sp>
        <p:nvSpPr>
          <p:cNvPr id="163" name="Google Shape;163;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22.4s · 56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Una advertencia: la Fase B es la fase más densa del ciclo. Once items en el checklist, cuatro reuniones obligatorias, decisiones que condicionan todo lo que viene después. No es una fase para improvisar. Si entras sin haber leído el material y sin haber estudiado el contenido de la plataforma, se nota desde la primera capacitación.</a:t>
            </a:r>
            <a:endParaRPr/>
          </a:p>
        </p:txBody>
      </p:sp>
      <p:sp>
        <p:nvSpPr>
          <p:cNvPr id="188" name="Google Shape;188;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7.2s · 18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Fase B no es preparación de papeles. Es la fase donde el gobierno aprende a operar SovraGov.</a:t>
            </a:r>
            <a:endParaRPr/>
          </a:p>
        </p:txBody>
      </p:sp>
      <p:sp>
        <p:nvSpPr>
          <p:cNvPr id="206" name="Google Shape;20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7C3AED"/>
                </a:solidFill>
                <a:latin typeface="Inter"/>
                <a:ea typeface="Inter"/>
                <a:cs typeface="Inter"/>
                <a:sym typeface="Inter"/>
              </a:rPr>
              <a:t>FASE B</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Entender qué resuelve</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la Fase B</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Preparación · Semanas 2 a 5. La fase más densa del ciclo.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6" name="Google Shape;96;p14"/>
          <p:cNvGrpSpPr/>
          <p:nvPr/>
        </p:nvGrpSpPr>
        <p:grpSpPr>
          <a:xfrm>
            <a:off x="1371600" y="952500"/>
            <a:ext cx="15544800" cy="2000400"/>
            <a:chOff x="1371600" y="952500"/>
            <a:chExt cx="15544800" cy="2000400"/>
          </a:xfrm>
        </p:grpSpPr>
        <p:sp>
          <p:nvSpPr>
            <p:cNvPr id="97" name="Google Shape;97;p14"/>
            <p:cNvSpPr txBox="1"/>
            <p:nvPr/>
          </p:nvSpPr>
          <p:spPr>
            <a:xfrm>
              <a:off x="1371600" y="9525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7C3AED"/>
                  </a:solidFill>
                  <a:latin typeface="Inter"/>
                  <a:ea typeface="Inter"/>
                  <a:cs typeface="Inter"/>
                  <a:sym typeface="Inter"/>
                </a:rPr>
                <a:t>PUNTO DE PARTIDA</a:t>
              </a:r>
              <a:endParaRPr b="1" sz="1800">
                <a:solidFill>
                  <a:srgbClr val="7C3AED"/>
                </a:solidFill>
                <a:latin typeface="Inter"/>
                <a:ea typeface="Inter"/>
                <a:cs typeface="Inter"/>
                <a:sym typeface="Inter"/>
              </a:endParaRPr>
            </a:p>
          </p:txBody>
        </p:sp>
        <p:sp>
          <p:nvSpPr>
            <p:cNvPr id="98" name="Google Shape;98;p14"/>
            <p:cNvSpPr txBox="1"/>
            <p:nvPr/>
          </p:nvSpPr>
          <p:spPr>
            <a:xfrm>
              <a:off x="1371600" y="1524000"/>
              <a:ext cx="155448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4590">
                  <a:solidFill>
                    <a:srgbClr val="0A0915"/>
                  </a:solidFill>
                  <a:latin typeface="Inter ExtraBold"/>
                  <a:ea typeface="Inter ExtraBold"/>
                  <a:cs typeface="Inter ExtraBold"/>
                  <a:sym typeface="Inter ExtraBold"/>
                </a:rPr>
                <a:t>Cerraste Fase A.</a:t>
              </a:r>
              <a:endParaRPr b="0" sz="4590">
                <a:solidFill>
                  <a:srgbClr val="0A0915"/>
                </a:solidFill>
                <a:latin typeface="Inter ExtraBold"/>
                <a:ea typeface="Inter ExtraBold"/>
                <a:cs typeface="Inter ExtraBold"/>
                <a:sym typeface="Inter ExtraBold"/>
              </a:endParaRPr>
            </a:p>
            <a:p>
              <a:pPr indent="0" lvl="0" marL="0" rtl="0" algn="l">
                <a:spcBef>
                  <a:spcPts val="0"/>
                </a:spcBef>
                <a:spcAft>
                  <a:spcPts val="0"/>
                </a:spcAft>
                <a:buNone/>
              </a:pPr>
              <a:r>
                <a:rPr b="0" lang="en-US" sz="4590">
                  <a:solidFill>
                    <a:srgbClr val="7C3AED"/>
                  </a:solidFill>
                  <a:latin typeface="Inter ExtraBold"/>
                  <a:ea typeface="Inter ExtraBold"/>
                  <a:cs typeface="Inter ExtraBold"/>
                  <a:sym typeface="Inter ExtraBold"/>
                </a:rPr>
                <a:t>Ahora arranca lo denso.</a:t>
              </a:r>
              <a:endParaRPr b="0" sz="4590">
                <a:solidFill>
                  <a:srgbClr val="7C3AED"/>
                </a:solidFill>
                <a:latin typeface="Inter ExtraBold"/>
                <a:ea typeface="Inter ExtraBold"/>
                <a:cs typeface="Inter ExtraBold"/>
                <a:sym typeface="Inter ExtraBold"/>
              </a:endParaRPr>
            </a:p>
          </p:txBody>
        </p:sp>
      </p:grpSp>
      <p:sp>
        <p:nvSpPr>
          <p:cNvPr id="99" name="Google Shape;99;p14"/>
          <p:cNvSpPr txBox="1"/>
          <p:nvPr/>
        </p:nvSpPr>
        <p:spPr>
          <a:xfrm>
            <a:off x="1371600" y="3429000"/>
            <a:ext cx="155448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7C3AED"/>
                </a:solidFill>
                <a:latin typeface="Inter"/>
                <a:ea typeface="Inter"/>
                <a:cs typeface="Inter"/>
                <a:sym typeface="Inter"/>
              </a:rPr>
              <a:t>LOS CIMIENTOS</a:t>
            </a:r>
            <a:endParaRPr b="1" sz="1400">
              <a:solidFill>
                <a:srgbClr val="7C3AED"/>
              </a:solidFill>
              <a:latin typeface="Inter"/>
              <a:ea typeface="Inter"/>
              <a:cs typeface="Inter"/>
              <a:sym typeface="Inter"/>
            </a:endParaRPr>
          </a:p>
        </p:txBody>
      </p:sp>
      <p:grpSp>
        <p:nvGrpSpPr>
          <p:cNvPr id="100" name="Google Shape;100;p14"/>
          <p:cNvGrpSpPr/>
          <p:nvPr/>
        </p:nvGrpSpPr>
        <p:grpSpPr>
          <a:xfrm>
            <a:off x="1371600" y="4000500"/>
            <a:ext cx="15544800" cy="2667000"/>
            <a:chOff x="1371600" y="4000500"/>
            <a:chExt cx="15544800" cy="2667000"/>
          </a:xfrm>
        </p:grpSpPr>
        <p:sp>
          <p:nvSpPr>
            <p:cNvPr id="101" name="Google Shape;101;p14"/>
            <p:cNvSpPr/>
            <p:nvPr/>
          </p:nvSpPr>
          <p:spPr>
            <a:xfrm>
              <a:off x="1371600" y="4000500"/>
              <a:ext cx="2857500" cy="2667000"/>
            </a:xfrm>
            <a:prstGeom prst="roundRect">
              <a:avLst>
                <a:gd fmla="val 714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1657350" y="4286250"/>
              <a:ext cx="2286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7C3AED"/>
                  </a:solidFill>
                  <a:latin typeface="Material Icons"/>
                  <a:ea typeface="Material Icons"/>
                  <a:cs typeface="Material Icons"/>
                  <a:sym typeface="Material Icons"/>
                </a:rPr>
                <a:t></a:t>
              </a:r>
              <a:endParaRPr sz="32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1600">
                  <a:solidFill>
                    <a:srgbClr val="0A0915"/>
                  </a:solidFill>
                  <a:latin typeface="Inter"/>
                  <a:ea typeface="Inter"/>
                  <a:cs typeface="Inter"/>
                  <a:sym typeface="Inter"/>
                </a:rPr>
                <a:t>Roles asignados</a:t>
              </a:r>
              <a:endParaRPr b="1" sz="1600">
                <a:solidFill>
                  <a:srgbClr val="0A0915"/>
                </a:solidFill>
                <a:latin typeface="Inter"/>
                <a:ea typeface="Inter"/>
                <a:cs typeface="Inter"/>
                <a:sym typeface="Inter"/>
              </a:endParaRPr>
            </a:p>
            <a:p>
              <a:pPr indent="0" lvl="0" marL="0" rtl="0" algn="l">
                <a:spcBef>
                  <a:spcPts val="750"/>
                </a:spcBef>
                <a:spcAft>
                  <a:spcPts val="0"/>
                </a:spcAft>
                <a:buNone/>
              </a:pPr>
              <a:r>
                <a:rPr b="0" lang="en-US" sz="1100">
                  <a:solidFill>
                    <a:srgbClr val="6B7280"/>
                  </a:solidFill>
                  <a:latin typeface="Inter"/>
                  <a:ea typeface="Inter"/>
                  <a:cs typeface="Inter"/>
                  <a:sym typeface="Inter"/>
                </a:rPr>
                <a:t>Equipo definido y responsabilidades claras.</a:t>
              </a:r>
              <a:endParaRPr b="0" sz="1100">
                <a:solidFill>
                  <a:srgbClr val="6B7280"/>
                </a:solidFill>
                <a:latin typeface="Inter"/>
                <a:ea typeface="Inter"/>
                <a:cs typeface="Inter"/>
                <a:sym typeface="Inter"/>
              </a:endParaRPr>
            </a:p>
          </p:txBody>
        </p:sp>
        <p:sp>
          <p:nvSpPr>
            <p:cNvPr id="103" name="Google Shape;103;p14"/>
            <p:cNvSpPr/>
            <p:nvPr/>
          </p:nvSpPr>
          <p:spPr>
            <a:xfrm>
              <a:off x="4543425" y="4000500"/>
              <a:ext cx="2857500" cy="2667000"/>
            </a:xfrm>
            <a:prstGeom prst="roundRect">
              <a:avLst>
                <a:gd fmla="val 714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4"/>
            <p:cNvSpPr txBox="1"/>
            <p:nvPr/>
          </p:nvSpPr>
          <p:spPr>
            <a:xfrm>
              <a:off x="4829175" y="4286250"/>
              <a:ext cx="2286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7C3AED"/>
                  </a:solidFill>
                  <a:latin typeface="Material Icons"/>
                  <a:ea typeface="Material Icons"/>
                  <a:cs typeface="Material Icons"/>
                  <a:sym typeface="Material Icons"/>
                </a:rPr>
                <a:t></a:t>
              </a:r>
              <a:endParaRPr sz="32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1600">
                  <a:solidFill>
                    <a:srgbClr val="0A0915"/>
                  </a:solidFill>
                  <a:latin typeface="Inter"/>
                  <a:ea typeface="Inter"/>
                  <a:cs typeface="Inter"/>
                  <a:sym typeface="Inter"/>
                </a:rPr>
                <a:t>Alcance alineado</a:t>
              </a:r>
              <a:endParaRPr b="1" sz="1600">
                <a:solidFill>
                  <a:srgbClr val="0A0915"/>
                </a:solidFill>
                <a:latin typeface="Inter"/>
                <a:ea typeface="Inter"/>
                <a:cs typeface="Inter"/>
                <a:sym typeface="Inter"/>
              </a:endParaRPr>
            </a:p>
            <a:p>
              <a:pPr indent="0" lvl="0" marL="0" rtl="0" algn="l">
                <a:spcBef>
                  <a:spcPts val="750"/>
                </a:spcBef>
                <a:spcAft>
                  <a:spcPts val="0"/>
                </a:spcAft>
                <a:buNone/>
              </a:pPr>
              <a:r>
                <a:rPr b="0" lang="en-US" sz="1100">
                  <a:solidFill>
                    <a:srgbClr val="6B7280"/>
                  </a:solidFill>
                  <a:latin typeface="Inter"/>
                  <a:ea typeface="Inter"/>
                  <a:cs typeface="Inter"/>
                  <a:sym typeface="Inter"/>
                </a:rPr>
                <a:t>Expectativas y límites del proyecto consensuados.</a:t>
              </a:r>
              <a:endParaRPr b="0" sz="1100">
                <a:solidFill>
                  <a:srgbClr val="6B7280"/>
                </a:solidFill>
                <a:latin typeface="Inter"/>
                <a:ea typeface="Inter"/>
                <a:cs typeface="Inter"/>
                <a:sym typeface="Inter"/>
              </a:endParaRPr>
            </a:p>
          </p:txBody>
        </p:sp>
        <p:sp>
          <p:nvSpPr>
            <p:cNvPr id="105" name="Google Shape;105;p14"/>
            <p:cNvSpPr/>
            <p:nvPr/>
          </p:nvSpPr>
          <p:spPr>
            <a:xfrm>
              <a:off x="7715250" y="4000500"/>
              <a:ext cx="2857500" cy="2667000"/>
            </a:xfrm>
            <a:prstGeom prst="roundRect">
              <a:avLst>
                <a:gd fmla="val 714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8001000" y="4286250"/>
              <a:ext cx="2286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7C3AED"/>
                  </a:solidFill>
                  <a:latin typeface="Material Icons"/>
                  <a:ea typeface="Material Icons"/>
                  <a:cs typeface="Material Icons"/>
                  <a:sym typeface="Material Icons"/>
                </a:rPr>
                <a:t></a:t>
              </a:r>
              <a:endParaRPr sz="32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1600">
                  <a:solidFill>
                    <a:srgbClr val="0A0915"/>
                  </a:solidFill>
                  <a:latin typeface="Inter"/>
                  <a:ea typeface="Inter"/>
                  <a:cs typeface="Inter"/>
                  <a:sym typeface="Inter"/>
                </a:rPr>
                <a:t>Canales abiertos</a:t>
              </a:r>
              <a:endParaRPr b="1" sz="1600">
                <a:solidFill>
                  <a:srgbClr val="0A0915"/>
                </a:solidFill>
                <a:latin typeface="Inter"/>
                <a:ea typeface="Inter"/>
                <a:cs typeface="Inter"/>
                <a:sym typeface="Inter"/>
              </a:endParaRPr>
            </a:p>
            <a:p>
              <a:pPr indent="0" lvl="0" marL="0" rtl="0" algn="l">
                <a:spcBef>
                  <a:spcPts val="750"/>
                </a:spcBef>
                <a:spcAft>
                  <a:spcPts val="0"/>
                </a:spcAft>
                <a:buNone/>
              </a:pPr>
              <a:r>
                <a:rPr b="0" lang="en-US" sz="1100">
                  <a:solidFill>
                    <a:srgbClr val="6B7280"/>
                  </a:solidFill>
                  <a:latin typeface="Inter"/>
                  <a:ea typeface="Inter"/>
                  <a:cs typeface="Inter"/>
                  <a:sym typeface="Inter"/>
                </a:rPr>
                <a:t>Vías de comunicación fluidas con el cliente.</a:t>
              </a:r>
              <a:endParaRPr b="0" sz="1100">
                <a:solidFill>
                  <a:srgbClr val="6B7280"/>
                </a:solidFill>
                <a:latin typeface="Inter"/>
                <a:ea typeface="Inter"/>
                <a:cs typeface="Inter"/>
                <a:sym typeface="Inter"/>
              </a:endParaRPr>
            </a:p>
          </p:txBody>
        </p:sp>
        <p:sp>
          <p:nvSpPr>
            <p:cNvPr id="107" name="Google Shape;107;p14"/>
            <p:cNvSpPr/>
            <p:nvPr/>
          </p:nvSpPr>
          <p:spPr>
            <a:xfrm>
              <a:off x="10887075" y="4000500"/>
              <a:ext cx="2857500" cy="2667000"/>
            </a:xfrm>
            <a:prstGeom prst="roundRect">
              <a:avLst>
                <a:gd fmla="val 714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4"/>
            <p:cNvSpPr txBox="1"/>
            <p:nvPr/>
          </p:nvSpPr>
          <p:spPr>
            <a:xfrm>
              <a:off x="11172825" y="4286250"/>
              <a:ext cx="2286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7C3AED"/>
                  </a:solidFill>
                  <a:latin typeface="Material Icons"/>
                  <a:ea typeface="Material Icons"/>
                  <a:cs typeface="Material Icons"/>
                  <a:sym typeface="Material Icons"/>
                </a:rPr>
                <a:t></a:t>
              </a:r>
              <a:endParaRPr sz="32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1600">
                  <a:solidFill>
                    <a:srgbClr val="0A0915"/>
                  </a:solidFill>
                  <a:latin typeface="Inter"/>
                  <a:ea typeface="Inter"/>
                  <a:cs typeface="Inter"/>
                  <a:sym typeface="Inter"/>
                </a:rPr>
                <a:t>Gantt aprobado</a:t>
              </a:r>
              <a:endParaRPr b="1" sz="1600">
                <a:solidFill>
                  <a:srgbClr val="0A0915"/>
                </a:solidFill>
                <a:latin typeface="Inter"/>
                <a:ea typeface="Inter"/>
                <a:cs typeface="Inter"/>
                <a:sym typeface="Inter"/>
              </a:endParaRPr>
            </a:p>
            <a:p>
              <a:pPr indent="0" lvl="0" marL="0" rtl="0" algn="l">
                <a:spcBef>
                  <a:spcPts val="750"/>
                </a:spcBef>
                <a:spcAft>
                  <a:spcPts val="0"/>
                </a:spcAft>
                <a:buNone/>
              </a:pPr>
              <a:r>
                <a:rPr b="0" lang="en-US" sz="1100">
                  <a:solidFill>
                    <a:srgbClr val="6B7280"/>
                  </a:solidFill>
                  <a:latin typeface="Inter"/>
                  <a:ea typeface="Inter"/>
                  <a:cs typeface="Inter"/>
                  <a:sym typeface="Inter"/>
                </a:rPr>
                <a:t>Cronograma de ejecución validado y firme.</a:t>
              </a:r>
              <a:endParaRPr b="0" sz="1100">
                <a:solidFill>
                  <a:srgbClr val="6B7280"/>
                </a:solidFill>
                <a:latin typeface="Inter"/>
                <a:ea typeface="Inter"/>
                <a:cs typeface="Inter"/>
                <a:sym typeface="Inter"/>
              </a:endParaRPr>
            </a:p>
          </p:txBody>
        </p:sp>
        <p:sp>
          <p:nvSpPr>
            <p:cNvPr id="109" name="Google Shape;109;p14"/>
            <p:cNvSpPr/>
            <p:nvPr/>
          </p:nvSpPr>
          <p:spPr>
            <a:xfrm>
              <a:off x="14058900" y="4000500"/>
              <a:ext cx="2857500" cy="2667000"/>
            </a:xfrm>
            <a:prstGeom prst="roundRect">
              <a:avLst>
                <a:gd fmla="val 714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4"/>
            <p:cNvSpPr txBox="1"/>
            <p:nvPr/>
          </p:nvSpPr>
          <p:spPr>
            <a:xfrm>
              <a:off x="14344650" y="4286250"/>
              <a:ext cx="22860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200">
                  <a:solidFill>
                    <a:srgbClr val="7C3AED"/>
                  </a:solidFill>
                  <a:latin typeface="Material Icons"/>
                  <a:ea typeface="Material Icons"/>
                  <a:cs typeface="Material Icons"/>
                  <a:sym typeface="Material Icons"/>
                </a:rPr>
                <a:t></a:t>
              </a:r>
              <a:endParaRPr sz="32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1600">
                  <a:solidFill>
                    <a:srgbClr val="0A0915"/>
                  </a:solidFill>
                  <a:latin typeface="Inter"/>
                  <a:ea typeface="Inter"/>
                  <a:cs typeface="Inter"/>
                  <a:sym typeface="Inter"/>
                </a:rPr>
                <a:t>Dominio TI</a:t>
              </a:r>
              <a:endParaRPr b="1" sz="1600">
                <a:solidFill>
                  <a:srgbClr val="0A0915"/>
                </a:solidFill>
                <a:latin typeface="Inter"/>
                <a:ea typeface="Inter"/>
                <a:cs typeface="Inter"/>
                <a:sym typeface="Inter"/>
              </a:endParaRPr>
            </a:p>
            <a:p>
              <a:pPr indent="0" lvl="0" marL="0" rtl="0" algn="l">
                <a:spcBef>
                  <a:spcPts val="750"/>
                </a:spcBef>
                <a:spcAft>
                  <a:spcPts val="0"/>
                </a:spcAft>
                <a:buNone/>
              </a:pPr>
              <a:r>
                <a:rPr b="0" lang="en-US" sz="1100">
                  <a:solidFill>
                    <a:srgbClr val="6B7280"/>
                  </a:solidFill>
                  <a:latin typeface="Inter"/>
                  <a:ea typeface="Inter"/>
                  <a:cs typeface="Inter"/>
                  <a:sym typeface="Inter"/>
                </a:rPr>
                <a:t>Infraestructura técnica solicitada y en proceso.</a:t>
              </a:r>
              <a:endParaRPr b="0" sz="1100">
                <a:solidFill>
                  <a:srgbClr val="6B7280"/>
                </a:solidFill>
                <a:latin typeface="Inter"/>
                <a:ea typeface="Inter"/>
                <a:cs typeface="Inter"/>
                <a:sym typeface="Inter"/>
              </a:endParaRPr>
            </a:p>
          </p:txBody>
        </p:sp>
      </p:grpSp>
      <p:sp>
        <p:nvSpPr>
          <p:cNvPr id="111" name="Google Shape;111;p14"/>
          <p:cNvSpPr/>
          <p:nvPr/>
        </p:nvSpPr>
        <p:spPr>
          <a:xfrm>
            <a:off x="1371600" y="7239000"/>
            <a:ext cx="15544800" cy="1333500"/>
          </a:xfrm>
          <a:prstGeom prst="roundRect">
            <a:avLst>
              <a:gd fmla="val 17142"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4"/>
          <p:cNvSpPr txBox="1"/>
          <p:nvPr/>
        </p:nvSpPr>
        <p:spPr>
          <a:xfrm>
            <a:off x="1905000" y="7239000"/>
            <a:ext cx="14478000" cy="1333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FFFFFF"/>
                </a:solidFill>
                <a:latin typeface="Inter"/>
                <a:ea typeface="Inter"/>
                <a:cs typeface="Inter"/>
                <a:sym typeface="Inter"/>
              </a:rPr>
              <a:t>Estos elementos garantizan la </a:t>
            </a:r>
            <a:r>
              <a:rPr b="1" lang="en-US" sz="2400">
                <a:solidFill>
                  <a:srgbClr val="FFFFFF"/>
                </a:solidFill>
                <a:latin typeface="Inter"/>
                <a:ea typeface="Inter"/>
                <a:cs typeface="Inter"/>
                <a:sym typeface="Inter"/>
              </a:rPr>
              <a:t>estabilidad necesaria</a:t>
            </a:r>
            <a:r>
              <a:rPr b="0" lang="en-US" sz="2400">
                <a:solidFill>
                  <a:srgbClr val="FFFFFF"/>
                </a:solidFill>
                <a:latin typeface="Inter"/>
                <a:ea typeface="Inter"/>
                <a:cs typeface="Inter"/>
                <a:sym typeface="Inter"/>
              </a:rPr>
              <a:t> para la ejecución de la Fase B.</a:t>
            </a:r>
            <a:endParaRPr b="0" sz="2400">
              <a:solidFill>
                <a:srgbClr val="FFFFFF"/>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 name="Shape 117"/>
        <p:cNvGrpSpPr/>
        <p:nvPr/>
      </p:nvGrpSpPr>
      <p:grpSpPr>
        <a:xfrm>
          <a:off x="0" y="0"/>
          <a:ext cx="0" cy="0"/>
          <a:chOff x="0" y="0"/>
          <a:chExt cx="0" cy="0"/>
        </a:xfrm>
      </p:grpSpPr>
      <p:sp>
        <p:nvSpPr>
          <p:cNvPr id="118" name="Google Shape;118;p15"/>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1371600" y="762000"/>
            <a:ext cx="15544800" cy="706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4590">
                <a:solidFill>
                  <a:srgbClr val="0A0915"/>
                </a:solidFill>
                <a:latin typeface="Inter ExtraBold"/>
                <a:ea typeface="Inter ExtraBold"/>
                <a:cs typeface="Inter ExtraBold"/>
                <a:sym typeface="Inter ExtraBold"/>
              </a:rPr>
              <a:t>Cuatro pilares de integración</a:t>
            </a:r>
            <a:endParaRPr b="0" sz="4590">
              <a:solidFill>
                <a:srgbClr val="0A0915"/>
              </a:solidFill>
              <a:latin typeface="Inter ExtraBold"/>
              <a:ea typeface="Inter ExtraBold"/>
              <a:cs typeface="Inter ExtraBold"/>
              <a:sym typeface="Inter ExtraBold"/>
            </a:endParaRPr>
          </a:p>
        </p:txBody>
      </p:sp>
      <p:grpSp>
        <p:nvGrpSpPr>
          <p:cNvPr id="120" name="Google Shape;120;p15"/>
          <p:cNvGrpSpPr/>
          <p:nvPr/>
        </p:nvGrpSpPr>
        <p:grpSpPr>
          <a:xfrm>
            <a:off x="1371600" y="2286000"/>
            <a:ext cx="3714900" cy="4762500"/>
            <a:chOff x="1371600" y="2286000"/>
            <a:chExt cx="3714900" cy="4762500"/>
          </a:xfrm>
        </p:grpSpPr>
        <p:sp>
          <p:nvSpPr>
            <p:cNvPr id="121" name="Google Shape;121;p15"/>
            <p:cNvSpPr/>
            <p:nvPr/>
          </p:nvSpPr>
          <p:spPr>
            <a:xfrm>
              <a:off x="1371600" y="2286000"/>
              <a:ext cx="3714900" cy="4762500"/>
            </a:xfrm>
            <a:prstGeom prst="roundRect">
              <a:avLst>
                <a:gd fmla="val 615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p:nvPr/>
          </p:nvSpPr>
          <p:spPr>
            <a:xfrm>
              <a:off x="1371600" y="2286000"/>
              <a:ext cx="3714900" cy="114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5"/>
            <p:cNvSpPr txBox="1"/>
            <p:nvPr/>
          </p:nvSpPr>
          <p:spPr>
            <a:xfrm>
              <a:off x="1657350" y="2667000"/>
              <a:ext cx="31434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7C3AED"/>
                  </a:solidFill>
                  <a:latin typeface="Inter"/>
                  <a:ea typeface="Inter"/>
                  <a:cs typeface="Inter"/>
                  <a:sym typeface="Inter"/>
                </a:rPr>
                <a:t>01</a:t>
              </a:r>
              <a:endParaRPr b="1" sz="1600">
                <a:solidFill>
                  <a:srgbClr val="7C3AED"/>
                </a:solidFill>
                <a:latin typeface="Inter"/>
                <a:ea typeface="Inter"/>
                <a:cs typeface="Inter"/>
                <a:sym typeface="Inter"/>
              </a:endParaRPr>
            </a:p>
            <a:p>
              <a:pPr indent="0" lvl="0" marL="0" rtl="0" algn="l">
                <a:spcBef>
                  <a:spcPts val="150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800"/>
                </a:spcBef>
                <a:spcAft>
                  <a:spcPts val="0"/>
                </a:spcAft>
                <a:buNone/>
              </a:pPr>
              <a:r>
                <a:rPr b="1" lang="en-US" sz="2200">
                  <a:solidFill>
                    <a:srgbClr val="0A0915"/>
                  </a:solidFill>
                  <a:latin typeface="Inter"/>
                  <a:ea typeface="Inter"/>
                  <a:cs typeface="Inter"/>
                  <a:sym typeface="Inter"/>
                </a:rPr>
                <a:t>Capacitación integral</a:t>
              </a:r>
              <a:endParaRPr b="1" sz="2200">
                <a:solidFill>
                  <a:srgbClr val="0A0915"/>
                </a:solidFill>
                <a:latin typeface="Inter"/>
                <a:ea typeface="Inter"/>
                <a:cs typeface="Inter"/>
                <a:sym typeface="Inter"/>
              </a:endParaRPr>
            </a:p>
            <a:p>
              <a:pPr indent="0" lvl="0" marL="0" rtl="0" algn="l">
                <a:spcBef>
                  <a:spcPts val="1200"/>
                </a:spcBef>
                <a:spcAft>
                  <a:spcPts val="0"/>
                </a:spcAft>
                <a:buNone/>
              </a:pPr>
              <a:r>
                <a:rPr b="0" lang="en-US" sz="1800">
                  <a:solidFill>
                    <a:srgbClr val="4B5563"/>
                  </a:solidFill>
                  <a:latin typeface="Inter"/>
                  <a:ea typeface="Inter"/>
                  <a:cs typeface="Inter"/>
                  <a:sym typeface="Inter"/>
                </a:rPr>
                <a:t>Capacitar al equipo del gobierno, en lo conceptual y en lo funcional.</a:t>
              </a:r>
              <a:endParaRPr b="0" sz="1800">
                <a:solidFill>
                  <a:srgbClr val="4B5563"/>
                </a:solidFill>
                <a:latin typeface="Inter"/>
                <a:ea typeface="Inter"/>
                <a:cs typeface="Inter"/>
                <a:sym typeface="Inter"/>
              </a:endParaRPr>
            </a:p>
          </p:txBody>
        </p:sp>
      </p:grpSp>
      <p:grpSp>
        <p:nvGrpSpPr>
          <p:cNvPr id="124" name="Google Shape;124;p15"/>
          <p:cNvGrpSpPr/>
          <p:nvPr/>
        </p:nvGrpSpPr>
        <p:grpSpPr>
          <a:xfrm>
            <a:off x="5314950" y="2286000"/>
            <a:ext cx="3714900" cy="4762500"/>
            <a:chOff x="5314950" y="2286000"/>
            <a:chExt cx="3714900" cy="4762500"/>
          </a:xfrm>
        </p:grpSpPr>
        <p:sp>
          <p:nvSpPr>
            <p:cNvPr id="125" name="Google Shape;125;p15"/>
            <p:cNvSpPr/>
            <p:nvPr/>
          </p:nvSpPr>
          <p:spPr>
            <a:xfrm>
              <a:off x="5314950" y="2286000"/>
              <a:ext cx="3714900" cy="4762500"/>
            </a:xfrm>
            <a:prstGeom prst="roundRect">
              <a:avLst>
                <a:gd fmla="val 615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5"/>
            <p:cNvSpPr/>
            <p:nvPr/>
          </p:nvSpPr>
          <p:spPr>
            <a:xfrm>
              <a:off x="5314950" y="2286000"/>
              <a:ext cx="3714900" cy="114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5"/>
            <p:cNvSpPr txBox="1"/>
            <p:nvPr/>
          </p:nvSpPr>
          <p:spPr>
            <a:xfrm>
              <a:off x="5600700" y="2667000"/>
              <a:ext cx="31434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7C3AED"/>
                  </a:solidFill>
                  <a:latin typeface="Inter"/>
                  <a:ea typeface="Inter"/>
                  <a:cs typeface="Inter"/>
                  <a:sym typeface="Inter"/>
                </a:rPr>
                <a:t>02</a:t>
              </a:r>
              <a:endParaRPr b="1" sz="1600">
                <a:solidFill>
                  <a:srgbClr val="7C3AED"/>
                </a:solidFill>
                <a:latin typeface="Inter"/>
                <a:ea typeface="Inter"/>
                <a:cs typeface="Inter"/>
                <a:sym typeface="Inter"/>
              </a:endParaRPr>
            </a:p>
            <a:p>
              <a:pPr indent="0" lvl="0" marL="0" rtl="0" algn="l">
                <a:spcBef>
                  <a:spcPts val="150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800"/>
                </a:spcBef>
                <a:spcAft>
                  <a:spcPts val="0"/>
                </a:spcAft>
                <a:buNone/>
              </a:pPr>
              <a:r>
                <a:rPr b="1" lang="en-US" sz="2200">
                  <a:solidFill>
                    <a:srgbClr val="0A0915"/>
                  </a:solidFill>
                  <a:latin typeface="Inter"/>
                  <a:ea typeface="Inter"/>
                  <a:cs typeface="Inter"/>
                  <a:sym typeface="Inter"/>
                </a:rPr>
                <a:t>Priorización de trámites</a:t>
              </a:r>
              <a:endParaRPr b="1" sz="2200">
                <a:solidFill>
                  <a:srgbClr val="0A0915"/>
                </a:solidFill>
                <a:latin typeface="Inter"/>
                <a:ea typeface="Inter"/>
                <a:cs typeface="Inter"/>
                <a:sym typeface="Inter"/>
              </a:endParaRPr>
            </a:p>
            <a:p>
              <a:pPr indent="0" lvl="0" marL="0" rtl="0" algn="l">
                <a:spcBef>
                  <a:spcPts val="1200"/>
                </a:spcBef>
                <a:spcAft>
                  <a:spcPts val="0"/>
                </a:spcAft>
                <a:buNone/>
              </a:pPr>
              <a:r>
                <a:rPr b="0" lang="en-US" sz="1800">
                  <a:solidFill>
                    <a:srgbClr val="4B5563"/>
                  </a:solidFill>
                  <a:latin typeface="Inter"/>
                  <a:ea typeface="Inter"/>
                  <a:cs typeface="Inter"/>
                  <a:sym typeface="Inter"/>
                </a:rPr>
                <a:t>Priorizar los trámites que van a entrar al ciclo de digitalización.</a:t>
              </a:r>
              <a:endParaRPr b="0" sz="1800">
                <a:solidFill>
                  <a:srgbClr val="4B5563"/>
                </a:solidFill>
                <a:latin typeface="Inter"/>
                <a:ea typeface="Inter"/>
                <a:cs typeface="Inter"/>
                <a:sym typeface="Inter"/>
              </a:endParaRPr>
            </a:p>
          </p:txBody>
        </p:sp>
      </p:grpSp>
      <p:grpSp>
        <p:nvGrpSpPr>
          <p:cNvPr id="128" name="Google Shape;128;p15"/>
          <p:cNvGrpSpPr/>
          <p:nvPr/>
        </p:nvGrpSpPr>
        <p:grpSpPr>
          <a:xfrm>
            <a:off x="9258300" y="2286000"/>
            <a:ext cx="3714900" cy="4762500"/>
            <a:chOff x="9258300" y="2286000"/>
            <a:chExt cx="3714900" cy="4762500"/>
          </a:xfrm>
        </p:grpSpPr>
        <p:sp>
          <p:nvSpPr>
            <p:cNvPr id="129" name="Google Shape;129;p15"/>
            <p:cNvSpPr/>
            <p:nvPr/>
          </p:nvSpPr>
          <p:spPr>
            <a:xfrm>
              <a:off x="9258300" y="2286000"/>
              <a:ext cx="3714900" cy="4762500"/>
            </a:xfrm>
            <a:prstGeom prst="roundRect">
              <a:avLst>
                <a:gd fmla="val 615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5"/>
            <p:cNvSpPr/>
            <p:nvPr/>
          </p:nvSpPr>
          <p:spPr>
            <a:xfrm>
              <a:off x="9258300" y="2286000"/>
              <a:ext cx="3714900" cy="114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5"/>
            <p:cNvSpPr txBox="1"/>
            <p:nvPr/>
          </p:nvSpPr>
          <p:spPr>
            <a:xfrm>
              <a:off x="9544050" y="2667000"/>
              <a:ext cx="31434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7C3AED"/>
                  </a:solidFill>
                  <a:latin typeface="Inter"/>
                  <a:ea typeface="Inter"/>
                  <a:cs typeface="Inter"/>
                  <a:sym typeface="Inter"/>
                </a:rPr>
                <a:t>03</a:t>
              </a:r>
              <a:endParaRPr b="1" sz="1600">
                <a:solidFill>
                  <a:srgbClr val="7C3AED"/>
                </a:solidFill>
                <a:latin typeface="Inter"/>
                <a:ea typeface="Inter"/>
                <a:cs typeface="Inter"/>
                <a:sym typeface="Inter"/>
              </a:endParaRPr>
            </a:p>
            <a:p>
              <a:pPr indent="0" lvl="0" marL="0" rtl="0" algn="l">
                <a:spcBef>
                  <a:spcPts val="150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800"/>
                </a:spcBef>
                <a:spcAft>
                  <a:spcPts val="0"/>
                </a:spcAft>
                <a:buNone/>
              </a:pPr>
              <a:r>
                <a:rPr b="1" lang="en-US" sz="2200">
                  <a:solidFill>
                    <a:srgbClr val="0A0915"/>
                  </a:solidFill>
                  <a:latin typeface="Inter"/>
                  <a:ea typeface="Inter"/>
                  <a:cs typeface="Inter"/>
                  <a:sym typeface="Inter"/>
                </a:rPr>
                <a:t>Gobernanza clara</a:t>
              </a:r>
              <a:endParaRPr b="1" sz="2200">
                <a:solidFill>
                  <a:srgbClr val="0A0915"/>
                </a:solidFill>
                <a:latin typeface="Inter"/>
                <a:ea typeface="Inter"/>
                <a:cs typeface="Inter"/>
                <a:sym typeface="Inter"/>
              </a:endParaRPr>
            </a:p>
            <a:p>
              <a:pPr indent="0" lvl="0" marL="0" rtl="0" algn="l">
                <a:spcBef>
                  <a:spcPts val="1200"/>
                </a:spcBef>
                <a:spcAft>
                  <a:spcPts val="0"/>
                </a:spcAft>
                <a:buNone/>
              </a:pPr>
              <a:r>
                <a:rPr b="0" lang="en-US" sz="1800">
                  <a:solidFill>
                    <a:srgbClr val="4B5563"/>
                  </a:solidFill>
                  <a:latin typeface="Inter"/>
                  <a:ea typeface="Inter"/>
                  <a:cs typeface="Inter"/>
                  <a:sym typeface="Inter"/>
                </a:rPr>
                <a:t>Definir quién puede hacer qué dentro de la plataforma.</a:t>
              </a:r>
              <a:endParaRPr b="0" sz="1800">
                <a:solidFill>
                  <a:srgbClr val="4B5563"/>
                </a:solidFill>
                <a:latin typeface="Inter"/>
                <a:ea typeface="Inter"/>
                <a:cs typeface="Inter"/>
                <a:sym typeface="Inter"/>
              </a:endParaRPr>
            </a:p>
          </p:txBody>
        </p:sp>
      </p:grpSp>
      <p:grpSp>
        <p:nvGrpSpPr>
          <p:cNvPr id="132" name="Google Shape;132;p15"/>
          <p:cNvGrpSpPr/>
          <p:nvPr/>
        </p:nvGrpSpPr>
        <p:grpSpPr>
          <a:xfrm>
            <a:off x="13201650" y="2286000"/>
            <a:ext cx="3714900" cy="4762500"/>
            <a:chOff x="13201650" y="2286000"/>
            <a:chExt cx="3714900" cy="4762500"/>
          </a:xfrm>
        </p:grpSpPr>
        <p:sp>
          <p:nvSpPr>
            <p:cNvPr id="133" name="Google Shape;133;p15"/>
            <p:cNvSpPr/>
            <p:nvPr/>
          </p:nvSpPr>
          <p:spPr>
            <a:xfrm>
              <a:off x="13201650" y="2286000"/>
              <a:ext cx="3714900" cy="4762500"/>
            </a:xfrm>
            <a:prstGeom prst="roundRect">
              <a:avLst>
                <a:gd fmla="val 615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5"/>
            <p:cNvSpPr/>
            <p:nvPr/>
          </p:nvSpPr>
          <p:spPr>
            <a:xfrm>
              <a:off x="13201650" y="2286000"/>
              <a:ext cx="3714900" cy="114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5"/>
            <p:cNvSpPr txBox="1"/>
            <p:nvPr/>
          </p:nvSpPr>
          <p:spPr>
            <a:xfrm>
              <a:off x="13487400" y="2667000"/>
              <a:ext cx="31434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7C3AED"/>
                  </a:solidFill>
                  <a:latin typeface="Inter"/>
                  <a:ea typeface="Inter"/>
                  <a:cs typeface="Inter"/>
                  <a:sym typeface="Inter"/>
                </a:rPr>
                <a:t>04</a:t>
              </a:r>
              <a:endParaRPr b="1" sz="1600">
                <a:solidFill>
                  <a:srgbClr val="7C3AED"/>
                </a:solidFill>
                <a:latin typeface="Inter"/>
                <a:ea typeface="Inter"/>
                <a:cs typeface="Inter"/>
                <a:sym typeface="Inter"/>
              </a:endParaRPr>
            </a:p>
            <a:p>
              <a:pPr indent="0" lvl="0" marL="0" rtl="0" algn="l">
                <a:spcBef>
                  <a:spcPts val="150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800"/>
                </a:spcBef>
                <a:spcAft>
                  <a:spcPts val="0"/>
                </a:spcAft>
                <a:buNone/>
              </a:pPr>
              <a:r>
                <a:rPr b="1" lang="en-US" sz="2200">
                  <a:solidFill>
                    <a:srgbClr val="0A0915"/>
                  </a:solidFill>
                  <a:latin typeface="Inter"/>
                  <a:ea typeface="Inter"/>
                  <a:cs typeface="Inter"/>
                  <a:sym typeface="Inter"/>
                </a:rPr>
                <a:t>Integración técnica</a:t>
              </a:r>
              <a:endParaRPr b="1" sz="2200">
                <a:solidFill>
                  <a:srgbClr val="0A0915"/>
                </a:solidFill>
                <a:latin typeface="Inter"/>
                <a:ea typeface="Inter"/>
                <a:cs typeface="Inter"/>
                <a:sym typeface="Inter"/>
              </a:endParaRPr>
            </a:p>
            <a:p>
              <a:pPr indent="0" lvl="0" marL="0" rtl="0" algn="l">
                <a:spcBef>
                  <a:spcPts val="1200"/>
                </a:spcBef>
                <a:spcAft>
                  <a:spcPts val="0"/>
                </a:spcAft>
                <a:buNone/>
              </a:pPr>
              <a:r>
                <a:rPr b="0" lang="en-US" sz="1800">
                  <a:solidFill>
                    <a:srgbClr val="4B5563"/>
                  </a:solidFill>
                  <a:latin typeface="Inter"/>
                  <a:ea typeface="Inter"/>
                  <a:cs typeface="Inter"/>
                  <a:sym typeface="Inter"/>
                </a:rPr>
                <a:t>Dejar acordadas las integraciones técnicas, con plan y responsables.</a:t>
              </a:r>
              <a:endParaRPr b="0" sz="1800">
                <a:solidFill>
                  <a:srgbClr val="4B5563"/>
                </a:solidFill>
                <a:latin typeface="Inter"/>
                <a:ea typeface="Inter"/>
                <a:cs typeface="Inter"/>
                <a:sym typeface="Inter"/>
              </a:endParaRPr>
            </a:p>
          </p:txBody>
        </p:sp>
      </p:grpSp>
      <p:sp>
        <p:nvSpPr>
          <p:cNvPr id="136" name="Google Shape;136;p15"/>
          <p:cNvSpPr/>
          <p:nvPr/>
        </p:nvSpPr>
        <p:spPr>
          <a:xfrm>
            <a:off x="1371600" y="8001000"/>
            <a:ext cx="15544800" cy="1143000"/>
          </a:xfrm>
          <a:prstGeom prst="roundRect">
            <a:avLst>
              <a:gd fmla="val 2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15"/>
          <p:cNvSpPr txBox="1"/>
          <p:nvPr/>
        </p:nvSpPr>
        <p:spPr>
          <a:xfrm>
            <a:off x="1752600" y="800100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400">
                <a:solidFill>
                  <a:srgbClr val="FFFFFF"/>
                </a:solidFill>
                <a:latin typeface="Inter"/>
                <a:ea typeface="Inter"/>
                <a:cs typeface="Inter"/>
                <a:sym typeface="Inter"/>
              </a:rPr>
              <a:t>La convergencia de estos factores es fundamental para la </a:t>
            </a:r>
            <a:r>
              <a:rPr b="1" lang="en-US" sz="2400">
                <a:solidFill>
                  <a:srgbClr val="FFFFFF"/>
                </a:solidFill>
                <a:latin typeface="Inter"/>
                <a:ea typeface="Inter"/>
                <a:cs typeface="Inter"/>
                <a:sym typeface="Inter"/>
              </a:rPr>
              <a:t>efectividad de la Fase B.</a:t>
            </a:r>
            <a:endParaRPr b="0" sz="2400">
              <a:solidFill>
                <a:srgbClr val="FFFFFF"/>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16"/>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1371600" y="762000"/>
            <a:ext cx="15544800" cy="1338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0" lang="en-US" sz="4995">
                <a:solidFill>
                  <a:srgbClr val="0A0915"/>
                </a:solidFill>
                <a:latin typeface="Inter ExtraBold"/>
                <a:ea typeface="Inter ExtraBold"/>
                <a:cs typeface="Inter ExtraBold"/>
                <a:sym typeface="Inter ExtraBold"/>
              </a:rPr>
              <a:t>El cambio de mentalidad</a:t>
            </a:r>
            <a:endParaRPr b="0" sz="4995">
              <a:solidFill>
                <a:srgbClr val="0A0915"/>
              </a:solidFill>
              <a:latin typeface="Inter ExtraBold"/>
              <a:ea typeface="Inter ExtraBold"/>
              <a:cs typeface="Inter ExtraBold"/>
              <a:sym typeface="Inter ExtraBold"/>
            </a:endParaRPr>
          </a:p>
          <a:p>
            <a:pPr indent="0" lvl="0" marL="0" rtl="0" algn="ctr">
              <a:spcBef>
                <a:spcPts val="0"/>
              </a:spcBef>
              <a:spcAft>
                <a:spcPts val="0"/>
              </a:spcAft>
              <a:buNone/>
            </a:pPr>
            <a:r>
              <a:rPr b="0" lang="en-US" sz="3700">
                <a:solidFill>
                  <a:srgbClr val="7C3AED"/>
                </a:solidFill>
                <a:latin typeface="Inter ExtraBold"/>
                <a:ea typeface="Inter ExtraBold"/>
                <a:cs typeface="Inter ExtraBold"/>
                <a:sym typeface="Inter ExtraBold"/>
              </a:rPr>
              <a:t>De la venta a la ejecución</a:t>
            </a:r>
            <a:endParaRPr b="0" sz="3700">
              <a:solidFill>
                <a:srgbClr val="7C3AED"/>
              </a:solidFill>
              <a:latin typeface="Inter ExtraBold"/>
              <a:ea typeface="Inter ExtraBold"/>
              <a:cs typeface="Inter ExtraBold"/>
              <a:sym typeface="Inter ExtraBold"/>
            </a:endParaRPr>
          </a:p>
        </p:txBody>
      </p:sp>
      <p:grpSp>
        <p:nvGrpSpPr>
          <p:cNvPr id="145" name="Google Shape;145;p16"/>
          <p:cNvGrpSpPr/>
          <p:nvPr/>
        </p:nvGrpSpPr>
        <p:grpSpPr>
          <a:xfrm>
            <a:off x="2381250" y="3048000"/>
            <a:ext cx="5715000" cy="4000500"/>
            <a:chOff x="2381250" y="3048000"/>
            <a:chExt cx="5715000" cy="4000500"/>
          </a:xfrm>
        </p:grpSpPr>
        <p:sp>
          <p:nvSpPr>
            <p:cNvPr id="146" name="Google Shape;146;p16"/>
            <p:cNvSpPr/>
            <p:nvPr/>
          </p:nvSpPr>
          <p:spPr>
            <a:xfrm>
              <a:off x="2381250" y="3048000"/>
              <a:ext cx="5715000" cy="4000500"/>
            </a:xfrm>
            <a:prstGeom prst="roundRect">
              <a:avLst>
                <a:gd fmla="val 9523"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2381250" y="3048000"/>
              <a:ext cx="5715000" cy="114300"/>
            </a:xfrm>
            <a:prstGeom prst="roundRect">
              <a:avLst>
                <a:gd fmla="val 50000" name="adj"/>
              </a:avLst>
            </a:prstGeom>
            <a:solidFill>
              <a:srgbClr val="94A3B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2857500" y="3429000"/>
              <a:ext cx="476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64748B"/>
                  </a:solidFill>
                  <a:latin typeface="Inter"/>
                  <a:ea typeface="Inter"/>
                  <a:cs typeface="Inter"/>
                  <a:sym typeface="Inter"/>
                </a:rPr>
                <a:t>FASE A</a:t>
              </a:r>
              <a:endParaRPr b="1" sz="1800">
                <a:solidFill>
                  <a:srgbClr val="64748B"/>
                </a:solidFill>
                <a:latin typeface="Inter"/>
                <a:ea typeface="Inter"/>
                <a:cs typeface="Inter"/>
                <a:sym typeface="Inter"/>
              </a:endParaRPr>
            </a:p>
          </p:txBody>
        </p:sp>
        <p:sp>
          <p:nvSpPr>
            <p:cNvPr id="149" name="Google Shape;149;p16"/>
            <p:cNvSpPr txBox="1"/>
            <p:nvPr/>
          </p:nvSpPr>
          <p:spPr>
            <a:xfrm>
              <a:off x="2857500" y="4191000"/>
              <a:ext cx="4762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3200">
                  <a:solidFill>
                    <a:srgbClr val="0A0915"/>
                  </a:solidFill>
                  <a:latin typeface="Inter"/>
                  <a:ea typeface="Inter"/>
                  <a:cs typeface="Inter"/>
                  <a:sym typeface="Inter"/>
                </a:rPr>
                <a:t>Vendiste </a:t>
              </a:r>
              <a:r>
                <a:rPr b="1" lang="en-US" sz="3200">
                  <a:solidFill>
                    <a:srgbClr val="0A0915"/>
                  </a:solidFill>
                  <a:latin typeface="Inter"/>
                  <a:ea typeface="Inter"/>
                  <a:cs typeface="Inter"/>
                  <a:sym typeface="Inter"/>
                </a:rPr>
                <a:t>visión</a:t>
              </a:r>
              <a:endParaRPr b="0" sz="3200">
                <a:solidFill>
                  <a:srgbClr val="0A0915"/>
                </a:solidFill>
                <a:latin typeface="Inter"/>
                <a:ea typeface="Inter"/>
                <a:cs typeface="Inter"/>
                <a:sym typeface="Inter"/>
              </a:endParaRPr>
            </a:p>
            <a:p>
              <a:pPr indent="0" lvl="0" marL="0" rtl="0" algn="l">
                <a:spcBef>
                  <a:spcPts val="750"/>
                </a:spcBef>
                <a:spcAft>
                  <a:spcPts val="0"/>
                </a:spcAft>
                <a:buNone/>
              </a:pPr>
              <a:r>
                <a:rPr b="0" lang="en-US" sz="3200">
                  <a:solidFill>
                    <a:srgbClr val="0A0915"/>
                  </a:solidFill>
                  <a:latin typeface="Inter"/>
                  <a:ea typeface="Inter"/>
                  <a:cs typeface="Inter"/>
                  <a:sym typeface="Inter"/>
                </a:rPr>
                <a:t>y armaste el equipo.</a:t>
              </a:r>
              <a:endParaRPr b="0" sz="3200">
                <a:solidFill>
                  <a:srgbClr val="0A0915"/>
                </a:solidFill>
                <a:latin typeface="Inter"/>
                <a:ea typeface="Inter"/>
                <a:cs typeface="Inter"/>
                <a:sym typeface="Inter"/>
              </a:endParaRPr>
            </a:p>
          </p:txBody>
        </p:sp>
        <p:sp>
          <p:nvSpPr>
            <p:cNvPr id="150" name="Google Shape;150;p16"/>
            <p:cNvSpPr txBox="1"/>
            <p:nvPr/>
          </p:nvSpPr>
          <p:spPr>
            <a:xfrm>
              <a:off x="2857500" y="5802630"/>
              <a:ext cx="952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CBD5E1"/>
                  </a:solidFill>
                  <a:latin typeface="Material Icons"/>
                  <a:ea typeface="Material Icons"/>
                  <a:cs typeface="Material Icons"/>
                  <a:sym typeface="Material Icons"/>
                </a:rPr>
                <a:t></a:t>
              </a:r>
              <a:endParaRPr sz="6000">
                <a:solidFill>
                  <a:srgbClr val="CBD5E1"/>
                </a:solidFill>
                <a:latin typeface="Material Icons"/>
                <a:ea typeface="Material Icons"/>
                <a:cs typeface="Material Icons"/>
                <a:sym typeface="Material Icons"/>
              </a:endParaRPr>
            </a:p>
          </p:txBody>
        </p:sp>
      </p:grpSp>
      <p:sp>
        <p:nvSpPr>
          <p:cNvPr id="151" name="Google Shape;151;p16"/>
          <p:cNvSpPr txBox="1"/>
          <p:nvPr/>
        </p:nvSpPr>
        <p:spPr>
          <a:xfrm>
            <a:off x="8286750" y="4855972"/>
            <a:ext cx="1714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520">
                <a:solidFill>
                  <a:srgbClr val="7C3AED"/>
                </a:solidFill>
                <a:latin typeface="Material Icons"/>
                <a:ea typeface="Material Icons"/>
                <a:cs typeface="Material Icons"/>
                <a:sym typeface="Material Icons"/>
              </a:rPr>
              <a:t></a:t>
            </a:r>
            <a:endParaRPr sz="3520">
              <a:solidFill>
                <a:srgbClr val="7C3AED"/>
              </a:solidFill>
              <a:latin typeface="Material Icons"/>
              <a:ea typeface="Material Icons"/>
              <a:cs typeface="Material Icons"/>
              <a:sym typeface="Material Icons"/>
            </a:endParaRPr>
          </a:p>
        </p:txBody>
      </p:sp>
      <p:grpSp>
        <p:nvGrpSpPr>
          <p:cNvPr id="152" name="Google Shape;152;p16"/>
          <p:cNvGrpSpPr/>
          <p:nvPr/>
        </p:nvGrpSpPr>
        <p:grpSpPr>
          <a:xfrm>
            <a:off x="10191750" y="3048000"/>
            <a:ext cx="5715000" cy="4000500"/>
            <a:chOff x="10191750" y="3048000"/>
            <a:chExt cx="5715000" cy="4000500"/>
          </a:xfrm>
        </p:grpSpPr>
        <p:sp>
          <p:nvSpPr>
            <p:cNvPr id="153" name="Google Shape;153;p16"/>
            <p:cNvSpPr/>
            <p:nvPr/>
          </p:nvSpPr>
          <p:spPr>
            <a:xfrm>
              <a:off x="10191750" y="3048000"/>
              <a:ext cx="5715000" cy="4000500"/>
            </a:xfrm>
            <a:prstGeom prst="roundRect">
              <a:avLst>
                <a:gd fmla="val 9523"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6"/>
            <p:cNvSpPr/>
            <p:nvPr/>
          </p:nvSpPr>
          <p:spPr>
            <a:xfrm>
              <a:off x="10191750" y="3048000"/>
              <a:ext cx="5715000" cy="114300"/>
            </a:xfrm>
            <a:prstGeom prst="roundRect">
              <a:avLst>
                <a:gd fmla="val 50000" name="adj"/>
              </a:avLst>
            </a:prstGeom>
            <a:solidFill>
              <a:srgbClr val="A855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5" name="Google Shape;155;p16"/>
            <p:cNvSpPr txBox="1"/>
            <p:nvPr/>
          </p:nvSpPr>
          <p:spPr>
            <a:xfrm>
              <a:off x="10668000" y="3429000"/>
              <a:ext cx="4762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9D5FF"/>
                  </a:solidFill>
                  <a:latin typeface="Inter"/>
                  <a:ea typeface="Inter"/>
                  <a:cs typeface="Inter"/>
                  <a:sym typeface="Inter"/>
                </a:rPr>
                <a:t>FASE B</a:t>
              </a:r>
              <a:endParaRPr b="1" sz="1800">
                <a:solidFill>
                  <a:srgbClr val="E9D5FF"/>
                </a:solidFill>
                <a:latin typeface="Inter"/>
                <a:ea typeface="Inter"/>
                <a:cs typeface="Inter"/>
                <a:sym typeface="Inter"/>
              </a:endParaRPr>
            </a:p>
          </p:txBody>
        </p:sp>
        <p:sp>
          <p:nvSpPr>
            <p:cNvPr id="156" name="Google Shape;156;p16"/>
            <p:cNvSpPr txBox="1"/>
            <p:nvPr/>
          </p:nvSpPr>
          <p:spPr>
            <a:xfrm>
              <a:off x="10668000" y="4191000"/>
              <a:ext cx="4762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El gobierno sale</a:t>
              </a:r>
              <a:endParaRPr b="1" sz="3200">
                <a:solidFill>
                  <a:srgbClr val="FFFFFF"/>
                </a:solidFill>
                <a:latin typeface="Inter"/>
                <a:ea typeface="Inter"/>
                <a:cs typeface="Inter"/>
                <a:sym typeface="Inter"/>
              </a:endParaRPr>
            </a:p>
            <a:p>
              <a:pPr indent="0" lvl="0" marL="0" rtl="0" algn="l">
                <a:spcBef>
                  <a:spcPts val="750"/>
                </a:spcBef>
                <a:spcAft>
                  <a:spcPts val="0"/>
                </a:spcAft>
                <a:buNone/>
              </a:pPr>
              <a:r>
                <a:rPr b="1" lang="en-US" sz="3200">
                  <a:solidFill>
                    <a:srgbClr val="FFFFFF"/>
                  </a:solidFill>
                  <a:latin typeface="Inter"/>
                  <a:ea typeface="Inter"/>
                  <a:cs typeface="Inter"/>
                  <a:sym typeface="Inter"/>
                </a:rPr>
                <a:t>sabiendo </a:t>
              </a:r>
              <a:r>
                <a:rPr b="1" lang="en-US" sz="3200">
                  <a:solidFill>
                    <a:srgbClr val="F0ABFC"/>
                  </a:solidFill>
                  <a:latin typeface="Inter"/>
                  <a:ea typeface="Inter"/>
                  <a:cs typeface="Inter"/>
                  <a:sym typeface="Inter"/>
                </a:rPr>
                <a:t>operar.</a:t>
              </a:r>
              <a:endParaRPr b="1" sz="3200">
                <a:solidFill>
                  <a:srgbClr val="FFFFFF"/>
                </a:solidFill>
                <a:latin typeface="Inter"/>
                <a:ea typeface="Inter"/>
                <a:cs typeface="Inter"/>
                <a:sym typeface="Inter"/>
              </a:endParaRPr>
            </a:p>
          </p:txBody>
        </p:sp>
        <p:sp>
          <p:nvSpPr>
            <p:cNvPr id="157" name="Google Shape;157;p16"/>
            <p:cNvSpPr txBox="1"/>
            <p:nvPr/>
          </p:nvSpPr>
          <p:spPr>
            <a:xfrm>
              <a:off x="10668000" y="5802630"/>
              <a:ext cx="952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C084FC"/>
                  </a:solidFill>
                  <a:latin typeface="Material Icons"/>
                  <a:ea typeface="Material Icons"/>
                  <a:cs typeface="Material Icons"/>
                  <a:sym typeface="Material Icons"/>
                </a:rPr>
                <a:t></a:t>
              </a:r>
              <a:endParaRPr sz="6000">
                <a:solidFill>
                  <a:srgbClr val="C084FC"/>
                </a:solidFill>
                <a:latin typeface="Material Icons"/>
                <a:ea typeface="Material Icons"/>
                <a:cs typeface="Material Icons"/>
                <a:sym typeface="Material Icons"/>
              </a:endParaRPr>
            </a:p>
          </p:txBody>
        </p:sp>
      </p:grpSp>
      <p:sp>
        <p:nvSpPr>
          <p:cNvPr id="158" name="Google Shape;158;p16"/>
          <p:cNvSpPr/>
          <p:nvPr/>
        </p:nvSpPr>
        <p:spPr>
          <a:xfrm>
            <a:off x="2381250" y="7810500"/>
            <a:ext cx="13525500" cy="1143000"/>
          </a:xfrm>
          <a:prstGeom prst="roundRect">
            <a:avLst>
              <a:gd fmla="val 25000" name="adj"/>
            </a:avLst>
          </a:prstGeom>
          <a:solidFill>
            <a:srgbClr val="F3F4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6"/>
          <p:cNvSpPr txBox="1"/>
          <p:nvPr/>
        </p:nvSpPr>
        <p:spPr>
          <a:xfrm>
            <a:off x="2381250" y="7810500"/>
            <a:ext cx="135255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4B5563"/>
                </a:solidFill>
                <a:latin typeface="Inter Medium"/>
                <a:ea typeface="Inter Medium"/>
                <a:cs typeface="Inter Medium"/>
                <a:sym typeface="Inter Medium"/>
              </a:rPr>
              <a:t>Pasar de </a:t>
            </a:r>
            <a:r>
              <a:rPr b="1" lang="en-US" sz="2200">
                <a:solidFill>
                  <a:srgbClr val="7C3AED"/>
                </a:solidFill>
                <a:latin typeface="Inter"/>
                <a:ea typeface="Inter"/>
                <a:cs typeface="Inter"/>
                <a:sym typeface="Inter"/>
              </a:rPr>
              <a:t>prometer el qué</a:t>
            </a:r>
            <a:r>
              <a:rPr b="0" lang="en-US" sz="2200">
                <a:solidFill>
                  <a:srgbClr val="4B5563"/>
                </a:solidFill>
                <a:latin typeface="Inter Medium"/>
                <a:ea typeface="Inter Medium"/>
                <a:cs typeface="Inter Medium"/>
                <a:sym typeface="Inter Medium"/>
              </a:rPr>
              <a:t> a garantizar que el cliente </a:t>
            </a:r>
            <a:r>
              <a:rPr b="1" lang="en-US" sz="2200">
                <a:solidFill>
                  <a:srgbClr val="7C3AED"/>
                </a:solidFill>
                <a:latin typeface="Inter"/>
                <a:ea typeface="Inter"/>
                <a:cs typeface="Inter"/>
                <a:sym typeface="Inter"/>
              </a:rPr>
              <a:t>domine el cómo.</a:t>
            </a:r>
            <a:endParaRPr b="0" sz="2200">
              <a:solidFill>
                <a:srgbClr val="4B5563"/>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17"/>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6" name="Google Shape;166;p17"/>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4800">
                <a:solidFill>
                  <a:srgbClr val="0A0915"/>
                </a:solidFill>
                <a:latin typeface="Inter"/>
                <a:ea typeface="Inter"/>
                <a:cs typeface="Inter"/>
                <a:sym typeface="Inter"/>
              </a:rPr>
              <a:t>Los roles críticos cambian de peso</a:t>
            </a:r>
            <a:endParaRPr b="1" sz="4800">
              <a:solidFill>
                <a:srgbClr val="0A0915"/>
              </a:solidFill>
              <a:latin typeface="Inter"/>
              <a:ea typeface="Inter"/>
              <a:cs typeface="Inter"/>
              <a:sym typeface="Inter"/>
            </a:endParaRPr>
          </a:p>
        </p:txBody>
      </p:sp>
      <p:grpSp>
        <p:nvGrpSpPr>
          <p:cNvPr id="167" name="Google Shape;167;p17"/>
          <p:cNvGrpSpPr/>
          <p:nvPr/>
        </p:nvGrpSpPr>
        <p:grpSpPr>
          <a:xfrm>
            <a:off x="1143000" y="2286000"/>
            <a:ext cx="4953000" cy="5715000"/>
            <a:chOff x="1143000" y="2286000"/>
            <a:chExt cx="4953000" cy="5715000"/>
          </a:xfrm>
        </p:grpSpPr>
        <p:sp>
          <p:nvSpPr>
            <p:cNvPr id="168" name="Google Shape;168;p17"/>
            <p:cNvSpPr/>
            <p:nvPr/>
          </p:nvSpPr>
          <p:spPr>
            <a:xfrm>
              <a:off x="1143000" y="2286000"/>
              <a:ext cx="4953000" cy="5715000"/>
            </a:xfrm>
            <a:prstGeom prst="roundRect">
              <a:avLst>
                <a:gd fmla="val 769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17"/>
            <p:cNvSpPr/>
            <p:nvPr/>
          </p:nvSpPr>
          <p:spPr>
            <a:xfrm>
              <a:off x="1143000" y="2286000"/>
              <a:ext cx="4953000" cy="152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7"/>
            <p:cNvSpPr txBox="1"/>
            <p:nvPr/>
          </p:nvSpPr>
          <p:spPr>
            <a:xfrm>
              <a:off x="1524000" y="2754630"/>
              <a:ext cx="4191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7C3AED"/>
                  </a:solidFill>
                  <a:latin typeface="Material Icons"/>
                  <a:ea typeface="Material Icons"/>
                  <a:cs typeface="Material Icons"/>
                  <a:sym typeface="Material Icons"/>
                </a:rPr>
                <a:t></a:t>
              </a:r>
              <a:endParaRPr sz="6000">
                <a:solidFill>
                  <a:srgbClr val="7C3AED"/>
                </a:solidFill>
                <a:latin typeface="Material Icons"/>
                <a:ea typeface="Material Icons"/>
                <a:cs typeface="Material Icons"/>
                <a:sym typeface="Material Icons"/>
              </a:endParaRPr>
            </a:p>
          </p:txBody>
        </p:sp>
        <p:sp>
          <p:nvSpPr>
            <p:cNvPr id="171" name="Google Shape;171;p17"/>
            <p:cNvSpPr txBox="1"/>
            <p:nvPr/>
          </p:nvSpPr>
          <p:spPr>
            <a:xfrm>
              <a:off x="1524000" y="4000500"/>
              <a:ext cx="419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Especialista funcional</a:t>
              </a:r>
              <a:endParaRPr b="1" sz="2800">
                <a:solidFill>
                  <a:srgbClr val="0A0915"/>
                </a:solidFill>
                <a:latin typeface="Inter"/>
                <a:ea typeface="Inter"/>
                <a:cs typeface="Inter"/>
                <a:sym typeface="Inter"/>
              </a:endParaRPr>
            </a:p>
          </p:txBody>
        </p:sp>
        <p:sp>
          <p:nvSpPr>
            <p:cNvPr id="172" name="Google Shape;172;p17"/>
            <p:cNvSpPr txBox="1"/>
            <p:nvPr/>
          </p:nvSpPr>
          <p:spPr>
            <a:xfrm>
              <a:off x="1524000" y="4953000"/>
              <a:ext cx="419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Del gobierno. Entra al 100% de dedicación.</a:t>
              </a:r>
              <a:endParaRPr b="0" sz="2000">
                <a:solidFill>
                  <a:srgbClr val="4B5563"/>
                </a:solidFill>
                <a:latin typeface="Inter"/>
                <a:ea typeface="Inter"/>
                <a:cs typeface="Inter"/>
                <a:sym typeface="Inter"/>
              </a:endParaRPr>
            </a:p>
          </p:txBody>
        </p:sp>
      </p:grpSp>
      <p:grpSp>
        <p:nvGrpSpPr>
          <p:cNvPr id="173" name="Google Shape;173;p17"/>
          <p:cNvGrpSpPr/>
          <p:nvPr/>
        </p:nvGrpSpPr>
        <p:grpSpPr>
          <a:xfrm>
            <a:off x="6667500" y="2286000"/>
            <a:ext cx="4953000" cy="5715000"/>
            <a:chOff x="6667500" y="2286000"/>
            <a:chExt cx="4953000" cy="5715000"/>
          </a:xfrm>
        </p:grpSpPr>
        <p:sp>
          <p:nvSpPr>
            <p:cNvPr id="174" name="Google Shape;174;p17"/>
            <p:cNvSpPr/>
            <p:nvPr/>
          </p:nvSpPr>
          <p:spPr>
            <a:xfrm>
              <a:off x="6667500" y="2286000"/>
              <a:ext cx="4953000" cy="5715000"/>
            </a:xfrm>
            <a:prstGeom prst="roundRect">
              <a:avLst>
                <a:gd fmla="val 769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17"/>
            <p:cNvSpPr/>
            <p:nvPr/>
          </p:nvSpPr>
          <p:spPr>
            <a:xfrm>
              <a:off x="6667500" y="2286000"/>
              <a:ext cx="4953000" cy="152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7"/>
            <p:cNvSpPr txBox="1"/>
            <p:nvPr/>
          </p:nvSpPr>
          <p:spPr>
            <a:xfrm>
              <a:off x="7048500" y="2754630"/>
              <a:ext cx="4191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7C3AED"/>
                  </a:solidFill>
                  <a:latin typeface="Material Icons"/>
                  <a:ea typeface="Material Icons"/>
                  <a:cs typeface="Material Icons"/>
                  <a:sym typeface="Material Icons"/>
                </a:rPr>
                <a:t></a:t>
              </a:r>
              <a:endParaRPr sz="6000">
                <a:solidFill>
                  <a:srgbClr val="7C3AED"/>
                </a:solidFill>
                <a:latin typeface="Material Icons"/>
                <a:ea typeface="Material Icons"/>
                <a:cs typeface="Material Icons"/>
                <a:sym typeface="Material Icons"/>
              </a:endParaRPr>
            </a:p>
          </p:txBody>
        </p:sp>
        <p:sp>
          <p:nvSpPr>
            <p:cNvPr id="177" name="Google Shape;177;p17"/>
            <p:cNvSpPr txBox="1"/>
            <p:nvPr/>
          </p:nvSpPr>
          <p:spPr>
            <a:xfrm>
              <a:off x="7048500" y="4000500"/>
              <a:ext cx="419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Técnico del gobierno</a:t>
              </a:r>
              <a:endParaRPr b="1" sz="2800">
                <a:solidFill>
                  <a:srgbClr val="0A0915"/>
                </a:solidFill>
                <a:latin typeface="Inter"/>
                <a:ea typeface="Inter"/>
                <a:cs typeface="Inter"/>
                <a:sym typeface="Inter"/>
              </a:endParaRPr>
            </a:p>
          </p:txBody>
        </p:sp>
        <p:sp>
          <p:nvSpPr>
            <p:cNvPr id="178" name="Google Shape;178;p17"/>
            <p:cNvSpPr txBox="1"/>
            <p:nvPr/>
          </p:nvSpPr>
          <p:spPr>
            <a:xfrm>
              <a:off x="7048500" y="4953000"/>
              <a:ext cx="419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Aparece de verdad, no nominalmente.</a:t>
              </a:r>
              <a:endParaRPr b="0" sz="2000">
                <a:solidFill>
                  <a:srgbClr val="4B5563"/>
                </a:solidFill>
                <a:latin typeface="Inter"/>
                <a:ea typeface="Inter"/>
                <a:cs typeface="Inter"/>
                <a:sym typeface="Inter"/>
              </a:endParaRPr>
            </a:p>
          </p:txBody>
        </p:sp>
      </p:grpSp>
      <p:grpSp>
        <p:nvGrpSpPr>
          <p:cNvPr id="179" name="Google Shape;179;p17"/>
          <p:cNvGrpSpPr/>
          <p:nvPr/>
        </p:nvGrpSpPr>
        <p:grpSpPr>
          <a:xfrm>
            <a:off x="12192000" y="2286000"/>
            <a:ext cx="4953000" cy="5715000"/>
            <a:chOff x="12192000" y="2286000"/>
            <a:chExt cx="4953000" cy="5715000"/>
          </a:xfrm>
        </p:grpSpPr>
        <p:sp>
          <p:nvSpPr>
            <p:cNvPr id="180" name="Google Shape;180;p17"/>
            <p:cNvSpPr/>
            <p:nvPr/>
          </p:nvSpPr>
          <p:spPr>
            <a:xfrm>
              <a:off x="12192000" y="2286000"/>
              <a:ext cx="4953000" cy="5715000"/>
            </a:xfrm>
            <a:prstGeom prst="roundRect">
              <a:avLst>
                <a:gd fmla="val 7692"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7"/>
            <p:cNvSpPr/>
            <p:nvPr/>
          </p:nvSpPr>
          <p:spPr>
            <a:xfrm>
              <a:off x="12192000" y="2286000"/>
              <a:ext cx="4953000" cy="152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17"/>
            <p:cNvSpPr txBox="1"/>
            <p:nvPr/>
          </p:nvSpPr>
          <p:spPr>
            <a:xfrm>
              <a:off x="12573000" y="2754630"/>
              <a:ext cx="4191000" cy="1143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6000">
                  <a:solidFill>
                    <a:srgbClr val="7C3AED"/>
                  </a:solidFill>
                  <a:latin typeface="Material Icons"/>
                  <a:ea typeface="Material Icons"/>
                  <a:cs typeface="Material Icons"/>
                  <a:sym typeface="Material Icons"/>
                </a:rPr>
                <a:t></a:t>
              </a:r>
              <a:endParaRPr sz="6000">
                <a:solidFill>
                  <a:srgbClr val="7C3AED"/>
                </a:solidFill>
                <a:latin typeface="Material Icons"/>
                <a:ea typeface="Material Icons"/>
                <a:cs typeface="Material Icons"/>
                <a:sym typeface="Material Icons"/>
              </a:endParaRPr>
            </a:p>
          </p:txBody>
        </p:sp>
        <p:sp>
          <p:nvSpPr>
            <p:cNvPr id="183" name="Google Shape;183;p17"/>
            <p:cNvSpPr txBox="1"/>
            <p:nvPr/>
          </p:nvSpPr>
          <p:spPr>
            <a:xfrm>
              <a:off x="12573000" y="4000500"/>
              <a:ext cx="419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Coordinador</a:t>
              </a:r>
              <a:endParaRPr b="1" sz="2800">
                <a:solidFill>
                  <a:srgbClr val="0A0915"/>
                </a:solidFill>
                <a:latin typeface="Inter"/>
                <a:ea typeface="Inter"/>
                <a:cs typeface="Inter"/>
                <a:sym typeface="Inter"/>
              </a:endParaRPr>
            </a:p>
          </p:txBody>
        </p:sp>
        <p:sp>
          <p:nvSpPr>
            <p:cNvPr id="184" name="Google Shape;184;p17"/>
            <p:cNvSpPr txBox="1"/>
            <p:nvPr/>
          </p:nvSpPr>
          <p:spPr>
            <a:xfrm>
              <a:off x="12573000" y="4953000"/>
              <a:ext cx="41910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4B5563"/>
                  </a:solidFill>
                  <a:latin typeface="Inter"/>
                  <a:ea typeface="Inter"/>
                  <a:cs typeface="Inter"/>
                  <a:sym typeface="Inter"/>
                </a:rPr>
                <a:t>Hace seguimiento real de tareas, no solo de reuniones.</a:t>
              </a:r>
              <a:endParaRPr b="0" sz="2000">
                <a:solidFill>
                  <a:srgbClr val="4B5563"/>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9" name="Shape 189"/>
        <p:cNvGrpSpPr/>
        <p:nvPr/>
      </p:nvGrpSpPr>
      <p:grpSpPr>
        <a:xfrm>
          <a:off x="0" y="0"/>
          <a:ext cx="0" cy="0"/>
          <a:chOff x="0" y="0"/>
          <a:chExt cx="0" cy="0"/>
        </a:xfrm>
      </p:grpSpPr>
      <p:sp>
        <p:nvSpPr>
          <p:cNvPr id="190" name="Google Shape;190;p18"/>
          <p:cNvSpPr/>
          <p:nvPr/>
        </p:nvSpPr>
        <p:spPr>
          <a:xfrm>
            <a:off x="0" y="0"/>
            <a:ext cx="18288000" cy="228600"/>
          </a:xfrm>
          <a:prstGeom prst="rect">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1" name="Google Shape;191;p18"/>
          <p:cNvGrpSpPr/>
          <p:nvPr/>
        </p:nvGrpSpPr>
        <p:grpSpPr>
          <a:xfrm>
            <a:off x="1371600" y="1143000"/>
            <a:ext cx="15544800" cy="1619250"/>
            <a:chOff x="1371600" y="1143000"/>
            <a:chExt cx="15544800" cy="1619250"/>
          </a:xfrm>
        </p:grpSpPr>
        <p:sp>
          <p:nvSpPr>
            <p:cNvPr id="192" name="Google Shape;192;p18"/>
            <p:cNvSpPr txBox="1"/>
            <p:nvPr/>
          </p:nvSpPr>
          <p:spPr>
            <a:xfrm>
              <a:off x="1371600" y="1143000"/>
              <a:ext cx="155448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000">
                  <a:solidFill>
                    <a:srgbClr val="7C3AED"/>
                  </a:solidFill>
                  <a:latin typeface="Inter"/>
                  <a:ea typeface="Inter"/>
                  <a:cs typeface="Inter"/>
                  <a:sym typeface="Inter"/>
                </a:rPr>
                <a:t>Advertencia</a:t>
              </a:r>
              <a:endParaRPr b="1" sz="2000">
                <a:solidFill>
                  <a:srgbClr val="7C3AED"/>
                </a:solidFill>
                <a:latin typeface="Inter"/>
                <a:ea typeface="Inter"/>
                <a:cs typeface="Inter"/>
                <a:sym typeface="Inter"/>
              </a:endParaRPr>
            </a:p>
          </p:txBody>
        </p:sp>
        <p:sp>
          <p:nvSpPr>
            <p:cNvPr id="193" name="Google Shape;193;p18"/>
            <p:cNvSpPr txBox="1"/>
            <p:nvPr/>
          </p:nvSpPr>
          <p:spPr>
            <a:xfrm>
              <a:off x="1371600" y="1809750"/>
              <a:ext cx="155448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600">
                  <a:solidFill>
                    <a:srgbClr val="0A0915"/>
                  </a:solidFill>
                  <a:latin typeface="Inter"/>
                  <a:ea typeface="Inter"/>
                  <a:cs typeface="Inter"/>
                  <a:sym typeface="Inter"/>
                </a:rPr>
                <a:t>No es una fase para improvisar</a:t>
              </a:r>
              <a:endParaRPr b="1" sz="5600">
                <a:solidFill>
                  <a:srgbClr val="0A0915"/>
                </a:solidFill>
                <a:latin typeface="Inter"/>
                <a:ea typeface="Inter"/>
                <a:cs typeface="Inter"/>
                <a:sym typeface="Inter"/>
              </a:endParaRPr>
            </a:p>
          </p:txBody>
        </p:sp>
      </p:grpSp>
      <p:grpSp>
        <p:nvGrpSpPr>
          <p:cNvPr id="194" name="Google Shape;194;p18"/>
          <p:cNvGrpSpPr/>
          <p:nvPr/>
        </p:nvGrpSpPr>
        <p:grpSpPr>
          <a:xfrm>
            <a:off x="1371600" y="3810000"/>
            <a:ext cx="15544800" cy="3810000"/>
            <a:chOff x="1371600" y="3810000"/>
            <a:chExt cx="15544800" cy="3810000"/>
          </a:xfrm>
        </p:grpSpPr>
        <p:sp>
          <p:nvSpPr>
            <p:cNvPr id="195" name="Google Shape;195;p18"/>
            <p:cNvSpPr/>
            <p:nvPr/>
          </p:nvSpPr>
          <p:spPr>
            <a:xfrm>
              <a:off x="1371600" y="3810000"/>
              <a:ext cx="4953000" cy="3810000"/>
            </a:xfrm>
            <a:prstGeom prst="roundRect">
              <a:avLst>
                <a:gd fmla="val 10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8"/>
            <p:cNvSpPr txBox="1"/>
            <p:nvPr/>
          </p:nvSpPr>
          <p:spPr>
            <a:xfrm>
              <a:off x="1752600" y="4191000"/>
              <a:ext cx="4191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3200">
                  <a:solidFill>
                    <a:srgbClr val="0A0915"/>
                  </a:solidFill>
                  <a:latin typeface="Inter"/>
                  <a:ea typeface="Inter"/>
                  <a:cs typeface="Inter"/>
                  <a:sym typeface="Inter"/>
                </a:rPr>
                <a:t>Once items</a:t>
              </a:r>
              <a:endParaRPr b="1" sz="3200">
                <a:solidFill>
                  <a:srgbClr val="0A0915"/>
                </a:solidFill>
                <a:latin typeface="Inter"/>
                <a:ea typeface="Inter"/>
                <a:cs typeface="Inter"/>
                <a:sym typeface="Inter"/>
              </a:endParaRPr>
            </a:p>
            <a:p>
              <a:pPr indent="0" lvl="0" marL="0" rtl="0" algn="l">
                <a:spcBef>
                  <a:spcPts val="750"/>
                </a:spcBef>
                <a:spcAft>
                  <a:spcPts val="0"/>
                </a:spcAft>
                <a:buNone/>
              </a:pPr>
              <a:r>
                <a:rPr lang="en-US" sz="1800">
                  <a:solidFill>
                    <a:srgbClr val="4B5563"/>
                  </a:solidFill>
                  <a:latin typeface="Inter"/>
                  <a:ea typeface="Inter"/>
                  <a:cs typeface="Inter"/>
                  <a:sym typeface="Inter"/>
                </a:rPr>
                <a:t>en el checklist oficial de preparación.</a:t>
              </a:r>
              <a:endParaRPr sz="1800">
                <a:solidFill>
                  <a:srgbClr val="4B5563"/>
                </a:solidFill>
                <a:latin typeface="Inter"/>
                <a:ea typeface="Inter"/>
                <a:cs typeface="Inter"/>
                <a:sym typeface="Inter"/>
              </a:endParaRPr>
            </a:p>
          </p:txBody>
        </p:sp>
        <p:sp>
          <p:nvSpPr>
            <p:cNvPr id="197" name="Google Shape;197;p18"/>
            <p:cNvSpPr/>
            <p:nvPr/>
          </p:nvSpPr>
          <p:spPr>
            <a:xfrm>
              <a:off x="6667500" y="3810000"/>
              <a:ext cx="4953000" cy="3810000"/>
            </a:xfrm>
            <a:prstGeom prst="roundRect">
              <a:avLst>
                <a:gd fmla="val 10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8"/>
            <p:cNvSpPr txBox="1"/>
            <p:nvPr/>
          </p:nvSpPr>
          <p:spPr>
            <a:xfrm>
              <a:off x="7048500" y="4191000"/>
              <a:ext cx="4191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3200">
                  <a:solidFill>
                    <a:srgbClr val="0A0915"/>
                  </a:solidFill>
                  <a:latin typeface="Inter"/>
                  <a:ea typeface="Inter"/>
                  <a:cs typeface="Inter"/>
                  <a:sym typeface="Inter"/>
                </a:rPr>
                <a:t>Cuatro reuniones</a:t>
              </a:r>
              <a:endParaRPr b="1" sz="3200">
                <a:solidFill>
                  <a:srgbClr val="0A0915"/>
                </a:solidFill>
                <a:latin typeface="Inter"/>
                <a:ea typeface="Inter"/>
                <a:cs typeface="Inter"/>
                <a:sym typeface="Inter"/>
              </a:endParaRPr>
            </a:p>
            <a:p>
              <a:pPr indent="0" lvl="0" marL="0" rtl="0" algn="l">
                <a:spcBef>
                  <a:spcPts val="750"/>
                </a:spcBef>
                <a:spcAft>
                  <a:spcPts val="0"/>
                </a:spcAft>
                <a:buNone/>
              </a:pPr>
              <a:r>
                <a:rPr lang="en-US" sz="1800">
                  <a:solidFill>
                    <a:srgbClr val="4B5563"/>
                  </a:solidFill>
                  <a:latin typeface="Inter"/>
                  <a:ea typeface="Inter"/>
                  <a:cs typeface="Inter"/>
                  <a:sym typeface="Inter"/>
                </a:rPr>
                <a:t>obligatorias para alinear al equipo técnico.</a:t>
              </a:r>
              <a:endParaRPr sz="1800">
                <a:solidFill>
                  <a:srgbClr val="4B5563"/>
                </a:solidFill>
                <a:latin typeface="Inter"/>
                <a:ea typeface="Inter"/>
                <a:cs typeface="Inter"/>
                <a:sym typeface="Inter"/>
              </a:endParaRPr>
            </a:p>
          </p:txBody>
        </p:sp>
        <p:sp>
          <p:nvSpPr>
            <p:cNvPr id="199" name="Google Shape;199;p18"/>
            <p:cNvSpPr/>
            <p:nvPr/>
          </p:nvSpPr>
          <p:spPr>
            <a:xfrm>
              <a:off x="11963400" y="3810000"/>
              <a:ext cx="4953000" cy="3810000"/>
            </a:xfrm>
            <a:prstGeom prst="roundRect">
              <a:avLst>
                <a:gd fmla="val 10000" name="adj"/>
              </a:avLst>
            </a:prstGeom>
            <a:solidFill>
              <a:srgbClr val="FFFFFF"/>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8"/>
            <p:cNvSpPr txBox="1"/>
            <p:nvPr/>
          </p:nvSpPr>
          <p:spPr>
            <a:xfrm>
              <a:off x="12344400" y="4191000"/>
              <a:ext cx="4191000" cy="304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4800">
                  <a:solidFill>
                    <a:srgbClr val="7C3AED"/>
                  </a:solidFill>
                  <a:latin typeface="Material Icons"/>
                  <a:ea typeface="Material Icons"/>
                  <a:cs typeface="Material Icons"/>
                  <a:sym typeface="Material Icons"/>
                </a:rPr>
                <a:t></a:t>
              </a:r>
              <a:endParaRPr sz="4800">
                <a:solidFill>
                  <a:srgbClr val="7C3AED"/>
                </a:solidFill>
                <a:latin typeface="Material Icons"/>
                <a:ea typeface="Material Icons"/>
                <a:cs typeface="Material Icons"/>
                <a:sym typeface="Material Icons"/>
              </a:endParaRPr>
            </a:p>
            <a:p>
              <a:pPr indent="0" lvl="0" marL="0" rtl="0" algn="l">
                <a:spcBef>
                  <a:spcPts val="1500"/>
                </a:spcBef>
                <a:spcAft>
                  <a:spcPts val="0"/>
                </a:spcAft>
                <a:buNone/>
              </a:pPr>
              <a:r>
                <a:rPr b="1" lang="en-US" sz="3200">
                  <a:solidFill>
                    <a:srgbClr val="0A0915"/>
                  </a:solidFill>
                  <a:latin typeface="Inter"/>
                  <a:ea typeface="Inter"/>
                  <a:cs typeface="Inter"/>
                  <a:sym typeface="Inter"/>
                </a:rPr>
                <a:t>Decisiones clave</a:t>
              </a:r>
              <a:endParaRPr b="1" sz="3200">
                <a:solidFill>
                  <a:srgbClr val="0A0915"/>
                </a:solidFill>
                <a:latin typeface="Inter"/>
                <a:ea typeface="Inter"/>
                <a:cs typeface="Inter"/>
                <a:sym typeface="Inter"/>
              </a:endParaRPr>
            </a:p>
            <a:p>
              <a:pPr indent="0" lvl="0" marL="0" rtl="0" algn="l">
                <a:spcBef>
                  <a:spcPts val="750"/>
                </a:spcBef>
                <a:spcAft>
                  <a:spcPts val="0"/>
                </a:spcAft>
                <a:buNone/>
              </a:pPr>
              <a:r>
                <a:rPr lang="en-US" sz="1800">
                  <a:solidFill>
                    <a:srgbClr val="4B5563"/>
                  </a:solidFill>
                  <a:latin typeface="Inter"/>
                  <a:ea typeface="Inter"/>
                  <a:cs typeface="Inter"/>
                  <a:sym typeface="Inter"/>
                </a:rPr>
                <a:t>que condicionan todo lo que viene después.</a:t>
              </a:r>
              <a:endParaRPr sz="1800">
                <a:solidFill>
                  <a:srgbClr val="4B5563"/>
                </a:solidFill>
                <a:latin typeface="Inter"/>
                <a:ea typeface="Inter"/>
                <a:cs typeface="Inter"/>
                <a:sym typeface="Inter"/>
              </a:endParaRPr>
            </a:p>
          </p:txBody>
        </p:sp>
      </p:grpSp>
      <p:sp>
        <p:nvSpPr>
          <p:cNvPr id="201" name="Google Shape;201;p18"/>
          <p:cNvSpPr/>
          <p:nvPr/>
        </p:nvSpPr>
        <p:spPr>
          <a:xfrm>
            <a:off x="1371600" y="8191500"/>
            <a:ext cx="15544800" cy="1143000"/>
          </a:xfrm>
          <a:prstGeom prst="roundRect">
            <a:avLst>
              <a:gd fmla="val 16666" name="adj"/>
            </a:avLst>
          </a:prstGeom>
          <a:solidFill>
            <a:srgbClr val="7C3AED">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8"/>
          <p:cNvSpPr txBox="1"/>
          <p:nvPr/>
        </p:nvSpPr>
        <p:spPr>
          <a:xfrm>
            <a:off x="1752600" y="819150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1F2937"/>
                </a:solidFill>
                <a:latin typeface="Inter"/>
                <a:ea typeface="Inter"/>
                <a:cs typeface="Inter"/>
                <a:sym typeface="Inter"/>
              </a:rPr>
              <a:t>Si entras sin haber leído el material, </a:t>
            </a:r>
            <a:r>
              <a:rPr b="1" lang="en-US" sz="2200">
                <a:solidFill>
                  <a:srgbClr val="7C3AED"/>
                </a:solidFill>
                <a:latin typeface="Inter"/>
                <a:ea typeface="Inter"/>
                <a:cs typeface="Inter"/>
                <a:sym typeface="Inter"/>
              </a:rPr>
              <a:t>se nota desde la primera capacitación.</a:t>
            </a:r>
            <a:endParaRPr b="0" sz="2200">
              <a:solidFill>
                <a:srgbClr val="1F2937"/>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9"/>
          <p:cNvSpPr/>
          <p:nvPr/>
        </p:nvSpPr>
        <p:spPr>
          <a:xfrm>
            <a:off x="0" y="0"/>
            <a:ext cx="18288000" cy="10287000"/>
          </a:xfrm>
          <a:prstGeom prst="rect">
            <a:avLst/>
          </a:prstGeom>
          <a:solidFill>
            <a:srgbClr val="7C3AED"/>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19"/>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La Fase B no es preparación de papeles</a:t>
            </a:r>
            <a:endParaRPr/>
          </a:p>
        </p:txBody>
      </p:sp>
      <p:sp>
        <p:nvSpPr>
          <p:cNvPr id="210" name="Google Shape;210;p19"/>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Es donde el gobierno aprende</a:t>
            </a:r>
            <a:endParaRPr/>
          </a:p>
        </p:txBody>
      </p:sp>
      <p:sp>
        <p:nvSpPr>
          <p:cNvPr id="211" name="Google Shape;211;p19"/>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a operar SovraGov.</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