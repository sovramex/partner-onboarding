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23.6s · 59 palabras]</a:t>
            </a:r>
          </a:p>
          <a:p/>
          <a:p>
            <a:r>
              <a:t>Llegaste hasta acá porque cerraste la Fase A. Tienes roles asignados con nombre y apellido, un alcance alineado, los canales de comunicación abiertos, el Gantt aprobado y el dominio pedido a TI. Esos son los cimientos. Ahora arranca la fase más densa de los noventa días: la Fase B, Preparación, que ocupa de la semana dos a la cinco.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14.4s · 36 palabras]</a:t>
            </a:r>
          </a:p>
          <a:p/>
          <a:p>
            <a:r>
              <a:t>Llegaste hasta acá porque cerraste la Fase A. Tienes roles asignados con nombre y apellido, un alcance alineado, los canales de comunicación abiertos, el Gantt aprobado y el dominio pedido a TI. Esos son los cimientos.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23.6s · 59 palabras]</a:t>
            </a:r>
          </a:p>
          <a:p/>
          <a:p>
            <a:r>
              <a:t>¿Qué vas a hacer en estas cuatro semanas? Cuatro cosas que se cruzan entre sí. Capacitar al equipo del gobierno, en lo conceptual y en lo funcional. Priorizar los trámites que van a entrar al ciclo. Definir la gobernanza, es decir, quién puede hacer qué dentro de la plataforma. Y dejar acordadas las integraciones técnicas, con plan y responsables.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18.4s · 46 palabras]</a:t>
            </a:r>
          </a:p>
          <a:p/>
          <a:p>
            <a:r>
              <a:t>El cambio de mentalidad respecto de la Fase A es importante. En A vendiste visión y armaste el equipo. En B, el gobierno sale sabiendo operar. Cuando termine la fase, el especialista funcional del gobierno tiene que poder entrar a la instancia y moverse sin ayuda.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17.2s · 43 palabras]</a:t>
            </a:r>
          </a:p>
          <a:p/>
          <a:p>
            <a:r>
              <a:t>Por eso los roles críticos cambian de peso. El especialista funcional del gobierno entra al cien por ciento de dedicación. El técnico del gobierno aparece de verdad, no nominalmente. Y el coordinador empieza a hacer seguimiento real de tareas, no solo de reuniones.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22.4s · 56 palabras]</a:t>
            </a:r>
          </a:p>
          <a:p/>
          <a:p>
            <a:r>
              <a:t>Una advertencia: la Fase B es la fase más densa del ciclo. Once items en el checklist, cuatro reuniones obligatorias, decisiones que condicionan todo lo que viene después. No es una fase para improvisar. Si entras sin haber leído el material y sin haber estudiado el contenido de la plataforma, se nota desde la primera capacitación.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7.2s · 18 palabras]</a:t>
            </a:r>
          </a:p>
          <a:p/>
          <a:p>
            <a:r>
              <a:t>La Fase B no es preparación de papeles. Es la fase donde el gobierno aprende a operar SovraGov.</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2286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3200400"/>
            <a:ext cx="15544800" cy="548640"/>
          </a:xfrm>
          <a:prstGeom prst="rect">
            <a:avLst/>
          </a:prstGeom>
          <a:noFill/>
        </p:spPr>
        <p:txBody>
          <a:bodyPr wrap="square" anchor="t" lIns="0" rIns="0" tIns="0" bIns="0">
            <a:spAutoFit/>
          </a:bodyPr>
          <a:lstStyle/>
          <a:p>
            <a:pPr algn="l">
              <a:lnSpc>
                <a:spcPct val="115000"/>
              </a:lnSpc>
            </a:pPr>
            <a:r>
              <a:rPr sz="1800" b="1" i="0">
                <a:solidFill>
                  <a:srgbClr val="7C3AED"/>
                </a:solidFill>
                <a:latin typeface="Figtree"/>
              </a:rPr>
              <a:t>FASE B</a:t>
            </a:r>
          </a:p>
        </p:txBody>
      </p:sp>
      <p:sp>
        <p:nvSpPr>
          <p:cNvPr id="4" name="TextBox 3"/>
          <p:cNvSpPr txBox="1"/>
          <p:nvPr/>
        </p:nvSpPr>
        <p:spPr>
          <a:xfrm>
            <a:off x="1371600" y="3840480"/>
            <a:ext cx="15544800" cy="3657600"/>
          </a:xfrm>
          <a:prstGeom prst="rect">
            <a:avLst/>
          </a:prstGeom>
          <a:noFill/>
        </p:spPr>
        <p:txBody>
          <a:bodyPr wrap="square" anchor="t" lIns="0" rIns="0" tIns="0" bIns="0">
            <a:spAutoFit/>
          </a:bodyPr>
          <a:lstStyle/>
          <a:p>
            <a:pPr algn="l">
              <a:lnSpc>
                <a:spcPct val="110000"/>
              </a:lnSpc>
            </a:pPr>
            <a:r>
              <a:rPr sz="8000" b="1" i="0">
                <a:solidFill>
                  <a:srgbClr val="0A0915"/>
                </a:solidFill>
                <a:latin typeface="Plus Jakarta Sans"/>
              </a:rPr>
              <a:t>Entender qué resuelve</a:t>
            </a:r>
          </a:p>
          <a:p>
            <a:pPr algn="l">
              <a:lnSpc>
                <a:spcPct val="110000"/>
              </a:lnSpc>
            </a:pPr>
            <a:r>
              <a:rPr sz="8000" b="1" i="0">
                <a:solidFill>
                  <a:srgbClr val="0A0915"/>
                </a:solidFill>
                <a:latin typeface="Plus Jakarta Sans"/>
              </a:rPr>
              <a:t>la Fase B.</a:t>
            </a:r>
          </a:p>
        </p:txBody>
      </p:sp>
      <p:sp>
        <p:nvSpPr>
          <p:cNvPr id="5" name="TextBox 4"/>
          <p:cNvSpPr txBox="1"/>
          <p:nvPr/>
        </p:nvSpPr>
        <p:spPr>
          <a:xfrm>
            <a:off x="1371600" y="7772400"/>
            <a:ext cx="15544800" cy="1371600"/>
          </a:xfrm>
          <a:prstGeom prst="rect">
            <a:avLst/>
          </a:prstGeom>
          <a:noFill/>
        </p:spPr>
        <p:txBody>
          <a:bodyPr wrap="square" anchor="t" lIns="0" rIns="0" tIns="0" bIns="0">
            <a:spAutoFit/>
          </a:bodyPr>
          <a:lstStyle/>
          <a:p>
            <a:pPr algn="l">
              <a:lnSpc>
                <a:spcPct val="130000"/>
              </a:lnSpc>
            </a:pPr>
            <a:r>
              <a:rPr sz="2200" b="0" i="0">
                <a:solidFill>
                  <a:srgbClr val="888888"/>
                </a:solidFill>
                <a:latin typeface="Figtree"/>
              </a:rPr>
              <a:t>Preparación · Semanas 2 a 5. La fase más densa del ciclo.</a:t>
            </a:r>
          </a:p>
        </p:txBody>
      </p:sp>
      <p:sp>
        <p:nvSpPr>
          <p:cNvPr id="6" name="TextBox 5"/>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2286000"/>
            <a:ext cx="15544800" cy="548640"/>
          </a:xfrm>
          <a:prstGeom prst="rect">
            <a:avLst/>
          </a:prstGeom>
          <a:noFill/>
        </p:spPr>
        <p:txBody>
          <a:bodyPr wrap="square" anchor="t" lIns="0" rIns="0" tIns="0" bIns="0">
            <a:spAutoFit/>
          </a:bodyPr>
          <a:lstStyle/>
          <a:p>
            <a:pPr algn="ctr">
              <a:lnSpc>
                <a:spcPct val="115000"/>
              </a:lnSpc>
            </a:pPr>
            <a:r>
              <a:rPr sz="2000" b="1" i="0">
                <a:solidFill>
                  <a:srgbClr val="7C3AED"/>
                </a:solidFill>
                <a:latin typeface="Figtree"/>
              </a:rPr>
              <a:t>Punto de partida</a:t>
            </a:r>
          </a:p>
        </p:txBody>
      </p:sp>
      <p:sp>
        <p:nvSpPr>
          <p:cNvPr id="3" name="TextBox 2"/>
          <p:cNvSpPr txBox="1"/>
          <p:nvPr/>
        </p:nvSpPr>
        <p:spPr>
          <a:xfrm>
            <a:off x="1371600" y="3200400"/>
            <a:ext cx="15544800" cy="2743200"/>
          </a:xfrm>
          <a:prstGeom prst="rect">
            <a:avLst/>
          </a:prstGeom>
          <a:noFill/>
        </p:spPr>
        <p:txBody>
          <a:bodyPr wrap="square" anchor="t" lIns="0" rIns="0" tIns="0" bIns="0">
            <a:spAutoFit/>
          </a:bodyPr>
          <a:lstStyle/>
          <a:p>
            <a:pPr algn="ctr">
              <a:lnSpc>
                <a:spcPct val="115000"/>
              </a:lnSpc>
            </a:pPr>
            <a:r>
              <a:rPr sz="5600" b="1" i="0">
                <a:solidFill>
                  <a:srgbClr val="0A0915"/>
                </a:solidFill>
                <a:latin typeface="Plus Jakarta Sans"/>
              </a:rPr>
              <a:t>Cerraste Fase A.</a:t>
            </a:r>
          </a:p>
          <a:p>
            <a:pPr algn="ctr">
              <a:lnSpc>
                <a:spcPct val="115000"/>
              </a:lnSpc>
            </a:pPr>
            <a:r>
              <a:rPr sz="5600" b="1" i="0">
                <a:solidFill>
                  <a:srgbClr val="0A0915"/>
                </a:solidFill>
                <a:latin typeface="Plus Jakarta Sans"/>
              </a:rPr>
              <a:t>Ahora arranca lo denso.</a:t>
            </a:r>
          </a:p>
        </p:txBody>
      </p:sp>
      <p:sp>
        <p:nvSpPr>
          <p:cNvPr id="4" name="TextBox 3"/>
          <p:cNvSpPr txBox="1"/>
          <p:nvPr/>
        </p:nvSpPr>
        <p:spPr>
          <a:xfrm>
            <a:off x="1828800" y="6858000"/>
            <a:ext cx="14630400" cy="2286000"/>
          </a:xfrm>
          <a:prstGeom prst="rect">
            <a:avLst/>
          </a:prstGeom>
          <a:noFill/>
        </p:spPr>
        <p:txBody>
          <a:bodyPr wrap="square" anchor="t" lIns="0" rIns="0" tIns="0" bIns="0">
            <a:spAutoFit/>
          </a:bodyPr>
          <a:lstStyle/>
          <a:p>
            <a:pPr algn="ctr">
              <a:lnSpc>
                <a:spcPct val="140000"/>
              </a:lnSpc>
            </a:pPr>
            <a:r>
              <a:rPr sz="2400" b="0" i="0">
                <a:solidFill>
                  <a:srgbClr val="0A0915"/>
                </a:solidFill>
                <a:latin typeface="Figtree"/>
              </a:rPr>
              <a:t>Tienes roles asignados, alcance alineado, canales abiertos, Gantt aprobado y dominio pedido a TI. Esos son los cimientos.</a:t>
            </a:r>
          </a:p>
        </p:txBody>
      </p:sp>
      <p:sp>
        <p:nvSpPr>
          <p:cNvPr id="5" name="TextBox 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371600"/>
            <a:ext cx="15544800" cy="1828800"/>
          </a:xfrm>
          <a:prstGeom prst="rect">
            <a:avLst/>
          </a:prstGeom>
          <a:noFill/>
        </p:spPr>
        <p:txBody>
          <a:bodyPr wrap="square" anchor="t" lIns="0" rIns="0" tIns="0" bIns="0">
            <a:spAutoFit/>
          </a:bodyPr>
          <a:lstStyle/>
          <a:p>
            <a:pPr algn="l">
              <a:lnSpc>
                <a:spcPct val="115000"/>
              </a:lnSpc>
            </a:pPr>
            <a:r>
              <a:rPr sz="4200" b="1" i="0">
                <a:solidFill>
                  <a:srgbClr val="0A0915"/>
                </a:solidFill>
                <a:latin typeface="Plus Jakarta Sans"/>
              </a:rPr>
              <a:t>Cuatro cosas que se cruzan entre sí.</a:t>
            </a:r>
          </a:p>
        </p:txBody>
      </p:sp>
      <p:sp>
        <p:nvSpPr>
          <p:cNvPr id="3" name="Rounded Rectangle 2"/>
          <p:cNvSpPr/>
          <p:nvPr/>
        </p:nvSpPr>
        <p:spPr>
          <a:xfrm>
            <a:off x="1371600" y="3886200"/>
            <a:ext cx="228600" cy="228600"/>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365760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Capacitar al equipo del gobierno, en lo conceptual y en lo funcional.</a:t>
            </a:r>
          </a:p>
        </p:txBody>
      </p:sp>
      <p:sp>
        <p:nvSpPr>
          <p:cNvPr id="5" name="Rounded Rectangle 4"/>
          <p:cNvSpPr/>
          <p:nvPr/>
        </p:nvSpPr>
        <p:spPr>
          <a:xfrm>
            <a:off x="1371600" y="4709160"/>
            <a:ext cx="228600" cy="228600"/>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448056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Priorizar los trámites que van a entrar al ciclo.</a:t>
            </a:r>
          </a:p>
        </p:txBody>
      </p:sp>
      <p:sp>
        <p:nvSpPr>
          <p:cNvPr id="7" name="Rounded Rectangle 6"/>
          <p:cNvSpPr/>
          <p:nvPr/>
        </p:nvSpPr>
        <p:spPr>
          <a:xfrm>
            <a:off x="1371600" y="5532120"/>
            <a:ext cx="228600" cy="228600"/>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0" y="530352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Definir la gobernanza: quién puede hacer qué dentro de la plataforma.</a:t>
            </a:r>
          </a:p>
        </p:txBody>
      </p:sp>
      <p:sp>
        <p:nvSpPr>
          <p:cNvPr id="9" name="Rounded Rectangle 8"/>
          <p:cNvSpPr/>
          <p:nvPr/>
        </p:nvSpPr>
        <p:spPr>
          <a:xfrm>
            <a:off x="1371600" y="6355080"/>
            <a:ext cx="228600" cy="228600"/>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800" y="612648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Dejar acordadas las integraciones técnicas, con plan y responsables.</a:t>
            </a:r>
          </a:p>
        </p:txBody>
      </p:sp>
      <p:sp>
        <p:nvSpPr>
          <p:cNvPr id="11" name="TextBox 10"/>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371600"/>
            <a:ext cx="15544800" cy="2286000"/>
          </a:xfrm>
          <a:prstGeom prst="rect">
            <a:avLst/>
          </a:prstGeom>
          <a:noFill/>
        </p:spPr>
        <p:txBody>
          <a:bodyPr wrap="square" anchor="t" lIns="0" rIns="0" tIns="0" bIns="0">
            <a:spAutoFit/>
          </a:bodyPr>
          <a:lstStyle/>
          <a:p>
            <a:pPr algn="ctr">
              <a:lnSpc>
                <a:spcPct val="115000"/>
              </a:lnSpc>
            </a:pPr>
            <a:r>
              <a:rPr sz="4400" b="1" i="0">
                <a:solidFill>
                  <a:srgbClr val="0A0915"/>
                </a:solidFill>
                <a:latin typeface="Plus Jakarta Sans"/>
              </a:rPr>
              <a:t>El cambio de mentalidad</a:t>
            </a:r>
          </a:p>
          <a:p>
            <a:pPr algn="ctr">
              <a:lnSpc>
                <a:spcPct val="115000"/>
              </a:lnSpc>
            </a:pPr>
            <a:r>
              <a:rPr sz="4400" b="1" i="0">
                <a:solidFill>
                  <a:srgbClr val="0A0915"/>
                </a:solidFill>
                <a:latin typeface="Plus Jakarta Sans"/>
              </a:rPr>
              <a:t>respecto de la Fase A.</a:t>
            </a:r>
          </a:p>
        </p:txBody>
      </p:sp>
      <p:sp>
        <p:nvSpPr>
          <p:cNvPr id="3" name="Rounded Rectangle 2"/>
          <p:cNvSpPr/>
          <p:nvPr/>
        </p:nvSpPr>
        <p:spPr>
          <a:xfrm>
            <a:off x="1828800" y="4572000"/>
            <a:ext cx="6400800" cy="4114800"/>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0" y="5029200"/>
            <a:ext cx="5486400" cy="731520"/>
          </a:xfrm>
          <a:prstGeom prst="rect">
            <a:avLst/>
          </a:prstGeom>
          <a:noFill/>
        </p:spPr>
        <p:txBody>
          <a:bodyPr wrap="square" anchor="t" lIns="0" rIns="0" tIns="0" bIns="0">
            <a:spAutoFit/>
          </a:bodyPr>
          <a:lstStyle/>
          <a:p>
            <a:pPr algn="l">
              <a:lnSpc>
                <a:spcPct val="115000"/>
              </a:lnSpc>
            </a:pPr>
            <a:r>
              <a:rPr sz="1800" b="1" i="0">
                <a:solidFill>
                  <a:srgbClr val="888888"/>
                </a:solidFill>
                <a:latin typeface="Figtree"/>
              </a:rPr>
              <a:t>Fase A</a:t>
            </a:r>
          </a:p>
        </p:txBody>
      </p:sp>
      <p:sp>
        <p:nvSpPr>
          <p:cNvPr id="5" name="TextBox 4"/>
          <p:cNvSpPr txBox="1"/>
          <p:nvPr/>
        </p:nvSpPr>
        <p:spPr>
          <a:xfrm>
            <a:off x="2286000" y="6035040"/>
            <a:ext cx="5486400" cy="2286000"/>
          </a:xfrm>
          <a:prstGeom prst="rect">
            <a:avLst/>
          </a:prstGeom>
          <a:noFill/>
        </p:spPr>
        <p:txBody>
          <a:bodyPr wrap="square" anchor="t" lIns="0" rIns="0" tIns="0" bIns="0">
            <a:spAutoFit/>
          </a:bodyPr>
          <a:lstStyle/>
          <a:p>
            <a:pPr algn="l">
              <a:lnSpc>
                <a:spcPct val="130000"/>
              </a:lnSpc>
            </a:pPr>
            <a:r>
              <a:rPr sz="2800" b="0" i="0">
                <a:solidFill>
                  <a:srgbClr val="0A0915"/>
                </a:solidFill>
                <a:latin typeface="Plus Jakarta Sans"/>
              </a:rPr>
              <a:t>Vendiste visión</a:t>
            </a:r>
          </a:p>
          <a:p>
            <a:pPr algn="l">
              <a:lnSpc>
                <a:spcPct val="130000"/>
              </a:lnSpc>
            </a:pPr>
            <a:r>
              <a:rPr sz="2800" b="0" i="0">
                <a:solidFill>
                  <a:srgbClr val="0A0915"/>
                </a:solidFill>
                <a:latin typeface="Plus Jakarta Sans"/>
              </a:rPr>
              <a:t>y armaste el equipo.</a:t>
            </a:r>
          </a:p>
        </p:txBody>
      </p:sp>
      <p:sp>
        <p:nvSpPr>
          <p:cNvPr id="6" name="Rounded Rectangle 5"/>
          <p:cNvSpPr/>
          <p:nvPr/>
        </p:nvSpPr>
        <p:spPr>
          <a:xfrm>
            <a:off x="10058400" y="4572000"/>
            <a:ext cx="6400800" cy="4114800"/>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0" y="5029200"/>
            <a:ext cx="5486400" cy="731520"/>
          </a:xfrm>
          <a:prstGeom prst="rect">
            <a:avLst/>
          </a:prstGeom>
          <a:noFill/>
        </p:spPr>
        <p:txBody>
          <a:bodyPr wrap="square" anchor="t" lIns="0" rIns="0" tIns="0" bIns="0">
            <a:spAutoFit/>
          </a:bodyPr>
          <a:lstStyle/>
          <a:p>
            <a:pPr algn="l">
              <a:lnSpc>
                <a:spcPct val="115000"/>
              </a:lnSpc>
            </a:pPr>
            <a:r>
              <a:rPr sz="1800" b="1" i="0">
                <a:solidFill>
                  <a:srgbClr val="FFFFFF"/>
                </a:solidFill>
                <a:latin typeface="Figtree"/>
              </a:rPr>
              <a:t>Fase B</a:t>
            </a:r>
          </a:p>
        </p:txBody>
      </p:sp>
      <p:sp>
        <p:nvSpPr>
          <p:cNvPr id="8" name="TextBox 7"/>
          <p:cNvSpPr txBox="1"/>
          <p:nvPr/>
        </p:nvSpPr>
        <p:spPr>
          <a:xfrm>
            <a:off x="10515600" y="6035040"/>
            <a:ext cx="5486400" cy="2286000"/>
          </a:xfrm>
          <a:prstGeom prst="rect">
            <a:avLst/>
          </a:prstGeom>
          <a:noFill/>
        </p:spPr>
        <p:txBody>
          <a:bodyPr wrap="square" anchor="t" lIns="0" rIns="0" tIns="0" bIns="0">
            <a:spAutoFit/>
          </a:bodyPr>
          <a:lstStyle/>
          <a:p>
            <a:pPr algn="l">
              <a:lnSpc>
                <a:spcPct val="130000"/>
              </a:lnSpc>
            </a:pPr>
            <a:r>
              <a:rPr sz="2800" b="0" i="0">
                <a:solidFill>
                  <a:srgbClr val="FFFFFF"/>
                </a:solidFill>
                <a:latin typeface="Plus Jakarta Sans"/>
              </a:rPr>
              <a:t>El gobierno sale</a:t>
            </a:r>
          </a:p>
          <a:p>
            <a:pPr algn="l">
              <a:lnSpc>
                <a:spcPct val="130000"/>
              </a:lnSpc>
            </a:pPr>
            <a:r>
              <a:rPr sz="2800" b="0" i="0">
                <a:solidFill>
                  <a:srgbClr val="FFFFFF"/>
                </a:solidFill>
                <a:latin typeface="Plus Jakarta Sans"/>
              </a:rPr>
              <a:t>sabiendo operar.</a:t>
            </a:r>
          </a:p>
        </p:txBody>
      </p:sp>
      <p:sp>
        <p:nvSpPr>
          <p:cNvPr id="9" name="TextBox 8"/>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097280"/>
            <a:ext cx="15544800" cy="1371600"/>
          </a:xfrm>
          <a:prstGeom prst="rect">
            <a:avLst/>
          </a:prstGeom>
          <a:noFill/>
        </p:spPr>
        <p:txBody>
          <a:bodyPr wrap="square" anchor="t" lIns="0" rIns="0" tIns="0" bIns="0">
            <a:spAutoFit/>
          </a:bodyPr>
          <a:lstStyle/>
          <a:p>
            <a:pPr algn="ctr">
              <a:lnSpc>
                <a:spcPct val="115000"/>
              </a:lnSpc>
            </a:pPr>
            <a:r>
              <a:rPr sz="4400" b="1" i="0">
                <a:solidFill>
                  <a:srgbClr val="0A0915"/>
                </a:solidFill>
                <a:latin typeface="Plus Jakarta Sans"/>
              </a:rPr>
              <a:t>Los roles críticos cambian de peso.</a:t>
            </a:r>
          </a:p>
        </p:txBody>
      </p:sp>
      <p:sp>
        <p:nvSpPr>
          <p:cNvPr id="3" name="Rounded Rectangle 2"/>
          <p:cNvSpPr/>
          <p:nvPr/>
        </p:nvSpPr>
        <p:spPr>
          <a:xfrm>
            <a:off x="1143000" y="4572000"/>
            <a:ext cx="5029200" cy="4572000"/>
          </a:xfrm>
          <a:prstGeom prst="roundRect">
            <a:avLst/>
          </a:prstGeom>
          <a:solidFill>
            <a:srgbClr val="FFFFFF"/>
          </a:solidFill>
          <a:ln w="190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3000" y="4572000"/>
            <a:ext cx="5029200" cy="1371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5120640"/>
            <a:ext cx="4297680" cy="1097280"/>
          </a:xfrm>
          <a:prstGeom prst="rect">
            <a:avLst/>
          </a:prstGeom>
          <a:noFill/>
        </p:spPr>
        <p:txBody>
          <a:bodyPr wrap="square" anchor="t" lIns="0" rIns="0" tIns="0" bIns="0">
            <a:spAutoFit/>
          </a:bodyPr>
          <a:lstStyle/>
          <a:p>
            <a:pPr algn="l">
              <a:lnSpc>
                <a:spcPct val="115000"/>
              </a:lnSpc>
            </a:pPr>
            <a:r>
              <a:rPr sz="3000" b="1" i="0">
                <a:solidFill>
                  <a:srgbClr val="7C3AED"/>
                </a:solidFill>
                <a:latin typeface="Plus Jakarta Sans"/>
              </a:rPr>
              <a:t>Especialista funcional</a:t>
            </a:r>
          </a:p>
        </p:txBody>
      </p:sp>
      <p:sp>
        <p:nvSpPr>
          <p:cNvPr id="6" name="TextBox 5"/>
          <p:cNvSpPr txBox="1"/>
          <p:nvPr/>
        </p:nvSpPr>
        <p:spPr>
          <a:xfrm>
            <a:off x="1508760" y="6309360"/>
            <a:ext cx="4297680" cy="2743200"/>
          </a:xfrm>
          <a:prstGeom prst="rect">
            <a:avLst/>
          </a:prstGeom>
          <a:noFill/>
        </p:spPr>
        <p:txBody>
          <a:bodyPr wrap="square" anchor="t" lIns="0" rIns="0" tIns="0" bIns="0">
            <a:spAutoFit/>
          </a:bodyPr>
          <a:lstStyle/>
          <a:p>
            <a:pPr algn="l">
              <a:lnSpc>
                <a:spcPct val="140000"/>
              </a:lnSpc>
            </a:pPr>
            <a:r>
              <a:rPr sz="1800" b="0" i="0">
                <a:solidFill>
                  <a:srgbClr val="0A0915"/>
                </a:solidFill>
                <a:latin typeface="Figtree"/>
              </a:rPr>
              <a:t>Del gobierno. Entra al 100% de dedicación.</a:t>
            </a:r>
          </a:p>
        </p:txBody>
      </p:sp>
      <p:sp>
        <p:nvSpPr>
          <p:cNvPr id="7" name="Rounded Rectangle 6"/>
          <p:cNvSpPr/>
          <p:nvPr/>
        </p:nvSpPr>
        <p:spPr>
          <a:xfrm>
            <a:off x="6629400" y="4572000"/>
            <a:ext cx="5029200" cy="4572000"/>
          </a:xfrm>
          <a:prstGeom prst="roundRect">
            <a:avLst/>
          </a:prstGeom>
          <a:solidFill>
            <a:srgbClr val="FFFFFF"/>
          </a:solidFill>
          <a:ln w="190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629400" y="4572000"/>
            <a:ext cx="5029200" cy="1371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95160" y="5120640"/>
            <a:ext cx="4297680" cy="1097280"/>
          </a:xfrm>
          <a:prstGeom prst="rect">
            <a:avLst/>
          </a:prstGeom>
          <a:noFill/>
        </p:spPr>
        <p:txBody>
          <a:bodyPr wrap="square" anchor="t" lIns="0" rIns="0" tIns="0" bIns="0">
            <a:spAutoFit/>
          </a:bodyPr>
          <a:lstStyle/>
          <a:p>
            <a:pPr algn="l">
              <a:lnSpc>
                <a:spcPct val="115000"/>
              </a:lnSpc>
            </a:pPr>
            <a:r>
              <a:rPr sz="3000" b="1" i="0">
                <a:solidFill>
                  <a:srgbClr val="7C3AED"/>
                </a:solidFill>
                <a:latin typeface="Plus Jakarta Sans"/>
              </a:rPr>
              <a:t>Técnico del gobierno</a:t>
            </a:r>
          </a:p>
        </p:txBody>
      </p:sp>
      <p:sp>
        <p:nvSpPr>
          <p:cNvPr id="10" name="TextBox 9"/>
          <p:cNvSpPr txBox="1"/>
          <p:nvPr/>
        </p:nvSpPr>
        <p:spPr>
          <a:xfrm>
            <a:off x="6995160" y="6309360"/>
            <a:ext cx="4297680" cy="2743200"/>
          </a:xfrm>
          <a:prstGeom prst="rect">
            <a:avLst/>
          </a:prstGeom>
          <a:noFill/>
        </p:spPr>
        <p:txBody>
          <a:bodyPr wrap="square" anchor="t" lIns="0" rIns="0" tIns="0" bIns="0">
            <a:spAutoFit/>
          </a:bodyPr>
          <a:lstStyle/>
          <a:p>
            <a:pPr algn="l">
              <a:lnSpc>
                <a:spcPct val="140000"/>
              </a:lnSpc>
            </a:pPr>
            <a:r>
              <a:rPr sz="1800" b="0" i="0">
                <a:solidFill>
                  <a:srgbClr val="0A0915"/>
                </a:solidFill>
                <a:latin typeface="Figtree"/>
              </a:rPr>
              <a:t>Aparece de verdad, no nominalmente.</a:t>
            </a:r>
          </a:p>
        </p:txBody>
      </p:sp>
      <p:sp>
        <p:nvSpPr>
          <p:cNvPr id="11" name="Rounded Rectangle 10"/>
          <p:cNvSpPr/>
          <p:nvPr/>
        </p:nvSpPr>
        <p:spPr>
          <a:xfrm>
            <a:off x="12115800" y="4572000"/>
            <a:ext cx="5029200" cy="4572000"/>
          </a:xfrm>
          <a:prstGeom prst="roundRect">
            <a:avLst/>
          </a:prstGeom>
          <a:solidFill>
            <a:srgbClr val="FFFFFF"/>
          </a:solidFill>
          <a:ln w="190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2115800" y="4572000"/>
            <a:ext cx="5029200" cy="1371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481560" y="5120640"/>
            <a:ext cx="4297680" cy="1097280"/>
          </a:xfrm>
          <a:prstGeom prst="rect">
            <a:avLst/>
          </a:prstGeom>
          <a:noFill/>
        </p:spPr>
        <p:txBody>
          <a:bodyPr wrap="square" anchor="t" lIns="0" rIns="0" tIns="0" bIns="0">
            <a:spAutoFit/>
          </a:bodyPr>
          <a:lstStyle/>
          <a:p>
            <a:pPr algn="l">
              <a:lnSpc>
                <a:spcPct val="115000"/>
              </a:lnSpc>
            </a:pPr>
            <a:r>
              <a:rPr sz="3000" b="1" i="0">
                <a:solidFill>
                  <a:srgbClr val="7C3AED"/>
                </a:solidFill>
                <a:latin typeface="Plus Jakarta Sans"/>
              </a:rPr>
              <a:t>Coordinador</a:t>
            </a:r>
          </a:p>
        </p:txBody>
      </p:sp>
      <p:sp>
        <p:nvSpPr>
          <p:cNvPr id="14" name="TextBox 13"/>
          <p:cNvSpPr txBox="1"/>
          <p:nvPr/>
        </p:nvSpPr>
        <p:spPr>
          <a:xfrm>
            <a:off x="12481560" y="6309360"/>
            <a:ext cx="4297680" cy="2743200"/>
          </a:xfrm>
          <a:prstGeom prst="rect">
            <a:avLst/>
          </a:prstGeom>
          <a:noFill/>
        </p:spPr>
        <p:txBody>
          <a:bodyPr wrap="square" anchor="t" lIns="0" rIns="0" tIns="0" bIns="0">
            <a:spAutoFit/>
          </a:bodyPr>
          <a:lstStyle/>
          <a:p>
            <a:pPr algn="l">
              <a:lnSpc>
                <a:spcPct val="140000"/>
              </a:lnSpc>
            </a:pPr>
            <a:r>
              <a:rPr sz="1800" b="0" i="0">
                <a:solidFill>
                  <a:srgbClr val="0A0915"/>
                </a:solidFill>
                <a:latin typeface="Figtree"/>
              </a:rPr>
              <a:t>Hace seguimiento real de tareas, no solo de reuniones.</a:t>
            </a:r>
          </a:p>
        </p:txBody>
      </p:sp>
      <p:sp>
        <p:nvSpPr>
          <p:cNvPr id="15" name="TextBox 1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2286000"/>
            <a:ext cx="15544800" cy="548640"/>
          </a:xfrm>
          <a:prstGeom prst="rect">
            <a:avLst/>
          </a:prstGeom>
          <a:noFill/>
        </p:spPr>
        <p:txBody>
          <a:bodyPr wrap="square" anchor="t" lIns="0" rIns="0" tIns="0" bIns="0">
            <a:spAutoFit/>
          </a:bodyPr>
          <a:lstStyle/>
          <a:p>
            <a:pPr algn="ctr">
              <a:lnSpc>
                <a:spcPct val="115000"/>
              </a:lnSpc>
            </a:pPr>
            <a:r>
              <a:rPr sz="2000" b="1" i="0">
                <a:solidFill>
                  <a:srgbClr val="7C3AED"/>
                </a:solidFill>
                <a:latin typeface="Figtree"/>
              </a:rPr>
              <a:t>Advertencia</a:t>
            </a:r>
          </a:p>
        </p:txBody>
      </p:sp>
      <p:sp>
        <p:nvSpPr>
          <p:cNvPr id="3" name="TextBox 2"/>
          <p:cNvSpPr txBox="1"/>
          <p:nvPr/>
        </p:nvSpPr>
        <p:spPr>
          <a:xfrm>
            <a:off x="1371600" y="3200400"/>
            <a:ext cx="15544800" cy="2743200"/>
          </a:xfrm>
          <a:prstGeom prst="rect">
            <a:avLst/>
          </a:prstGeom>
          <a:noFill/>
        </p:spPr>
        <p:txBody>
          <a:bodyPr wrap="square" anchor="t" lIns="0" rIns="0" tIns="0" bIns="0">
            <a:spAutoFit/>
          </a:bodyPr>
          <a:lstStyle/>
          <a:p>
            <a:pPr algn="ctr">
              <a:lnSpc>
                <a:spcPct val="115000"/>
              </a:lnSpc>
            </a:pPr>
            <a:r>
              <a:rPr sz="5600" b="1" i="0">
                <a:solidFill>
                  <a:srgbClr val="0A0915"/>
                </a:solidFill>
                <a:latin typeface="Plus Jakarta Sans"/>
              </a:rPr>
              <a:t>No es una fase para improvisar.</a:t>
            </a:r>
          </a:p>
        </p:txBody>
      </p:sp>
      <p:sp>
        <p:nvSpPr>
          <p:cNvPr id="4" name="TextBox 3"/>
          <p:cNvSpPr txBox="1"/>
          <p:nvPr/>
        </p:nvSpPr>
        <p:spPr>
          <a:xfrm>
            <a:off x="1828800" y="6858000"/>
            <a:ext cx="14630400" cy="2286000"/>
          </a:xfrm>
          <a:prstGeom prst="rect">
            <a:avLst/>
          </a:prstGeom>
          <a:noFill/>
        </p:spPr>
        <p:txBody>
          <a:bodyPr wrap="square" anchor="t" lIns="0" rIns="0" tIns="0" bIns="0">
            <a:spAutoFit/>
          </a:bodyPr>
          <a:lstStyle/>
          <a:p>
            <a:pPr algn="ctr">
              <a:lnSpc>
                <a:spcPct val="140000"/>
              </a:lnSpc>
            </a:pPr>
            <a:r>
              <a:rPr sz="2400" b="0" i="0">
                <a:solidFill>
                  <a:srgbClr val="0A0915"/>
                </a:solidFill>
                <a:latin typeface="Figtree"/>
              </a:rPr>
              <a:t>Once items en el checklist, cuatro reuniones obligatorias, decisiones que condicionan todo lo que viene después. Si entras sin haber leído el material, se nota desde la primera capacitación.</a:t>
            </a:r>
          </a:p>
        </p:txBody>
      </p:sp>
      <p:sp>
        <p:nvSpPr>
          <p:cNvPr id="5" name="TextBox 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3200400"/>
            <a:ext cx="15544800" cy="1371600"/>
          </a:xfrm>
          <a:prstGeom prst="rect">
            <a:avLst/>
          </a:prstGeom>
          <a:noFill/>
        </p:spPr>
        <p:txBody>
          <a:bodyPr wrap="square" anchor="t" lIns="0" rIns="0" tIns="0" bIns="0">
            <a:spAutoFit/>
          </a:bodyPr>
          <a:lstStyle/>
          <a:p>
            <a:pPr algn="ctr">
              <a:lnSpc>
                <a:spcPct val="115000"/>
              </a:lnSpc>
            </a:pPr>
            <a:r>
              <a:rPr sz="4200" b="0" i="0">
                <a:solidFill>
                  <a:srgbClr val="FFFFFF"/>
                </a:solidFill>
                <a:latin typeface="Plus Jakarta Sans"/>
              </a:rPr>
              <a:t>La Fase B no es preparación de papeles.</a:t>
            </a:r>
          </a:p>
        </p:txBody>
      </p:sp>
      <p:sp>
        <p:nvSpPr>
          <p:cNvPr id="4" name="TextBox 3"/>
          <p:cNvSpPr txBox="1"/>
          <p:nvPr/>
        </p:nvSpPr>
        <p:spPr>
          <a:xfrm>
            <a:off x="1371600" y="4754880"/>
            <a:ext cx="15544800" cy="2286000"/>
          </a:xfrm>
          <a:prstGeom prst="rect">
            <a:avLst/>
          </a:prstGeom>
          <a:noFill/>
        </p:spPr>
        <p:txBody>
          <a:bodyPr wrap="square" anchor="t" lIns="0" rIns="0" tIns="0" bIns="0">
            <a:spAutoFit/>
          </a:bodyPr>
          <a:lstStyle/>
          <a:p>
            <a:pPr algn="ctr">
              <a:lnSpc>
                <a:spcPct val="110000"/>
              </a:lnSpc>
            </a:pPr>
            <a:r>
              <a:rPr sz="7800" b="1" i="0">
                <a:solidFill>
                  <a:srgbClr val="FFFFFF"/>
                </a:solidFill>
                <a:latin typeface="Plus Jakarta Sans"/>
              </a:rPr>
              <a:t>Es donde el gobierno aprende</a:t>
            </a:r>
          </a:p>
        </p:txBody>
      </p:sp>
      <p:sp>
        <p:nvSpPr>
          <p:cNvPr id="5" name="TextBox 4"/>
          <p:cNvSpPr txBox="1"/>
          <p:nvPr/>
        </p:nvSpPr>
        <p:spPr>
          <a:xfrm>
            <a:off x="1371600" y="7315200"/>
            <a:ext cx="15544800" cy="1097280"/>
          </a:xfrm>
          <a:prstGeom prst="rect">
            <a:avLst/>
          </a:prstGeom>
          <a:noFill/>
        </p:spPr>
        <p:txBody>
          <a:bodyPr wrap="square" anchor="t" lIns="0" rIns="0" tIns="0" bIns="0">
            <a:spAutoFit/>
          </a:bodyPr>
          <a:lstStyle/>
          <a:p>
            <a:pPr algn="ctr">
              <a:lnSpc>
                <a:spcPct val="115000"/>
              </a:lnSpc>
            </a:pPr>
            <a:r>
              <a:rPr sz="3000" b="0" i="0">
                <a:solidFill>
                  <a:srgbClr val="FFFFFF"/>
                </a:solidFill>
                <a:latin typeface="Plus Jakarta Sans"/>
              </a:rPr>
              <a:t>a operar SovraGov.</a:t>
            </a:r>
          </a:p>
        </p:txBody>
      </p:sp>
      <p:sp>
        <p:nvSpPr>
          <p:cNvPr id="6" name="TextBox 5"/>
          <p:cNvSpPr txBox="1"/>
          <p:nvPr/>
        </p:nvSpPr>
        <p:spPr>
          <a:xfrm>
            <a:off x="13716000" y="9829800"/>
            <a:ext cx="4389120" cy="365760"/>
          </a:xfrm>
          <a:prstGeom prst="rect">
            <a:avLst/>
          </a:prstGeom>
          <a:noFill/>
        </p:spPr>
        <p:txBody>
          <a:bodyPr wrap="none">
            <a:spAutoFit/>
          </a:bodyPr>
          <a:lstStyle/>
          <a:p>
            <a:pPr algn="r"/>
            <a:r>
              <a:rPr sz="1000">
                <a:solidFill>
                  <a:srgbClr val="CCE5FF"/>
                </a:solidFill>
                <a:latin typeface="Figtree"/>
              </a:rPr>
              <a:t>Sovra Partners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