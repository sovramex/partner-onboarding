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10287000" cx="18288000"/>
  <p:notesSz cx="6858000" cy="9144000"/>
  <p:embeddedFontLst>
    <p:embeddedFont>
      <p:font typeface="Inter"/>
      <p:regular r:id="rId12"/>
      <p:bold r:id="rId13"/>
      <p:italic r:id="rId14"/>
      <p:boldItalic r:id="rId15"/>
    </p:embeddedFont>
    <p:embeddedFont>
      <p:font typeface="Inter Medium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-bold.fntdata"/><Relationship Id="rId12" Type="http://schemas.openxmlformats.org/officeDocument/2006/relationships/font" Target="fonts/Inter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boldItalic.fntdata"/><Relationship Id="rId14" Type="http://schemas.openxmlformats.org/officeDocument/2006/relationships/font" Target="fonts/Inter-italic.fntdata"/><Relationship Id="rId17" Type="http://schemas.openxmlformats.org/officeDocument/2006/relationships/font" Target="fonts/InterMedium-bold.fntdata"/><Relationship Id="rId16" Type="http://schemas.openxmlformats.org/officeDocument/2006/relationships/font" Target="fonts/InterMedium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Medium-boldItalic.fntdata"/><Relationship Id="rId6" Type="http://schemas.openxmlformats.org/officeDocument/2006/relationships/slide" Target="slides/slide1.xml"/><Relationship Id="rId18" Type="http://schemas.openxmlformats.org/officeDocument/2006/relationships/font" Target="fonts/Inter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18.8s · 47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cuarta reunión es la Reunión Técnica. Obligatoria, una hora y media a dos, con los técnicos de ambos lados. El especialista técnico del partner y el técnico del gobierno se sientan a alinear todo lo que viene. El coordinador puede asistir, pero no lidera esta reunión.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5.2s · 13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objetivo es dejar acordado, por escrito, cómo se conectan los dos mundos.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26.4s · 66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agenda cubre seis puntos. La arquitectura de la plataforma a alto nivel. La seguridad y los backups. Las APIs disponibles y dónde está su documentación. Las integraciones acordadas, que incluyen el proveedor de identidad del gobierno, los pagos y las consultas a bases de datos del gobierno. El plan técnico con responsables y timeline. Y el estado del dominio que se pidió en Fase A.</a:t>
            </a:r>
            <a:endParaRPr/>
          </a:p>
        </p:txBody>
      </p:sp>
      <p:sp>
        <p:nvSpPr>
          <p:cNvPr id="103" name="Google Shape;103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20.0s · 50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 reunión deja cuatro entregables, todos documentados. El plan técnico, con cada integración asignada a un responsable y con fecha. Las APIs documentadas y compartidas con el técnico del gobierno. El estado del dominio verificado, no asumido. Y los accesos técnicos al sandbox y a la documentación, entregados al gobierno.</a:t>
            </a:r>
            <a:endParaRPr/>
          </a:p>
        </p:txBody>
      </p:sp>
      <p:sp>
        <p:nvSpPr>
          <p:cNvPr id="129" name="Google Shape;12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21.6s · 54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Una cosa que conviene mirar de cerca: si el técnico del gobierno no aparece o aparece tarde, esto es un indicador temprano de problemas. La Reunión Técnica es donde se ve si hay técnico real o solo en el organigrama. Si no aparece, escalas al coordinador en la misma semana, no en la siguiente.</a:t>
            </a:r>
            <a:endParaRPr/>
          </a:p>
        </p:txBody>
      </p:sp>
      <p:sp>
        <p:nvSpPr>
          <p:cNvPr id="149" name="Google Shape;149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10.0s · 25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Reunión Técnica revela si la integración va a ser un trabajo conjunto o una pelea. Mejor saberlo en semana cinco que en semana ocho.</a:t>
            </a:r>
            <a:endParaRPr/>
          </a:p>
        </p:txBody>
      </p:sp>
      <p:sp>
        <p:nvSpPr>
          <p:cNvPr id="164" name="Google Shape;16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rPr>
              <a:t>FASE B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La Reunión Técnica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51634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Obligatoria · 1.5 a 2 horas · técnicos de ambos lados. El coordinador puede asistir, pero no lidera.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371600" y="762000"/>
            <a:ext cx="1554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rPr>
              <a:t>EL OBJETIVO</a:t>
            </a:r>
            <a:endParaRPr b="1" sz="1800">
              <a:solidFill>
                <a:srgbClr val="7C3AED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371600" y="1524000"/>
            <a:ext cx="11430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92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Acuerdo escrito de conexión técnica</a:t>
            </a:r>
            <a:endParaRPr b="1" sz="592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97" name="Google Shape;97;p14"/>
          <p:cNvGrpSpPr/>
          <p:nvPr/>
        </p:nvGrpSpPr>
        <p:grpSpPr>
          <a:xfrm>
            <a:off x="1371600" y="4381500"/>
            <a:ext cx="15544800" cy="1524000"/>
            <a:chOff x="1371600" y="8001000"/>
            <a:chExt cx="15544800" cy="1524000"/>
          </a:xfrm>
        </p:grpSpPr>
        <p:sp>
          <p:nvSpPr>
            <p:cNvPr id="98" name="Google Shape;98;p14"/>
            <p:cNvSpPr/>
            <p:nvPr/>
          </p:nvSpPr>
          <p:spPr>
            <a:xfrm>
              <a:off x="1371600" y="8001000"/>
              <a:ext cx="15544800" cy="1524000"/>
            </a:xfrm>
            <a:prstGeom prst="roundRect">
              <a:avLst>
                <a:gd fmla="val 100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4"/>
            <p:cNvSpPr txBox="1"/>
            <p:nvPr/>
          </p:nvSpPr>
          <p:spPr>
            <a:xfrm>
              <a:off x="1752600" y="8001000"/>
              <a:ext cx="147828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 especialista técnico del partner y el técnico del gobierno se sientan a </a:t>
              </a:r>
              <a:r>
                <a:rPr b="1" lang="en-US" sz="26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alinear todo lo que viene</a:t>
              </a:r>
              <a:r>
                <a:rPr b="0" lang="en-US" sz="2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2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1371600" y="762000"/>
            <a:ext cx="15544800" cy="80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Agenda: Seis puntos clave</a:t>
            </a:r>
            <a:endParaRPr b="1" i="0" sz="52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7" name="Google Shape;107;p15"/>
          <p:cNvGrpSpPr/>
          <p:nvPr/>
        </p:nvGrpSpPr>
        <p:grpSpPr>
          <a:xfrm>
            <a:off x="1371600" y="2286000"/>
            <a:ext cx="7143900" cy="1333500"/>
            <a:chOff x="1371600" y="2286000"/>
            <a:chExt cx="7143900" cy="1333500"/>
          </a:xfrm>
        </p:grpSpPr>
        <p:sp>
          <p:nvSpPr>
            <p:cNvPr id="108" name="Google Shape;108;p15"/>
            <p:cNvSpPr/>
            <p:nvPr/>
          </p:nvSpPr>
          <p:spPr>
            <a:xfrm>
              <a:off x="1371600" y="2286000"/>
              <a:ext cx="7143900" cy="1333500"/>
            </a:xfrm>
            <a:prstGeom prst="roundRect">
              <a:avLst>
                <a:gd fmla="val 11428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1752600" y="2286000"/>
              <a:ext cx="63819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01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Arquitectura de la plataforma a alto nivel.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10" name="Google Shape;110;p15"/>
          <p:cNvGrpSpPr/>
          <p:nvPr/>
        </p:nvGrpSpPr>
        <p:grpSpPr>
          <a:xfrm>
            <a:off x="9772650" y="2286000"/>
            <a:ext cx="7143900" cy="1333500"/>
            <a:chOff x="9772650" y="2286000"/>
            <a:chExt cx="7143900" cy="1333500"/>
          </a:xfrm>
        </p:grpSpPr>
        <p:sp>
          <p:nvSpPr>
            <p:cNvPr id="111" name="Google Shape;111;p15"/>
            <p:cNvSpPr/>
            <p:nvPr/>
          </p:nvSpPr>
          <p:spPr>
            <a:xfrm>
              <a:off x="9772650" y="2286000"/>
              <a:ext cx="7143900" cy="1333500"/>
            </a:xfrm>
            <a:prstGeom prst="roundRect">
              <a:avLst>
                <a:gd fmla="val 11428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5"/>
            <p:cNvSpPr txBox="1"/>
            <p:nvPr/>
          </p:nvSpPr>
          <p:spPr>
            <a:xfrm>
              <a:off x="10153650" y="2286000"/>
              <a:ext cx="63819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02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Seguridad y backups.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13" name="Google Shape;113;p15"/>
          <p:cNvGrpSpPr/>
          <p:nvPr/>
        </p:nvGrpSpPr>
        <p:grpSpPr>
          <a:xfrm>
            <a:off x="1371600" y="4000500"/>
            <a:ext cx="7143900" cy="1333500"/>
            <a:chOff x="1371600" y="4000500"/>
            <a:chExt cx="7143900" cy="1333500"/>
          </a:xfrm>
        </p:grpSpPr>
        <p:sp>
          <p:nvSpPr>
            <p:cNvPr id="114" name="Google Shape;114;p15"/>
            <p:cNvSpPr/>
            <p:nvPr/>
          </p:nvSpPr>
          <p:spPr>
            <a:xfrm>
              <a:off x="1371600" y="4000500"/>
              <a:ext cx="7143900" cy="1333500"/>
            </a:xfrm>
            <a:prstGeom prst="roundRect">
              <a:avLst>
                <a:gd fmla="val 11428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5"/>
            <p:cNvSpPr txBox="1"/>
            <p:nvPr/>
          </p:nvSpPr>
          <p:spPr>
            <a:xfrm>
              <a:off x="1752600" y="4000500"/>
              <a:ext cx="63819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03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APIs disponibles y documentación.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16" name="Google Shape;116;p15"/>
          <p:cNvGrpSpPr/>
          <p:nvPr/>
        </p:nvGrpSpPr>
        <p:grpSpPr>
          <a:xfrm>
            <a:off x="9772650" y="4000500"/>
            <a:ext cx="7143900" cy="1333500"/>
            <a:chOff x="9772650" y="4000500"/>
            <a:chExt cx="7143900" cy="1333500"/>
          </a:xfrm>
        </p:grpSpPr>
        <p:sp>
          <p:nvSpPr>
            <p:cNvPr id="117" name="Google Shape;117;p15"/>
            <p:cNvSpPr/>
            <p:nvPr/>
          </p:nvSpPr>
          <p:spPr>
            <a:xfrm>
              <a:off x="9772650" y="4000500"/>
              <a:ext cx="7143900" cy="1333500"/>
            </a:xfrm>
            <a:prstGeom prst="roundRect">
              <a:avLst>
                <a:gd fmla="val 11428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10153650" y="4000500"/>
              <a:ext cx="63819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04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Integraciones: IDP, pagos, bases.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19" name="Google Shape;119;p15"/>
          <p:cNvGrpSpPr/>
          <p:nvPr/>
        </p:nvGrpSpPr>
        <p:grpSpPr>
          <a:xfrm>
            <a:off x="1371600" y="5715000"/>
            <a:ext cx="7143900" cy="1333500"/>
            <a:chOff x="1371600" y="5715000"/>
            <a:chExt cx="7143900" cy="1333500"/>
          </a:xfrm>
        </p:grpSpPr>
        <p:sp>
          <p:nvSpPr>
            <p:cNvPr id="120" name="Google Shape;120;p15"/>
            <p:cNvSpPr/>
            <p:nvPr/>
          </p:nvSpPr>
          <p:spPr>
            <a:xfrm>
              <a:off x="1371600" y="5715000"/>
              <a:ext cx="7143900" cy="1333500"/>
            </a:xfrm>
            <a:prstGeom prst="roundRect">
              <a:avLst>
                <a:gd fmla="val 11428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5"/>
            <p:cNvSpPr txBox="1"/>
            <p:nvPr/>
          </p:nvSpPr>
          <p:spPr>
            <a:xfrm>
              <a:off x="1752600" y="5715000"/>
              <a:ext cx="63819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05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Plan técnico, responsables y timeline.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22" name="Google Shape;122;p15"/>
          <p:cNvGrpSpPr/>
          <p:nvPr/>
        </p:nvGrpSpPr>
        <p:grpSpPr>
          <a:xfrm>
            <a:off x="9772650" y="5715000"/>
            <a:ext cx="7143900" cy="1333500"/>
            <a:chOff x="9772650" y="5715000"/>
            <a:chExt cx="7143900" cy="1333500"/>
          </a:xfrm>
        </p:grpSpPr>
        <p:sp>
          <p:nvSpPr>
            <p:cNvPr id="123" name="Google Shape;123;p15"/>
            <p:cNvSpPr/>
            <p:nvPr/>
          </p:nvSpPr>
          <p:spPr>
            <a:xfrm>
              <a:off x="9772650" y="5715000"/>
              <a:ext cx="7143900" cy="1333500"/>
            </a:xfrm>
            <a:prstGeom prst="roundRect">
              <a:avLst>
                <a:gd fmla="val 11428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5"/>
            <p:cNvSpPr txBox="1"/>
            <p:nvPr/>
          </p:nvSpPr>
          <p:spPr>
            <a:xfrm>
              <a:off x="10153650" y="5715000"/>
              <a:ext cx="63819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06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Estado del dominio de Fase A.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sp>
        <p:nvSpPr>
          <p:cNvPr id="125" name="Google Shape;125;p15"/>
          <p:cNvSpPr txBox="1"/>
          <p:nvPr/>
        </p:nvSpPr>
        <p:spPr>
          <a:xfrm>
            <a:off x="1752600" y="8096250"/>
            <a:ext cx="147828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Esta agenda garantiza que todos los aspectos críticos de la integración técnica sean revisados y acordados.</a:t>
            </a:r>
            <a:endParaRPr sz="1800">
              <a:solidFill>
                <a:srgbClr val="88888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1371600" y="762000"/>
            <a:ext cx="155448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Cuatro entregables, todos documentados</a:t>
            </a:r>
            <a:endParaRPr b="1" i="0" sz="52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33" name="Google Shape;133;p16"/>
          <p:cNvGrpSpPr/>
          <p:nvPr/>
        </p:nvGrpSpPr>
        <p:grpSpPr>
          <a:xfrm>
            <a:off x="1371600" y="2476500"/>
            <a:ext cx="7429500" cy="1905000"/>
            <a:chOff x="1371600" y="2476500"/>
            <a:chExt cx="7429500" cy="1905000"/>
          </a:xfrm>
        </p:grpSpPr>
        <p:sp>
          <p:nvSpPr>
            <p:cNvPr id="134" name="Google Shape;134;p16"/>
            <p:cNvSpPr/>
            <p:nvPr/>
          </p:nvSpPr>
          <p:spPr>
            <a:xfrm>
              <a:off x="1371600" y="2476500"/>
              <a:ext cx="7429500" cy="1905000"/>
            </a:xfrm>
            <a:prstGeom prst="roundRect">
              <a:avLst>
                <a:gd fmla="val 80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16"/>
            <p:cNvSpPr txBox="1"/>
            <p:nvPr/>
          </p:nvSpPr>
          <p:spPr>
            <a:xfrm>
              <a:off x="1752600" y="2667000"/>
              <a:ext cx="6667500" cy="1524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01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Plan técnico con integraciones, responsables y fechas.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36" name="Google Shape;136;p16"/>
          <p:cNvGrpSpPr/>
          <p:nvPr/>
        </p:nvGrpSpPr>
        <p:grpSpPr>
          <a:xfrm>
            <a:off x="9486900" y="2476500"/>
            <a:ext cx="7429500" cy="1905000"/>
            <a:chOff x="9486900" y="2476500"/>
            <a:chExt cx="7429500" cy="1905000"/>
          </a:xfrm>
        </p:grpSpPr>
        <p:sp>
          <p:nvSpPr>
            <p:cNvPr id="137" name="Google Shape;137;p16"/>
            <p:cNvSpPr/>
            <p:nvPr/>
          </p:nvSpPr>
          <p:spPr>
            <a:xfrm>
              <a:off x="9486900" y="2476500"/>
              <a:ext cx="7429500" cy="1905000"/>
            </a:xfrm>
            <a:prstGeom prst="roundRect">
              <a:avLst>
                <a:gd fmla="val 80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9867900" y="2667000"/>
              <a:ext cx="6667500" cy="1524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02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APIs documentadas y compartidas con el técnico del gobierno.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39" name="Google Shape;139;p16"/>
          <p:cNvGrpSpPr/>
          <p:nvPr/>
        </p:nvGrpSpPr>
        <p:grpSpPr>
          <a:xfrm>
            <a:off x="1371600" y="4762500"/>
            <a:ext cx="7429500" cy="1905000"/>
            <a:chOff x="1371600" y="4762500"/>
            <a:chExt cx="7429500" cy="1905000"/>
          </a:xfrm>
        </p:grpSpPr>
        <p:sp>
          <p:nvSpPr>
            <p:cNvPr id="140" name="Google Shape;140;p16"/>
            <p:cNvSpPr/>
            <p:nvPr/>
          </p:nvSpPr>
          <p:spPr>
            <a:xfrm>
              <a:off x="1371600" y="4762500"/>
              <a:ext cx="7429500" cy="1905000"/>
            </a:xfrm>
            <a:prstGeom prst="roundRect">
              <a:avLst>
                <a:gd fmla="val 80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16"/>
            <p:cNvSpPr txBox="1"/>
            <p:nvPr/>
          </p:nvSpPr>
          <p:spPr>
            <a:xfrm>
              <a:off x="1752600" y="4953000"/>
              <a:ext cx="6667500" cy="1524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03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Estado del dominio verificado, no asumido.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142" name="Google Shape;142;p16"/>
          <p:cNvGrpSpPr/>
          <p:nvPr/>
        </p:nvGrpSpPr>
        <p:grpSpPr>
          <a:xfrm>
            <a:off x="9486900" y="4762500"/>
            <a:ext cx="7429500" cy="1905000"/>
            <a:chOff x="9486900" y="4762500"/>
            <a:chExt cx="7429500" cy="1905000"/>
          </a:xfrm>
        </p:grpSpPr>
        <p:sp>
          <p:nvSpPr>
            <p:cNvPr id="143" name="Google Shape;143;p16"/>
            <p:cNvSpPr/>
            <p:nvPr/>
          </p:nvSpPr>
          <p:spPr>
            <a:xfrm>
              <a:off x="9486900" y="4762500"/>
              <a:ext cx="7429500" cy="1905000"/>
            </a:xfrm>
            <a:prstGeom prst="roundRect">
              <a:avLst>
                <a:gd fmla="val 8000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6"/>
            <p:cNvSpPr txBox="1"/>
            <p:nvPr/>
          </p:nvSpPr>
          <p:spPr>
            <a:xfrm>
              <a:off x="9867900" y="4953000"/>
              <a:ext cx="6667500" cy="1524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04</a:t>
              </a:r>
              <a:endParaRPr b="1" sz="14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A091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Accesos técnicos al sandbox y documentación entregados.</a:t>
              </a:r>
              <a:endParaRPr b="0" sz="2200">
                <a:solidFill>
                  <a:srgbClr val="0A0915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sp>
        <p:nvSpPr>
          <p:cNvPr id="145" name="Google Shape;145;p16"/>
          <p:cNvSpPr txBox="1"/>
          <p:nvPr/>
        </p:nvSpPr>
        <p:spPr>
          <a:xfrm>
            <a:off x="1371600" y="7620000"/>
            <a:ext cx="155448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La documentación exhaustiva garantiza la transparencia y el éxito de la integración a largo plazo.</a:t>
            </a:r>
            <a:endParaRPr b="0" i="0" sz="1800">
              <a:solidFill>
                <a:srgbClr val="88888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2" name="Google Shape;152;p17"/>
          <p:cNvGrpSpPr/>
          <p:nvPr/>
        </p:nvGrpSpPr>
        <p:grpSpPr>
          <a:xfrm>
            <a:off x="1371600" y="762000"/>
            <a:ext cx="15544800" cy="2000400"/>
            <a:chOff x="1371600" y="762000"/>
            <a:chExt cx="15544800" cy="2000400"/>
          </a:xfrm>
        </p:grpSpPr>
        <p:sp>
          <p:nvSpPr>
            <p:cNvPr id="153" name="Google Shape;153;p17"/>
            <p:cNvSpPr txBox="1"/>
            <p:nvPr/>
          </p:nvSpPr>
          <p:spPr>
            <a:xfrm>
              <a:off x="1371600" y="762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INDICADOR TEMPRANO</a:t>
              </a:r>
              <a:endParaRPr b="1" sz="1800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1371600" y="1333500"/>
              <a:ext cx="155448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42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Si el técnico del gobierno no aparece o aparece tarde</a:t>
              </a:r>
              <a:endParaRPr b="1" sz="442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" name="Google Shape;155;p17"/>
          <p:cNvGrpSpPr/>
          <p:nvPr/>
        </p:nvGrpSpPr>
        <p:grpSpPr>
          <a:xfrm>
            <a:off x="1371600" y="3238500"/>
            <a:ext cx="15544800" cy="3429000"/>
            <a:chOff x="1371600" y="3238500"/>
            <a:chExt cx="15544800" cy="3429000"/>
          </a:xfrm>
        </p:grpSpPr>
        <p:sp>
          <p:nvSpPr>
            <p:cNvPr id="156" name="Google Shape;156;p17"/>
            <p:cNvSpPr/>
            <p:nvPr/>
          </p:nvSpPr>
          <p:spPr>
            <a:xfrm>
              <a:off x="1371600" y="3238500"/>
              <a:ext cx="15544800" cy="3429000"/>
            </a:xfrm>
            <a:prstGeom prst="roundRect">
              <a:avLst>
                <a:gd fmla="val 6666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7" name="Google Shape;157;p17"/>
            <p:cNvGrpSpPr/>
            <p:nvPr/>
          </p:nvGrpSpPr>
          <p:grpSpPr>
            <a:xfrm>
              <a:off x="1905000" y="3619500"/>
              <a:ext cx="14478000" cy="2667000"/>
              <a:chOff x="1905000" y="3619500"/>
              <a:chExt cx="14478000" cy="26670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1905000" y="3689604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800">
                    <a:solidFill>
                      <a:srgbClr val="7C3AED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</a:t>
                </a:r>
                <a:endParaRPr sz="4800">
                  <a:solidFill>
                    <a:srgbClr val="7C3AED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2857500" y="3619500"/>
                <a:ext cx="135255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800">
                    <a:solidFill>
                      <a:srgbClr val="0A0915"/>
                    </a:solidFill>
                    <a:latin typeface="Inter"/>
                    <a:ea typeface="Inter"/>
                    <a:cs typeface="Inter"/>
                    <a:sym typeface="Inter"/>
                  </a:rPr>
                  <a:t>La Reunión Técnica es donde se ve si hay técnico real o solo en el organigrama.</a:t>
                </a:r>
                <a:endParaRPr b="0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7C3AED"/>
                    </a:solidFill>
                    <a:latin typeface="Inter"/>
                    <a:ea typeface="Inter"/>
                    <a:cs typeface="Inter"/>
                    <a:sym typeface="Inter"/>
                  </a:rPr>
                  <a:t>Si no aparece, escalas al coordinador en la misma semana, no en la siguiente.</a:t>
                </a:r>
                <a:endParaRPr b="1" sz="2800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160" name="Google Shape;160;p17"/>
          <p:cNvSpPr txBox="1"/>
          <p:nvPr/>
        </p:nvSpPr>
        <p:spPr>
          <a:xfrm>
            <a:off x="1371600" y="7429500"/>
            <a:ext cx="155448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Actuar rápido en esta fase previene retrasos críticos en el cronograma de integración.</a:t>
            </a:r>
            <a:endParaRPr b="0" sz="2000">
              <a:solidFill>
                <a:srgbClr val="88888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1371600" y="2861525"/>
            <a:ext cx="1554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 Reunión Técnica revela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1371600" y="3882905"/>
            <a:ext cx="15544800" cy="25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 la integración va a ser un trabajo conjunto o una pelea.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1371600" y="6778975"/>
            <a:ext cx="1554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Mejor saberlo en semana 5 que en semana 8.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