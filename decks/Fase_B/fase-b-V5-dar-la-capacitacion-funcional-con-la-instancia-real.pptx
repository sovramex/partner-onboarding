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10.0s · 25 palabras]</a:t>
            </a:r>
          </a:p>
          <a:p/>
          <a:p>
            <a:r>
              <a:t>La segunda reunión es la Capacitación Funcional. Obligatoria, entre tres y cuatro horas, con el especialista funcional, el coordinador y el técnico del gobierno presentes.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24.4s · 61 palabras]</a:t>
            </a:r>
          </a:p>
          <a:p/>
          <a:p>
            <a:r>
              <a:t>Esta es la reunión donde el gobierno deja de mirar diapositivas y empieza a tocar la plataforma. El objetivo no es que escuchen una presentación. Es que el especialista funcional opere la instancia real con sus propias manos. Si terminás la reunión y el especialista no abrió la plataforma, fallaste el objetivo, no importa qué tan completa haya sido tu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21.2s · 53 palabras]</a:t>
            </a:r>
          </a:p>
          <a:p/>
          <a:p>
            <a:r>
              <a:t>La agenda cubre el recorrido completo. Landing y guía de trámites. Catálogos y configuración. El módulo de trámites con sus formularios, etapas y flujos. Inspecciones y citas. Pagos y notificaciones. Registro e identidad. Y, antes de cerrar, la entrega de accesos a la instancia y de los manuales para todo el equipo core.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23.6s · 59 palabras]</a:t>
            </a:r>
          </a:p>
          <a:p/>
          <a:p>
            <a:r>
              <a:t>Hay un tip que vale más que la agenda. Capacitá con la instancia real, no con diapositivas. Las diapositivas sirven para dar contexto al principio, pero si el especialista funcional no toca la plataforma, no retiene nada. Esto es learning by doing, literal. Una sesión donde el partner habla cuatro horas y el gobierno escucha es una sesión perdida.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19.6s · 49 palabras]</a:t>
            </a:r>
          </a:p>
          <a:p/>
          <a:p>
            <a:r>
              <a:t>Los entregables son específicos. El especialista funcional navega la plataforma sin ayuda. Los accesos quedan entregados a cada miembro del equipo core. Los manuales quedan compartidos. Y se arma una lista de dudas funcionales para resolver en las sesiones siguientes, porque no todo se cierra en una sola reunión.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9.6s · 24 palabras]</a:t>
            </a:r>
          </a:p>
          <a:p/>
          <a:p>
            <a:r>
              <a:t>Una capacitación funcional sin instancia es una conferencia. La capacitación funcional con la instancia abierta es la única que se sostiene en el tiempo.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7C3AED"/>
                </a:solidFill>
                <a:latin typeface="Figtree"/>
              </a:rPr>
              <a:t>FASE B</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La Capacitación</a:t>
            </a:r>
          </a:p>
          <a:p>
            <a:pPr algn="l">
              <a:lnSpc>
                <a:spcPct val="110000"/>
              </a:lnSpc>
            </a:pPr>
            <a:r>
              <a:rPr sz="8000" b="1" i="0">
                <a:solidFill>
                  <a:srgbClr val="0A0915"/>
                </a:solidFill>
                <a:latin typeface="Plus Jakarta Sans"/>
              </a:rPr>
              <a:t>Funcional.</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Obligatoria · 3 a 4 horas · especialista funcional, coordinador y técnico del gobierno.</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7C3AED"/>
                </a:solidFill>
                <a:latin typeface="Figtree"/>
              </a:rPr>
              <a:t>El objetivo</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El especialista funcional</a:t>
            </a:r>
          </a:p>
          <a:p>
            <a:pPr algn="ctr">
              <a:lnSpc>
                <a:spcPct val="115000"/>
              </a:lnSpc>
            </a:pPr>
            <a:r>
              <a:rPr sz="5600" b="1" i="0">
                <a:solidFill>
                  <a:srgbClr val="0A0915"/>
                </a:solidFill>
                <a:latin typeface="Plus Jakarta Sans"/>
              </a:rPr>
              <a:t>opera la instancia real.</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Esta es la reunión donde el gobierno deja de mirar diapositivas y empieza a tocar la plataforma. Si terminas la reunión y el especialista no abrió la plataforma, fallaste el objetivo.</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La agenda cubre el recorrido completo.</a:t>
            </a:r>
          </a:p>
        </p:txBody>
      </p:sp>
      <p:sp>
        <p:nvSpPr>
          <p:cNvPr id="3" name="Rounded Rectangle 2"/>
          <p:cNvSpPr/>
          <p:nvPr/>
        </p:nvSpPr>
        <p:spPr>
          <a:xfrm>
            <a:off x="1371600" y="3886200"/>
            <a:ext cx="22860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Landing y guía de trámites.</a:t>
            </a:r>
          </a:p>
        </p:txBody>
      </p:sp>
      <p:sp>
        <p:nvSpPr>
          <p:cNvPr id="5" name="Rounded Rectangle 4"/>
          <p:cNvSpPr/>
          <p:nvPr/>
        </p:nvSpPr>
        <p:spPr>
          <a:xfrm>
            <a:off x="1371600" y="4709160"/>
            <a:ext cx="22860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Catálogos y configuración.</a:t>
            </a:r>
          </a:p>
        </p:txBody>
      </p:sp>
      <p:sp>
        <p:nvSpPr>
          <p:cNvPr id="7" name="Rounded Rectangle 6"/>
          <p:cNvSpPr/>
          <p:nvPr/>
        </p:nvSpPr>
        <p:spPr>
          <a:xfrm>
            <a:off x="1371600" y="5532120"/>
            <a:ext cx="22860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Módulo de trámites con formularios, etapas y flujos.</a:t>
            </a:r>
          </a:p>
        </p:txBody>
      </p:sp>
      <p:sp>
        <p:nvSpPr>
          <p:cNvPr id="9" name="Rounded Rectangle 8"/>
          <p:cNvSpPr/>
          <p:nvPr/>
        </p:nvSpPr>
        <p:spPr>
          <a:xfrm>
            <a:off x="1371600" y="6355080"/>
            <a:ext cx="22860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612648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Inspecciones y citas. Pagos y notificaciones.</a:t>
            </a:r>
          </a:p>
        </p:txBody>
      </p:sp>
      <p:sp>
        <p:nvSpPr>
          <p:cNvPr id="11" name="Rounded Rectangle 10"/>
          <p:cNvSpPr/>
          <p:nvPr/>
        </p:nvSpPr>
        <p:spPr>
          <a:xfrm>
            <a:off x="1371600" y="7178040"/>
            <a:ext cx="22860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694944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Registro e identidad.</a:t>
            </a:r>
          </a:p>
        </p:txBody>
      </p:sp>
      <p:sp>
        <p:nvSpPr>
          <p:cNvPr id="13" name="Rounded Rectangle 12"/>
          <p:cNvSpPr/>
          <p:nvPr/>
        </p:nvSpPr>
        <p:spPr>
          <a:xfrm>
            <a:off x="1371600" y="8001000"/>
            <a:ext cx="22860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0" y="77724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Entrega de accesos a la instancia y manuales al equipo core.</a:t>
            </a:r>
          </a:p>
        </p:txBody>
      </p:sp>
      <p:sp>
        <p:nvSpPr>
          <p:cNvPr id="15" name="TextBox 1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2286000"/>
          </a:xfrm>
          <a:prstGeom prst="rect">
            <a:avLst/>
          </a:prstGeom>
          <a:noFill/>
        </p:spPr>
        <p:txBody>
          <a:bodyPr wrap="square" anchor="t" lIns="0" rIns="0" tIns="0" bIns="0">
            <a:spAutoFit/>
          </a:bodyPr>
          <a:lstStyle/>
          <a:p>
            <a:pPr algn="ctr">
              <a:lnSpc>
                <a:spcPct val="110000"/>
              </a:lnSpc>
            </a:pPr>
            <a:r>
              <a:rPr sz="4600" b="1" i="0">
                <a:solidFill>
                  <a:srgbClr val="0A0915"/>
                </a:solidFill>
                <a:latin typeface="Plus Jakarta Sans"/>
              </a:rPr>
              <a:t>El tip que vale más que la agenda.</a:t>
            </a:r>
          </a:p>
        </p:txBody>
      </p:sp>
      <p:sp>
        <p:nvSpPr>
          <p:cNvPr id="3" name="Rounded Rectangle 2"/>
          <p:cNvSpPr/>
          <p:nvPr/>
        </p:nvSpPr>
        <p:spPr>
          <a:xfrm>
            <a:off x="1828800" y="4754880"/>
            <a:ext cx="6400800" cy="4114800"/>
          </a:xfrm>
          <a:prstGeom prst="roundRect">
            <a:avLst/>
          </a:prstGeom>
          <a:solidFill>
            <a:srgbClr val="FEF2F2"/>
          </a:solidFill>
          <a:ln w="12700">
            <a:solidFill>
              <a:srgbClr val="FE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5120640"/>
            <a:ext cx="914400" cy="1097280"/>
          </a:xfrm>
          <a:prstGeom prst="rect">
            <a:avLst/>
          </a:prstGeom>
          <a:noFill/>
        </p:spPr>
        <p:txBody>
          <a:bodyPr wrap="square" anchor="t" lIns="0" rIns="0" tIns="0" bIns="0">
            <a:spAutoFit/>
          </a:bodyPr>
          <a:lstStyle/>
          <a:p>
            <a:pPr algn="l">
              <a:lnSpc>
                <a:spcPct val="115000"/>
              </a:lnSpc>
            </a:pPr>
            <a:r>
              <a:rPr sz="3600" b="1" i="0">
                <a:solidFill>
                  <a:srgbClr val="DC2626"/>
                </a:solidFill>
                <a:latin typeface="Plus Jakarta Sans"/>
              </a:rPr>
              <a:t>✗</a:t>
            </a:r>
          </a:p>
        </p:txBody>
      </p:sp>
      <p:sp>
        <p:nvSpPr>
          <p:cNvPr id="5" name="TextBox 4"/>
          <p:cNvSpPr txBox="1"/>
          <p:nvPr/>
        </p:nvSpPr>
        <p:spPr>
          <a:xfrm>
            <a:off x="2286000" y="6217920"/>
            <a:ext cx="5486400" cy="1371600"/>
          </a:xfrm>
          <a:prstGeom prst="rect">
            <a:avLst/>
          </a:prstGeom>
          <a:noFill/>
        </p:spPr>
        <p:txBody>
          <a:bodyPr wrap="square" anchor="t" lIns="0" rIns="0" tIns="0" bIns="0">
            <a:spAutoFit/>
          </a:bodyPr>
          <a:lstStyle/>
          <a:p>
            <a:pPr algn="l">
              <a:lnSpc>
                <a:spcPct val="115000"/>
              </a:lnSpc>
            </a:pPr>
            <a:r>
              <a:rPr sz="3000" b="1" i="0">
                <a:solidFill>
                  <a:srgbClr val="0A0915"/>
                </a:solidFill>
                <a:latin typeface="Plus Jakarta Sans"/>
              </a:rPr>
              <a:t>Cuatro horas hablando</a:t>
            </a:r>
          </a:p>
        </p:txBody>
      </p:sp>
      <p:sp>
        <p:nvSpPr>
          <p:cNvPr id="6" name="TextBox 5"/>
          <p:cNvSpPr txBox="1"/>
          <p:nvPr/>
        </p:nvSpPr>
        <p:spPr>
          <a:xfrm>
            <a:off x="2286000" y="7315200"/>
            <a:ext cx="5486400" cy="1371600"/>
          </a:xfrm>
          <a:prstGeom prst="rect">
            <a:avLst/>
          </a:prstGeom>
          <a:noFill/>
        </p:spPr>
        <p:txBody>
          <a:bodyPr wrap="square" anchor="t" lIns="0" rIns="0" tIns="0" bIns="0">
            <a:spAutoFit/>
          </a:bodyPr>
          <a:lstStyle/>
          <a:p>
            <a:pPr algn="l">
              <a:lnSpc>
                <a:spcPct val="140000"/>
              </a:lnSpc>
            </a:pPr>
            <a:r>
              <a:rPr sz="1800" b="0" i="0">
                <a:solidFill>
                  <a:srgbClr val="888888"/>
                </a:solidFill>
                <a:latin typeface="Figtree"/>
              </a:rPr>
              <a:t>El partner presenta diapositivas, el gobierno escucha.</a:t>
            </a:r>
          </a:p>
          <a:p>
            <a:pPr algn="l">
              <a:lnSpc>
                <a:spcPct val="140000"/>
              </a:lnSpc>
            </a:pPr>
            <a:r>
              <a:rPr sz="1800" b="0" i="0">
                <a:solidFill>
                  <a:srgbClr val="888888"/>
                </a:solidFill>
                <a:latin typeface="Figtree"/>
              </a:rPr>
              <a:t>Una sesión perdida.</a:t>
            </a:r>
          </a:p>
        </p:txBody>
      </p:sp>
      <p:sp>
        <p:nvSpPr>
          <p:cNvPr id="7" name="Rounded Rectangle 6"/>
          <p:cNvSpPr/>
          <p:nvPr/>
        </p:nvSpPr>
        <p:spPr>
          <a:xfrm>
            <a:off x="10058400" y="4754880"/>
            <a:ext cx="6400800" cy="4114800"/>
          </a:xfrm>
          <a:prstGeom prst="round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0" y="5120640"/>
            <a:ext cx="914400" cy="1097280"/>
          </a:xfrm>
          <a:prstGeom prst="rect">
            <a:avLst/>
          </a:prstGeom>
          <a:noFill/>
        </p:spPr>
        <p:txBody>
          <a:bodyPr wrap="square" anchor="t" lIns="0" rIns="0" tIns="0" bIns="0">
            <a:spAutoFit/>
          </a:bodyPr>
          <a:lstStyle/>
          <a:p>
            <a:pPr algn="l">
              <a:lnSpc>
                <a:spcPct val="115000"/>
              </a:lnSpc>
            </a:pPr>
            <a:r>
              <a:rPr sz="3600" b="1" i="0">
                <a:solidFill>
                  <a:srgbClr val="10B981"/>
                </a:solidFill>
                <a:latin typeface="Plus Jakarta Sans"/>
              </a:rPr>
              <a:t>✓</a:t>
            </a:r>
          </a:p>
        </p:txBody>
      </p:sp>
      <p:sp>
        <p:nvSpPr>
          <p:cNvPr id="9" name="TextBox 8"/>
          <p:cNvSpPr txBox="1"/>
          <p:nvPr/>
        </p:nvSpPr>
        <p:spPr>
          <a:xfrm>
            <a:off x="10515600" y="6217920"/>
            <a:ext cx="5486400" cy="1371600"/>
          </a:xfrm>
          <a:prstGeom prst="rect">
            <a:avLst/>
          </a:prstGeom>
          <a:noFill/>
        </p:spPr>
        <p:txBody>
          <a:bodyPr wrap="square" anchor="t" lIns="0" rIns="0" tIns="0" bIns="0">
            <a:spAutoFit/>
          </a:bodyPr>
          <a:lstStyle/>
          <a:p>
            <a:pPr algn="l">
              <a:lnSpc>
                <a:spcPct val="115000"/>
              </a:lnSpc>
            </a:pPr>
            <a:r>
              <a:rPr sz="3000" b="1" i="0">
                <a:solidFill>
                  <a:srgbClr val="0A0915"/>
                </a:solidFill>
                <a:latin typeface="Plus Jakarta Sans"/>
              </a:rPr>
              <a:t>Manos en la plataforma</a:t>
            </a:r>
          </a:p>
        </p:txBody>
      </p:sp>
      <p:sp>
        <p:nvSpPr>
          <p:cNvPr id="10" name="TextBox 9"/>
          <p:cNvSpPr txBox="1"/>
          <p:nvPr/>
        </p:nvSpPr>
        <p:spPr>
          <a:xfrm>
            <a:off x="10515600" y="7315200"/>
            <a:ext cx="5486400" cy="1371600"/>
          </a:xfrm>
          <a:prstGeom prst="rect">
            <a:avLst/>
          </a:prstGeom>
          <a:noFill/>
        </p:spPr>
        <p:txBody>
          <a:bodyPr wrap="square" anchor="t" lIns="0" rIns="0" tIns="0" bIns="0">
            <a:spAutoFit/>
          </a:bodyPr>
          <a:lstStyle/>
          <a:p>
            <a:pPr algn="l">
              <a:lnSpc>
                <a:spcPct val="140000"/>
              </a:lnSpc>
            </a:pPr>
            <a:r>
              <a:rPr sz="1800" b="0" i="0">
                <a:solidFill>
                  <a:srgbClr val="888888"/>
                </a:solidFill>
                <a:latin typeface="Figtree"/>
              </a:rPr>
              <a:t>Diapositivas para contexto al inicio. El resto, instancia real.</a:t>
            </a:r>
          </a:p>
          <a:p>
            <a:pPr algn="l">
              <a:lnSpc>
                <a:spcPct val="140000"/>
              </a:lnSpc>
            </a:pPr>
            <a:r>
              <a:rPr sz="1800" b="0" i="0">
                <a:solidFill>
                  <a:srgbClr val="888888"/>
                </a:solidFill>
                <a:latin typeface="Figtree"/>
              </a:rPr>
              <a:t>Learning by doing, literal.</a:t>
            </a:r>
          </a:p>
        </p:txBody>
      </p:sp>
      <p:sp>
        <p:nvSpPr>
          <p:cNvPr id="11" name="TextBox 10"/>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Los entregables son específicos.</a:t>
            </a:r>
          </a:p>
        </p:txBody>
      </p:sp>
      <p:sp>
        <p:nvSpPr>
          <p:cNvPr id="3" name="Rounded Rectangle 2"/>
          <p:cNvSpPr/>
          <p:nvPr/>
        </p:nvSpPr>
        <p:spPr>
          <a:xfrm>
            <a:off x="1371600" y="3886200"/>
            <a:ext cx="22860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El especialista funcional navega la plataforma sin ayuda.</a:t>
            </a:r>
          </a:p>
        </p:txBody>
      </p:sp>
      <p:sp>
        <p:nvSpPr>
          <p:cNvPr id="5" name="Rounded Rectangle 4"/>
          <p:cNvSpPr/>
          <p:nvPr/>
        </p:nvSpPr>
        <p:spPr>
          <a:xfrm>
            <a:off x="1371600" y="4709160"/>
            <a:ext cx="22860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Los accesos quedan entregados a cada miembro del equipo core.</a:t>
            </a:r>
          </a:p>
        </p:txBody>
      </p:sp>
      <p:sp>
        <p:nvSpPr>
          <p:cNvPr id="7" name="Rounded Rectangle 6"/>
          <p:cNvSpPr/>
          <p:nvPr/>
        </p:nvSpPr>
        <p:spPr>
          <a:xfrm>
            <a:off x="1371600" y="5532120"/>
            <a:ext cx="22860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Los manuales quedan compartidos.</a:t>
            </a:r>
          </a:p>
        </p:txBody>
      </p:sp>
      <p:sp>
        <p:nvSpPr>
          <p:cNvPr id="9" name="Rounded Rectangle 8"/>
          <p:cNvSpPr/>
          <p:nvPr/>
        </p:nvSpPr>
        <p:spPr>
          <a:xfrm>
            <a:off x="1371600" y="6355080"/>
            <a:ext cx="22860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612648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Lista de dudas funcionales para resolver en sesiones siguientes.</a:t>
            </a:r>
          </a:p>
        </p:txBody>
      </p:sp>
      <p:sp>
        <p:nvSpPr>
          <p:cNvPr id="11" name="TextBox 10"/>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Una capacitación funcional sin instancia</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es una conferencia.</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Solo la que se hace con la instancia abierta se sostiene.</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