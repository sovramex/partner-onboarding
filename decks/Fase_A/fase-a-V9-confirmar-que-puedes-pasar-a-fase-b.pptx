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11.2s · 28 palabras]</a:t>
            </a:r>
          </a:p>
          <a:p/>
          <a:p>
            <a:r>
              <a:t>Antes de cerrar la Fase A, hay una verificación que tienes que hacer. Es un checklist de nueve puntos y todos tienen que estar en verde para avanzar.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26.0s · 65 palabras]</a:t>
            </a:r>
          </a:p>
          <a:p/>
          <a:p>
            <a:r>
              <a:t>Los cinco roles del gobierno están asignados con nombre. Tu equipo tiene líder y técnico asignados. Los canales de comunicación están definidos y activos: qué canal para qué tema, qué urgencia esperar. El documento de requisitos ya está en manos del gobierno. El alcance del contrato está revisado y todos entienden qué se incluye y qué no. El plan de trabajo está presentado y aceptado.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13.6s · 34 palabras]</a:t>
            </a:r>
          </a:p>
          <a:p/>
          <a:p>
            <a:r>
              <a:t>El dominio está solicitado a TI con deadline a fin de la semana dos. Las próximas reuniones están agendadas. Y los roles están verificados y vigentes, tanto del lado del partner como del gobierno.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10.4s · 26 palabras]</a:t>
            </a:r>
          </a:p>
          <a:p/>
          <a:p>
            <a:r>
              <a:t>Si te falta uno de estos nueve, no avanzas. No casi todos están listos. No lo cerramos en paralelo. Te quedas en Fase A hasta resolverlo.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20.8s · 52 palabras]</a:t>
            </a:r>
          </a:p>
          <a:p/>
          <a:p>
            <a:r>
              <a:t>Hay una pieza más que tienes que tener en marcha desde la primera reunión de seguimiento: la minuta. Después de cada reunión, tu obligación es enviar al gobierno una minuta con copia a Sovra. El formato es simple: qué se acordó, qué quedó pendiente, quién es responsable, cuándo es la próxima fecha.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14.8s · 37 palabras]</a:t>
            </a:r>
          </a:p>
          <a:p/>
          <a:p>
            <a:r>
              <a:t>Sin minuta, no hay evidencia de avance. Y en proyectos con gobierno, la evidencia escrita es lo que te protege cuando las versiones empiezan a diferir. La minuta no es burocracia: es tu herramienta principal de gestión.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[Duración estimada: 9.6s · 24 palabras]</a:t>
            </a:r>
          </a:p>
          <a:p/>
          <a:p>
            <a:r>
              <a:t>No se avanza a Fase B con el checklist a medias. Cada item incompleto es un problema esperando a aparecer en una fase posterior.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2286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0077CC"/>
                </a:solidFill>
                <a:latin typeface="Figtree"/>
              </a:rPr>
              <a:t>FASE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15544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000" b="1" i="0">
                <a:solidFill>
                  <a:srgbClr val="0A0915"/>
                </a:solidFill>
                <a:latin typeface="Plus Jakarta Sans"/>
              </a:rPr>
              <a:t>Confirmar que puedes</a:t>
            </a:r>
          </a:p>
          <a:p>
            <a:pPr algn="l">
              <a:lnSpc>
                <a:spcPct val="110000"/>
              </a:lnSpc>
            </a:pPr>
            <a:r>
              <a:rPr sz="8000" b="1" i="0">
                <a:solidFill>
                  <a:srgbClr val="0A0915"/>
                </a:solidFill>
                <a:latin typeface="Plus Jakarta Sans"/>
              </a:rPr>
              <a:t>pasar a Fase 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77240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888888"/>
                </a:solidFill>
                <a:latin typeface="Figtree"/>
              </a:rPr>
              <a:t>Checklist de nueve puntos. Todos tienen que estar en verde.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15544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0A0915"/>
                </a:solidFill>
                <a:latin typeface="Plus Jakarta Sans"/>
              </a:rPr>
              <a:t>Los nueve puntos del checklist.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3886200"/>
            <a:ext cx="228600" cy="228600"/>
          </a:xfrm>
          <a:prstGeom prst="round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Los cinco roles del gobierno asignados con nombre.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709160"/>
            <a:ext cx="228600" cy="228600"/>
          </a:xfrm>
          <a:prstGeom prst="round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48056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Tu equipo con líder y técnico asignados.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5532120"/>
            <a:ext cx="228600" cy="228600"/>
          </a:xfrm>
          <a:prstGeom prst="round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530352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Canales de comunicación definidos y activos.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6355080"/>
            <a:ext cx="228600" cy="228600"/>
          </a:xfrm>
          <a:prstGeom prst="round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612648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Documento de requisitos en manos del gobierno.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7178040"/>
            <a:ext cx="228600" cy="228600"/>
          </a:xfrm>
          <a:prstGeom prst="round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0" y="694944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Alcance del contrato revisado y entendido por todos.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1600" y="8001000"/>
            <a:ext cx="228600" cy="228600"/>
          </a:xfrm>
          <a:prstGeom prst="round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777240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Plan de trabajo presentado y aceptado.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371600"/>
            <a:ext cx="15544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 i="0">
                <a:solidFill>
                  <a:srgbClr val="0A0915"/>
                </a:solidFill>
                <a:latin typeface="Plus Jakarta Sans"/>
              </a:rPr>
              <a:t>Y los tres últimos.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3886200"/>
            <a:ext cx="228600" cy="228600"/>
          </a:xfrm>
          <a:prstGeom prst="round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365760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Dominio solicitado a TI con deadline a fin de semana dos.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4709160"/>
            <a:ext cx="228600" cy="228600"/>
          </a:xfrm>
          <a:prstGeom prst="round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48056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Próximas reuniones agendadas.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5532120"/>
            <a:ext cx="228600" cy="228600"/>
          </a:xfrm>
          <a:prstGeom prst="round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5303520"/>
            <a:ext cx="1508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0A0915"/>
                </a:solidFill>
                <a:latin typeface="Figtree"/>
              </a:rPr>
              <a:t>Roles verificados y vigentes, partner y gobierno.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77CC"/>
                </a:solidFill>
                <a:latin typeface="Figtree"/>
              </a:rPr>
              <a:t>Regla de decisión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0A0915"/>
                </a:solidFill>
                <a:latin typeface="Plus Jakarta Sans"/>
              </a:rPr>
              <a:t>Si te falta uno, no avanzas.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6858000"/>
            <a:ext cx="1463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400" b="0" i="0">
                <a:solidFill>
                  <a:srgbClr val="0A0915"/>
                </a:solidFill>
                <a:latin typeface="Figtree"/>
              </a:rPr>
              <a:t>No "casi todos están listos." No "lo cerramos en paralelo." Te quedas en Fase A hasta resolverlo.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15544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 i="0">
                <a:solidFill>
                  <a:srgbClr val="0077CC"/>
                </a:solidFill>
                <a:latin typeface="Figtree"/>
              </a:rPr>
              <a:t>Una pieza más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0A0915"/>
                </a:solidFill>
                <a:latin typeface="Plus Jakarta Sans"/>
              </a:rPr>
              <a:t>La minuta después de cada reunión.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6858000"/>
            <a:ext cx="146304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2400" b="0" i="0">
                <a:solidFill>
                  <a:srgbClr val="0A0915"/>
                </a:solidFill>
                <a:latin typeface="Figtree"/>
              </a:rPr>
              <a:t>Al gobierno, con copia a Sovra. Formato simple: qué se acordó, qué quedó pendiente, quién es responsable, cuándo es la próxima fecha.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0" y="1371600"/>
            <a:ext cx="27432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0" b="1" i="0">
                <a:solidFill>
                  <a:srgbClr val="0077CC"/>
                </a:solidFill>
                <a:latin typeface="Plus Jakarta Sans"/>
              </a:rPr>
              <a:t>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4114800"/>
            <a:ext cx="155448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0A0915"/>
                </a:solidFill>
                <a:latin typeface="Plus Jakarta Sans"/>
              </a:rPr>
              <a:t>Sin minuta, no hay evidencia de avance.</a:t>
            </a:r>
          </a:p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0A0915"/>
                </a:solidFill>
                <a:latin typeface="Plus Jakarta Sans"/>
              </a:rPr>
              <a:t>Y en proyectos con gobierno,</a:t>
            </a:r>
          </a:p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0A0915"/>
                </a:solidFill>
                <a:latin typeface="Plus Jakarta Sans"/>
              </a:rPr>
              <a:t>la evidencia escrita es lo que te protege</a:t>
            </a:r>
          </a:p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0A0915"/>
                </a:solidFill>
                <a:latin typeface="Plus Jakarta Sans"/>
              </a:rPr>
              <a:t>cuando las versiones empiezan a diferir.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888888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7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3200400"/>
            <a:ext cx="15544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4200" b="0" i="0">
                <a:solidFill>
                  <a:srgbClr val="FFFFFF"/>
                </a:solidFill>
                <a:latin typeface="Plus Jakarta Sans"/>
              </a:rPr>
              <a:t>No se avanza a Fase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754880"/>
            <a:ext cx="155448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7800" b="1" i="0">
                <a:solidFill>
                  <a:srgbClr val="FFFFFF"/>
                </a:solidFill>
                <a:latin typeface="Plus Jakarta Sans"/>
              </a:rPr>
              <a:t>con el checklist a medias.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7315200"/>
            <a:ext cx="15544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 i="0">
                <a:solidFill>
                  <a:srgbClr val="FFFFFF"/>
                </a:solidFill>
                <a:latin typeface="Plus Jakarta Sans"/>
              </a:rPr>
              <a:t>Cada item incompleto es un problema esperando a aparecer después.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0" y="9829800"/>
            <a:ext cx="4389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CCE5FF"/>
                </a:solidFill>
                <a:latin typeface="Figtree"/>
              </a:rPr>
              <a:t>Sovra Partners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