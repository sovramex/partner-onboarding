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Inter SemiBold"/>
      <p:regular r:id="rId13"/>
      <p:bold r:id="rId14"/>
      <p:italic r:id="rId15"/>
      <p:boldItalic r:id="rId16"/>
    </p:embeddedFont>
    <p:embeddedFont>
      <p:font typeface="Inter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SemiBold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SemiBold-italic.fntdata"/><Relationship Id="rId14" Type="http://schemas.openxmlformats.org/officeDocument/2006/relationships/font" Target="fonts/InterSemiBold-bold.fntdata"/><Relationship Id="rId17" Type="http://schemas.openxmlformats.org/officeDocument/2006/relationships/font" Target="fonts/Inter-regular.fntdata"/><Relationship Id="rId16" Type="http://schemas.openxmlformats.org/officeDocument/2006/relationships/font" Target="fonts/InterSemiBold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italic.fntdata"/><Relationship Id="rId6" Type="http://schemas.openxmlformats.org/officeDocument/2006/relationships/slide" Target="slides/slide1.xml"/><Relationship Id="rId18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11.2s · 28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Antes de cerrar la Fase A, hay una verificación que tienes que hacer. Es un checklist de nueve puntos y todos tienen que estar en verde para avanzar.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26.0s · 65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Los cinco roles del gobierno están asignados con nombre. Tu equipo tiene líder y técnico asignados. Los canales de comunicación están definidos y activos: qué canal para qué tema, qué urgencia esperar. El documento de requisitos ya está en manos del gobierno. El alcance del contrato está revisado y todos entienden qué se incluye y qué no. El plan de trabajo está presentado y aceptado.</a:t>
            </a:r>
            <a:endParaRPr/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13.6s · 34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dominio está solicitado a TI con deadline a fin de la semana dos. Las próximas reuniones están agendadas. Y los roles están verificados y vigentes, tanto del lado del partner como del gobierno.</a:t>
            </a:r>
            <a:endParaRPr/>
          </a:p>
        </p:txBody>
      </p:sp>
      <p:sp>
        <p:nvSpPr>
          <p:cNvPr id="120" name="Google Shape;12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10.4s · 26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 te falta uno de estos nueve, no avanzas. No casi todos están listos. No lo cerramos en paralelo. Te quedas en Fase A hasta resolverlo.</a:t>
            </a:r>
            <a:endParaRPr/>
          </a:p>
        </p:txBody>
      </p:sp>
      <p:sp>
        <p:nvSpPr>
          <p:cNvPr id="139" name="Google Shape;13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20.8s · 52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Hay una pieza más que tienes que tener en marcha desde la primera reunión de seguimiento: la minuta. Después de cada reunión, tu obligación es enviar al gobierno una minuta con copia a Sovra. El formato es simple: qué se acordó, qué quedó pendiente, quién es responsable, cuándo es la próxima fecha.</a:t>
            </a:r>
            <a:endParaRPr/>
          </a:p>
        </p:txBody>
      </p:sp>
      <p:sp>
        <p:nvSpPr>
          <p:cNvPr id="162" name="Google Shape;16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14.8s · 37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Sin minuta, no hay evidencia de avance. Y en proyectos con gobierno, la evidencia escrita es lo que te protege cuando las versiones empiezan a diferir. La minuta no es burocracia: es tu herramienta principal de gestión.</a:t>
            </a:r>
            <a:endParaRPr/>
          </a:p>
        </p:txBody>
      </p:sp>
      <p:sp>
        <p:nvSpPr>
          <p:cNvPr id="179" name="Google Shape;17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9.6s · 24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se avanza a Fase B con el checklist a medias. Cada item incompleto es un problema esperando a aparecer en una fase posterior.</a:t>
            </a:r>
            <a:endParaRPr/>
          </a:p>
        </p:txBody>
      </p:sp>
      <p:sp>
        <p:nvSpPr>
          <p:cNvPr id="186" name="Google Shape;18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077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371600" y="3200400"/>
            <a:ext cx="1554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7CC"/>
                </a:solidFill>
                <a:latin typeface="Inter"/>
                <a:ea typeface="Inter"/>
                <a:cs typeface="Inter"/>
                <a:sym typeface="Inter"/>
              </a:rPr>
              <a:t>FASE 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71600" y="3840480"/>
            <a:ext cx="155448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Confirmar que puedes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pasar a Fase B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371600" y="6517900"/>
            <a:ext cx="1554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Checklist de nueve puntos. Todos tienen que estar en verde.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371600" y="762000"/>
            <a:ext cx="15544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7CC"/>
                </a:solidFill>
                <a:latin typeface="Inter"/>
                <a:ea typeface="Inter"/>
                <a:cs typeface="Inter"/>
                <a:sym typeface="Inter"/>
              </a:rPr>
              <a:t>Checklist de Fase A</a:t>
            </a:r>
            <a:endParaRPr b="1" sz="1800">
              <a:solidFill>
                <a:srgbClr val="0077C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Los puntos críticos del proyecto</a:t>
            </a:r>
            <a:endParaRPr b="1" sz="480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6" name="Google Shape;96;p14"/>
          <p:cNvGrpSpPr/>
          <p:nvPr/>
        </p:nvGrpSpPr>
        <p:grpSpPr>
          <a:xfrm>
            <a:off x="1371600" y="2286000"/>
            <a:ext cx="4953000" cy="2286000"/>
            <a:chOff x="1371600" y="2286000"/>
            <a:chExt cx="4953000" cy="2286000"/>
          </a:xfrm>
        </p:grpSpPr>
        <p:sp>
          <p:nvSpPr>
            <p:cNvPr id="97" name="Google Shape;97;p14"/>
            <p:cNvSpPr/>
            <p:nvPr/>
          </p:nvSpPr>
          <p:spPr>
            <a:xfrm>
              <a:off x="1371600" y="2286000"/>
              <a:ext cx="49530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1657350" y="2571750"/>
              <a:ext cx="4381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77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</a:t>
              </a:r>
              <a:endParaRPr sz="3200">
                <a:solidFill>
                  <a:srgbClr val="0077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Roles del Gobierno</a:t>
              </a:r>
              <a:endParaRPr b="1" sz="16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Cinco roles asignados con nombre y apellido.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9" name="Google Shape;99;p14"/>
          <p:cNvGrpSpPr/>
          <p:nvPr/>
        </p:nvGrpSpPr>
        <p:grpSpPr>
          <a:xfrm>
            <a:off x="6667500" y="2286000"/>
            <a:ext cx="4953000" cy="2286000"/>
            <a:chOff x="6667500" y="2286000"/>
            <a:chExt cx="4953000" cy="2286000"/>
          </a:xfrm>
        </p:grpSpPr>
        <p:sp>
          <p:nvSpPr>
            <p:cNvPr id="100" name="Google Shape;100;p14"/>
            <p:cNvSpPr/>
            <p:nvPr/>
          </p:nvSpPr>
          <p:spPr>
            <a:xfrm>
              <a:off x="6667500" y="2286000"/>
              <a:ext cx="49530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6953250" y="2571750"/>
              <a:ext cx="4381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77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</a:t>
              </a:r>
              <a:endParaRPr sz="3200">
                <a:solidFill>
                  <a:srgbClr val="0077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Equipo Interno</a:t>
              </a:r>
              <a:endParaRPr b="1" sz="16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Líder y técnico asignados y listos para ejecutar.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2" name="Google Shape;102;p14"/>
          <p:cNvGrpSpPr/>
          <p:nvPr/>
        </p:nvGrpSpPr>
        <p:grpSpPr>
          <a:xfrm>
            <a:off x="11963400" y="2286000"/>
            <a:ext cx="4953000" cy="2286000"/>
            <a:chOff x="11963400" y="2286000"/>
            <a:chExt cx="4953000" cy="2286000"/>
          </a:xfrm>
        </p:grpSpPr>
        <p:sp>
          <p:nvSpPr>
            <p:cNvPr id="103" name="Google Shape;103;p14"/>
            <p:cNvSpPr/>
            <p:nvPr/>
          </p:nvSpPr>
          <p:spPr>
            <a:xfrm>
              <a:off x="11963400" y="2286000"/>
              <a:ext cx="49530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12249150" y="2571750"/>
              <a:ext cx="4381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77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</a:t>
              </a:r>
              <a:endParaRPr sz="3200">
                <a:solidFill>
                  <a:srgbClr val="0077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Canales de Comunicación</a:t>
              </a:r>
              <a:endParaRPr b="1" sz="16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Canales definidos, activos y conocidos por todos.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1371600" y="4953000"/>
            <a:ext cx="4953000" cy="2286000"/>
            <a:chOff x="1371600" y="4953000"/>
            <a:chExt cx="4953000" cy="2286000"/>
          </a:xfrm>
        </p:grpSpPr>
        <p:sp>
          <p:nvSpPr>
            <p:cNvPr id="106" name="Google Shape;106;p14"/>
            <p:cNvSpPr/>
            <p:nvPr/>
          </p:nvSpPr>
          <p:spPr>
            <a:xfrm>
              <a:off x="1371600" y="4953000"/>
              <a:ext cx="49530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1657350" y="5238750"/>
              <a:ext cx="4381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77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</a:t>
              </a:r>
              <a:endParaRPr sz="3200">
                <a:solidFill>
                  <a:srgbClr val="0077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Requisitos</a:t>
              </a:r>
              <a:endParaRPr b="1" sz="16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Documento entregado formalmente al gobierno.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8" name="Google Shape;108;p14"/>
          <p:cNvGrpSpPr/>
          <p:nvPr/>
        </p:nvGrpSpPr>
        <p:grpSpPr>
          <a:xfrm>
            <a:off x="6667500" y="4953000"/>
            <a:ext cx="4953000" cy="2286000"/>
            <a:chOff x="6667500" y="4953000"/>
            <a:chExt cx="4953000" cy="2286000"/>
          </a:xfrm>
        </p:grpSpPr>
        <p:sp>
          <p:nvSpPr>
            <p:cNvPr id="109" name="Google Shape;109;p14"/>
            <p:cNvSpPr/>
            <p:nvPr/>
          </p:nvSpPr>
          <p:spPr>
            <a:xfrm>
              <a:off x="6667500" y="4953000"/>
              <a:ext cx="49530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6953250" y="5238750"/>
              <a:ext cx="4381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77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</a:t>
              </a:r>
              <a:endParaRPr sz="3200">
                <a:solidFill>
                  <a:srgbClr val="0077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Alcance del Contrato</a:t>
              </a:r>
              <a:endParaRPr b="1" sz="16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Revisado, entendido y validado por todas las partes.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1" name="Google Shape;111;p14"/>
          <p:cNvGrpSpPr/>
          <p:nvPr/>
        </p:nvGrpSpPr>
        <p:grpSpPr>
          <a:xfrm>
            <a:off x="11963400" y="4953000"/>
            <a:ext cx="4953000" cy="2286000"/>
            <a:chOff x="11963400" y="4953000"/>
            <a:chExt cx="4953000" cy="2286000"/>
          </a:xfrm>
        </p:grpSpPr>
        <p:sp>
          <p:nvSpPr>
            <p:cNvPr id="112" name="Google Shape;112;p14"/>
            <p:cNvSpPr/>
            <p:nvPr/>
          </p:nvSpPr>
          <p:spPr>
            <a:xfrm>
              <a:off x="11963400" y="4953000"/>
              <a:ext cx="49530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4"/>
            <p:cNvSpPr txBox="1"/>
            <p:nvPr/>
          </p:nvSpPr>
          <p:spPr>
            <a:xfrm>
              <a:off x="12249150" y="5238750"/>
              <a:ext cx="4381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77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</a:t>
              </a:r>
              <a:endParaRPr sz="3200">
                <a:solidFill>
                  <a:srgbClr val="0077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Plan de Trabajo</a:t>
              </a:r>
              <a:endParaRPr b="1" sz="16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Cronograma presentado y aceptado oficialmente.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4" name="Google Shape;114;p14"/>
          <p:cNvGrpSpPr/>
          <p:nvPr/>
        </p:nvGrpSpPr>
        <p:grpSpPr>
          <a:xfrm>
            <a:off x="1371600" y="7810500"/>
            <a:ext cx="15544800" cy="952500"/>
            <a:chOff x="1371600" y="7810500"/>
            <a:chExt cx="15544800" cy="952500"/>
          </a:xfrm>
        </p:grpSpPr>
        <p:sp>
          <p:nvSpPr>
            <p:cNvPr id="115" name="Google Shape;115;p14"/>
            <p:cNvSpPr/>
            <p:nvPr/>
          </p:nvSpPr>
          <p:spPr>
            <a:xfrm>
              <a:off x="1371600" y="7810500"/>
              <a:ext cx="15544800" cy="952500"/>
            </a:xfrm>
            <a:prstGeom prst="roundRect">
              <a:avLst>
                <a:gd fmla="val 12000" name="adj"/>
              </a:avLst>
            </a:prstGeom>
            <a:solidFill>
              <a:srgbClr val="0077CC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4"/>
            <p:cNvSpPr txBox="1"/>
            <p:nvPr/>
          </p:nvSpPr>
          <p:spPr>
            <a:xfrm>
              <a:off x="1657350" y="7810500"/>
              <a:ext cx="14973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077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Nota: Estos son 6 de los 9 puntos necesarios para avanzar a la Fase B.</a:t>
              </a:r>
              <a:endParaRPr b="0" sz="1800">
                <a:solidFill>
                  <a:srgbClr val="0077C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p15"/>
          <p:cNvGrpSpPr/>
          <p:nvPr/>
        </p:nvGrpSpPr>
        <p:grpSpPr>
          <a:xfrm>
            <a:off x="1371600" y="2286000"/>
            <a:ext cx="4953000" cy="3810000"/>
            <a:chOff x="1371600" y="2286000"/>
            <a:chExt cx="4953000" cy="3810000"/>
          </a:xfrm>
        </p:grpSpPr>
        <p:sp>
          <p:nvSpPr>
            <p:cNvPr id="124" name="Google Shape;124;p15"/>
            <p:cNvSpPr/>
            <p:nvPr/>
          </p:nvSpPr>
          <p:spPr>
            <a:xfrm>
              <a:off x="1371600" y="2286000"/>
              <a:ext cx="4953000" cy="3810000"/>
            </a:xfrm>
            <a:prstGeom prst="roundRect">
              <a:avLst>
                <a:gd fmla="val 30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1657350" y="2571750"/>
              <a:ext cx="4381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0077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</a:t>
              </a:r>
              <a:endParaRPr sz="4800">
                <a:solidFill>
                  <a:srgbClr val="0077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Dominio</a:t>
              </a:r>
              <a:endParaRPr b="1" sz="20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Solicitado a TI con deadline a fin de semana dos.</a:t>
              </a:r>
              <a:endParaRPr b="0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6" name="Google Shape;126;p15"/>
          <p:cNvGrpSpPr/>
          <p:nvPr/>
        </p:nvGrpSpPr>
        <p:grpSpPr>
          <a:xfrm>
            <a:off x="6667500" y="2286000"/>
            <a:ext cx="4953000" cy="3810000"/>
            <a:chOff x="6667500" y="2286000"/>
            <a:chExt cx="4953000" cy="3810000"/>
          </a:xfrm>
        </p:grpSpPr>
        <p:sp>
          <p:nvSpPr>
            <p:cNvPr id="127" name="Google Shape;127;p15"/>
            <p:cNvSpPr/>
            <p:nvPr/>
          </p:nvSpPr>
          <p:spPr>
            <a:xfrm>
              <a:off x="6667500" y="2286000"/>
              <a:ext cx="4953000" cy="3810000"/>
            </a:xfrm>
            <a:prstGeom prst="roundRect">
              <a:avLst>
                <a:gd fmla="val 30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5"/>
            <p:cNvSpPr txBox="1"/>
            <p:nvPr/>
          </p:nvSpPr>
          <p:spPr>
            <a:xfrm>
              <a:off x="6953250" y="2571750"/>
              <a:ext cx="4381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0077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</a:t>
              </a:r>
              <a:endParaRPr sz="4800">
                <a:solidFill>
                  <a:srgbClr val="0077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Reuniones</a:t>
              </a:r>
              <a:endParaRPr b="1" sz="20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Próximas sesiones agendadas para el seguimiento.</a:t>
              </a:r>
              <a:endParaRPr b="0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9" name="Google Shape;129;p15"/>
          <p:cNvGrpSpPr/>
          <p:nvPr/>
        </p:nvGrpSpPr>
        <p:grpSpPr>
          <a:xfrm>
            <a:off x="11963400" y="2286000"/>
            <a:ext cx="4953000" cy="3810000"/>
            <a:chOff x="11963400" y="2286000"/>
            <a:chExt cx="4953000" cy="3810000"/>
          </a:xfrm>
        </p:grpSpPr>
        <p:sp>
          <p:nvSpPr>
            <p:cNvPr id="130" name="Google Shape;130;p15"/>
            <p:cNvSpPr/>
            <p:nvPr/>
          </p:nvSpPr>
          <p:spPr>
            <a:xfrm>
              <a:off x="11963400" y="2286000"/>
              <a:ext cx="4953000" cy="3810000"/>
            </a:xfrm>
            <a:prstGeom prst="roundRect">
              <a:avLst>
                <a:gd fmla="val 30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5"/>
            <p:cNvSpPr txBox="1"/>
            <p:nvPr/>
          </p:nvSpPr>
          <p:spPr>
            <a:xfrm>
              <a:off x="12249150" y="2571750"/>
              <a:ext cx="4381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0077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</a:t>
              </a:r>
              <a:endParaRPr sz="4800">
                <a:solidFill>
                  <a:srgbClr val="0077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Roles</a:t>
              </a:r>
              <a:endParaRPr b="1" sz="20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Verificados y vigentes, partner y gobierno.</a:t>
              </a:r>
              <a:endParaRPr b="0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2" name="Google Shape;132;p15"/>
          <p:cNvGrpSpPr/>
          <p:nvPr/>
        </p:nvGrpSpPr>
        <p:grpSpPr>
          <a:xfrm>
            <a:off x="1371600" y="6667500"/>
            <a:ext cx="15544800" cy="952500"/>
            <a:chOff x="1371600" y="6667500"/>
            <a:chExt cx="15544800" cy="952500"/>
          </a:xfrm>
        </p:grpSpPr>
        <p:sp>
          <p:nvSpPr>
            <p:cNvPr id="133" name="Google Shape;133;p15"/>
            <p:cNvSpPr/>
            <p:nvPr/>
          </p:nvSpPr>
          <p:spPr>
            <a:xfrm>
              <a:off x="1371600" y="6667500"/>
              <a:ext cx="15544800" cy="952500"/>
            </a:xfrm>
            <a:prstGeom prst="roundRect">
              <a:avLst>
                <a:gd fmla="val 12000" name="adj"/>
              </a:avLst>
            </a:prstGeom>
            <a:solidFill>
              <a:srgbClr val="0077CC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5"/>
            <p:cNvSpPr txBox="1"/>
            <p:nvPr/>
          </p:nvSpPr>
          <p:spPr>
            <a:xfrm>
              <a:off x="1657350" y="6667500"/>
              <a:ext cx="14973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077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Nota: Con estos 3 puntos completamos los 9 necesarios para avanzar a la Fase B.</a:t>
              </a:r>
              <a:endParaRPr b="0" sz="1800">
                <a:solidFill>
                  <a:srgbClr val="0077C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35" name="Google Shape;135;p15"/>
          <p:cNvSpPr txBox="1"/>
          <p:nvPr/>
        </p:nvSpPr>
        <p:spPr>
          <a:xfrm>
            <a:off x="1371600" y="762000"/>
            <a:ext cx="15544800" cy="101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077CC"/>
                </a:solidFill>
                <a:latin typeface="Inter"/>
                <a:ea typeface="Inter"/>
                <a:cs typeface="Inter"/>
                <a:sym typeface="Inter"/>
              </a:rPr>
              <a:t>Checklist de Fase A</a:t>
            </a:r>
            <a:endParaRPr b="1" i="0" sz="1800">
              <a:solidFill>
                <a:srgbClr val="0077C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Y los tres últimos</a:t>
            </a:r>
            <a:endParaRPr b="1" i="0" sz="1800">
              <a:solidFill>
                <a:srgbClr val="0077C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" name="Google Shape;142;p16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143" name="Google Shape;143;p16"/>
            <p:cNvSpPr/>
            <p:nvPr/>
          </p:nvSpPr>
          <p:spPr>
            <a:xfrm>
              <a:off x="0" y="0"/>
              <a:ext cx="18288000" cy="10287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4" name="Google Shape;144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" name="Google Shape;145;p16"/>
            <p:cNvGrpSpPr/>
            <p:nvPr/>
          </p:nvGrpSpPr>
          <p:grpSpPr>
            <a:xfrm>
              <a:off x="1371600" y="952500"/>
              <a:ext cx="15544800" cy="7905750"/>
              <a:chOff x="1371600" y="952500"/>
              <a:chExt cx="15544800" cy="7905750"/>
            </a:xfrm>
          </p:grpSpPr>
          <p:sp>
            <p:nvSpPr>
              <p:cNvPr id="146" name="Google Shape;146;p16"/>
              <p:cNvSpPr/>
              <p:nvPr/>
            </p:nvSpPr>
            <p:spPr>
              <a:xfrm>
                <a:off x="1371600" y="952500"/>
                <a:ext cx="15544800" cy="571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6"/>
              <p:cNvSpPr txBox="1"/>
              <p:nvPr/>
            </p:nvSpPr>
            <p:spPr>
              <a:xfrm>
                <a:off x="1371600" y="952500"/>
                <a:ext cx="155448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0077CC"/>
                    </a:solidFill>
                    <a:latin typeface="Inter"/>
                    <a:ea typeface="Inter"/>
                    <a:cs typeface="Inter"/>
                    <a:sym typeface="Inter"/>
                  </a:rPr>
                  <a:t>Regla de decisión</a:t>
                </a:r>
                <a:endParaRPr b="1" sz="2000">
                  <a:solidFill>
                    <a:srgbClr val="0077C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" name="Google Shape;148;p16"/>
              <p:cNvSpPr/>
              <p:nvPr/>
            </p:nvSpPr>
            <p:spPr>
              <a:xfrm>
                <a:off x="1371600" y="1524000"/>
                <a:ext cx="15544800" cy="1143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6"/>
              <p:cNvSpPr txBox="1"/>
              <p:nvPr/>
            </p:nvSpPr>
            <p:spPr>
              <a:xfrm>
                <a:off x="1371600" y="1524000"/>
                <a:ext cx="155448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5600">
                    <a:solidFill>
                      <a:srgbClr val="0A0915"/>
                    </a:solidFill>
                    <a:latin typeface="Inter"/>
                    <a:ea typeface="Inter"/>
                    <a:cs typeface="Inter"/>
                    <a:sym typeface="Inter"/>
                  </a:rPr>
                  <a:t>Si te falta uno, no avanzas</a:t>
                </a:r>
                <a:endParaRPr b="1" sz="56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grpSp>
            <p:nvGrpSpPr>
              <p:cNvPr id="150" name="Google Shape;150;p16"/>
              <p:cNvGrpSpPr/>
              <p:nvPr/>
            </p:nvGrpSpPr>
            <p:grpSpPr>
              <a:xfrm>
                <a:off x="1371600" y="3619500"/>
                <a:ext cx="15544800" cy="3810000"/>
                <a:chOff x="1371600" y="3619500"/>
                <a:chExt cx="15544800" cy="3810000"/>
              </a:xfrm>
            </p:grpSpPr>
            <p:sp>
              <p:nvSpPr>
                <p:cNvPr id="151" name="Google Shape;151;p16"/>
                <p:cNvSpPr/>
                <p:nvPr/>
              </p:nvSpPr>
              <p:spPr>
                <a:xfrm>
                  <a:off x="1371600" y="3619500"/>
                  <a:ext cx="15544800" cy="3810000"/>
                </a:xfrm>
                <a:prstGeom prst="roundRect">
                  <a:avLst>
                    <a:gd fmla="val 6000" name="adj"/>
                  </a:avLst>
                </a:prstGeom>
                <a:solidFill>
                  <a:srgbClr val="FFFFFF"/>
                </a:solidFill>
                <a:ln cap="flat" cmpd="sng" w="19050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" name="Google Shape;152;p16"/>
                <p:cNvSpPr/>
                <p:nvPr/>
              </p:nvSpPr>
              <p:spPr>
                <a:xfrm>
                  <a:off x="2324100" y="4572000"/>
                  <a:ext cx="1905000" cy="1905000"/>
                </a:xfrm>
                <a:prstGeom prst="ellipse">
                  <a:avLst/>
                </a:prstGeom>
                <a:solidFill>
                  <a:srgbClr val="EF4444">
                    <a:alpha val="1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" name="Google Shape;153;p16"/>
                <p:cNvSpPr txBox="1"/>
                <p:nvPr/>
              </p:nvSpPr>
              <p:spPr>
                <a:xfrm>
                  <a:off x="2324100" y="4688840"/>
                  <a:ext cx="1905000" cy="1905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000">
                      <a:solidFill>
                        <a:srgbClr val="EF4444"/>
                      </a:solidFill>
                      <a:latin typeface="Material Icons"/>
                      <a:ea typeface="Material Icons"/>
                      <a:cs typeface="Material Icons"/>
                      <a:sym typeface="Material Icons"/>
                    </a:rPr>
                    <a:t></a:t>
                  </a:r>
                  <a:endParaRPr sz="8000">
                    <a:solidFill>
                      <a:srgbClr val="EF444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endParaRPr>
                </a:p>
              </p:txBody>
            </p:sp>
            <p:sp>
              <p:nvSpPr>
                <p:cNvPr id="154" name="Google Shape;154;p16"/>
                <p:cNvSpPr/>
                <p:nvPr/>
              </p:nvSpPr>
              <p:spPr>
                <a:xfrm>
                  <a:off x="4762500" y="4095750"/>
                  <a:ext cx="10477500" cy="28575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5" name="Google Shape;155;p16"/>
                <p:cNvSpPr txBox="1"/>
                <p:nvPr/>
              </p:nvSpPr>
              <p:spPr>
                <a:xfrm>
                  <a:off x="4762500" y="4095750"/>
                  <a:ext cx="10477500" cy="2857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2800">
                      <a:solidFill>
                        <a:srgbClr val="EF4444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Cero tolerancia a la ambigüedad</a:t>
                  </a:r>
                  <a:endParaRPr b="1" sz="2800">
                    <a:solidFill>
                      <a:srgbClr val="EF4444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0" rtl="0" algn="l">
                    <a:spcBef>
                      <a:spcPts val="1500"/>
                    </a:spcBef>
                    <a:spcAft>
                      <a:spcPts val="0"/>
                    </a:spcAft>
                    <a:buNone/>
                  </a:pPr>
                  <a:r>
                    <a:rPr lang="en-US" sz="240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No </a:t>
                  </a:r>
                  <a:r>
                    <a:rPr b="0" lang="en-US" sz="2400">
                      <a:solidFill>
                        <a:srgbClr val="0A0915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"casi todos están listos."</a:t>
                  </a:r>
                  <a:endParaRPr sz="24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0" rtl="0" algn="l">
                    <a:spcBef>
                      <a:spcPts val="750"/>
                    </a:spcBef>
                    <a:spcAft>
                      <a:spcPts val="0"/>
                    </a:spcAft>
                    <a:buNone/>
                  </a:pPr>
                  <a:r>
                    <a:rPr lang="en-US" sz="240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No </a:t>
                  </a:r>
                  <a:r>
                    <a:rPr b="0" lang="en-US" sz="2400">
                      <a:solidFill>
                        <a:srgbClr val="0A0915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"lo cerramos en paralelo."</a:t>
                  </a:r>
                  <a:endParaRPr sz="24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0" rtl="0" algn="l">
                    <a:spcBef>
                      <a:spcPts val="1500"/>
                    </a:spcBef>
                    <a:spcAft>
                      <a:spcPts val="0"/>
                    </a:spcAft>
                    <a:buNone/>
                  </a:pPr>
                  <a:r>
                    <a:rPr b="1" lang="en-US" sz="2400">
                      <a:solidFill>
                        <a:srgbClr val="0077CC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Te quedas en Fase A hasta resolverlo.</a:t>
                  </a:r>
                  <a:endParaRPr b="1" sz="2400">
                    <a:solidFill>
                      <a:srgbClr val="0077CC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156" name="Google Shape;156;p16"/>
              <p:cNvGrpSpPr/>
              <p:nvPr/>
            </p:nvGrpSpPr>
            <p:grpSpPr>
              <a:xfrm>
                <a:off x="1371600" y="8096250"/>
                <a:ext cx="15544800" cy="762000"/>
                <a:chOff x="1371600" y="8096250"/>
                <a:chExt cx="15544800" cy="762000"/>
              </a:xfrm>
            </p:grpSpPr>
            <p:sp>
              <p:nvSpPr>
                <p:cNvPr id="157" name="Google Shape;157;p16"/>
                <p:cNvSpPr/>
                <p:nvPr/>
              </p:nvSpPr>
              <p:spPr>
                <a:xfrm>
                  <a:off x="1371600" y="8096250"/>
                  <a:ext cx="15544800" cy="762000"/>
                </a:xfrm>
                <a:prstGeom prst="roundRect">
                  <a:avLst>
                    <a:gd fmla="val 15000" name="adj"/>
                  </a:avLst>
                </a:prstGeom>
                <a:solidFill>
                  <a:srgbClr val="0077CC">
                    <a:alpha val="5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8" name="Google Shape;158;p16"/>
                <p:cNvSpPr txBox="1"/>
                <p:nvPr/>
              </p:nvSpPr>
              <p:spPr>
                <a:xfrm>
                  <a:off x="1371600" y="8096250"/>
                  <a:ext cx="15544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800">
                      <a:solidFill>
                        <a:srgbClr val="0077CC"/>
                      </a:solidFill>
                      <a:latin typeface="Material Icons"/>
                      <a:ea typeface="Material Icons"/>
                      <a:cs typeface="Material Icons"/>
                      <a:sym typeface="Material Icons"/>
                    </a:rPr>
                    <a:t></a:t>
                  </a:r>
                  <a:r>
                    <a:rPr b="0" lang="en-US" sz="1800">
                      <a:solidFill>
                        <a:srgbClr val="0077CC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La integridad de la Fase A es la única garantía de éxito para la Fase B.</a:t>
                  </a:r>
                  <a:endParaRPr b="0" sz="1800">
                    <a:solidFill>
                      <a:srgbClr val="0077C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5" name="Google Shape;165;p17"/>
          <p:cNvGrpSpPr/>
          <p:nvPr/>
        </p:nvGrpSpPr>
        <p:grpSpPr>
          <a:xfrm>
            <a:off x="1371600" y="952500"/>
            <a:ext cx="15544800" cy="1714500"/>
            <a:chOff x="1371600" y="952500"/>
            <a:chExt cx="15544800" cy="1714500"/>
          </a:xfrm>
        </p:grpSpPr>
        <p:sp>
          <p:nvSpPr>
            <p:cNvPr id="166" name="Google Shape;166;p17"/>
            <p:cNvSpPr txBox="1"/>
            <p:nvPr/>
          </p:nvSpPr>
          <p:spPr>
            <a:xfrm>
              <a:off x="1371600" y="952500"/>
              <a:ext cx="15544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77CC"/>
                  </a:solidFill>
                  <a:latin typeface="Inter"/>
                  <a:ea typeface="Inter"/>
                  <a:cs typeface="Inter"/>
                  <a:sym typeface="Inter"/>
                </a:rPr>
                <a:t>Una pieza más</a:t>
              </a:r>
              <a:endParaRPr b="1" sz="2000">
                <a:solidFill>
                  <a:srgbClr val="0077C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1371600" y="1524000"/>
              <a:ext cx="155448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6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La minuta después de cada reunión</a:t>
              </a:r>
              <a:endParaRPr b="1" sz="56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8" name="Google Shape;168;p17"/>
          <p:cNvGrpSpPr/>
          <p:nvPr/>
        </p:nvGrpSpPr>
        <p:grpSpPr>
          <a:xfrm>
            <a:off x="1371600" y="3238500"/>
            <a:ext cx="15544800" cy="4000500"/>
            <a:chOff x="1371600" y="3238500"/>
            <a:chExt cx="15544800" cy="4000500"/>
          </a:xfrm>
        </p:grpSpPr>
        <p:sp>
          <p:nvSpPr>
            <p:cNvPr id="169" name="Google Shape;169;p17"/>
            <p:cNvSpPr/>
            <p:nvPr/>
          </p:nvSpPr>
          <p:spPr>
            <a:xfrm>
              <a:off x="1371600" y="3238500"/>
              <a:ext cx="15544800" cy="40005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0" name="Google Shape;170;p17"/>
            <p:cNvGrpSpPr/>
            <p:nvPr/>
          </p:nvGrpSpPr>
          <p:grpSpPr>
            <a:xfrm>
              <a:off x="2133600" y="3619500"/>
              <a:ext cx="14058900" cy="3238500"/>
              <a:chOff x="2133600" y="3619500"/>
              <a:chExt cx="14058900" cy="3238500"/>
            </a:xfrm>
          </p:grpSpPr>
          <p:sp>
            <p:nvSpPr>
              <p:cNvPr id="171" name="Google Shape;171;p17"/>
              <p:cNvSpPr txBox="1"/>
              <p:nvPr/>
            </p:nvSpPr>
            <p:spPr>
              <a:xfrm>
                <a:off x="2133600" y="3926840"/>
                <a:ext cx="1143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7400">
                    <a:solidFill>
                      <a:srgbClr val="0077CC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</a:t>
                </a:r>
                <a:endParaRPr b="0" sz="7400">
                  <a:solidFill>
                    <a:srgbClr val="0077CC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72" name="Google Shape;172;p17"/>
              <p:cNvSpPr txBox="1"/>
              <p:nvPr/>
            </p:nvSpPr>
            <p:spPr>
              <a:xfrm>
                <a:off x="3810000" y="3619500"/>
                <a:ext cx="12382500" cy="323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0077CC"/>
                    </a:solidFill>
                    <a:latin typeface="Inter"/>
                    <a:ea typeface="Inter"/>
                    <a:cs typeface="Inter"/>
                    <a:sym typeface="Inter"/>
                  </a:rPr>
                  <a:t>Al gobierno, con copia a Sovra.</a:t>
                </a:r>
                <a:endParaRPr b="0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0" lang="en-US" sz="2400">
                    <a:solidFill>
                      <a:srgbClr val="0A091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Formato simple:</a:t>
                </a:r>
                <a:endParaRPr b="0" sz="2400">
                  <a:solidFill>
                    <a:srgbClr val="0A0915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-381000" lvl="0" marL="457200" rtl="0" algn="l">
                  <a:spcBef>
                    <a:spcPts val="750"/>
                  </a:spcBef>
                  <a:spcAft>
                    <a:spcPts val="0"/>
                  </a:spcAft>
                  <a:buClr>
                    <a:srgbClr val="0A0915"/>
                  </a:buClr>
                  <a:buSzPts val="2400"/>
                  <a:buFont typeface="Inter"/>
                  <a:buChar char="●"/>
                </a:pPr>
                <a:r>
                  <a:rPr b="0" lang="en-US" sz="2400">
                    <a:solidFill>
                      <a:srgbClr val="0A0915"/>
                    </a:solidFill>
                    <a:latin typeface="Inter"/>
                    <a:ea typeface="Inter"/>
                    <a:cs typeface="Inter"/>
                    <a:sym typeface="Inter"/>
                  </a:rPr>
                  <a:t>Qué se acordó</a:t>
                </a:r>
                <a:endParaRPr b="0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810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0A0915"/>
                  </a:buClr>
                  <a:buSzPts val="2400"/>
                  <a:buFont typeface="Inter"/>
                  <a:buChar char="●"/>
                </a:pPr>
                <a:r>
                  <a:rPr b="0" lang="en-US" sz="2400">
                    <a:solidFill>
                      <a:srgbClr val="0A0915"/>
                    </a:solidFill>
                    <a:latin typeface="Inter"/>
                    <a:ea typeface="Inter"/>
                    <a:cs typeface="Inter"/>
                    <a:sym typeface="Inter"/>
                  </a:rPr>
                  <a:t>Qué quedó pendiente</a:t>
                </a:r>
                <a:endParaRPr b="0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810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0A0915"/>
                  </a:buClr>
                  <a:buSzPts val="2400"/>
                  <a:buFont typeface="Inter"/>
                  <a:buChar char="●"/>
                </a:pPr>
                <a:r>
                  <a:rPr b="0" lang="en-US" sz="2400">
                    <a:solidFill>
                      <a:srgbClr val="0A0915"/>
                    </a:solidFill>
                    <a:latin typeface="Inter"/>
                    <a:ea typeface="Inter"/>
                    <a:cs typeface="Inter"/>
                    <a:sym typeface="Inter"/>
                  </a:rPr>
                  <a:t>Quién es responsable</a:t>
                </a:r>
                <a:endParaRPr b="0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810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0A0915"/>
                  </a:buClr>
                  <a:buSzPts val="2400"/>
                  <a:buFont typeface="Inter"/>
                  <a:buChar char="●"/>
                </a:pPr>
                <a:r>
                  <a:rPr b="0" lang="en-US" sz="2400">
                    <a:solidFill>
                      <a:srgbClr val="0A0915"/>
                    </a:solidFill>
                    <a:latin typeface="Inter"/>
                    <a:ea typeface="Inter"/>
                    <a:cs typeface="Inter"/>
                    <a:sym typeface="Inter"/>
                  </a:rPr>
                  <a:t>Cuándo es la próxima fecha</a:t>
                </a:r>
                <a:endParaRPr b="0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73" name="Google Shape;173;p17"/>
          <p:cNvGrpSpPr/>
          <p:nvPr/>
        </p:nvGrpSpPr>
        <p:grpSpPr>
          <a:xfrm>
            <a:off x="1371600" y="7810500"/>
            <a:ext cx="15544800" cy="762000"/>
            <a:chOff x="1371600" y="7810500"/>
            <a:chExt cx="15544800" cy="762000"/>
          </a:xfrm>
        </p:grpSpPr>
        <p:sp>
          <p:nvSpPr>
            <p:cNvPr id="174" name="Google Shape;174;p17"/>
            <p:cNvSpPr/>
            <p:nvPr/>
          </p:nvSpPr>
          <p:spPr>
            <a:xfrm>
              <a:off x="1371600" y="7810500"/>
              <a:ext cx="15544800" cy="762000"/>
            </a:xfrm>
            <a:prstGeom prst="roundRect">
              <a:avLst>
                <a:gd fmla="val 15000" name="adj"/>
              </a:avLst>
            </a:prstGeom>
            <a:solidFill>
              <a:srgbClr val="0077CC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7"/>
            <p:cNvSpPr txBox="1"/>
            <p:nvPr/>
          </p:nvSpPr>
          <p:spPr>
            <a:xfrm>
              <a:off x="1371600" y="7810500"/>
              <a:ext cx="155448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077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</a:t>
              </a:r>
              <a:r>
                <a:rPr b="0" lang="en-US" sz="1800">
                  <a:solidFill>
                    <a:srgbClr val="0077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La minuta es el documento oficial que valida el progreso del equipo.</a:t>
              </a:r>
              <a:endParaRPr b="0" sz="1800">
                <a:solidFill>
                  <a:srgbClr val="0077C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/>
        </p:nvSpPr>
        <p:spPr>
          <a:xfrm>
            <a:off x="7772400" y="1371600"/>
            <a:ext cx="2743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0" u="none" cap="none" strike="noStrike">
                <a:solidFill>
                  <a:srgbClr val="0077CC"/>
                </a:solidFill>
                <a:latin typeface="Inter"/>
                <a:ea typeface="Inter"/>
                <a:cs typeface="Inter"/>
                <a:sym typeface="Inter"/>
              </a:rPr>
              <a:t>“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1371600" y="4114800"/>
            <a:ext cx="15544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Sin minuta, no hay evidencia de avance.</a:t>
            </a:r>
            <a:endParaRPr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Y en proyectos con gobierno,</a:t>
            </a:r>
            <a:endParaRPr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la evidencia escrita es lo que te protege</a:t>
            </a:r>
            <a:endParaRPr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cuando las versiones empiezan a diferir.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77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1371600" y="3200400"/>
            <a:ext cx="15544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se avanza a Fase B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1371600" y="4754880"/>
            <a:ext cx="15544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 el checklist a medias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1371600" y="7315200"/>
            <a:ext cx="1554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Cada item incompleto es un problema esperando a aparecer después.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