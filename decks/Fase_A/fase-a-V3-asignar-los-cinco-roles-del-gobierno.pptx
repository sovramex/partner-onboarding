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
      <p:font typeface="Inter ExtraBold"/>
      <p:bold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7" Type="http://schemas.openxmlformats.org/officeDocument/2006/relationships/font" Target="fonts/InterExtraBold-bold.fntdata"/><Relationship Id="rId16" Type="http://schemas.openxmlformats.org/officeDocument/2006/relationships/font" Target="fonts/Inter-boldItalic.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InterExtraBold-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6.8s · 17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primera reunión obligatoria de la Fase A es la de roles y equipo. Una hora. Punto.</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18.8s · 47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tiene que pasar en esa hora es muy concreto: los cinco roles del gobierno quedan asignados con nombre y apellido, email, área y dedicación esperada. No vamos a buscar a alguien de TI. Una persona, con nombre, que se compromete a dedicar X horas semanales.</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23.6s · 59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cinco roles del gobierno son: dueño del proyecto, que toma las decisiones políticas; coordinador, que necesita mínimo cincuenta por ciento de dedicación; especialista funcional, que va a estar al cien por ciento durante las Fases B y C; técnico, que se encarga de APIs, dominio e infraestructura; y la persona de comunicación, que se suma en Fase D.</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12.4s · 31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Tu equipo del lado del partner también se presenta: líder de implementación, que eres tú, técnico, y soporte o capacitador. La mesa tiene que entender quién hace qué de cada lado.</a:t>
            </a:r>
            <a:endParaRPr/>
          </a:p>
        </p:txBody>
      </p:sp>
      <p:sp>
        <p:nvSpPr>
          <p:cNvPr id="130" name="Google Shape;13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 name="Google Shape;15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21.6s · 54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Negocia los mínimos con honestidad. Si el coordinador del gobierno te dice que puede dedicar dos horas a la semana, ese proyecto está condenado. El coordinador necesita la mitad de su tiempo, mínimo. Si la persona asignada está repartida entre tres proyectos paralelos, díselo al dueño del proyecto antes de salir de la reunión.</a:t>
            </a:r>
            <a:endParaRPr/>
          </a:p>
        </p:txBody>
      </p:sp>
      <p:sp>
        <p:nvSpPr>
          <p:cNvPr id="153" name="Google Shape;15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31.2s · 78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sale de esta reunión es una tabla. Cinco filas para gobierno, tres para partner. Cada fila con nombre, email, rol, dedicación y área. Y también: qué gaps quedan abiertos, qué rol está vacante, quién es el punto de contacto único de cada lado para la comunicación del día a día. Si después de esta reunión no tienes nombres, no avances. La señal número uno de readiness es nombres en una tabla. Sin eso, no hay proyecto.</a:t>
            </a:r>
            <a:endParaRPr/>
          </a:p>
        </p:txBody>
      </p:sp>
      <p:sp>
        <p:nvSpPr>
          <p:cNvPr id="168" name="Google Shape;16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7.2s · 18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Sin nombres no se arranca. Es la señal de readiness más simple y la que más se ignora.</a:t>
            </a:r>
            <a:endParaRPr/>
          </a:p>
        </p:txBody>
      </p:sp>
      <p:sp>
        <p:nvSpPr>
          <p:cNvPr id="191" name="Google Shape;191;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077CC"/>
                </a:solidFill>
                <a:latin typeface="Inter"/>
                <a:ea typeface="Inter"/>
                <a:cs typeface="Inter"/>
                <a:sym typeface="Inter"/>
              </a:rPr>
              <a:t>FASE A</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Los cinco roles del gobierno,</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con nombre y apellido</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La primera reunión obligatoria de Fase A. Una hora. Punto.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5143500"/>
          </a:xfrm>
          <a:prstGeom prst="rect">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96" name="Google Shape;96;p14"/>
          <p:cNvGrpSpPr/>
          <p:nvPr/>
        </p:nvGrpSpPr>
        <p:grpSpPr>
          <a:xfrm>
            <a:off x="1371600" y="762000"/>
            <a:ext cx="15544800" cy="2000400"/>
            <a:chOff x="1371600" y="762000"/>
            <a:chExt cx="15544800" cy="2000400"/>
          </a:xfrm>
        </p:grpSpPr>
        <p:sp>
          <p:nvSpPr>
            <p:cNvPr id="97" name="Google Shape;97;p14"/>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77CC"/>
                  </a:solidFill>
                  <a:latin typeface="Inter"/>
                  <a:ea typeface="Inter"/>
                  <a:cs typeface="Inter"/>
                  <a:sym typeface="Inter"/>
                </a:rPr>
                <a:t>LO QUE TIENE QUE PASAR</a:t>
              </a:r>
              <a:endParaRPr b="1" sz="1800">
                <a:solidFill>
                  <a:srgbClr val="0077CC"/>
                </a:solidFill>
                <a:latin typeface="Inter"/>
                <a:ea typeface="Inter"/>
                <a:cs typeface="Inter"/>
                <a:sym typeface="Inter"/>
              </a:endParaRPr>
            </a:p>
          </p:txBody>
        </p:sp>
        <p:sp>
          <p:nvSpPr>
            <p:cNvPr id="98" name="Google Shape;98;p14"/>
            <p:cNvSpPr txBox="1"/>
            <p:nvPr/>
          </p:nvSpPr>
          <p:spPr>
            <a:xfrm>
              <a:off x="1371600" y="1333500"/>
              <a:ext cx="155448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5440">
                  <a:solidFill>
                    <a:srgbClr val="0A0915"/>
                  </a:solidFill>
                  <a:latin typeface="Inter ExtraBold"/>
                  <a:ea typeface="Inter ExtraBold"/>
                  <a:cs typeface="Inter ExtraBold"/>
                  <a:sym typeface="Inter ExtraBold"/>
                </a:rPr>
                <a:t>Cinco roles asignados con compromiso real</a:t>
              </a:r>
              <a:endParaRPr b="0" sz="5440">
                <a:solidFill>
                  <a:srgbClr val="0A0915"/>
                </a:solidFill>
                <a:latin typeface="Inter ExtraBold"/>
                <a:ea typeface="Inter ExtraBold"/>
                <a:cs typeface="Inter ExtraBold"/>
                <a:sym typeface="Inter ExtraBold"/>
              </a:endParaRPr>
            </a:p>
          </p:txBody>
        </p:sp>
      </p:grpSp>
      <p:grpSp>
        <p:nvGrpSpPr>
          <p:cNvPr id="99" name="Google Shape;99;p14"/>
          <p:cNvGrpSpPr/>
          <p:nvPr/>
        </p:nvGrpSpPr>
        <p:grpSpPr>
          <a:xfrm>
            <a:off x="1371600" y="3048000"/>
            <a:ext cx="15544800" cy="4000500"/>
            <a:chOff x="1371600" y="3048000"/>
            <a:chExt cx="15544800" cy="4000500"/>
          </a:xfrm>
        </p:grpSpPr>
        <p:sp>
          <p:nvSpPr>
            <p:cNvPr id="100" name="Google Shape;100;p14"/>
            <p:cNvSpPr/>
            <p:nvPr/>
          </p:nvSpPr>
          <p:spPr>
            <a:xfrm>
              <a:off x="1371600" y="3048000"/>
              <a:ext cx="15544800" cy="4000500"/>
            </a:xfrm>
            <a:prstGeom prst="roundRect">
              <a:avLst>
                <a:gd fmla="val 5714"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1" name="Google Shape;101;p14"/>
            <p:cNvSpPr txBox="1"/>
            <p:nvPr/>
          </p:nvSpPr>
          <p:spPr>
            <a:xfrm>
              <a:off x="1905000" y="3429000"/>
              <a:ext cx="14478000" cy="3238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4200">
                  <a:solidFill>
                    <a:srgbClr val="0A0915"/>
                  </a:solidFill>
                  <a:latin typeface="Inter"/>
                  <a:ea typeface="Inter"/>
                  <a:cs typeface="Inter"/>
                  <a:sym typeface="Inter"/>
                </a:rPr>
                <a:t>Identificación completa:</a:t>
              </a:r>
              <a:endParaRPr b="1" sz="4200">
                <a:solidFill>
                  <a:srgbClr val="0A0915"/>
                </a:solidFill>
                <a:latin typeface="Inter"/>
                <a:ea typeface="Inter"/>
                <a:cs typeface="Inter"/>
                <a:sym typeface="Inter"/>
              </a:endParaRPr>
            </a:p>
            <a:p>
              <a:pPr indent="0" lvl="0" marL="0" rtl="0" algn="l">
                <a:spcBef>
                  <a:spcPts val="3000"/>
                </a:spcBef>
                <a:spcAft>
                  <a:spcPts val="0"/>
                </a:spcAft>
                <a:buNone/>
              </a:pPr>
              <a:r>
                <a:rPr lang="en-US" sz="3200">
                  <a:solidFill>
                    <a:srgbClr val="0077CC"/>
                  </a:solidFill>
                  <a:latin typeface="Material Icons"/>
                  <a:ea typeface="Material Icons"/>
                  <a:cs typeface="Material Icons"/>
                  <a:sym typeface="Material Icons"/>
                </a:rPr>
                <a:t></a:t>
              </a:r>
              <a:r>
                <a:rPr lang="en-US" sz="2800">
                  <a:solidFill>
                    <a:srgbClr val="475569"/>
                  </a:solidFill>
                  <a:latin typeface="Inter"/>
                  <a:ea typeface="Inter"/>
                  <a:cs typeface="Inter"/>
                  <a:sym typeface="Inter"/>
                </a:rPr>
                <a:t>Nombre y Email directo</a:t>
              </a:r>
              <a:endParaRPr/>
            </a:p>
            <a:p>
              <a:pPr indent="0" lvl="0" marL="0" rtl="0" algn="l">
                <a:spcBef>
                  <a:spcPts val="1875"/>
                </a:spcBef>
                <a:spcAft>
                  <a:spcPts val="0"/>
                </a:spcAft>
                <a:buNone/>
              </a:pPr>
              <a:r>
                <a:rPr lang="en-US" sz="3200">
                  <a:solidFill>
                    <a:srgbClr val="0077CC"/>
                  </a:solidFill>
                  <a:latin typeface="Material Icons"/>
                  <a:ea typeface="Material Icons"/>
                  <a:cs typeface="Material Icons"/>
                  <a:sym typeface="Material Icons"/>
                </a:rPr>
                <a:t></a:t>
              </a:r>
              <a:r>
                <a:rPr lang="en-US" sz="2800">
                  <a:solidFill>
                    <a:srgbClr val="475569"/>
                  </a:solidFill>
                  <a:latin typeface="Inter"/>
                  <a:ea typeface="Inter"/>
                  <a:cs typeface="Inter"/>
                  <a:sym typeface="Inter"/>
                </a:rPr>
                <a:t>Área de pertenencia</a:t>
              </a:r>
              <a:endParaRPr/>
            </a:p>
            <a:p>
              <a:pPr indent="0" lvl="0" marL="0" rtl="0" algn="l">
                <a:spcBef>
                  <a:spcPts val="1875"/>
                </a:spcBef>
                <a:spcAft>
                  <a:spcPts val="0"/>
                </a:spcAft>
                <a:buNone/>
              </a:pPr>
              <a:r>
                <a:rPr lang="en-US" sz="3200">
                  <a:solidFill>
                    <a:srgbClr val="0077CC"/>
                  </a:solidFill>
                  <a:latin typeface="Material Icons"/>
                  <a:ea typeface="Material Icons"/>
                  <a:cs typeface="Material Icons"/>
                  <a:sym typeface="Material Icons"/>
                </a:rPr>
                <a:t></a:t>
              </a:r>
              <a:r>
                <a:rPr lang="en-US" sz="2800">
                  <a:solidFill>
                    <a:srgbClr val="475569"/>
                  </a:solidFill>
                  <a:latin typeface="Inter"/>
                  <a:ea typeface="Inter"/>
                  <a:cs typeface="Inter"/>
                  <a:sym typeface="Inter"/>
                </a:rPr>
                <a:t>Dedicación horaria específica</a:t>
              </a:r>
              <a:endParaRPr/>
            </a:p>
          </p:txBody>
        </p:sp>
      </p:grpSp>
      <p:grpSp>
        <p:nvGrpSpPr>
          <p:cNvPr id="102" name="Google Shape;102;p14"/>
          <p:cNvGrpSpPr/>
          <p:nvPr/>
        </p:nvGrpSpPr>
        <p:grpSpPr>
          <a:xfrm>
            <a:off x="1371600" y="7429500"/>
            <a:ext cx="15544800" cy="1905000"/>
            <a:chOff x="1371600" y="7429500"/>
            <a:chExt cx="15544800" cy="1905000"/>
          </a:xfrm>
        </p:grpSpPr>
        <p:sp>
          <p:nvSpPr>
            <p:cNvPr id="103" name="Google Shape;103;p14"/>
            <p:cNvSpPr/>
            <p:nvPr/>
          </p:nvSpPr>
          <p:spPr>
            <a:xfrm>
              <a:off x="1371600" y="7429500"/>
              <a:ext cx="15544800" cy="1905000"/>
            </a:xfrm>
            <a:prstGeom prst="roundRect">
              <a:avLst>
                <a:gd fmla="val 12000" name="adj"/>
              </a:avLst>
            </a:prstGeom>
            <a:solidFill>
              <a:srgbClr val="FFF1F2"/>
            </a:solidFill>
            <a:ln cap="flat" cmpd="sng" w="19050">
              <a:solidFill>
                <a:srgbClr val="FDA4A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4" name="Google Shape;104;p14"/>
            <p:cNvSpPr txBox="1"/>
            <p:nvPr/>
          </p:nvSpPr>
          <p:spPr>
            <a:xfrm>
              <a:off x="1905000" y="7715250"/>
              <a:ext cx="14478000" cy="1333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9F1239"/>
                  </a:solidFill>
                  <a:latin typeface="Inter"/>
                  <a:ea typeface="Inter"/>
                  <a:cs typeface="Inter"/>
                  <a:sym typeface="Inter"/>
                </a:rPr>
                <a:t>Evitemos las ambigüedades:</a:t>
              </a:r>
              <a:endParaRPr b="1" sz="2400">
                <a:solidFill>
                  <a:srgbClr val="9F1239"/>
                </a:solidFill>
                <a:latin typeface="Inter"/>
                <a:ea typeface="Inter"/>
                <a:cs typeface="Inter"/>
                <a:sym typeface="Inter"/>
              </a:endParaRPr>
            </a:p>
            <a:p>
              <a:pPr indent="0" lvl="0" marL="0" rtl="0" algn="l">
                <a:spcBef>
                  <a:spcPts val="750"/>
                </a:spcBef>
                <a:spcAft>
                  <a:spcPts val="0"/>
                </a:spcAft>
                <a:buNone/>
              </a:pPr>
              <a:r>
                <a:rPr b="0" lang="en-US" sz="2200">
                  <a:solidFill>
                    <a:srgbClr val="BE123C"/>
                  </a:solidFill>
                  <a:latin typeface="Inter"/>
                  <a:ea typeface="Inter"/>
                  <a:cs typeface="Inter"/>
                  <a:sym typeface="Inter"/>
                </a:rPr>
                <a:t>No "vamos a buscar a alguien de TI". Necesitamos una persona real, con nombre, que se comprometa a dedicar X horas semanales.</a:t>
              </a:r>
              <a:endParaRPr b="0" sz="2200">
                <a:solidFill>
                  <a:srgbClr val="BE123C"/>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5"/>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371600" y="762000"/>
            <a:ext cx="15544800" cy="831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5400">
                <a:solidFill>
                  <a:srgbClr val="0A0915"/>
                </a:solidFill>
                <a:latin typeface="Inter ExtraBold"/>
                <a:ea typeface="Inter ExtraBold"/>
                <a:cs typeface="Inter ExtraBold"/>
                <a:sym typeface="Inter ExtraBold"/>
              </a:rPr>
              <a:t>Los cinco roles del gobierno</a:t>
            </a:r>
            <a:endParaRPr b="0" i="0" sz="5400">
              <a:solidFill>
                <a:srgbClr val="0A0915"/>
              </a:solidFill>
              <a:latin typeface="Inter ExtraBold"/>
              <a:ea typeface="Inter ExtraBold"/>
              <a:cs typeface="Inter ExtraBold"/>
              <a:sym typeface="Inter ExtraBold"/>
            </a:endParaRPr>
          </a:p>
        </p:txBody>
      </p:sp>
      <p:grpSp>
        <p:nvGrpSpPr>
          <p:cNvPr id="112" name="Google Shape;112;p15"/>
          <p:cNvGrpSpPr/>
          <p:nvPr/>
        </p:nvGrpSpPr>
        <p:grpSpPr>
          <a:xfrm>
            <a:off x="1371600" y="2857500"/>
            <a:ext cx="2857500" cy="4762500"/>
            <a:chOff x="1371600" y="2857500"/>
            <a:chExt cx="2857500" cy="4762500"/>
          </a:xfrm>
        </p:grpSpPr>
        <p:sp>
          <p:nvSpPr>
            <p:cNvPr id="113" name="Google Shape;113;p15"/>
            <p:cNvSpPr/>
            <p:nvPr/>
          </p:nvSpPr>
          <p:spPr>
            <a:xfrm>
              <a:off x="1371600" y="2857500"/>
              <a:ext cx="2857500" cy="4762500"/>
            </a:xfrm>
            <a:prstGeom prst="roundRect">
              <a:avLst>
                <a:gd fmla="val 5333"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4" name="Google Shape;114;p15"/>
            <p:cNvSpPr txBox="1"/>
            <p:nvPr/>
          </p:nvSpPr>
          <p:spPr>
            <a:xfrm>
              <a:off x="1371600" y="2857500"/>
              <a:ext cx="2857500" cy="4762500"/>
            </a:xfrm>
            <a:prstGeom prst="rect">
              <a:avLst/>
            </a:prstGeom>
            <a:noFill/>
            <a:ln>
              <a:noFill/>
            </a:ln>
          </p:spPr>
          <p:txBody>
            <a:bodyPr anchorCtr="0" anchor="t" bIns="285750" lIns="285750" spcFirstLastPara="1" rIns="285750" wrap="square" tIns="285750">
              <a:noAutofit/>
            </a:bodyPr>
            <a:lstStyle/>
            <a:p>
              <a:pPr indent="0" lvl="0" marL="0" rtl="0" algn="l">
                <a:spcBef>
                  <a:spcPts val="0"/>
                </a:spcBef>
                <a:spcAft>
                  <a:spcPts val="0"/>
                </a:spcAft>
                <a:buNone/>
              </a:pPr>
              <a:r>
                <a:rPr lang="en-US" sz="3600">
                  <a:solidFill>
                    <a:srgbClr val="0077CC"/>
                  </a:solidFill>
                  <a:latin typeface="Material Icons"/>
                  <a:ea typeface="Material Icons"/>
                  <a:cs typeface="Material Icons"/>
                  <a:sym typeface="Material Icons"/>
                </a:rPr>
                <a:t></a:t>
              </a:r>
              <a:endParaRPr sz="36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000">
                  <a:solidFill>
                    <a:srgbClr val="0A0915"/>
                  </a:solidFill>
                  <a:latin typeface="Inter"/>
                  <a:ea typeface="Inter"/>
                  <a:cs typeface="Inter"/>
                  <a:sym typeface="Inter"/>
                </a:rPr>
                <a:t>Dueño del proyecto</a:t>
              </a:r>
              <a:endParaRPr b="1" sz="2000">
                <a:solidFill>
                  <a:srgbClr val="0A0915"/>
                </a:solidFill>
                <a:latin typeface="Inter"/>
                <a:ea typeface="Inter"/>
                <a:cs typeface="Inter"/>
                <a:sym typeface="Inter"/>
              </a:endParaRPr>
            </a:p>
            <a:p>
              <a:pPr indent="0" lvl="0" marL="0" rtl="0" algn="l">
                <a:spcBef>
                  <a:spcPts val="1125"/>
                </a:spcBef>
                <a:spcAft>
                  <a:spcPts val="0"/>
                </a:spcAft>
                <a:buNone/>
              </a:pPr>
              <a:r>
                <a:rPr b="0" lang="en-US" sz="1400">
                  <a:solidFill>
                    <a:srgbClr val="475569"/>
                  </a:solidFill>
                  <a:latin typeface="Inter"/>
                  <a:ea typeface="Inter"/>
                  <a:cs typeface="Inter"/>
                  <a:sym typeface="Inter"/>
                </a:rPr>
                <a:t>Toma las decisiones políticas clave del proyecto.</a:t>
              </a:r>
              <a:endParaRPr b="0" sz="1400">
                <a:solidFill>
                  <a:srgbClr val="475569"/>
                </a:solidFill>
                <a:latin typeface="Inter"/>
                <a:ea typeface="Inter"/>
                <a:cs typeface="Inter"/>
                <a:sym typeface="Inter"/>
              </a:endParaRPr>
            </a:p>
          </p:txBody>
        </p:sp>
      </p:grpSp>
      <p:grpSp>
        <p:nvGrpSpPr>
          <p:cNvPr id="115" name="Google Shape;115;p15"/>
          <p:cNvGrpSpPr/>
          <p:nvPr/>
        </p:nvGrpSpPr>
        <p:grpSpPr>
          <a:xfrm>
            <a:off x="4543425" y="2857500"/>
            <a:ext cx="2857500" cy="4762500"/>
            <a:chOff x="4543425" y="2857500"/>
            <a:chExt cx="2857500" cy="4762500"/>
          </a:xfrm>
        </p:grpSpPr>
        <p:sp>
          <p:nvSpPr>
            <p:cNvPr id="116" name="Google Shape;116;p15"/>
            <p:cNvSpPr/>
            <p:nvPr/>
          </p:nvSpPr>
          <p:spPr>
            <a:xfrm>
              <a:off x="4543425" y="2857500"/>
              <a:ext cx="2857500" cy="4762500"/>
            </a:xfrm>
            <a:prstGeom prst="roundRect">
              <a:avLst>
                <a:gd fmla="val 5333"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p15"/>
            <p:cNvSpPr txBox="1"/>
            <p:nvPr/>
          </p:nvSpPr>
          <p:spPr>
            <a:xfrm>
              <a:off x="4543425" y="2857500"/>
              <a:ext cx="2857500" cy="4762500"/>
            </a:xfrm>
            <a:prstGeom prst="rect">
              <a:avLst/>
            </a:prstGeom>
            <a:noFill/>
            <a:ln>
              <a:noFill/>
            </a:ln>
          </p:spPr>
          <p:txBody>
            <a:bodyPr anchorCtr="0" anchor="t" bIns="285750" lIns="285750" spcFirstLastPara="1" rIns="285750" wrap="square" tIns="285750">
              <a:noAutofit/>
            </a:bodyPr>
            <a:lstStyle/>
            <a:p>
              <a:pPr indent="0" lvl="0" marL="0" rtl="0" algn="l">
                <a:spcBef>
                  <a:spcPts val="0"/>
                </a:spcBef>
                <a:spcAft>
                  <a:spcPts val="0"/>
                </a:spcAft>
                <a:buNone/>
              </a:pPr>
              <a:r>
                <a:rPr lang="en-US" sz="3600">
                  <a:solidFill>
                    <a:srgbClr val="0077CC"/>
                  </a:solidFill>
                  <a:latin typeface="Material Icons"/>
                  <a:ea typeface="Material Icons"/>
                  <a:cs typeface="Material Icons"/>
                  <a:sym typeface="Material Icons"/>
                </a:rPr>
                <a:t></a:t>
              </a:r>
              <a:endParaRPr sz="36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000">
                  <a:solidFill>
                    <a:srgbClr val="0A0915"/>
                  </a:solidFill>
                  <a:latin typeface="Inter"/>
                  <a:ea typeface="Inter"/>
                  <a:cs typeface="Inter"/>
                  <a:sym typeface="Inter"/>
                </a:rPr>
                <a:t>Coordinador</a:t>
              </a:r>
              <a:endParaRPr b="1" sz="2000">
                <a:solidFill>
                  <a:srgbClr val="0A0915"/>
                </a:solidFill>
                <a:latin typeface="Inter"/>
                <a:ea typeface="Inter"/>
                <a:cs typeface="Inter"/>
                <a:sym typeface="Inter"/>
              </a:endParaRPr>
            </a:p>
            <a:p>
              <a:pPr indent="0" lvl="0" marL="0" rtl="0" algn="l">
                <a:spcBef>
                  <a:spcPts val="1125"/>
                </a:spcBef>
                <a:spcAft>
                  <a:spcPts val="0"/>
                </a:spcAft>
                <a:buNone/>
              </a:pPr>
              <a:r>
                <a:rPr b="0" lang="en-US" sz="1400">
                  <a:solidFill>
                    <a:srgbClr val="475569"/>
                  </a:solidFill>
                  <a:latin typeface="Inter"/>
                  <a:ea typeface="Inter"/>
                  <a:cs typeface="Inter"/>
                  <a:sym typeface="Inter"/>
                </a:rPr>
                <a:t>Mínimo 50% de dedicación horaria para el éxito.</a:t>
              </a:r>
              <a:endParaRPr b="0" sz="1400">
                <a:solidFill>
                  <a:srgbClr val="475569"/>
                </a:solidFill>
                <a:latin typeface="Inter"/>
                <a:ea typeface="Inter"/>
                <a:cs typeface="Inter"/>
                <a:sym typeface="Inter"/>
              </a:endParaRPr>
            </a:p>
          </p:txBody>
        </p:sp>
      </p:grpSp>
      <p:grpSp>
        <p:nvGrpSpPr>
          <p:cNvPr id="118" name="Google Shape;118;p15"/>
          <p:cNvGrpSpPr/>
          <p:nvPr/>
        </p:nvGrpSpPr>
        <p:grpSpPr>
          <a:xfrm>
            <a:off x="7715250" y="2857500"/>
            <a:ext cx="2857500" cy="4762500"/>
            <a:chOff x="7715250" y="2857500"/>
            <a:chExt cx="2857500" cy="4762500"/>
          </a:xfrm>
        </p:grpSpPr>
        <p:sp>
          <p:nvSpPr>
            <p:cNvPr id="119" name="Google Shape;119;p15"/>
            <p:cNvSpPr/>
            <p:nvPr/>
          </p:nvSpPr>
          <p:spPr>
            <a:xfrm>
              <a:off x="7715250" y="2857500"/>
              <a:ext cx="2857500" cy="4762500"/>
            </a:xfrm>
            <a:prstGeom prst="roundRect">
              <a:avLst>
                <a:gd fmla="val 5333"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5"/>
            <p:cNvSpPr txBox="1"/>
            <p:nvPr/>
          </p:nvSpPr>
          <p:spPr>
            <a:xfrm>
              <a:off x="7715250" y="2857500"/>
              <a:ext cx="2857500" cy="4762500"/>
            </a:xfrm>
            <a:prstGeom prst="rect">
              <a:avLst/>
            </a:prstGeom>
            <a:noFill/>
            <a:ln>
              <a:noFill/>
            </a:ln>
          </p:spPr>
          <p:txBody>
            <a:bodyPr anchorCtr="0" anchor="t" bIns="285750" lIns="285750" spcFirstLastPara="1" rIns="285750" wrap="square" tIns="285750">
              <a:noAutofit/>
            </a:bodyPr>
            <a:lstStyle/>
            <a:p>
              <a:pPr indent="0" lvl="0" marL="0" rtl="0" algn="l">
                <a:spcBef>
                  <a:spcPts val="0"/>
                </a:spcBef>
                <a:spcAft>
                  <a:spcPts val="0"/>
                </a:spcAft>
                <a:buNone/>
              </a:pPr>
              <a:r>
                <a:rPr lang="en-US" sz="3600">
                  <a:solidFill>
                    <a:srgbClr val="0077CC"/>
                  </a:solidFill>
                  <a:latin typeface="Material Icons"/>
                  <a:ea typeface="Material Icons"/>
                  <a:cs typeface="Material Icons"/>
                  <a:sym typeface="Material Icons"/>
                </a:rPr>
                <a:t></a:t>
              </a:r>
              <a:endParaRPr sz="36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000">
                  <a:solidFill>
                    <a:srgbClr val="0A0915"/>
                  </a:solidFill>
                  <a:latin typeface="Inter"/>
                  <a:ea typeface="Inter"/>
                  <a:cs typeface="Inter"/>
                  <a:sym typeface="Inter"/>
                </a:rPr>
                <a:t>Especialista funcional</a:t>
              </a:r>
              <a:endParaRPr b="1" sz="2000">
                <a:solidFill>
                  <a:srgbClr val="0A0915"/>
                </a:solidFill>
                <a:latin typeface="Inter"/>
                <a:ea typeface="Inter"/>
                <a:cs typeface="Inter"/>
                <a:sym typeface="Inter"/>
              </a:endParaRPr>
            </a:p>
            <a:p>
              <a:pPr indent="0" lvl="0" marL="0" rtl="0" algn="l">
                <a:spcBef>
                  <a:spcPts val="1125"/>
                </a:spcBef>
                <a:spcAft>
                  <a:spcPts val="0"/>
                </a:spcAft>
                <a:buNone/>
              </a:pPr>
              <a:r>
                <a:rPr b="0" lang="en-US" sz="1400">
                  <a:solidFill>
                    <a:srgbClr val="475569"/>
                  </a:solidFill>
                  <a:latin typeface="Inter"/>
                  <a:ea typeface="Inter"/>
                  <a:cs typeface="Inter"/>
                  <a:sym typeface="Inter"/>
                </a:rPr>
                <a:t>100% de compromiso durante las Fases B y C.</a:t>
              </a:r>
              <a:endParaRPr b="0" sz="1400">
                <a:solidFill>
                  <a:srgbClr val="475569"/>
                </a:solidFill>
                <a:latin typeface="Inter"/>
                <a:ea typeface="Inter"/>
                <a:cs typeface="Inter"/>
                <a:sym typeface="Inter"/>
              </a:endParaRPr>
            </a:p>
          </p:txBody>
        </p:sp>
      </p:grpSp>
      <p:grpSp>
        <p:nvGrpSpPr>
          <p:cNvPr id="121" name="Google Shape;121;p15"/>
          <p:cNvGrpSpPr/>
          <p:nvPr/>
        </p:nvGrpSpPr>
        <p:grpSpPr>
          <a:xfrm>
            <a:off x="10887075" y="2857500"/>
            <a:ext cx="2857500" cy="4762500"/>
            <a:chOff x="10887075" y="2857500"/>
            <a:chExt cx="2857500" cy="4762500"/>
          </a:xfrm>
        </p:grpSpPr>
        <p:sp>
          <p:nvSpPr>
            <p:cNvPr id="122" name="Google Shape;122;p15"/>
            <p:cNvSpPr/>
            <p:nvPr/>
          </p:nvSpPr>
          <p:spPr>
            <a:xfrm>
              <a:off x="10887075" y="2857500"/>
              <a:ext cx="2857500" cy="4762500"/>
            </a:xfrm>
            <a:prstGeom prst="roundRect">
              <a:avLst>
                <a:gd fmla="val 5333"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5"/>
            <p:cNvSpPr txBox="1"/>
            <p:nvPr/>
          </p:nvSpPr>
          <p:spPr>
            <a:xfrm>
              <a:off x="10887075" y="2857500"/>
              <a:ext cx="2857500" cy="4762500"/>
            </a:xfrm>
            <a:prstGeom prst="rect">
              <a:avLst/>
            </a:prstGeom>
            <a:noFill/>
            <a:ln>
              <a:noFill/>
            </a:ln>
          </p:spPr>
          <p:txBody>
            <a:bodyPr anchorCtr="0" anchor="t" bIns="285750" lIns="285750" spcFirstLastPara="1" rIns="285750" wrap="square" tIns="285750">
              <a:noAutofit/>
            </a:bodyPr>
            <a:lstStyle/>
            <a:p>
              <a:pPr indent="0" lvl="0" marL="0" rtl="0" algn="l">
                <a:spcBef>
                  <a:spcPts val="0"/>
                </a:spcBef>
                <a:spcAft>
                  <a:spcPts val="0"/>
                </a:spcAft>
                <a:buNone/>
              </a:pPr>
              <a:r>
                <a:rPr lang="en-US" sz="3600">
                  <a:solidFill>
                    <a:srgbClr val="0077CC"/>
                  </a:solidFill>
                  <a:latin typeface="Material Icons"/>
                  <a:ea typeface="Material Icons"/>
                  <a:cs typeface="Material Icons"/>
                  <a:sym typeface="Material Icons"/>
                </a:rPr>
                <a:t></a:t>
              </a:r>
              <a:endParaRPr sz="36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000">
                  <a:solidFill>
                    <a:srgbClr val="0A0915"/>
                  </a:solidFill>
                  <a:latin typeface="Inter"/>
                  <a:ea typeface="Inter"/>
                  <a:cs typeface="Inter"/>
                  <a:sym typeface="Inter"/>
                </a:rPr>
                <a:t>Técnico</a:t>
              </a:r>
              <a:endParaRPr b="1" sz="2000">
                <a:solidFill>
                  <a:srgbClr val="0A0915"/>
                </a:solidFill>
                <a:latin typeface="Inter"/>
                <a:ea typeface="Inter"/>
                <a:cs typeface="Inter"/>
                <a:sym typeface="Inter"/>
              </a:endParaRPr>
            </a:p>
            <a:p>
              <a:pPr indent="0" lvl="0" marL="0" rtl="0" algn="l">
                <a:spcBef>
                  <a:spcPts val="1125"/>
                </a:spcBef>
                <a:spcAft>
                  <a:spcPts val="0"/>
                </a:spcAft>
                <a:buNone/>
              </a:pPr>
              <a:r>
                <a:rPr b="0" lang="en-US" sz="1400">
                  <a:solidFill>
                    <a:srgbClr val="475569"/>
                  </a:solidFill>
                  <a:latin typeface="Inter"/>
                  <a:ea typeface="Inter"/>
                  <a:cs typeface="Inter"/>
                  <a:sym typeface="Inter"/>
                </a:rPr>
                <a:t>Gestión de APIs, dominio e infraestructura técnica.</a:t>
              </a:r>
              <a:endParaRPr b="0" sz="1400">
                <a:solidFill>
                  <a:srgbClr val="475569"/>
                </a:solidFill>
                <a:latin typeface="Inter"/>
                <a:ea typeface="Inter"/>
                <a:cs typeface="Inter"/>
                <a:sym typeface="Inter"/>
              </a:endParaRPr>
            </a:p>
          </p:txBody>
        </p:sp>
      </p:grpSp>
      <p:grpSp>
        <p:nvGrpSpPr>
          <p:cNvPr id="124" name="Google Shape;124;p15"/>
          <p:cNvGrpSpPr/>
          <p:nvPr/>
        </p:nvGrpSpPr>
        <p:grpSpPr>
          <a:xfrm>
            <a:off x="14058900" y="2857500"/>
            <a:ext cx="2857500" cy="4762500"/>
            <a:chOff x="14058900" y="2857500"/>
            <a:chExt cx="2857500" cy="4762500"/>
          </a:xfrm>
        </p:grpSpPr>
        <p:sp>
          <p:nvSpPr>
            <p:cNvPr id="125" name="Google Shape;125;p15"/>
            <p:cNvSpPr/>
            <p:nvPr/>
          </p:nvSpPr>
          <p:spPr>
            <a:xfrm>
              <a:off x="14058900" y="2857500"/>
              <a:ext cx="2857500" cy="4762500"/>
            </a:xfrm>
            <a:prstGeom prst="roundRect">
              <a:avLst>
                <a:gd fmla="val 5333"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5"/>
            <p:cNvSpPr txBox="1"/>
            <p:nvPr/>
          </p:nvSpPr>
          <p:spPr>
            <a:xfrm>
              <a:off x="14058900" y="2857500"/>
              <a:ext cx="2857500" cy="4762500"/>
            </a:xfrm>
            <a:prstGeom prst="rect">
              <a:avLst/>
            </a:prstGeom>
            <a:noFill/>
            <a:ln>
              <a:noFill/>
            </a:ln>
          </p:spPr>
          <p:txBody>
            <a:bodyPr anchorCtr="0" anchor="t" bIns="285750" lIns="285750" spcFirstLastPara="1" rIns="285750" wrap="square" tIns="285750">
              <a:noAutofit/>
            </a:bodyPr>
            <a:lstStyle/>
            <a:p>
              <a:pPr indent="0" lvl="0" marL="0" rtl="0" algn="l">
                <a:spcBef>
                  <a:spcPts val="0"/>
                </a:spcBef>
                <a:spcAft>
                  <a:spcPts val="0"/>
                </a:spcAft>
                <a:buNone/>
              </a:pPr>
              <a:r>
                <a:rPr lang="en-US" sz="3600">
                  <a:solidFill>
                    <a:srgbClr val="0077CC"/>
                  </a:solidFill>
                  <a:latin typeface="Material Icons"/>
                  <a:ea typeface="Material Icons"/>
                  <a:cs typeface="Material Icons"/>
                  <a:sym typeface="Material Icons"/>
                </a:rPr>
                <a:t></a:t>
              </a:r>
              <a:endParaRPr sz="36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000">
                  <a:solidFill>
                    <a:srgbClr val="0A0915"/>
                  </a:solidFill>
                  <a:latin typeface="Inter"/>
                  <a:ea typeface="Inter"/>
                  <a:cs typeface="Inter"/>
                  <a:sym typeface="Inter"/>
                </a:rPr>
                <a:t>Comunicación</a:t>
              </a:r>
              <a:endParaRPr b="1" sz="2000">
                <a:solidFill>
                  <a:srgbClr val="0A0915"/>
                </a:solidFill>
                <a:latin typeface="Inter"/>
                <a:ea typeface="Inter"/>
                <a:cs typeface="Inter"/>
                <a:sym typeface="Inter"/>
              </a:endParaRPr>
            </a:p>
            <a:p>
              <a:pPr indent="0" lvl="0" marL="0" rtl="0" algn="l">
                <a:spcBef>
                  <a:spcPts val="1125"/>
                </a:spcBef>
                <a:spcAft>
                  <a:spcPts val="0"/>
                </a:spcAft>
                <a:buNone/>
              </a:pPr>
              <a:r>
                <a:rPr b="0" lang="en-US" sz="1400">
                  <a:solidFill>
                    <a:srgbClr val="475569"/>
                  </a:solidFill>
                  <a:latin typeface="Inter"/>
                  <a:ea typeface="Inter"/>
                  <a:cs typeface="Inter"/>
                  <a:sym typeface="Inter"/>
                </a:rPr>
                <a:t>Se suma activamente en la Fase D del proyecto.</a:t>
              </a:r>
              <a:endParaRPr b="0" sz="1400">
                <a:solidFill>
                  <a:srgbClr val="475569"/>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6"/>
          <p:cNvSpPr/>
          <p:nvPr/>
        </p:nvSpPr>
        <p:spPr>
          <a:xfrm>
            <a:off x="0" y="0"/>
            <a:ext cx="18288000" cy="5143500"/>
          </a:xfrm>
          <a:prstGeom prst="rect">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6"/>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4" name="Google Shape;134;p16"/>
          <p:cNvGrpSpPr/>
          <p:nvPr/>
        </p:nvGrpSpPr>
        <p:grpSpPr>
          <a:xfrm>
            <a:off x="1371600" y="762000"/>
            <a:ext cx="15544800" cy="2000400"/>
            <a:chOff x="1371600" y="762000"/>
            <a:chExt cx="15544800" cy="2000400"/>
          </a:xfrm>
        </p:grpSpPr>
        <p:sp>
          <p:nvSpPr>
            <p:cNvPr id="135" name="Google Shape;135;p16"/>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77CC"/>
                  </a:solidFill>
                  <a:latin typeface="Inter"/>
                  <a:ea typeface="Inter"/>
                  <a:cs typeface="Inter"/>
                  <a:sym typeface="Inter"/>
                </a:rPr>
                <a:t>TU LADO TAMBIÉN SE PRESENTA</a:t>
              </a:r>
              <a:endParaRPr b="1" sz="1800">
                <a:solidFill>
                  <a:srgbClr val="0077CC"/>
                </a:solidFill>
                <a:latin typeface="Inter"/>
                <a:ea typeface="Inter"/>
                <a:cs typeface="Inter"/>
                <a:sym typeface="Inter"/>
              </a:endParaRPr>
            </a:p>
          </p:txBody>
        </p:sp>
        <p:sp>
          <p:nvSpPr>
            <p:cNvPr id="136" name="Google Shape;136;p16"/>
            <p:cNvSpPr txBox="1"/>
            <p:nvPr/>
          </p:nvSpPr>
          <p:spPr>
            <a:xfrm>
              <a:off x="1371600" y="1333500"/>
              <a:ext cx="155448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5440">
                  <a:solidFill>
                    <a:srgbClr val="0A0915"/>
                  </a:solidFill>
                  <a:latin typeface="Inter ExtraBold"/>
                  <a:ea typeface="Inter ExtraBold"/>
                  <a:cs typeface="Inter ExtraBold"/>
                  <a:sym typeface="Inter ExtraBold"/>
                </a:rPr>
                <a:t>Los tres roles del partner</a:t>
              </a:r>
              <a:endParaRPr b="0" sz="5440">
                <a:solidFill>
                  <a:srgbClr val="0A0915"/>
                </a:solidFill>
                <a:latin typeface="Inter ExtraBold"/>
                <a:ea typeface="Inter ExtraBold"/>
                <a:cs typeface="Inter ExtraBold"/>
                <a:sym typeface="Inter ExtraBold"/>
              </a:endParaRPr>
            </a:p>
          </p:txBody>
        </p:sp>
      </p:grpSp>
      <p:grpSp>
        <p:nvGrpSpPr>
          <p:cNvPr id="137" name="Google Shape;137;p16"/>
          <p:cNvGrpSpPr/>
          <p:nvPr/>
        </p:nvGrpSpPr>
        <p:grpSpPr>
          <a:xfrm>
            <a:off x="1371600" y="3048000"/>
            <a:ext cx="15544800" cy="4000500"/>
            <a:chOff x="1371600" y="3048000"/>
            <a:chExt cx="15544800" cy="4000500"/>
          </a:xfrm>
        </p:grpSpPr>
        <p:grpSp>
          <p:nvGrpSpPr>
            <p:cNvPr id="138" name="Google Shape;138;p16"/>
            <p:cNvGrpSpPr/>
            <p:nvPr/>
          </p:nvGrpSpPr>
          <p:grpSpPr>
            <a:xfrm>
              <a:off x="1371600" y="3048000"/>
              <a:ext cx="4953000" cy="4000500"/>
              <a:chOff x="1371600" y="3048000"/>
              <a:chExt cx="4953000" cy="4000500"/>
            </a:xfrm>
          </p:grpSpPr>
          <p:sp>
            <p:nvSpPr>
              <p:cNvPr id="139" name="Google Shape;139;p16"/>
              <p:cNvSpPr/>
              <p:nvPr/>
            </p:nvSpPr>
            <p:spPr>
              <a:xfrm>
                <a:off x="1371600" y="3048000"/>
                <a:ext cx="4953000" cy="4000500"/>
              </a:xfrm>
              <a:prstGeom prst="roundRect">
                <a:avLst>
                  <a:gd fmla="val 5714"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0" name="Google Shape;140;p16"/>
              <p:cNvSpPr txBox="1"/>
              <p:nvPr/>
            </p:nvSpPr>
            <p:spPr>
              <a:xfrm>
                <a:off x="1371600" y="3048000"/>
                <a:ext cx="4953000" cy="4000500"/>
              </a:xfrm>
              <a:prstGeom prst="rect">
                <a:avLst/>
              </a:prstGeom>
              <a:noFill/>
              <a:ln>
                <a:noFill/>
              </a:ln>
            </p:spPr>
            <p:txBody>
              <a:bodyPr anchorCtr="0" anchor="t" bIns="381000" lIns="381000" spcFirstLastPara="1" rIns="381000" wrap="square" tIns="381000">
                <a:noAutofit/>
              </a:bodyPr>
              <a:lstStyle/>
              <a:p>
                <a:pPr indent="0" lvl="0" marL="0" rtl="0" algn="l">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800">
                    <a:solidFill>
                      <a:srgbClr val="0A0915"/>
                    </a:solidFill>
                    <a:latin typeface="Inter"/>
                    <a:ea typeface="Inter"/>
                    <a:cs typeface="Inter"/>
                    <a:sym typeface="Inter"/>
                  </a:rPr>
                  <a:t>Líder de implementación</a:t>
                </a:r>
                <a:endParaRPr b="1" sz="2800">
                  <a:solidFill>
                    <a:srgbClr val="0A0915"/>
                  </a:solidFill>
                  <a:latin typeface="Inter"/>
                  <a:ea typeface="Inter"/>
                  <a:cs typeface="Inter"/>
                  <a:sym typeface="Inter"/>
                </a:endParaRPr>
              </a:p>
              <a:p>
                <a:pPr indent="0" lvl="0" marL="0" rtl="0" algn="l">
                  <a:spcBef>
                    <a:spcPts val="1125"/>
                  </a:spcBef>
                  <a:spcAft>
                    <a:spcPts val="0"/>
                  </a:spcAft>
                  <a:buNone/>
                </a:pPr>
                <a:r>
                  <a:rPr b="0" lang="en-US" sz="1600">
                    <a:solidFill>
                      <a:srgbClr val="475569"/>
                    </a:solidFill>
                    <a:latin typeface="Inter"/>
                    <a:ea typeface="Inter"/>
                    <a:cs typeface="Inter"/>
                    <a:sym typeface="Inter"/>
                  </a:rPr>
                  <a:t>Responsable de guiar el proceso y asegurar el cumplimiento de hitos.</a:t>
                </a:r>
                <a:endParaRPr b="0" sz="1600">
                  <a:solidFill>
                    <a:srgbClr val="475569"/>
                  </a:solidFill>
                  <a:latin typeface="Inter"/>
                  <a:ea typeface="Inter"/>
                  <a:cs typeface="Inter"/>
                  <a:sym typeface="Inter"/>
                </a:endParaRPr>
              </a:p>
            </p:txBody>
          </p:sp>
        </p:grpSp>
        <p:grpSp>
          <p:nvGrpSpPr>
            <p:cNvPr id="141" name="Google Shape;141;p16"/>
            <p:cNvGrpSpPr/>
            <p:nvPr/>
          </p:nvGrpSpPr>
          <p:grpSpPr>
            <a:xfrm>
              <a:off x="6667500" y="3048000"/>
              <a:ext cx="4953000" cy="4000500"/>
              <a:chOff x="6667500" y="3048000"/>
              <a:chExt cx="4953000" cy="4000500"/>
            </a:xfrm>
          </p:grpSpPr>
          <p:sp>
            <p:nvSpPr>
              <p:cNvPr id="142" name="Google Shape;142;p16"/>
              <p:cNvSpPr/>
              <p:nvPr/>
            </p:nvSpPr>
            <p:spPr>
              <a:xfrm>
                <a:off x="6667500" y="3048000"/>
                <a:ext cx="4953000" cy="4000500"/>
              </a:xfrm>
              <a:prstGeom prst="roundRect">
                <a:avLst>
                  <a:gd fmla="val 5714"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16"/>
              <p:cNvSpPr txBox="1"/>
              <p:nvPr/>
            </p:nvSpPr>
            <p:spPr>
              <a:xfrm>
                <a:off x="6667500" y="3048000"/>
                <a:ext cx="4953000" cy="4000500"/>
              </a:xfrm>
              <a:prstGeom prst="rect">
                <a:avLst/>
              </a:prstGeom>
              <a:noFill/>
              <a:ln>
                <a:noFill/>
              </a:ln>
            </p:spPr>
            <p:txBody>
              <a:bodyPr anchorCtr="0" anchor="t" bIns="381000" lIns="381000" spcFirstLastPara="1" rIns="381000" wrap="square" tIns="381000">
                <a:noAutofit/>
              </a:bodyPr>
              <a:lstStyle/>
              <a:p>
                <a:pPr indent="0" lvl="0" marL="0" rtl="0" algn="l">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800">
                    <a:solidFill>
                      <a:srgbClr val="0A0915"/>
                    </a:solidFill>
                    <a:latin typeface="Inter"/>
                    <a:ea typeface="Inter"/>
                    <a:cs typeface="Inter"/>
                    <a:sym typeface="Inter"/>
                  </a:rPr>
                  <a:t>Técnico</a:t>
                </a:r>
                <a:endParaRPr b="1" sz="2800">
                  <a:solidFill>
                    <a:srgbClr val="0A0915"/>
                  </a:solidFill>
                  <a:latin typeface="Inter"/>
                  <a:ea typeface="Inter"/>
                  <a:cs typeface="Inter"/>
                  <a:sym typeface="Inter"/>
                </a:endParaRPr>
              </a:p>
              <a:p>
                <a:pPr indent="0" lvl="0" marL="0" rtl="0" algn="l">
                  <a:spcBef>
                    <a:spcPts val="1125"/>
                  </a:spcBef>
                  <a:spcAft>
                    <a:spcPts val="0"/>
                  </a:spcAft>
                  <a:buNone/>
                </a:pPr>
                <a:r>
                  <a:rPr b="0" lang="en-US" sz="1600">
                    <a:solidFill>
                      <a:srgbClr val="475569"/>
                    </a:solidFill>
                    <a:latin typeface="Inter"/>
                    <a:ea typeface="Inter"/>
                    <a:cs typeface="Inter"/>
                    <a:sym typeface="Inter"/>
                  </a:rPr>
                  <a:t>Soporte especializado para integraciones y configuraciones avanzadas.</a:t>
                </a:r>
                <a:endParaRPr b="0" sz="1600">
                  <a:solidFill>
                    <a:srgbClr val="475569"/>
                  </a:solidFill>
                  <a:latin typeface="Inter"/>
                  <a:ea typeface="Inter"/>
                  <a:cs typeface="Inter"/>
                  <a:sym typeface="Inter"/>
                </a:endParaRPr>
              </a:p>
            </p:txBody>
          </p:sp>
        </p:grpSp>
        <p:grpSp>
          <p:nvGrpSpPr>
            <p:cNvPr id="144" name="Google Shape;144;p16"/>
            <p:cNvGrpSpPr/>
            <p:nvPr/>
          </p:nvGrpSpPr>
          <p:grpSpPr>
            <a:xfrm>
              <a:off x="11963400" y="3048000"/>
              <a:ext cx="4953000" cy="4000500"/>
              <a:chOff x="11963400" y="3048000"/>
              <a:chExt cx="4953000" cy="4000500"/>
            </a:xfrm>
          </p:grpSpPr>
          <p:sp>
            <p:nvSpPr>
              <p:cNvPr id="145" name="Google Shape;145;p16"/>
              <p:cNvSpPr/>
              <p:nvPr/>
            </p:nvSpPr>
            <p:spPr>
              <a:xfrm>
                <a:off x="11963400" y="3048000"/>
                <a:ext cx="4953000" cy="4000500"/>
              </a:xfrm>
              <a:prstGeom prst="roundRect">
                <a:avLst>
                  <a:gd fmla="val 5714"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p16"/>
              <p:cNvSpPr txBox="1"/>
              <p:nvPr/>
            </p:nvSpPr>
            <p:spPr>
              <a:xfrm>
                <a:off x="11963400" y="3048000"/>
                <a:ext cx="4953000" cy="4000500"/>
              </a:xfrm>
              <a:prstGeom prst="rect">
                <a:avLst/>
              </a:prstGeom>
              <a:noFill/>
              <a:ln>
                <a:noFill/>
              </a:ln>
            </p:spPr>
            <p:txBody>
              <a:bodyPr anchorCtr="0" anchor="t" bIns="381000" lIns="381000" spcFirstLastPara="1" rIns="381000" wrap="square" tIns="381000">
                <a:noAutofit/>
              </a:bodyPr>
              <a:lstStyle/>
              <a:p>
                <a:pPr indent="0" lvl="0" marL="0" rtl="0" algn="l">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a:p>
                <a:pPr indent="0" lvl="0" marL="0" rtl="0" algn="l">
                  <a:spcBef>
                    <a:spcPts val="1500"/>
                  </a:spcBef>
                  <a:spcAft>
                    <a:spcPts val="0"/>
                  </a:spcAft>
                  <a:buNone/>
                </a:pPr>
                <a:r>
                  <a:rPr b="1" lang="en-US" sz="2800">
                    <a:solidFill>
                      <a:srgbClr val="0A0915"/>
                    </a:solidFill>
                    <a:latin typeface="Inter"/>
                    <a:ea typeface="Inter"/>
                    <a:cs typeface="Inter"/>
                    <a:sym typeface="Inter"/>
                  </a:rPr>
                  <a:t>Soporte</a:t>
                </a:r>
                <a:endParaRPr b="1" sz="2800">
                  <a:solidFill>
                    <a:srgbClr val="0A0915"/>
                  </a:solidFill>
                  <a:latin typeface="Inter"/>
                  <a:ea typeface="Inter"/>
                  <a:cs typeface="Inter"/>
                  <a:sym typeface="Inter"/>
                </a:endParaRPr>
              </a:p>
              <a:p>
                <a:pPr indent="0" lvl="0" marL="0" rtl="0" algn="l">
                  <a:spcBef>
                    <a:spcPts val="1125"/>
                  </a:spcBef>
                  <a:spcAft>
                    <a:spcPts val="0"/>
                  </a:spcAft>
                  <a:buNone/>
                </a:pPr>
                <a:r>
                  <a:rPr b="0" lang="en-US" sz="1600">
                    <a:solidFill>
                      <a:srgbClr val="475569"/>
                    </a:solidFill>
                    <a:latin typeface="Inter"/>
                    <a:ea typeface="Inter"/>
                    <a:cs typeface="Inter"/>
                    <a:sym typeface="Inter"/>
                  </a:rPr>
                  <a:t>Atención continua para resolver incidencias post-implementación.</a:t>
                </a:r>
                <a:endParaRPr b="0" sz="1600">
                  <a:solidFill>
                    <a:srgbClr val="475569"/>
                  </a:solidFill>
                  <a:latin typeface="Inter"/>
                  <a:ea typeface="Inter"/>
                  <a:cs typeface="Inter"/>
                  <a:sym typeface="Inter"/>
                </a:endParaRPr>
              </a:p>
            </p:txBody>
          </p:sp>
        </p:grpSp>
      </p:grpSp>
      <p:grpSp>
        <p:nvGrpSpPr>
          <p:cNvPr id="147" name="Google Shape;147;p16"/>
          <p:cNvGrpSpPr/>
          <p:nvPr/>
        </p:nvGrpSpPr>
        <p:grpSpPr>
          <a:xfrm>
            <a:off x="1371600" y="7620000"/>
            <a:ext cx="15544800" cy="1714500"/>
            <a:chOff x="1371600" y="7620000"/>
            <a:chExt cx="15544800" cy="1714500"/>
          </a:xfrm>
        </p:grpSpPr>
        <p:sp>
          <p:nvSpPr>
            <p:cNvPr id="148" name="Google Shape;148;p16"/>
            <p:cNvSpPr/>
            <p:nvPr/>
          </p:nvSpPr>
          <p:spPr>
            <a:xfrm>
              <a:off x="1371600" y="7620000"/>
              <a:ext cx="15544800" cy="1714500"/>
            </a:xfrm>
            <a:prstGeom prst="roundRect">
              <a:avLst>
                <a:gd fmla="val 13333" name="adj"/>
              </a:avLst>
            </a:prstGeom>
            <a:solidFill>
              <a:srgbClr val="E0F2FE"/>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6"/>
            <p:cNvSpPr txBox="1"/>
            <p:nvPr/>
          </p:nvSpPr>
          <p:spPr>
            <a:xfrm>
              <a:off x="1905000" y="7620000"/>
              <a:ext cx="1447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800">
                  <a:solidFill>
                    <a:srgbClr val="0369A1"/>
                  </a:solidFill>
                  <a:latin typeface="Inter"/>
                  <a:ea typeface="Inter"/>
                  <a:cs typeface="Inter"/>
                  <a:sym typeface="Inter"/>
                </a:rPr>
                <a:t>Claridad en la mesa de trabajo</a:t>
              </a:r>
              <a:endParaRPr b="1" sz="2800">
                <a:solidFill>
                  <a:srgbClr val="0369A1"/>
                </a:solidFill>
                <a:latin typeface="Inter"/>
                <a:ea typeface="Inter"/>
                <a:cs typeface="Inter"/>
                <a:sym typeface="Inter"/>
              </a:endParaRPr>
            </a:p>
            <a:p>
              <a:pPr indent="0" lvl="0" marL="0" rtl="0" algn="l">
                <a:spcBef>
                  <a:spcPts val="750"/>
                </a:spcBef>
                <a:spcAft>
                  <a:spcPts val="0"/>
                </a:spcAft>
                <a:buNone/>
              </a:pPr>
              <a:r>
                <a:rPr b="0" lang="en-US" sz="2000">
                  <a:solidFill>
                    <a:srgbClr val="0C4A6E"/>
                  </a:solidFill>
                  <a:latin typeface="Inter"/>
                  <a:ea typeface="Inter"/>
                  <a:cs typeface="Inter"/>
                  <a:sym typeface="Inter"/>
                </a:rPr>
                <a:t>La mesa tiene que entender quién hace qué de cada lado para evitar fricciones y duplicidad de tareas.</a:t>
              </a:r>
              <a:endParaRPr b="0" sz="2000">
                <a:solidFill>
                  <a:srgbClr val="0C4A6E"/>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4" name="Shape 154"/>
        <p:cNvGrpSpPr/>
        <p:nvPr/>
      </p:nvGrpSpPr>
      <p:grpSpPr>
        <a:xfrm>
          <a:off x="0" y="0"/>
          <a:ext cx="0" cy="0"/>
          <a:chOff x="0" y="0"/>
          <a:chExt cx="0" cy="0"/>
        </a:xfrm>
      </p:grpSpPr>
      <p:sp>
        <p:nvSpPr>
          <p:cNvPr id="155" name="Google Shape;155;p17"/>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56" name="Google Shape;156;p17"/>
          <p:cNvGrpSpPr/>
          <p:nvPr/>
        </p:nvGrpSpPr>
        <p:grpSpPr>
          <a:xfrm>
            <a:off x="1371600" y="762000"/>
            <a:ext cx="15544800" cy="2000400"/>
            <a:chOff x="1371600" y="762000"/>
            <a:chExt cx="15544800" cy="2000400"/>
          </a:xfrm>
        </p:grpSpPr>
        <p:sp>
          <p:nvSpPr>
            <p:cNvPr id="157" name="Google Shape;157;p17"/>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77CC"/>
                  </a:solidFill>
                  <a:latin typeface="Inter"/>
                  <a:ea typeface="Inter"/>
                  <a:cs typeface="Inter"/>
                  <a:sym typeface="Inter"/>
                </a:rPr>
                <a:t>LA NEGOCIACIÓN HONESTA</a:t>
              </a:r>
              <a:endParaRPr b="1" sz="1800">
                <a:solidFill>
                  <a:srgbClr val="0077CC"/>
                </a:solidFill>
                <a:latin typeface="Inter"/>
                <a:ea typeface="Inter"/>
                <a:cs typeface="Inter"/>
                <a:sym typeface="Inter"/>
              </a:endParaRPr>
            </a:p>
          </p:txBody>
        </p:sp>
        <p:sp>
          <p:nvSpPr>
            <p:cNvPr id="158" name="Google Shape;158;p17"/>
            <p:cNvSpPr txBox="1"/>
            <p:nvPr/>
          </p:nvSpPr>
          <p:spPr>
            <a:xfrm>
              <a:off x="1371600" y="1333500"/>
              <a:ext cx="155448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4995">
                  <a:solidFill>
                    <a:srgbClr val="0A0915"/>
                  </a:solidFill>
                  <a:latin typeface="Inter ExtraBold"/>
                  <a:ea typeface="Inter ExtraBold"/>
                  <a:cs typeface="Inter ExtraBold"/>
                  <a:sym typeface="Inter ExtraBold"/>
                </a:rPr>
                <a:t>La dedicación del coordinador no es negociable</a:t>
              </a:r>
              <a:endParaRPr b="0" sz="4995">
                <a:solidFill>
                  <a:srgbClr val="0A0915"/>
                </a:solidFill>
                <a:latin typeface="Inter ExtraBold"/>
                <a:ea typeface="Inter ExtraBold"/>
                <a:cs typeface="Inter ExtraBold"/>
                <a:sym typeface="Inter ExtraBold"/>
              </a:endParaRPr>
            </a:p>
          </p:txBody>
        </p:sp>
      </p:grpSp>
      <p:grpSp>
        <p:nvGrpSpPr>
          <p:cNvPr id="159" name="Google Shape;159;p17"/>
          <p:cNvGrpSpPr/>
          <p:nvPr/>
        </p:nvGrpSpPr>
        <p:grpSpPr>
          <a:xfrm>
            <a:off x="1371600" y="3048000"/>
            <a:ext cx="15544800" cy="3238500"/>
            <a:chOff x="1371600" y="3048000"/>
            <a:chExt cx="15544800" cy="3238500"/>
          </a:xfrm>
        </p:grpSpPr>
        <p:sp>
          <p:nvSpPr>
            <p:cNvPr id="160" name="Google Shape;160;p17"/>
            <p:cNvSpPr/>
            <p:nvPr/>
          </p:nvSpPr>
          <p:spPr>
            <a:xfrm>
              <a:off x="1371600" y="3048000"/>
              <a:ext cx="15544800" cy="3238500"/>
            </a:xfrm>
            <a:prstGeom prst="roundRect">
              <a:avLst>
                <a:gd fmla="val 7058" name="adj"/>
              </a:avLst>
            </a:prstGeom>
            <a:solidFill>
              <a:srgbClr val="FEF2F2"/>
            </a:solidFill>
            <a:ln cap="flat" cmpd="sng" w="19050">
              <a:solidFill>
                <a:srgbClr val="FEE2E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1" name="Google Shape;161;p17"/>
            <p:cNvSpPr txBox="1"/>
            <p:nvPr/>
          </p:nvSpPr>
          <p:spPr>
            <a:xfrm>
              <a:off x="1905000" y="3048000"/>
              <a:ext cx="14478000" cy="3238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4800">
                  <a:solidFill>
                    <a:srgbClr val="DC2626"/>
                  </a:solidFill>
                  <a:latin typeface="Material Icons"/>
                  <a:ea typeface="Material Icons"/>
                  <a:cs typeface="Material Icons"/>
                  <a:sym typeface="Material Icons"/>
                </a:rPr>
                <a:t></a:t>
              </a:r>
              <a:r>
                <a:rPr b="1" lang="en-US" sz="3200">
                  <a:solidFill>
                    <a:srgbClr val="991B1B"/>
                  </a:solidFill>
                  <a:latin typeface="Inter"/>
                  <a:ea typeface="Inter"/>
                  <a:cs typeface="Inter"/>
                  <a:sym typeface="Inter"/>
                </a:rPr>
                <a:t>Riesgo crítico de fracaso</a:t>
              </a:r>
              <a:endParaRPr/>
            </a:p>
            <a:p>
              <a:pPr indent="0" lvl="0" marL="0" rtl="0" algn="l">
                <a:spcBef>
                  <a:spcPts val="1500"/>
                </a:spcBef>
                <a:spcAft>
                  <a:spcPts val="0"/>
                </a:spcAft>
                <a:buNone/>
              </a:pPr>
              <a:r>
                <a:rPr b="1" lang="en-US" sz="4200">
                  <a:solidFill>
                    <a:srgbClr val="0A0915"/>
                  </a:solidFill>
                  <a:latin typeface="Inter"/>
                  <a:ea typeface="Inter"/>
                  <a:cs typeface="Inter"/>
                  <a:sym typeface="Inter"/>
                </a:rPr>
                <a:t>Si el coordinador solo dedica 2 horas semanales, el proyecto está condenado.</a:t>
              </a:r>
              <a:endParaRPr b="1" sz="4200">
                <a:solidFill>
                  <a:srgbClr val="0A0915"/>
                </a:solidFill>
                <a:latin typeface="Inter"/>
                <a:ea typeface="Inter"/>
                <a:cs typeface="Inter"/>
                <a:sym typeface="Inter"/>
              </a:endParaRPr>
            </a:p>
          </p:txBody>
        </p:sp>
      </p:grpSp>
      <p:grpSp>
        <p:nvGrpSpPr>
          <p:cNvPr id="162" name="Google Shape;162;p17"/>
          <p:cNvGrpSpPr/>
          <p:nvPr/>
        </p:nvGrpSpPr>
        <p:grpSpPr>
          <a:xfrm>
            <a:off x="1371600" y="6667500"/>
            <a:ext cx="15544800" cy="2286000"/>
            <a:chOff x="1371600" y="6667500"/>
            <a:chExt cx="15544800" cy="2286000"/>
          </a:xfrm>
        </p:grpSpPr>
        <p:sp>
          <p:nvSpPr>
            <p:cNvPr id="163" name="Google Shape;163;p17"/>
            <p:cNvSpPr/>
            <p:nvPr/>
          </p:nvSpPr>
          <p:spPr>
            <a:xfrm>
              <a:off x="1371600" y="6667500"/>
              <a:ext cx="15544800" cy="2286000"/>
            </a:xfrm>
            <a:prstGeom prst="roundRect">
              <a:avLst>
                <a:gd fmla="val 10000" name="adj"/>
              </a:avLst>
            </a:prstGeom>
            <a:solidFill>
              <a:srgbClr val="E0F2FE"/>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4" name="Google Shape;164;p17"/>
            <p:cNvSpPr txBox="1"/>
            <p:nvPr/>
          </p:nvSpPr>
          <p:spPr>
            <a:xfrm>
              <a:off x="1905000" y="6667500"/>
              <a:ext cx="14478000" cy="228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0369A1"/>
                  </a:solidFill>
                  <a:latin typeface="Inter"/>
                  <a:ea typeface="Inter"/>
                  <a:cs typeface="Inter"/>
                  <a:sym typeface="Inter"/>
                </a:rPr>
                <a:t>La regla de oro para el éxito</a:t>
              </a:r>
              <a:endParaRPr b="1" sz="2400">
                <a:solidFill>
                  <a:srgbClr val="0369A1"/>
                </a:solidFill>
                <a:latin typeface="Inter"/>
                <a:ea typeface="Inter"/>
                <a:cs typeface="Inter"/>
                <a:sym typeface="Inter"/>
              </a:endParaRPr>
            </a:p>
            <a:p>
              <a:pPr indent="0" lvl="0" marL="0" rtl="0" algn="l">
                <a:spcBef>
                  <a:spcPts val="750"/>
                </a:spcBef>
                <a:spcAft>
                  <a:spcPts val="0"/>
                </a:spcAft>
                <a:buNone/>
              </a:pPr>
              <a:r>
                <a:rPr b="0" lang="en-US" sz="2200">
                  <a:solidFill>
                    <a:srgbClr val="0C4A6E"/>
                  </a:solidFill>
                  <a:latin typeface="Inter"/>
                  <a:ea typeface="Inter"/>
                  <a:cs typeface="Inter"/>
                  <a:sym typeface="Inter"/>
                </a:rPr>
                <a:t>El coordinador necesita al menos el </a:t>
              </a:r>
              <a:r>
                <a:rPr b="1" lang="en-US" sz="2200">
                  <a:solidFill>
                    <a:srgbClr val="0077CC"/>
                  </a:solidFill>
                  <a:latin typeface="Inter"/>
                  <a:ea typeface="Inter"/>
                  <a:cs typeface="Inter"/>
                  <a:sym typeface="Inter"/>
                </a:rPr>
                <a:t>50% de su tiempo</a:t>
              </a:r>
              <a:r>
                <a:rPr b="0" lang="en-US" sz="2200">
                  <a:solidFill>
                    <a:srgbClr val="0C4A6E"/>
                  </a:solidFill>
                  <a:latin typeface="Inter"/>
                  <a:ea typeface="Inter"/>
                  <a:cs typeface="Inter"/>
                  <a:sym typeface="Inter"/>
                </a:rPr>
                <a:t>. Si está repartido en 3 proyectos, notifica al dueño antes de terminar la reunión.</a:t>
              </a:r>
              <a:endParaRPr b="0" sz="2200">
                <a:solidFill>
                  <a:srgbClr val="0C4A6E"/>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69" name="Shape 169"/>
        <p:cNvGrpSpPr/>
        <p:nvPr/>
      </p:nvGrpSpPr>
      <p:grpSpPr>
        <a:xfrm>
          <a:off x="0" y="0"/>
          <a:ext cx="0" cy="0"/>
          <a:chOff x="0" y="0"/>
          <a:chExt cx="0" cy="0"/>
        </a:xfrm>
      </p:grpSpPr>
      <p:sp>
        <p:nvSpPr>
          <p:cNvPr id="170" name="Google Shape;170;p18"/>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71" name="Google Shape;171;p18"/>
          <p:cNvGrpSpPr/>
          <p:nvPr/>
        </p:nvGrpSpPr>
        <p:grpSpPr>
          <a:xfrm>
            <a:off x="1371600" y="762000"/>
            <a:ext cx="15544800" cy="1524000"/>
            <a:chOff x="1371600" y="762000"/>
            <a:chExt cx="15544800" cy="1524000"/>
          </a:xfrm>
        </p:grpSpPr>
        <p:sp>
          <p:nvSpPr>
            <p:cNvPr id="172" name="Google Shape;172;p18"/>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77CC"/>
                  </a:solidFill>
                  <a:latin typeface="Inter"/>
                  <a:ea typeface="Inter"/>
                  <a:cs typeface="Inter"/>
                  <a:sym typeface="Inter"/>
                </a:rPr>
                <a:t>EL ENTREGABLE</a:t>
              </a:r>
              <a:endParaRPr b="1" sz="1800">
                <a:solidFill>
                  <a:srgbClr val="0077CC"/>
                </a:solidFill>
                <a:latin typeface="Inter"/>
                <a:ea typeface="Inter"/>
                <a:cs typeface="Inter"/>
                <a:sym typeface="Inter"/>
              </a:endParaRPr>
            </a:p>
          </p:txBody>
        </p:sp>
        <p:sp>
          <p:nvSpPr>
            <p:cNvPr id="173" name="Google Shape;173;p18"/>
            <p:cNvSpPr txBox="1"/>
            <p:nvPr/>
          </p:nvSpPr>
          <p:spPr>
            <a:xfrm>
              <a:off x="1371600" y="1333500"/>
              <a:ext cx="155448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5400">
                  <a:solidFill>
                    <a:srgbClr val="0A0915"/>
                  </a:solidFill>
                  <a:latin typeface="Inter ExtraBold"/>
                  <a:ea typeface="Inter ExtraBold"/>
                  <a:cs typeface="Inter ExtraBold"/>
                  <a:sym typeface="Inter ExtraBold"/>
                </a:rPr>
                <a:t>Estructura del Equipo del Proyecto</a:t>
              </a:r>
              <a:endParaRPr b="0" sz="5400">
                <a:solidFill>
                  <a:srgbClr val="0A0915"/>
                </a:solidFill>
                <a:latin typeface="Inter ExtraBold"/>
                <a:ea typeface="Inter ExtraBold"/>
                <a:cs typeface="Inter ExtraBold"/>
                <a:sym typeface="Inter ExtraBold"/>
              </a:endParaRPr>
            </a:p>
          </p:txBody>
        </p:sp>
      </p:grpSp>
      <p:grpSp>
        <p:nvGrpSpPr>
          <p:cNvPr id="174" name="Google Shape;174;p18"/>
          <p:cNvGrpSpPr/>
          <p:nvPr/>
        </p:nvGrpSpPr>
        <p:grpSpPr>
          <a:xfrm>
            <a:off x="1371600" y="2667000"/>
            <a:ext cx="15544800" cy="4953000"/>
            <a:chOff x="1371600" y="2667000"/>
            <a:chExt cx="15544800" cy="4953000"/>
          </a:xfrm>
        </p:grpSpPr>
        <p:sp>
          <p:nvSpPr>
            <p:cNvPr id="175" name="Google Shape;175;p18"/>
            <p:cNvSpPr/>
            <p:nvPr/>
          </p:nvSpPr>
          <p:spPr>
            <a:xfrm>
              <a:off x="1371600" y="2667000"/>
              <a:ext cx="15544800" cy="4953000"/>
            </a:xfrm>
            <a:prstGeom prst="roundRect">
              <a:avLst>
                <a:gd fmla="val 3076"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6" name="Google Shape;176;p18"/>
            <p:cNvSpPr/>
            <p:nvPr/>
          </p:nvSpPr>
          <p:spPr>
            <a:xfrm>
              <a:off x="1371600" y="2667000"/>
              <a:ext cx="15544800" cy="666900"/>
            </a:xfrm>
            <a:prstGeom prst="roundRect">
              <a:avLst>
                <a:gd fmla="val 22857" name="adj"/>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7" name="Google Shape;177;p18"/>
            <p:cNvSpPr/>
            <p:nvPr/>
          </p:nvSpPr>
          <p:spPr>
            <a:xfrm>
              <a:off x="1371600" y="3048000"/>
              <a:ext cx="15544800" cy="2859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18"/>
            <p:cNvSpPr txBox="1"/>
            <p:nvPr/>
          </p:nvSpPr>
          <p:spPr>
            <a:xfrm>
              <a:off x="1371600" y="2667000"/>
              <a:ext cx="15544800" cy="666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600">
                  <a:solidFill>
                    <a:srgbClr val="FFFFFF"/>
                  </a:solidFill>
                  <a:latin typeface="Inter"/>
                  <a:ea typeface="Inter"/>
                  <a:cs typeface="Inter"/>
                  <a:sym typeface="Inter"/>
                </a:rPr>
                <a:t>Nombre | Email | Rol | Dedicación | Área</a:t>
              </a:r>
              <a:endParaRPr b="1" sz="1600">
                <a:solidFill>
                  <a:srgbClr val="FFFFFF"/>
                </a:solidFill>
                <a:latin typeface="Inter"/>
                <a:ea typeface="Inter"/>
                <a:cs typeface="Inter"/>
                <a:sym typeface="Inter"/>
              </a:endParaRPr>
            </a:p>
          </p:txBody>
        </p:sp>
        <p:cxnSp>
          <p:nvCxnSpPr>
            <p:cNvPr id="179" name="Google Shape;179;p18"/>
            <p:cNvCxnSpPr/>
            <p:nvPr/>
          </p:nvCxnSpPr>
          <p:spPr>
            <a:xfrm>
              <a:off x="1371600" y="4191000"/>
              <a:ext cx="15544800" cy="0"/>
            </a:xfrm>
            <a:prstGeom prst="straightConnector1">
              <a:avLst/>
            </a:prstGeom>
            <a:solidFill>
              <a:srgbClr val="FFFFFF"/>
            </a:solidFill>
            <a:ln cap="flat" cmpd="sng" w="9525">
              <a:solidFill>
                <a:srgbClr val="E2E8F0"/>
              </a:solidFill>
              <a:prstDash val="solid"/>
              <a:round/>
              <a:headEnd len="sm" w="sm" type="none"/>
              <a:tailEnd len="sm" w="sm" type="none"/>
            </a:ln>
          </p:spPr>
        </p:cxnSp>
        <p:cxnSp>
          <p:nvCxnSpPr>
            <p:cNvPr id="180" name="Google Shape;180;p18"/>
            <p:cNvCxnSpPr/>
            <p:nvPr/>
          </p:nvCxnSpPr>
          <p:spPr>
            <a:xfrm>
              <a:off x="1371600" y="5048250"/>
              <a:ext cx="15544800" cy="0"/>
            </a:xfrm>
            <a:prstGeom prst="straightConnector1">
              <a:avLst/>
            </a:prstGeom>
            <a:solidFill>
              <a:srgbClr val="FFFFFF"/>
            </a:solidFill>
            <a:ln cap="flat" cmpd="sng" w="9525">
              <a:solidFill>
                <a:srgbClr val="E2E8F0"/>
              </a:solidFill>
              <a:prstDash val="solid"/>
              <a:round/>
              <a:headEnd len="sm" w="sm" type="none"/>
              <a:tailEnd len="sm" w="sm" type="none"/>
            </a:ln>
          </p:spPr>
        </p:cxnSp>
        <p:cxnSp>
          <p:nvCxnSpPr>
            <p:cNvPr id="181" name="Google Shape;181;p18"/>
            <p:cNvCxnSpPr/>
            <p:nvPr/>
          </p:nvCxnSpPr>
          <p:spPr>
            <a:xfrm>
              <a:off x="1371600" y="5905500"/>
              <a:ext cx="15544800" cy="0"/>
            </a:xfrm>
            <a:prstGeom prst="straightConnector1">
              <a:avLst/>
            </a:prstGeom>
            <a:solidFill>
              <a:srgbClr val="FFFFFF"/>
            </a:solidFill>
            <a:ln cap="flat" cmpd="sng" w="9525">
              <a:solidFill>
                <a:srgbClr val="E2E8F0"/>
              </a:solidFill>
              <a:prstDash val="solid"/>
              <a:round/>
              <a:headEnd len="sm" w="sm" type="none"/>
              <a:tailEnd len="sm" w="sm" type="none"/>
            </a:ln>
          </p:spPr>
        </p:cxnSp>
        <p:cxnSp>
          <p:nvCxnSpPr>
            <p:cNvPr id="182" name="Google Shape;182;p18"/>
            <p:cNvCxnSpPr/>
            <p:nvPr/>
          </p:nvCxnSpPr>
          <p:spPr>
            <a:xfrm>
              <a:off x="1371600" y="6762750"/>
              <a:ext cx="15544800" cy="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83" name="Google Shape;183;p18"/>
            <p:cNvSpPr txBox="1"/>
            <p:nvPr/>
          </p:nvSpPr>
          <p:spPr>
            <a:xfrm>
              <a:off x="1714500" y="3429000"/>
              <a:ext cx="14859000" cy="409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77CC"/>
                  </a:solidFill>
                  <a:latin typeface="Inter"/>
                  <a:ea typeface="Inter"/>
                  <a:cs typeface="Inter"/>
                  <a:sym typeface="Inter"/>
                </a:rPr>
                <a:t>Gobierno (5 Roles)</a:t>
              </a:r>
              <a:endParaRPr b="1" sz="1800">
                <a:solidFill>
                  <a:srgbClr val="0077CC"/>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1: Dueño del proyecto</a:t>
              </a:r>
              <a:endParaRPr b="0" sz="1800">
                <a:solidFill>
                  <a:srgbClr val="475569"/>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2: Coordinador</a:t>
              </a:r>
              <a:endParaRPr b="0" sz="1800">
                <a:solidFill>
                  <a:srgbClr val="475569"/>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3: Especialista funcional</a:t>
              </a:r>
              <a:endParaRPr b="0" sz="1800">
                <a:solidFill>
                  <a:srgbClr val="475569"/>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4: Técnico</a:t>
              </a:r>
              <a:endParaRPr b="0" sz="1800">
                <a:solidFill>
                  <a:srgbClr val="475569"/>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5: Comunicación</a:t>
              </a:r>
              <a:endParaRPr b="0" sz="1800">
                <a:solidFill>
                  <a:srgbClr val="475569"/>
                </a:solidFill>
                <a:latin typeface="Inter"/>
                <a:ea typeface="Inter"/>
                <a:cs typeface="Inter"/>
                <a:sym typeface="Inter"/>
              </a:endParaRPr>
            </a:p>
            <a:p>
              <a:pPr indent="0" lvl="0" marL="0" rtl="0" algn="l">
                <a:spcBef>
                  <a:spcPts val="0"/>
                </a:spcBef>
                <a:spcAft>
                  <a:spcPts val="0"/>
                </a:spcAft>
                <a:buNone/>
              </a:pPr>
              <a:r>
                <a:rPr b="1" lang="en-US" sz="1800">
                  <a:solidFill>
                    <a:srgbClr val="0077CC"/>
                  </a:solidFill>
                  <a:latin typeface="Inter"/>
                  <a:ea typeface="Inter"/>
                  <a:cs typeface="Inter"/>
                  <a:sym typeface="Inter"/>
                </a:rPr>
                <a:t>Partner (3 Roles)</a:t>
              </a:r>
              <a:endParaRPr b="1" sz="1800">
                <a:solidFill>
                  <a:srgbClr val="0077CC"/>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1: Líder de implementación</a:t>
              </a:r>
              <a:endParaRPr b="0" sz="1800">
                <a:solidFill>
                  <a:srgbClr val="475569"/>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2: Técnico</a:t>
              </a:r>
              <a:endParaRPr b="0" sz="1800">
                <a:solidFill>
                  <a:srgbClr val="475569"/>
                </a:solidFill>
                <a:latin typeface="Inter"/>
                <a:ea typeface="Inter"/>
                <a:cs typeface="Inter"/>
                <a:sym typeface="Inter"/>
              </a:endParaRPr>
            </a:p>
            <a:p>
              <a:pPr indent="0" lvl="0" marL="0" rtl="0" algn="l">
                <a:spcBef>
                  <a:spcPts val="0"/>
                </a:spcBef>
                <a:spcAft>
                  <a:spcPts val="0"/>
                </a:spcAft>
                <a:buNone/>
              </a:pPr>
              <a:r>
                <a:rPr b="0" lang="en-US" sz="1800">
                  <a:solidFill>
                    <a:srgbClr val="475569"/>
                  </a:solidFill>
                  <a:latin typeface="Inter"/>
                  <a:ea typeface="Inter"/>
                  <a:cs typeface="Inter"/>
                  <a:sym typeface="Inter"/>
                </a:rPr>
                <a:t>• Rol 3: Soporte</a:t>
              </a:r>
              <a:endParaRPr b="0" sz="1800">
                <a:solidFill>
                  <a:srgbClr val="475569"/>
                </a:solidFill>
                <a:latin typeface="Inter"/>
                <a:ea typeface="Inter"/>
                <a:cs typeface="Inter"/>
                <a:sym typeface="Inter"/>
              </a:endParaRPr>
            </a:p>
          </p:txBody>
        </p:sp>
      </p:grpSp>
      <p:grpSp>
        <p:nvGrpSpPr>
          <p:cNvPr id="184" name="Google Shape;184;p18"/>
          <p:cNvGrpSpPr/>
          <p:nvPr/>
        </p:nvGrpSpPr>
        <p:grpSpPr>
          <a:xfrm>
            <a:off x="1371600" y="8001000"/>
            <a:ext cx="15544800" cy="1564894"/>
            <a:chOff x="1371600" y="8001000"/>
            <a:chExt cx="15544800" cy="1564894"/>
          </a:xfrm>
        </p:grpSpPr>
        <p:sp>
          <p:nvSpPr>
            <p:cNvPr id="185" name="Google Shape;185;p18"/>
            <p:cNvSpPr/>
            <p:nvPr/>
          </p:nvSpPr>
          <p:spPr>
            <a:xfrm>
              <a:off x="1371600" y="8001000"/>
              <a:ext cx="15544800" cy="1524000"/>
            </a:xfrm>
            <a:prstGeom prst="roundRect">
              <a:avLst>
                <a:gd fmla="val 10000" name="adj"/>
              </a:avLst>
            </a:prstGeom>
            <a:solidFill>
              <a:srgbClr val="E0F2FE"/>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8"/>
            <p:cNvSpPr txBox="1"/>
            <p:nvPr/>
          </p:nvSpPr>
          <p:spPr>
            <a:xfrm>
              <a:off x="1809750" y="8041894"/>
              <a:ext cx="381000" cy="15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2800">
                  <a:solidFill>
                    <a:srgbClr val="0369A1"/>
                  </a:solidFill>
                  <a:latin typeface="Material Icons"/>
                  <a:ea typeface="Material Icons"/>
                  <a:cs typeface="Material Icons"/>
                  <a:sym typeface="Material Icons"/>
                </a:rPr>
                <a:t></a:t>
              </a:r>
              <a:endParaRPr sz="2800">
                <a:solidFill>
                  <a:srgbClr val="0369A1"/>
                </a:solidFill>
                <a:latin typeface="Material Icons"/>
                <a:ea typeface="Material Icons"/>
                <a:cs typeface="Material Icons"/>
                <a:sym typeface="Material Icons"/>
              </a:endParaRPr>
            </a:p>
          </p:txBody>
        </p:sp>
        <p:sp>
          <p:nvSpPr>
            <p:cNvPr id="187" name="Google Shape;187;p18"/>
            <p:cNvSpPr txBox="1"/>
            <p:nvPr/>
          </p:nvSpPr>
          <p:spPr>
            <a:xfrm>
              <a:off x="2286000" y="8001000"/>
              <a:ext cx="14154300" cy="15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369A1"/>
                  </a:solidFill>
                  <a:latin typeface="Inter"/>
                  <a:ea typeface="Inter"/>
                  <a:cs typeface="Inter"/>
                  <a:sym typeface="Inter"/>
                </a:rPr>
                <a:t>Información adicional obligatoria:</a:t>
              </a:r>
              <a:r>
                <a:rPr b="0" lang="en-US" sz="1800">
                  <a:solidFill>
                    <a:srgbClr val="0C4A6E"/>
                  </a:solidFill>
                  <a:latin typeface="Inter"/>
                  <a:ea typeface="Inter"/>
                  <a:cs typeface="Inter"/>
                  <a:sym typeface="Inter"/>
                </a:rPr>
                <a:t> Gaps abiertos, roles vacantes y puntos de contacto únicos.</a:t>
              </a:r>
              <a:endParaRPr b="0" sz="1800">
                <a:solidFill>
                  <a:srgbClr val="0C4A6E"/>
                </a:solidFill>
                <a:latin typeface="Inter"/>
                <a:ea typeface="Inter"/>
                <a:cs typeface="Inter"/>
                <a:sym typeface="Inter"/>
              </a:endParaRPr>
            </a:p>
            <a:p>
              <a:pPr indent="0" lvl="0" marL="0" rtl="0" algn="l">
                <a:spcBef>
                  <a:spcPts val="375"/>
                </a:spcBef>
                <a:spcAft>
                  <a:spcPts val="0"/>
                </a:spcAft>
                <a:buNone/>
              </a:pPr>
              <a:r>
                <a:rPr b="0" lang="en-US" sz="1800">
                  <a:solidFill>
                    <a:srgbClr val="0C4A6E"/>
                  </a:solidFill>
                  <a:latin typeface="Inter"/>
                  <a:ea typeface="Inter"/>
                  <a:cs typeface="Inter"/>
                  <a:sym typeface="Inter"/>
                </a:rPr>
                <a:t>La tabla debe completarse íntegramente con nombres reales para garantizar el readiness del proyecto.</a:t>
              </a:r>
              <a:endParaRPr b="0" sz="1800">
                <a:solidFill>
                  <a:srgbClr val="0C4A6E"/>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19"/>
          <p:cNvSpPr/>
          <p:nvPr/>
        </p:nvSpPr>
        <p:spPr>
          <a:xfrm>
            <a:off x="0" y="0"/>
            <a:ext cx="18288000" cy="102870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 name="Google Shape;194;p19"/>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Sin nombres</a:t>
            </a:r>
            <a:endParaRPr/>
          </a:p>
        </p:txBody>
      </p:sp>
      <p:sp>
        <p:nvSpPr>
          <p:cNvPr id="195" name="Google Shape;195;p19"/>
          <p:cNvSpPr txBox="1"/>
          <p:nvPr/>
        </p:nvSpPr>
        <p:spPr>
          <a:xfrm>
            <a:off x="1371600" y="4754880"/>
            <a:ext cx="15544800" cy="1200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no se arranca</a:t>
            </a:r>
            <a:endParaRPr/>
          </a:p>
        </p:txBody>
      </p:sp>
      <p:sp>
        <p:nvSpPr>
          <p:cNvPr id="196" name="Google Shape;196;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Es la señal de readiness más simple y la que más se ignora.</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