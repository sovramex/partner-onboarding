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6.8s · 17 palabras]</a:t>
            </a:r>
          </a:p>
          <a:p/>
          <a:p>
            <a:r>
              <a:t>La primera reunión obligatoria de la Fase A es la de roles y equipo. Una hora. Punto.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18.8s · 47 palabras]</a:t>
            </a:r>
          </a:p>
          <a:p/>
          <a:p>
            <a:r>
              <a:t>Lo que tiene que pasar en esa hora es muy concreto: los cinco roles del gobierno quedan asignados con nombre y apellido, email, área y dedicación esperada. No vamos a buscar a alguien de TI. Una persona, con nombre, que se compromete a dedicar X horas semanales.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23.6s · 59 palabras]</a:t>
            </a:r>
          </a:p>
          <a:p/>
          <a:p>
            <a:r>
              <a:t>Los cinco roles del gobierno son: dueño del proyecto, que toma las decisiones políticas; coordinador, que necesita mínimo cincuenta por ciento de dedicación; especialista funcional, que va a estar al cien por ciento durante las Fases B y C; técnico, que se encarga de APIs, dominio e infraestructura; y la persona de comunicación, que se suma en Fase 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12.4s · 31 palabras]</a:t>
            </a:r>
          </a:p>
          <a:p/>
          <a:p>
            <a:r>
              <a:t>Tu equipo del lado del partner también se presenta: líder de implementación, que eres tú, técnico, y soporte o capacitador. La mesa tiene que entender quién hace qué de cada lado.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21.6s · 54 palabras]</a:t>
            </a:r>
          </a:p>
          <a:p/>
          <a:p>
            <a:r>
              <a:t>Negocia los mínimos con honestidad. Si el coordinador del gobierno te dice que puede dedicar dos horas a la semana, ese proyecto está condenado. El coordinador necesita la mitad de su tiempo, mínimo. Si la persona asignada está repartida entre tres proyectos paralelos, díselo al dueño del proyecto antes de salir de la reunión.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31.2s · 78 palabras]</a:t>
            </a:r>
          </a:p>
          <a:p/>
          <a:p>
            <a:r>
              <a:t>Lo que sale de esta reunión es una tabla. Cinco filas para gobierno, tres para partner. Cada fila con nombre, email, rol, dedicación y área. Y también: qué gaps quedan abiertos, qué rol está vacante, quién es el punto de contacto único de cada lado para la comunicación del día a día. Si después de esta reunión no tienes nombres, no avances. La señal número uno de readiness es nombres en una tabla. Sin eso, no hay proyecto.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7.2s · 18 palabras]</a:t>
            </a:r>
          </a:p>
          <a:p/>
          <a:p>
            <a:r>
              <a:t>Sin nombres no se arranca. Es la señal de readiness más simple y la que más se ignora.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0077CC"/>
                </a:solidFill>
                <a:latin typeface="Figtree"/>
              </a:rPr>
              <a:t>FASE A</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Los cinco roles del gobierno,</a:t>
            </a:r>
          </a:p>
          <a:p>
            <a:pPr algn="l">
              <a:lnSpc>
                <a:spcPct val="110000"/>
              </a:lnSpc>
            </a:pPr>
            <a:r>
              <a:rPr sz="8000" b="1" i="0">
                <a:solidFill>
                  <a:srgbClr val="0A0915"/>
                </a:solidFill>
                <a:latin typeface="Plus Jakarta Sans"/>
              </a:rPr>
              <a:t>con nombre y apellido.</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La primera reunión obligatoria de Fase A. Una hora. Punto.</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077CC"/>
                </a:solidFill>
                <a:latin typeface="Figtree"/>
              </a:rPr>
              <a:t>Lo que tiene que pasar</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Cinco roles asignados</a:t>
            </a:r>
          </a:p>
          <a:p>
            <a:pPr algn="ctr">
              <a:lnSpc>
                <a:spcPct val="115000"/>
              </a:lnSpc>
            </a:pPr>
            <a:r>
              <a:rPr sz="5600" b="1" i="0">
                <a:solidFill>
                  <a:srgbClr val="0A0915"/>
                </a:solidFill>
                <a:latin typeface="Plus Jakarta Sans"/>
              </a:rPr>
              <a:t>con nombre, email, área y dedicación.</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No "vamos a buscar a alguien de TI." Una persona, con nombre, que se compromete a dedicar X horas semanales.</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1828800"/>
          </a:xfrm>
          <a:prstGeom prst="rect">
            <a:avLst/>
          </a:prstGeom>
          <a:noFill/>
        </p:spPr>
        <p:txBody>
          <a:bodyPr wrap="square" anchor="t" lIns="0" rIns="0" tIns="0" bIns="0">
            <a:spAutoFit/>
          </a:bodyPr>
          <a:lstStyle/>
          <a:p>
            <a:pPr algn="l">
              <a:lnSpc>
                <a:spcPct val="115000"/>
              </a:lnSpc>
            </a:pPr>
            <a:r>
              <a:rPr sz="4200" b="1" i="0">
                <a:solidFill>
                  <a:srgbClr val="0A0915"/>
                </a:solidFill>
                <a:latin typeface="Plus Jakarta Sans"/>
              </a:rPr>
              <a:t>Los cinco roles del gobierno.</a:t>
            </a:r>
          </a:p>
        </p:txBody>
      </p:sp>
      <p:sp>
        <p:nvSpPr>
          <p:cNvPr id="3" name="Rounded Rectangle 2"/>
          <p:cNvSpPr/>
          <p:nvPr/>
        </p:nvSpPr>
        <p:spPr>
          <a:xfrm>
            <a:off x="1371600" y="388620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6576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Dueño del proyecto — toma las decisiones políticas.</a:t>
            </a:r>
          </a:p>
        </p:txBody>
      </p:sp>
      <p:sp>
        <p:nvSpPr>
          <p:cNvPr id="5" name="Rounded Rectangle 4"/>
          <p:cNvSpPr/>
          <p:nvPr/>
        </p:nvSpPr>
        <p:spPr>
          <a:xfrm>
            <a:off x="1371600" y="470916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48056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Coordinador — mínimo 50% de dedicación.</a:t>
            </a:r>
          </a:p>
        </p:txBody>
      </p:sp>
      <p:sp>
        <p:nvSpPr>
          <p:cNvPr id="7" name="Rounded Rectangle 6"/>
          <p:cNvSpPr/>
          <p:nvPr/>
        </p:nvSpPr>
        <p:spPr>
          <a:xfrm>
            <a:off x="1371600" y="553212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Especialista funcional — 100% durante Fases B y C.</a:t>
            </a:r>
          </a:p>
        </p:txBody>
      </p:sp>
      <p:sp>
        <p:nvSpPr>
          <p:cNvPr id="9" name="Rounded Rectangle 8"/>
          <p:cNvSpPr/>
          <p:nvPr/>
        </p:nvSpPr>
        <p:spPr>
          <a:xfrm>
            <a:off x="1371600" y="635508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612648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Técnico — APIs, dominio e infraestructura.</a:t>
            </a:r>
          </a:p>
        </p:txBody>
      </p:sp>
      <p:sp>
        <p:nvSpPr>
          <p:cNvPr id="11" name="Rounded Rectangle 10"/>
          <p:cNvSpPr/>
          <p:nvPr/>
        </p:nvSpPr>
        <p:spPr>
          <a:xfrm>
            <a:off x="1371600" y="717804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694944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Comunicación — se suma en Fase D.</a:t>
            </a:r>
          </a:p>
        </p:txBody>
      </p:sp>
      <p:sp>
        <p:nvSpPr>
          <p:cNvPr id="13" name="TextBox 12"/>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077CC"/>
                </a:solidFill>
                <a:latin typeface="Figtree"/>
              </a:rPr>
              <a:t>Tu lado también se presenta</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Líder de implementación,</a:t>
            </a:r>
          </a:p>
          <a:p>
            <a:pPr algn="ctr">
              <a:lnSpc>
                <a:spcPct val="115000"/>
              </a:lnSpc>
            </a:pPr>
            <a:r>
              <a:rPr sz="5600" b="1" i="0">
                <a:solidFill>
                  <a:srgbClr val="0A0915"/>
                </a:solidFill>
                <a:latin typeface="Plus Jakarta Sans"/>
              </a:rPr>
              <a:t>técnico, soporte.</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La mesa tiene que entender quién hace qué de cada lado.</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077CC"/>
                </a:solidFill>
                <a:latin typeface="Figtree"/>
              </a:rPr>
              <a:t>La negociación honesta</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Si el coordinador puede dedicar dos horas a la semana,</a:t>
            </a:r>
          </a:p>
          <a:p>
            <a:pPr algn="ctr">
              <a:lnSpc>
                <a:spcPct val="115000"/>
              </a:lnSpc>
            </a:pPr>
            <a:r>
              <a:rPr sz="5600" b="1" i="0">
                <a:solidFill>
                  <a:srgbClr val="0A0915"/>
                </a:solidFill>
                <a:latin typeface="Plus Jakarta Sans"/>
              </a:rPr>
              <a:t>el proyecto está condenado.</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El coordinador necesita la mitad de su tiempo, mínimo. Si la persona está repartida entre tres proyectos paralelos, díselo al dueño antes de salir de la reunión.</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077CC"/>
                </a:solidFill>
                <a:latin typeface="Figtree"/>
              </a:rPr>
              <a:t>El entregable</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Una tabla. Cinco filas gobierno, tres partner.</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Cada fila con nombre, email, rol, dedicación y área. Más: gaps abiertos, roles vacantes, punto de contacto único de cada lado.</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Sin nombres</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no se arranca.</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Es la señal de readiness más simple y la que más se ignora.</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