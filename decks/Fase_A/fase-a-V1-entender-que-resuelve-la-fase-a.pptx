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10287000" cx="18288000"/>
  <p:notesSz cx="6858000" cy="9144000"/>
  <p:embeddedFontLst>
    <p:embeddedFont>
      <p:font typeface="Inter SemiBold"/>
      <p:regular r:id="rId12"/>
      <p:bold r:id="rId13"/>
      <p:italic r:id="rId14"/>
      <p:boldItalic r:id="rId15"/>
    </p:embeddedFont>
    <p:embeddedFont>
      <p:font typeface="Inter"/>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SemiBold-bold.fntdata"/><Relationship Id="rId12" Type="http://schemas.openxmlformats.org/officeDocument/2006/relationships/font" Target="fonts/Inter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SemiBold-boldItalic.fntdata"/><Relationship Id="rId14" Type="http://schemas.openxmlformats.org/officeDocument/2006/relationships/font" Target="fonts/InterSemiBold-italic.fntdata"/><Relationship Id="rId17" Type="http://schemas.openxmlformats.org/officeDocument/2006/relationships/font" Target="fonts/Inter-bold.fntdata"/><Relationship Id="rId16" Type="http://schemas.openxmlformats.org/officeDocument/2006/relationships/font" Target="fonts/Inter-regular.fntdata"/><Relationship Id="rId5" Type="http://schemas.openxmlformats.org/officeDocument/2006/relationships/notesMaster" Target="notesMasters/notesMaster1.xml"/><Relationship Id="rId19" Type="http://schemas.openxmlformats.org/officeDocument/2006/relationships/font" Target="fonts/Inter-boldItalic.fntdata"/><Relationship Id="rId6" Type="http://schemas.openxmlformats.org/officeDocument/2006/relationships/slide" Target="slides/slide1.xml"/><Relationship Id="rId18" Type="http://schemas.openxmlformats.org/officeDocument/2006/relationships/font" Target="fonts/Inter-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18.0s · 45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Fase A es la primera semana del ciclo de noventa días. Dura poco, pero define casi todo lo que pasa después. Si la haces bien, las cuatro fases siguientes se vuelven manejables. Si la haces mal, vas a estar tapando agujeros hasta el go-live.</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13.2s · 33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 primero que tienes que entender es qué NO es la Fase A. No es una semana de presentaciones bonitas. No es repasar la propuesta comercial. No es una ronda de saludos institucionales.</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12.4s · 31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 una semana operativa donde tu trabajo es producir cuatro cosas concretas: un equipo con nombres, un alcance firmado, un plan de trabajo aceptado y una solicitud de dominio en marcha.</a:t>
            </a:r>
            <a:endParaRPr/>
          </a:p>
        </p:txBody>
      </p:sp>
      <p:sp>
        <p:nvSpPr>
          <p:cNvPr id="113" name="Google Shape;113;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24.0s · 60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partner que confunde Fase A con ceremonia llega a la semana cuatro sin saber quién es el especialista funcional del gobierno. El partner que entiende Fase A como ejecución llega a la semana cuatro con los cinco roles asignados, el contrato resumido en lenguaje simple y firmado por ambas partes, y el dominio pedido a TI hace tres semanas.</a:t>
            </a:r>
            <a:endParaRPr/>
          </a:p>
        </p:txBody>
      </p:sp>
      <p:sp>
        <p:nvSpPr>
          <p:cNvPr id="133" name="Google Shape;13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19.2s · 48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Piensa en esto como cuando entras al gobierno por primera vez. No vas a empezar configurando la plataforma. Vas a empezar averiguando quién decide, quién impulsa y quién podría bloquear. Sin ese mapa, cualquier configuración técnica que hagas después se va a romper en la primera reunión política.</a:t>
            </a:r>
            <a:endParaRPr/>
          </a:p>
        </p:txBody>
      </p:sp>
      <p:sp>
        <p:nvSpPr>
          <p:cNvPr id="151" name="Google Shape;151;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7.6s · 19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Fase A no se mide por reuniones hechas. Se mide por decisiones tomadas y nombres en una tabla.</a:t>
            </a:r>
            <a:endParaRPr/>
          </a:p>
        </p:txBody>
      </p:sp>
      <p:sp>
        <p:nvSpPr>
          <p:cNvPr id="171" name="Google Shape;171;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077CC"/>
                </a:solidFill>
                <a:latin typeface="Inter"/>
                <a:ea typeface="Inter"/>
                <a:cs typeface="Inter"/>
                <a:sym typeface="Inter"/>
              </a:rPr>
              <a:t>FASE A</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Entender qué resuelve</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la Fase A</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Una semana corta que define casi todo lo que viene después.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4"/>
          <p:cNvSpPr txBox="1"/>
          <p:nvPr/>
        </p:nvSpPr>
        <p:spPr>
          <a:xfrm>
            <a:off x="1371600" y="762000"/>
            <a:ext cx="155448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000">
                <a:solidFill>
                  <a:srgbClr val="0077CC"/>
                </a:solidFill>
                <a:latin typeface="Inter"/>
                <a:ea typeface="Inter"/>
                <a:cs typeface="Inter"/>
                <a:sym typeface="Inter"/>
              </a:rPr>
              <a:t>Lo que NO es</a:t>
            </a:r>
            <a:endParaRPr b="1" sz="2000">
              <a:solidFill>
                <a:srgbClr val="0077CC"/>
              </a:solidFill>
              <a:latin typeface="Inter"/>
              <a:ea typeface="Inter"/>
              <a:cs typeface="Inter"/>
              <a:sym typeface="Inter"/>
            </a:endParaRPr>
          </a:p>
        </p:txBody>
      </p:sp>
      <p:sp>
        <p:nvSpPr>
          <p:cNvPr id="96" name="Google Shape;96;p14"/>
          <p:cNvSpPr txBox="1"/>
          <p:nvPr/>
        </p:nvSpPr>
        <p:spPr>
          <a:xfrm>
            <a:off x="1371600" y="1333500"/>
            <a:ext cx="15544800" cy="861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Fase A no es ceremonia</a:t>
            </a:r>
            <a:endParaRPr b="1" sz="5600">
              <a:solidFill>
                <a:srgbClr val="0A0915"/>
              </a:solidFill>
              <a:latin typeface="Inter"/>
              <a:ea typeface="Inter"/>
              <a:cs typeface="Inter"/>
              <a:sym typeface="Inter"/>
            </a:endParaRPr>
          </a:p>
        </p:txBody>
      </p:sp>
      <p:grpSp>
        <p:nvGrpSpPr>
          <p:cNvPr id="97" name="Google Shape;97;p14"/>
          <p:cNvGrpSpPr/>
          <p:nvPr/>
        </p:nvGrpSpPr>
        <p:grpSpPr>
          <a:xfrm>
            <a:off x="1371600" y="3619500"/>
            <a:ext cx="15544950" cy="3810000"/>
            <a:chOff x="1371600" y="3619500"/>
            <a:chExt cx="15544950" cy="3810000"/>
          </a:xfrm>
        </p:grpSpPr>
        <p:sp>
          <p:nvSpPr>
            <p:cNvPr id="98" name="Google Shape;98;p14"/>
            <p:cNvSpPr/>
            <p:nvPr/>
          </p:nvSpPr>
          <p:spPr>
            <a:xfrm>
              <a:off x="1371600" y="3619500"/>
              <a:ext cx="4857900" cy="3810000"/>
            </a:xfrm>
            <a:prstGeom prst="roundRect">
              <a:avLst>
                <a:gd fmla="val 6000" name="adj"/>
              </a:avLst>
            </a:prstGeom>
            <a:solidFill>
              <a:srgbClr val="F9FAFB"/>
            </a:solidFill>
            <a:ln cap="flat" cmpd="sng" w="19050">
              <a:solidFill>
                <a:srgbClr val="F3F4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4"/>
            <p:cNvSpPr txBox="1"/>
            <p:nvPr/>
          </p:nvSpPr>
          <p:spPr>
            <a:xfrm>
              <a:off x="1752600" y="40589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DC2626"/>
                  </a:solidFill>
                  <a:latin typeface="Material Icons"/>
                  <a:ea typeface="Material Icons"/>
                  <a:cs typeface="Material Icons"/>
                  <a:sym typeface="Material Icons"/>
                </a:rPr>
                <a:t></a:t>
              </a:r>
              <a:endParaRPr sz="3700">
                <a:solidFill>
                  <a:srgbClr val="DC2626"/>
                </a:solidFill>
                <a:latin typeface="Material Icons"/>
                <a:ea typeface="Material Icons"/>
                <a:cs typeface="Material Icons"/>
                <a:sym typeface="Material Icons"/>
              </a:endParaRPr>
            </a:p>
          </p:txBody>
        </p:sp>
        <p:sp>
          <p:nvSpPr>
            <p:cNvPr id="100" name="Google Shape;100;p14"/>
            <p:cNvSpPr txBox="1"/>
            <p:nvPr/>
          </p:nvSpPr>
          <p:spPr>
            <a:xfrm>
              <a:off x="1752600" y="4762500"/>
              <a:ext cx="40959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No es estética</a:t>
              </a:r>
              <a:endParaRPr b="1" sz="2400">
                <a:solidFill>
                  <a:srgbClr val="0A0915"/>
                </a:solidFill>
                <a:latin typeface="Inter"/>
                <a:ea typeface="Inter"/>
                <a:cs typeface="Inter"/>
                <a:sym typeface="Inter"/>
              </a:endParaRPr>
            </a:p>
            <a:p>
              <a:pPr indent="0" lvl="0" marL="0" rtl="0" algn="l">
                <a:spcBef>
                  <a:spcPts val="1500"/>
                </a:spcBef>
                <a:spcAft>
                  <a:spcPts val="0"/>
                </a:spcAft>
                <a:buNone/>
              </a:pPr>
              <a:r>
                <a:rPr b="0" lang="en-US" sz="1600">
                  <a:solidFill>
                    <a:srgbClr val="4B5563"/>
                  </a:solidFill>
                  <a:latin typeface="Inter"/>
                  <a:ea typeface="Inter"/>
                  <a:cs typeface="Inter"/>
                  <a:sym typeface="Inter"/>
                </a:rPr>
                <a:t>No es una semana de presentaciones bonitas ni de diseño visual vacío.</a:t>
              </a:r>
              <a:endParaRPr b="0" sz="1600">
                <a:solidFill>
                  <a:srgbClr val="4B5563"/>
                </a:solidFill>
                <a:latin typeface="Inter"/>
                <a:ea typeface="Inter"/>
                <a:cs typeface="Inter"/>
                <a:sym typeface="Inter"/>
              </a:endParaRPr>
            </a:p>
          </p:txBody>
        </p:sp>
        <p:sp>
          <p:nvSpPr>
            <p:cNvPr id="101" name="Google Shape;101;p14"/>
            <p:cNvSpPr/>
            <p:nvPr/>
          </p:nvSpPr>
          <p:spPr>
            <a:xfrm>
              <a:off x="6715125" y="3619500"/>
              <a:ext cx="4857900" cy="3810000"/>
            </a:xfrm>
            <a:prstGeom prst="roundRect">
              <a:avLst>
                <a:gd fmla="val 6000" name="adj"/>
              </a:avLst>
            </a:prstGeom>
            <a:solidFill>
              <a:srgbClr val="F9FAFB"/>
            </a:solidFill>
            <a:ln cap="flat" cmpd="sng" w="19050">
              <a:solidFill>
                <a:srgbClr val="F3F4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4"/>
            <p:cNvSpPr txBox="1"/>
            <p:nvPr/>
          </p:nvSpPr>
          <p:spPr>
            <a:xfrm>
              <a:off x="7096125" y="40589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DC2626"/>
                  </a:solidFill>
                  <a:latin typeface="Material Icons"/>
                  <a:ea typeface="Material Icons"/>
                  <a:cs typeface="Material Icons"/>
                  <a:sym typeface="Material Icons"/>
                </a:rPr>
                <a:t></a:t>
              </a:r>
              <a:endParaRPr sz="3700">
                <a:solidFill>
                  <a:srgbClr val="DC2626"/>
                </a:solidFill>
                <a:latin typeface="Material Icons"/>
                <a:ea typeface="Material Icons"/>
                <a:cs typeface="Material Icons"/>
                <a:sym typeface="Material Icons"/>
              </a:endParaRPr>
            </a:p>
          </p:txBody>
        </p:sp>
        <p:sp>
          <p:nvSpPr>
            <p:cNvPr id="103" name="Google Shape;103;p14"/>
            <p:cNvSpPr txBox="1"/>
            <p:nvPr/>
          </p:nvSpPr>
          <p:spPr>
            <a:xfrm>
              <a:off x="7096125" y="4762500"/>
              <a:ext cx="40959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No es comercial</a:t>
              </a:r>
              <a:endParaRPr b="1" sz="2400">
                <a:solidFill>
                  <a:srgbClr val="0A0915"/>
                </a:solidFill>
                <a:latin typeface="Inter"/>
                <a:ea typeface="Inter"/>
                <a:cs typeface="Inter"/>
                <a:sym typeface="Inter"/>
              </a:endParaRPr>
            </a:p>
            <a:p>
              <a:pPr indent="0" lvl="0" marL="0" rtl="0" algn="l">
                <a:spcBef>
                  <a:spcPts val="1500"/>
                </a:spcBef>
                <a:spcAft>
                  <a:spcPts val="0"/>
                </a:spcAft>
                <a:buNone/>
              </a:pPr>
              <a:r>
                <a:rPr b="0" lang="en-US" sz="1600">
                  <a:solidFill>
                    <a:srgbClr val="4B5563"/>
                  </a:solidFill>
                  <a:latin typeface="Inter"/>
                  <a:ea typeface="Inter"/>
                  <a:cs typeface="Inter"/>
                  <a:sym typeface="Inter"/>
                </a:rPr>
                <a:t>No se trata de repasar la propuesta comercial ni de vender lo que ya se compró.</a:t>
              </a:r>
              <a:endParaRPr b="0" sz="1600">
                <a:solidFill>
                  <a:srgbClr val="4B5563"/>
                </a:solidFill>
                <a:latin typeface="Inter"/>
                <a:ea typeface="Inter"/>
                <a:cs typeface="Inter"/>
                <a:sym typeface="Inter"/>
              </a:endParaRPr>
            </a:p>
          </p:txBody>
        </p:sp>
        <p:sp>
          <p:nvSpPr>
            <p:cNvPr id="104" name="Google Shape;104;p14"/>
            <p:cNvSpPr/>
            <p:nvPr/>
          </p:nvSpPr>
          <p:spPr>
            <a:xfrm>
              <a:off x="12058650" y="3619500"/>
              <a:ext cx="4857900" cy="3810000"/>
            </a:xfrm>
            <a:prstGeom prst="roundRect">
              <a:avLst>
                <a:gd fmla="val 6000" name="adj"/>
              </a:avLst>
            </a:prstGeom>
            <a:solidFill>
              <a:srgbClr val="F9FAFB"/>
            </a:solidFill>
            <a:ln cap="flat" cmpd="sng" w="19050">
              <a:solidFill>
                <a:srgbClr val="F3F4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4"/>
            <p:cNvSpPr txBox="1"/>
            <p:nvPr/>
          </p:nvSpPr>
          <p:spPr>
            <a:xfrm>
              <a:off x="12439650" y="4058920"/>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DC2626"/>
                  </a:solidFill>
                  <a:latin typeface="Material Icons"/>
                  <a:ea typeface="Material Icons"/>
                  <a:cs typeface="Material Icons"/>
                  <a:sym typeface="Material Icons"/>
                </a:rPr>
                <a:t></a:t>
              </a:r>
              <a:endParaRPr sz="3700">
                <a:solidFill>
                  <a:srgbClr val="DC2626"/>
                </a:solidFill>
                <a:latin typeface="Material Icons"/>
                <a:ea typeface="Material Icons"/>
                <a:cs typeface="Material Icons"/>
                <a:sym typeface="Material Icons"/>
              </a:endParaRPr>
            </a:p>
          </p:txBody>
        </p:sp>
        <p:sp>
          <p:nvSpPr>
            <p:cNvPr id="106" name="Google Shape;106;p14"/>
            <p:cNvSpPr txBox="1"/>
            <p:nvPr/>
          </p:nvSpPr>
          <p:spPr>
            <a:xfrm>
              <a:off x="12439650" y="4762500"/>
              <a:ext cx="40959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400">
                  <a:solidFill>
                    <a:srgbClr val="0A0915"/>
                  </a:solidFill>
                  <a:latin typeface="Inter"/>
                  <a:ea typeface="Inter"/>
                  <a:cs typeface="Inter"/>
                  <a:sym typeface="Inter"/>
                </a:rPr>
                <a:t>No es protocolo</a:t>
              </a:r>
              <a:endParaRPr b="1" sz="2400">
                <a:solidFill>
                  <a:srgbClr val="0A0915"/>
                </a:solidFill>
                <a:latin typeface="Inter"/>
                <a:ea typeface="Inter"/>
                <a:cs typeface="Inter"/>
                <a:sym typeface="Inter"/>
              </a:endParaRPr>
            </a:p>
            <a:p>
              <a:pPr indent="0" lvl="0" marL="0" rtl="0" algn="l">
                <a:spcBef>
                  <a:spcPts val="1500"/>
                </a:spcBef>
                <a:spcAft>
                  <a:spcPts val="0"/>
                </a:spcAft>
                <a:buNone/>
              </a:pPr>
              <a:r>
                <a:rPr b="0" lang="en-US" sz="1600">
                  <a:solidFill>
                    <a:srgbClr val="4B5563"/>
                  </a:solidFill>
                  <a:latin typeface="Inter"/>
                  <a:ea typeface="Inter"/>
                  <a:cs typeface="Inter"/>
                  <a:sym typeface="Inter"/>
                </a:rPr>
                <a:t>No es una ronda de saludos institucionales ni diplomacia corporativa.</a:t>
              </a:r>
              <a:endParaRPr b="0" sz="1600">
                <a:solidFill>
                  <a:srgbClr val="4B5563"/>
                </a:solidFill>
                <a:latin typeface="Inter"/>
                <a:ea typeface="Inter"/>
                <a:cs typeface="Inter"/>
                <a:sym typeface="Inter"/>
              </a:endParaRPr>
            </a:p>
          </p:txBody>
        </p:sp>
      </p:grpSp>
      <p:grpSp>
        <p:nvGrpSpPr>
          <p:cNvPr id="107" name="Google Shape;107;p14"/>
          <p:cNvGrpSpPr/>
          <p:nvPr/>
        </p:nvGrpSpPr>
        <p:grpSpPr>
          <a:xfrm>
            <a:off x="1371600" y="8096250"/>
            <a:ext cx="15544800" cy="1143000"/>
            <a:chOff x="1371600" y="8096250"/>
            <a:chExt cx="15544800" cy="1143000"/>
          </a:xfrm>
        </p:grpSpPr>
        <p:sp>
          <p:nvSpPr>
            <p:cNvPr id="108" name="Google Shape;108;p14"/>
            <p:cNvSpPr/>
            <p:nvPr/>
          </p:nvSpPr>
          <p:spPr>
            <a:xfrm>
              <a:off x="1371600" y="8096250"/>
              <a:ext cx="15544800" cy="1143000"/>
            </a:xfrm>
            <a:prstGeom prst="roundRect">
              <a:avLst>
                <a:gd fmla="val 13333"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4"/>
            <p:cNvSpPr txBox="1"/>
            <p:nvPr/>
          </p:nvSpPr>
          <p:spPr>
            <a:xfrm>
              <a:off x="1752600" y="809625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991B1B"/>
                  </a:solidFill>
                  <a:latin typeface="Inter SemiBold"/>
                  <a:ea typeface="Inter SemiBold"/>
                  <a:cs typeface="Inter SemiBold"/>
                  <a:sym typeface="Inter SemiBold"/>
                </a:rPr>
                <a:t>La Fase A debe ser un motor de ejecución, no un acto protocolar.</a:t>
              </a:r>
              <a:endParaRPr b="0" sz="2000">
                <a:solidFill>
                  <a:srgbClr val="991B1B"/>
                </a:solidFill>
                <a:latin typeface="Inter SemiBold"/>
                <a:ea typeface="Inter SemiBold"/>
                <a:cs typeface="Inter SemiBold"/>
                <a:sym typeface="Inter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5"/>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15"/>
          <p:cNvSpPr txBox="1"/>
          <p:nvPr/>
        </p:nvSpPr>
        <p:spPr>
          <a:xfrm>
            <a:off x="1371600" y="762000"/>
            <a:ext cx="15544800" cy="3078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000">
                <a:solidFill>
                  <a:srgbClr val="0077CC"/>
                </a:solidFill>
                <a:latin typeface="Inter"/>
                <a:ea typeface="Inter"/>
                <a:cs typeface="Inter"/>
                <a:sym typeface="Inter"/>
              </a:rPr>
              <a:t>Lo que SÍ es</a:t>
            </a:r>
            <a:endParaRPr b="1" sz="2000">
              <a:solidFill>
                <a:srgbClr val="0077CC"/>
              </a:solidFill>
              <a:latin typeface="Inter"/>
              <a:ea typeface="Inter"/>
              <a:cs typeface="Inter"/>
              <a:sym typeface="Inter"/>
            </a:endParaRPr>
          </a:p>
        </p:txBody>
      </p:sp>
      <p:sp>
        <p:nvSpPr>
          <p:cNvPr id="117" name="Google Shape;117;p15"/>
          <p:cNvSpPr txBox="1"/>
          <p:nvPr/>
        </p:nvSpPr>
        <p:spPr>
          <a:xfrm>
            <a:off x="1371600" y="1333500"/>
            <a:ext cx="15544800" cy="861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Una semana operativa</a:t>
            </a:r>
            <a:endParaRPr b="1" sz="5600">
              <a:solidFill>
                <a:srgbClr val="0A0915"/>
              </a:solidFill>
              <a:latin typeface="Inter"/>
              <a:ea typeface="Inter"/>
              <a:cs typeface="Inter"/>
              <a:sym typeface="Inter"/>
            </a:endParaRPr>
          </a:p>
        </p:txBody>
      </p:sp>
      <p:grpSp>
        <p:nvGrpSpPr>
          <p:cNvPr id="118" name="Google Shape;118;p15"/>
          <p:cNvGrpSpPr/>
          <p:nvPr/>
        </p:nvGrpSpPr>
        <p:grpSpPr>
          <a:xfrm>
            <a:off x="1371600" y="3619500"/>
            <a:ext cx="15535275" cy="3810000"/>
            <a:chOff x="1371600" y="3619500"/>
            <a:chExt cx="15535275" cy="3810000"/>
          </a:xfrm>
        </p:grpSpPr>
        <p:sp>
          <p:nvSpPr>
            <p:cNvPr id="119" name="Google Shape;119;p15"/>
            <p:cNvSpPr/>
            <p:nvPr/>
          </p:nvSpPr>
          <p:spPr>
            <a:xfrm>
              <a:off x="1371600" y="3619500"/>
              <a:ext cx="3619500" cy="38100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5"/>
            <p:cNvSpPr txBox="1"/>
            <p:nvPr/>
          </p:nvSpPr>
          <p:spPr>
            <a:xfrm>
              <a:off x="1752600" y="4000500"/>
              <a:ext cx="2857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0077CC"/>
                  </a:solidFill>
                  <a:latin typeface="Material Icons"/>
                  <a:ea typeface="Material Icons"/>
                  <a:cs typeface="Material Icons"/>
                  <a:sym typeface="Material Icons"/>
                </a:rPr>
                <a:t></a:t>
              </a:r>
              <a:endParaRPr sz="4000">
                <a:solidFill>
                  <a:srgbClr val="0077C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Equipo con nombres</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600">
                  <a:solidFill>
                    <a:srgbClr val="4B5563"/>
                  </a:solidFill>
                  <a:latin typeface="Inter"/>
                  <a:ea typeface="Inter"/>
                  <a:cs typeface="Inter"/>
                  <a:sym typeface="Inter"/>
                </a:rPr>
                <a:t>Identificar roles clave y responsables directos del proyecto.</a:t>
              </a:r>
              <a:endParaRPr b="0" sz="1600">
                <a:solidFill>
                  <a:srgbClr val="4B5563"/>
                </a:solidFill>
                <a:latin typeface="Inter"/>
                <a:ea typeface="Inter"/>
                <a:cs typeface="Inter"/>
                <a:sym typeface="Inter"/>
              </a:endParaRPr>
            </a:p>
          </p:txBody>
        </p:sp>
        <p:sp>
          <p:nvSpPr>
            <p:cNvPr id="121" name="Google Shape;121;p15"/>
            <p:cNvSpPr/>
            <p:nvPr/>
          </p:nvSpPr>
          <p:spPr>
            <a:xfrm>
              <a:off x="5343525" y="3619500"/>
              <a:ext cx="3619500" cy="38100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5724525" y="4000500"/>
              <a:ext cx="2857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0077CC"/>
                  </a:solidFill>
                  <a:latin typeface="Material Icons"/>
                  <a:ea typeface="Material Icons"/>
                  <a:cs typeface="Material Icons"/>
                  <a:sym typeface="Material Icons"/>
                </a:rPr>
                <a:t></a:t>
              </a:r>
              <a:endParaRPr sz="4000">
                <a:solidFill>
                  <a:srgbClr val="0077C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Alcance firmado</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600">
                  <a:solidFill>
                    <a:srgbClr val="4B5563"/>
                  </a:solidFill>
                  <a:latin typeface="Inter"/>
                  <a:ea typeface="Inter"/>
                  <a:cs typeface="Inter"/>
                  <a:sym typeface="Inter"/>
                </a:rPr>
                <a:t>Compromiso formal sobre los límites y objetivos del trabajo.</a:t>
              </a:r>
              <a:endParaRPr b="0" sz="1600">
                <a:solidFill>
                  <a:srgbClr val="4B5563"/>
                </a:solidFill>
                <a:latin typeface="Inter"/>
                <a:ea typeface="Inter"/>
                <a:cs typeface="Inter"/>
                <a:sym typeface="Inter"/>
              </a:endParaRPr>
            </a:p>
          </p:txBody>
        </p:sp>
        <p:sp>
          <p:nvSpPr>
            <p:cNvPr id="123" name="Google Shape;123;p15"/>
            <p:cNvSpPr/>
            <p:nvPr/>
          </p:nvSpPr>
          <p:spPr>
            <a:xfrm>
              <a:off x="9315450" y="3619500"/>
              <a:ext cx="3619500" cy="38100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4" name="Google Shape;124;p15"/>
            <p:cNvSpPr txBox="1"/>
            <p:nvPr/>
          </p:nvSpPr>
          <p:spPr>
            <a:xfrm>
              <a:off x="9696450" y="4000500"/>
              <a:ext cx="2857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0077CC"/>
                  </a:solidFill>
                  <a:latin typeface="Material Icons"/>
                  <a:ea typeface="Material Icons"/>
                  <a:cs typeface="Material Icons"/>
                  <a:sym typeface="Material Icons"/>
                </a:rPr>
                <a:t></a:t>
              </a:r>
              <a:endParaRPr sz="4000">
                <a:solidFill>
                  <a:srgbClr val="0077C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Plan aceptado</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600">
                  <a:solidFill>
                    <a:srgbClr val="4B5563"/>
                  </a:solidFill>
                  <a:latin typeface="Inter"/>
                  <a:ea typeface="Inter"/>
                  <a:cs typeface="Inter"/>
                  <a:sym typeface="Inter"/>
                </a:rPr>
                <a:t>Hoja de ruta validada por todos los actores involucrados.</a:t>
              </a:r>
              <a:endParaRPr b="0" sz="1600">
                <a:solidFill>
                  <a:srgbClr val="4B5563"/>
                </a:solidFill>
                <a:latin typeface="Inter"/>
                <a:ea typeface="Inter"/>
                <a:cs typeface="Inter"/>
                <a:sym typeface="Inter"/>
              </a:endParaRPr>
            </a:p>
          </p:txBody>
        </p:sp>
        <p:sp>
          <p:nvSpPr>
            <p:cNvPr id="125" name="Google Shape;125;p15"/>
            <p:cNvSpPr/>
            <p:nvPr/>
          </p:nvSpPr>
          <p:spPr>
            <a:xfrm>
              <a:off x="13287375" y="3619500"/>
              <a:ext cx="3619500" cy="38100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6" name="Google Shape;126;p15"/>
            <p:cNvSpPr txBox="1"/>
            <p:nvPr/>
          </p:nvSpPr>
          <p:spPr>
            <a:xfrm>
              <a:off x="13668375" y="4000500"/>
              <a:ext cx="2857500" cy="3048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4000">
                  <a:solidFill>
                    <a:srgbClr val="0077CC"/>
                  </a:solidFill>
                  <a:latin typeface="Material Icons"/>
                  <a:ea typeface="Material Icons"/>
                  <a:cs typeface="Material Icons"/>
                  <a:sym typeface="Material Icons"/>
                </a:rPr>
                <a:t></a:t>
              </a:r>
              <a:endParaRPr sz="4000">
                <a:solidFill>
                  <a:srgbClr val="0077CC"/>
                </a:solidFill>
                <a:latin typeface="Material Icons"/>
                <a:ea typeface="Material Icons"/>
                <a:cs typeface="Material Icons"/>
                <a:sym typeface="Material Icons"/>
              </a:endParaRPr>
            </a:p>
            <a:p>
              <a:pPr indent="0" lvl="0" marL="0" rtl="0" algn="l">
                <a:spcBef>
                  <a:spcPts val="1500"/>
                </a:spcBef>
                <a:spcAft>
                  <a:spcPts val="0"/>
                </a:spcAft>
                <a:buNone/>
              </a:pPr>
              <a:r>
                <a:rPr b="1" lang="en-US" sz="2400">
                  <a:solidFill>
                    <a:srgbClr val="0A0915"/>
                  </a:solidFill>
                  <a:latin typeface="Inter"/>
                  <a:ea typeface="Inter"/>
                  <a:cs typeface="Inter"/>
                  <a:sym typeface="Inter"/>
                </a:rPr>
                <a:t>Solicitud de dominio</a:t>
              </a:r>
              <a:endParaRPr b="1" sz="2400">
                <a:solidFill>
                  <a:srgbClr val="0A0915"/>
                </a:solidFill>
                <a:latin typeface="Inter"/>
                <a:ea typeface="Inter"/>
                <a:cs typeface="Inter"/>
                <a:sym typeface="Inter"/>
              </a:endParaRPr>
            </a:p>
            <a:p>
              <a:pPr indent="0" lvl="0" marL="0" rtl="0" algn="l">
                <a:spcBef>
                  <a:spcPts val="750"/>
                </a:spcBef>
                <a:spcAft>
                  <a:spcPts val="0"/>
                </a:spcAft>
                <a:buNone/>
              </a:pPr>
              <a:r>
                <a:rPr b="0" lang="en-US" sz="1600">
                  <a:solidFill>
                    <a:srgbClr val="4B5563"/>
                  </a:solidFill>
                  <a:latin typeface="Inter"/>
                  <a:ea typeface="Inter"/>
                  <a:cs typeface="Inter"/>
                  <a:sym typeface="Inter"/>
                </a:rPr>
                <a:t>Gestión técnica inicial activa para asegurar la identidad digital.</a:t>
              </a:r>
              <a:endParaRPr b="0" sz="1600">
                <a:solidFill>
                  <a:srgbClr val="4B5563"/>
                </a:solidFill>
                <a:latin typeface="Inter"/>
                <a:ea typeface="Inter"/>
                <a:cs typeface="Inter"/>
                <a:sym typeface="Inter"/>
              </a:endParaRPr>
            </a:p>
          </p:txBody>
        </p:sp>
      </p:grpSp>
      <p:grpSp>
        <p:nvGrpSpPr>
          <p:cNvPr id="127" name="Google Shape;127;p15"/>
          <p:cNvGrpSpPr/>
          <p:nvPr/>
        </p:nvGrpSpPr>
        <p:grpSpPr>
          <a:xfrm>
            <a:off x="1371600" y="8096250"/>
            <a:ext cx="15544800" cy="1143000"/>
            <a:chOff x="1371600" y="8096250"/>
            <a:chExt cx="15544800" cy="1143000"/>
          </a:xfrm>
        </p:grpSpPr>
        <p:sp>
          <p:nvSpPr>
            <p:cNvPr id="128" name="Google Shape;128;p15"/>
            <p:cNvSpPr/>
            <p:nvPr/>
          </p:nvSpPr>
          <p:spPr>
            <a:xfrm>
              <a:off x="1371600" y="8096250"/>
              <a:ext cx="15544800" cy="1143000"/>
            </a:xfrm>
            <a:prstGeom prst="roundRect">
              <a:avLst>
                <a:gd fmla="val 13333"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5"/>
            <p:cNvSpPr txBox="1"/>
            <p:nvPr/>
          </p:nvSpPr>
          <p:spPr>
            <a:xfrm>
              <a:off x="1752600" y="8096250"/>
              <a:ext cx="147828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1E40AF"/>
                  </a:solidFill>
                  <a:latin typeface="Inter SemiBold"/>
                  <a:ea typeface="Inter SemiBold"/>
                  <a:cs typeface="Inter SemiBold"/>
                  <a:sym typeface="Inter SemiBold"/>
                </a:rPr>
                <a:t>Tu trabajo es producir estas cuatro cosas concretas para asegurar la ejecución.</a:t>
              </a:r>
              <a:endParaRPr b="0" sz="2200">
                <a:solidFill>
                  <a:srgbClr val="1E40AF"/>
                </a:solidFill>
                <a:latin typeface="Inter SemiBold"/>
                <a:ea typeface="Inter SemiBold"/>
                <a:cs typeface="Inter SemiBold"/>
                <a:sym typeface="Inter Semi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6" name="Google Shape;136;p16"/>
          <p:cNvSpPr txBox="1"/>
          <p:nvPr/>
        </p:nvSpPr>
        <p:spPr>
          <a:xfrm>
            <a:off x="1371600" y="762000"/>
            <a:ext cx="15544800" cy="861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Cómo se ve en la semana cuatro</a:t>
            </a:r>
            <a:endParaRPr b="1" sz="5600">
              <a:solidFill>
                <a:srgbClr val="0A0915"/>
              </a:solidFill>
              <a:latin typeface="Inter"/>
              <a:ea typeface="Inter"/>
              <a:cs typeface="Inter"/>
              <a:sym typeface="Inter"/>
            </a:endParaRPr>
          </a:p>
        </p:txBody>
      </p:sp>
      <p:grpSp>
        <p:nvGrpSpPr>
          <p:cNvPr id="137" name="Google Shape;137;p16"/>
          <p:cNvGrpSpPr/>
          <p:nvPr/>
        </p:nvGrpSpPr>
        <p:grpSpPr>
          <a:xfrm>
            <a:off x="1371600" y="2667000"/>
            <a:ext cx="7429500" cy="4000500"/>
            <a:chOff x="1371600" y="2667000"/>
            <a:chExt cx="7429500" cy="4000500"/>
          </a:xfrm>
        </p:grpSpPr>
        <p:sp>
          <p:nvSpPr>
            <p:cNvPr id="138" name="Google Shape;138;p16"/>
            <p:cNvSpPr/>
            <p:nvPr/>
          </p:nvSpPr>
          <p:spPr>
            <a:xfrm>
              <a:off x="1371600" y="2667000"/>
              <a:ext cx="7429500" cy="4000500"/>
            </a:xfrm>
            <a:prstGeom prst="roundRect">
              <a:avLst>
                <a:gd fmla="val 5714" name="adj"/>
              </a:avLst>
            </a:prstGeom>
            <a:solidFill>
              <a:srgbClr val="F9FAFB"/>
            </a:solidFill>
            <a:ln cap="flat" cmpd="sng" w="19050">
              <a:solidFill>
                <a:srgbClr val="F3F4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9" name="Google Shape;139;p16"/>
            <p:cNvSpPr txBox="1"/>
            <p:nvPr/>
          </p:nvSpPr>
          <p:spPr>
            <a:xfrm>
              <a:off x="1752600" y="3106420"/>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DC2626"/>
                  </a:solidFill>
                  <a:latin typeface="Material Icons"/>
                  <a:ea typeface="Material Icons"/>
                  <a:cs typeface="Material Icons"/>
                  <a:sym typeface="Material Icons"/>
                </a:rPr>
                <a:t></a:t>
              </a:r>
              <a:endParaRPr sz="3700">
                <a:solidFill>
                  <a:srgbClr val="DC2626"/>
                </a:solidFill>
                <a:latin typeface="Material Icons"/>
                <a:ea typeface="Material Icons"/>
                <a:cs typeface="Material Icons"/>
                <a:sym typeface="Material Icons"/>
              </a:endParaRPr>
            </a:p>
          </p:txBody>
        </p:sp>
        <p:sp>
          <p:nvSpPr>
            <p:cNvPr id="140" name="Google Shape;140;p16"/>
            <p:cNvSpPr txBox="1"/>
            <p:nvPr/>
          </p:nvSpPr>
          <p:spPr>
            <a:xfrm>
              <a:off x="1752600" y="3714750"/>
              <a:ext cx="6667500" cy="2857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Fase A como ceremonia</a:t>
              </a:r>
              <a:endParaRPr b="1" sz="3200">
                <a:solidFill>
                  <a:srgbClr val="0A0915"/>
                </a:solidFill>
                <a:latin typeface="Inter"/>
                <a:ea typeface="Inter"/>
                <a:cs typeface="Inter"/>
                <a:sym typeface="Inter"/>
              </a:endParaRPr>
            </a:p>
            <a:p>
              <a:pPr indent="0" lvl="0" marL="0" rtl="0" algn="l">
                <a:spcBef>
                  <a:spcPts val="1500"/>
                </a:spcBef>
                <a:spcAft>
                  <a:spcPts val="0"/>
                </a:spcAft>
                <a:buNone/>
              </a:pPr>
              <a:r>
                <a:rPr b="0" lang="en-US" sz="2000">
                  <a:solidFill>
                    <a:srgbClr val="4B5563"/>
                  </a:solidFill>
                  <a:latin typeface="Inter"/>
                  <a:ea typeface="Inter"/>
                  <a:cs typeface="Inter"/>
                  <a:sym typeface="Inter"/>
                </a:rPr>
                <a:t>Llegas sin saber quién es el especialista funcional del gobierno. Es solo protocolo.</a:t>
              </a:r>
              <a:endParaRPr b="0" sz="2000">
                <a:solidFill>
                  <a:srgbClr val="4B5563"/>
                </a:solidFill>
                <a:latin typeface="Inter"/>
                <a:ea typeface="Inter"/>
                <a:cs typeface="Inter"/>
                <a:sym typeface="Inter"/>
              </a:endParaRPr>
            </a:p>
          </p:txBody>
        </p:sp>
      </p:grpSp>
      <p:grpSp>
        <p:nvGrpSpPr>
          <p:cNvPr id="141" name="Google Shape;141;p16"/>
          <p:cNvGrpSpPr/>
          <p:nvPr/>
        </p:nvGrpSpPr>
        <p:grpSpPr>
          <a:xfrm>
            <a:off x="9486900" y="2667000"/>
            <a:ext cx="7429500" cy="4000500"/>
            <a:chOff x="9486900" y="2667000"/>
            <a:chExt cx="7429500" cy="4000500"/>
          </a:xfrm>
        </p:grpSpPr>
        <p:sp>
          <p:nvSpPr>
            <p:cNvPr id="142" name="Google Shape;142;p16"/>
            <p:cNvSpPr/>
            <p:nvPr/>
          </p:nvSpPr>
          <p:spPr>
            <a:xfrm>
              <a:off x="9486900" y="2667000"/>
              <a:ext cx="7429500" cy="4000500"/>
            </a:xfrm>
            <a:prstGeom prst="roundRect">
              <a:avLst>
                <a:gd fmla="val 5714" name="adj"/>
              </a:avLst>
            </a:prstGeom>
            <a:solidFill>
              <a:srgbClr val="F0FDF4"/>
            </a:solidFill>
            <a:ln cap="flat" cmpd="sng" w="19050">
              <a:solidFill>
                <a:srgbClr val="DCFCE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txBox="1"/>
            <p:nvPr/>
          </p:nvSpPr>
          <p:spPr>
            <a:xfrm>
              <a:off x="9867900" y="3106420"/>
              <a:ext cx="5715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lang="en-US" sz="3700">
                  <a:solidFill>
                    <a:srgbClr val="10B981"/>
                  </a:solidFill>
                  <a:latin typeface="Material Icons"/>
                  <a:ea typeface="Material Icons"/>
                  <a:cs typeface="Material Icons"/>
                  <a:sym typeface="Material Icons"/>
                </a:rPr>
                <a:t></a:t>
              </a:r>
              <a:endParaRPr sz="3700">
                <a:solidFill>
                  <a:srgbClr val="10B981"/>
                </a:solidFill>
                <a:latin typeface="Material Icons"/>
                <a:ea typeface="Material Icons"/>
                <a:cs typeface="Material Icons"/>
                <a:sym typeface="Material Icons"/>
              </a:endParaRPr>
            </a:p>
          </p:txBody>
        </p:sp>
        <p:sp>
          <p:nvSpPr>
            <p:cNvPr id="144" name="Google Shape;144;p16"/>
            <p:cNvSpPr txBox="1"/>
            <p:nvPr/>
          </p:nvSpPr>
          <p:spPr>
            <a:xfrm>
              <a:off x="9867900" y="3714750"/>
              <a:ext cx="6667500" cy="2857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Fase A como ejecución</a:t>
              </a:r>
              <a:endParaRPr b="1" sz="3200">
                <a:solidFill>
                  <a:srgbClr val="0A0915"/>
                </a:solidFill>
                <a:latin typeface="Inter"/>
                <a:ea typeface="Inter"/>
                <a:cs typeface="Inter"/>
                <a:sym typeface="Inter"/>
              </a:endParaRPr>
            </a:p>
            <a:p>
              <a:pPr indent="0" lvl="0" marL="0" rtl="0" algn="l">
                <a:spcBef>
                  <a:spcPts val="1500"/>
                </a:spcBef>
                <a:spcAft>
                  <a:spcPts val="0"/>
                </a:spcAft>
                <a:buNone/>
              </a:pPr>
              <a:r>
                <a:rPr b="0" lang="en-US" sz="1800">
                  <a:solidFill>
                    <a:srgbClr val="166534"/>
                  </a:solidFill>
                  <a:latin typeface="Material Icons"/>
                  <a:ea typeface="Material Icons"/>
                  <a:cs typeface="Material Icons"/>
                  <a:sym typeface="Material Icons"/>
                </a:rPr>
                <a:t></a:t>
              </a:r>
              <a:r>
                <a:rPr b="0" lang="en-US" sz="1800">
                  <a:solidFill>
                    <a:srgbClr val="166534"/>
                  </a:solidFill>
                  <a:latin typeface="Inter"/>
                  <a:ea typeface="Inter"/>
                  <a:cs typeface="Inter"/>
                  <a:sym typeface="Inter"/>
                </a:rPr>
                <a:t>Cinco roles asignados</a:t>
              </a:r>
              <a:endParaRPr b="0" sz="1800">
                <a:solidFill>
                  <a:srgbClr val="166534"/>
                </a:solidFill>
                <a:latin typeface="Inter"/>
                <a:ea typeface="Inter"/>
                <a:cs typeface="Inter"/>
                <a:sym typeface="Inter"/>
              </a:endParaRPr>
            </a:p>
            <a:p>
              <a:pPr indent="0" lvl="0" marL="0" rtl="0" algn="l">
                <a:spcBef>
                  <a:spcPts val="750"/>
                </a:spcBef>
                <a:spcAft>
                  <a:spcPts val="0"/>
                </a:spcAft>
                <a:buNone/>
              </a:pPr>
              <a:r>
                <a:rPr b="0" lang="en-US" sz="1800">
                  <a:solidFill>
                    <a:srgbClr val="166534"/>
                  </a:solidFill>
                  <a:latin typeface="Material Icons"/>
                  <a:ea typeface="Material Icons"/>
                  <a:cs typeface="Material Icons"/>
                  <a:sym typeface="Material Icons"/>
                </a:rPr>
                <a:t></a:t>
              </a:r>
              <a:r>
                <a:rPr b="0" lang="en-US" sz="1800">
                  <a:solidFill>
                    <a:srgbClr val="166534"/>
                  </a:solidFill>
                  <a:latin typeface="Inter"/>
                  <a:ea typeface="Inter"/>
                  <a:cs typeface="Inter"/>
                  <a:sym typeface="Inter"/>
                </a:rPr>
                <a:t>Contrato resumido y firmado</a:t>
              </a:r>
              <a:endParaRPr b="0" sz="1800">
                <a:solidFill>
                  <a:srgbClr val="166534"/>
                </a:solidFill>
                <a:latin typeface="Inter"/>
                <a:ea typeface="Inter"/>
                <a:cs typeface="Inter"/>
                <a:sym typeface="Inter"/>
              </a:endParaRPr>
            </a:p>
            <a:p>
              <a:pPr indent="0" lvl="0" marL="0" rtl="0" algn="l">
                <a:spcBef>
                  <a:spcPts val="750"/>
                </a:spcBef>
                <a:spcAft>
                  <a:spcPts val="0"/>
                </a:spcAft>
                <a:buNone/>
              </a:pPr>
              <a:r>
                <a:rPr b="0" lang="en-US" sz="1800">
                  <a:solidFill>
                    <a:srgbClr val="166534"/>
                  </a:solidFill>
                  <a:latin typeface="Material Icons"/>
                  <a:ea typeface="Material Icons"/>
                  <a:cs typeface="Material Icons"/>
                  <a:sym typeface="Material Icons"/>
                </a:rPr>
                <a:t></a:t>
              </a:r>
              <a:r>
                <a:rPr b="0" lang="en-US" sz="1800">
                  <a:solidFill>
                    <a:srgbClr val="166534"/>
                  </a:solidFill>
                  <a:latin typeface="Inter"/>
                  <a:ea typeface="Inter"/>
                  <a:cs typeface="Inter"/>
                  <a:sym typeface="Inter"/>
                </a:rPr>
                <a:t>Dominio pedido hace tres semanas</a:t>
              </a:r>
              <a:endParaRPr b="0" sz="1800">
                <a:solidFill>
                  <a:srgbClr val="166534"/>
                </a:solidFill>
                <a:latin typeface="Inter"/>
                <a:ea typeface="Inter"/>
                <a:cs typeface="Inter"/>
                <a:sym typeface="Inter"/>
              </a:endParaRPr>
            </a:p>
          </p:txBody>
        </p:sp>
      </p:grpSp>
      <p:grpSp>
        <p:nvGrpSpPr>
          <p:cNvPr id="145" name="Google Shape;145;p16"/>
          <p:cNvGrpSpPr/>
          <p:nvPr/>
        </p:nvGrpSpPr>
        <p:grpSpPr>
          <a:xfrm>
            <a:off x="1371600" y="7620000"/>
            <a:ext cx="15544800" cy="1333500"/>
            <a:chOff x="1371600" y="7620000"/>
            <a:chExt cx="15544800" cy="1333500"/>
          </a:xfrm>
        </p:grpSpPr>
        <p:sp>
          <p:nvSpPr>
            <p:cNvPr id="146" name="Google Shape;146;p16"/>
            <p:cNvSpPr/>
            <p:nvPr/>
          </p:nvSpPr>
          <p:spPr>
            <a:xfrm>
              <a:off x="1371600" y="7620000"/>
              <a:ext cx="15544800" cy="1333500"/>
            </a:xfrm>
            <a:prstGeom prst="roundRect">
              <a:avLst>
                <a:gd fmla="val 11428" name="adj"/>
              </a:avLst>
            </a:prstGeom>
            <a:solidFill>
              <a:srgbClr val="EFF6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txBox="1"/>
            <p:nvPr/>
          </p:nvSpPr>
          <p:spPr>
            <a:xfrm>
              <a:off x="1752600" y="7620000"/>
              <a:ext cx="147828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400">
                  <a:solidFill>
                    <a:srgbClr val="1E40AF"/>
                  </a:solidFill>
                  <a:latin typeface="Inter SemiBold"/>
                  <a:ea typeface="Inter SemiBold"/>
                  <a:cs typeface="Inter SemiBold"/>
                  <a:sym typeface="Inter SemiBold"/>
                </a:rPr>
                <a:t>La diferencia entre una semana de saludos y una semana de resultados reales.</a:t>
              </a:r>
              <a:endParaRPr b="0" sz="2400">
                <a:solidFill>
                  <a:srgbClr val="1E40AF"/>
                </a:solidFill>
                <a:latin typeface="Inter SemiBold"/>
                <a:ea typeface="Inter SemiBold"/>
                <a:cs typeface="Inter SemiBold"/>
                <a:sym typeface="Inter SemiBold"/>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7"/>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4" name="Google Shape;154;p17"/>
          <p:cNvGrpSpPr/>
          <p:nvPr/>
        </p:nvGrpSpPr>
        <p:grpSpPr>
          <a:xfrm>
            <a:off x="1371600" y="762000"/>
            <a:ext cx="15544950" cy="8382000"/>
            <a:chOff x="1371600" y="762000"/>
            <a:chExt cx="15544950" cy="8382000"/>
          </a:xfrm>
        </p:grpSpPr>
        <p:grpSp>
          <p:nvGrpSpPr>
            <p:cNvPr id="155" name="Google Shape;155;p17"/>
            <p:cNvGrpSpPr/>
            <p:nvPr/>
          </p:nvGrpSpPr>
          <p:grpSpPr>
            <a:xfrm>
              <a:off x="1371600" y="762000"/>
              <a:ext cx="15544800" cy="2000400"/>
              <a:chOff x="1371600" y="762000"/>
              <a:chExt cx="15544800" cy="2000400"/>
            </a:xfrm>
          </p:grpSpPr>
          <p:sp>
            <p:nvSpPr>
              <p:cNvPr id="156" name="Google Shape;156;p17"/>
              <p:cNvSpPr txBox="1"/>
              <p:nvPr/>
            </p:nvSpPr>
            <p:spPr>
              <a:xfrm>
                <a:off x="1371600" y="762000"/>
                <a:ext cx="155448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rgbClr val="0077CC"/>
                    </a:solidFill>
                    <a:latin typeface="Inter"/>
                    <a:ea typeface="Inter"/>
                    <a:cs typeface="Inter"/>
                    <a:sym typeface="Inter"/>
                  </a:rPr>
                  <a:t>El mapa antes que la plataforma</a:t>
                </a:r>
                <a:endParaRPr b="1" sz="2000">
                  <a:solidFill>
                    <a:srgbClr val="0077CC"/>
                  </a:solidFill>
                  <a:latin typeface="Inter"/>
                  <a:ea typeface="Inter"/>
                  <a:cs typeface="Inter"/>
                  <a:sym typeface="Inter"/>
                </a:endParaRPr>
              </a:p>
            </p:txBody>
          </p:sp>
          <p:sp>
            <p:nvSpPr>
              <p:cNvPr id="157" name="Google Shape;157;p17"/>
              <p:cNvSpPr txBox="1"/>
              <p:nvPr/>
            </p:nvSpPr>
            <p:spPr>
              <a:xfrm>
                <a:off x="1371600" y="1333500"/>
                <a:ext cx="15544800" cy="1428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4420">
                    <a:solidFill>
                      <a:srgbClr val="0A0915"/>
                    </a:solidFill>
                    <a:latin typeface="Inter"/>
                    <a:ea typeface="Inter"/>
                    <a:cs typeface="Inter"/>
                    <a:sym typeface="Inter"/>
                  </a:rPr>
                  <a:t>Primero averiguas quién decide, quién impulsa y quién podría bloquear</a:t>
                </a:r>
                <a:endParaRPr b="1" sz="4420">
                  <a:solidFill>
                    <a:srgbClr val="0A0915"/>
                  </a:solidFill>
                  <a:latin typeface="Inter"/>
                  <a:ea typeface="Inter"/>
                  <a:cs typeface="Inter"/>
                  <a:sym typeface="Inter"/>
                </a:endParaRPr>
              </a:p>
            </p:txBody>
          </p:sp>
        </p:grpSp>
        <p:grpSp>
          <p:nvGrpSpPr>
            <p:cNvPr id="158" name="Google Shape;158;p17"/>
            <p:cNvGrpSpPr/>
            <p:nvPr/>
          </p:nvGrpSpPr>
          <p:grpSpPr>
            <a:xfrm>
              <a:off x="1371600" y="3429000"/>
              <a:ext cx="15544950" cy="3619500"/>
              <a:chOff x="1371600" y="3429000"/>
              <a:chExt cx="15544950" cy="3619500"/>
            </a:xfrm>
          </p:grpSpPr>
          <p:sp>
            <p:nvSpPr>
              <p:cNvPr id="159" name="Google Shape;159;p17"/>
              <p:cNvSpPr/>
              <p:nvPr/>
            </p:nvSpPr>
            <p:spPr>
              <a:xfrm>
                <a:off x="1371600" y="3429000"/>
                <a:ext cx="4857900" cy="36195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7"/>
              <p:cNvSpPr txBox="1"/>
              <p:nvPr/>
            </p:nvSpPr>
            <p:spPr>
              <a:xfrm>
                <a:off x="1371600" y="3429000"/>
                <a:ext cx="4857900" cy="361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000">
                    <a:solidFill>
                      <a:srgbClr val="0077CC"/>
                    </a:solidFill>
                    <a:latin typeface="Material Icons"/>
                    <a:ea typeface="Material Icons"/>
                    <a:cs typeface="Material Icons"/>
                    <a:sym typeface="Material Icons"/>
                  </a:rPr>
                  <a:t></a:t>
                </a:r>
                <a:endParaRPr sz="8000">
                  <a:solidFill>
                    <a:srgbClr val="0077CC"/>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Mapeo de Actores</a:t>
                </a:r>
                <a:endParaRPr b="1" sz="2400">
                  <a:solidFill>
                    <a:srgbClr val="0A0915"/>
                  </a:solidFill>
                  <a:latin typeface="Inter"/>
                  <a:ea typeface="Inter"/>
                  <a:cs typeface="Inter"/>
                  <a:sym typeface="Inter"/>
                </a:endParaRPr>
              </a:p>
            </p:txBody>
          </p:sp>
          <p:sp>
            <p:nvSpPr>
              <p:cNvPr id="161" name="Google Shape;161;p17"/>
              <p:cNvSpPr/>
              <p:nvPr/>
            </p:nvSpPr>
            <p:spPr>
              <a:xfrm>
                <a:off x="6715125" y="3429000"/>
                <a:ext cx="4857900" cy="36195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txBox="1"/>
              <p:nvPr/>
            </p:nvSpPr>
            <p:spPr>
              <a:xfrm>
                <a:off x="6715125" y="3429000"/>
                <a:ext cx="4857900" cy="361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000">
                    <a:solidFill>
                      <a:srgbClr val="0077CC"/>
                    </a:solidFill>
                    <a:latin typeface="Material Icons"/>
                    <a:ea typeface="Material Icons"/>
                    <a:cs typeface="Material Icons"/>
                    <a:sym typeface="Material Icons"/>
                  </a:rPr>
                  <a:t></a:t>
                </a:r>
                <a:endParaRPr sz="8000">
                  <a:solidFill>
                    <a:srgbClr val="0077CC"/>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Poder de Decisión</a:t>
                </a:r>
                <a:endParaRPr b="1" sz="2400">
                  <a:solidFill>
                    <a:srgbClr val="0A0915"/>
                  </a:solidFill>
                  <a:latin typeface="Inter"/>
                  <a:ea typeface="Inter"/>
                  <a:cs typeface="Inter"/>
                  <a:sym typeface="Inter"/>
                </a:endParaRPr>
              </a:p>
            </p:txBody>
          </p:sp>
          <p:sp>
            <p:nvSpPr>
              <p:cNvPr id="163" name="Google Shape;163;p17"/>
              <p:cNvSpPr/>
              <p:nvPr/>
            </p:nvSpPr>
            <p:spPr>
              <a:xfrm>
                <a:off x="12058650" y="3429000"/>
                <a:ext cx="4857900" cy="3619500"/>
              </a:xfrm>
              <a:prstGeom prst="roundRect">
                <a:avLst>
                  <a:gd fmla="val 6315" name="adj"/>
                </a:avLst>
              </a:prstGeom>
              <a:solidFill>
                <a:srgbClr val="F9FAFB"/>
              </a:solidFill>
              <a:ln cap="flat" cmpd="sng" w="19050">
                <a:solidFill>
                  <a:srgbClr val="E5E7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7"/>
              <p:cNvSpPr txBox="1"/>
              <p:nvPr/>
            </p:nvSpPr>
            <p:spPr>
              <a:xfrm>
                <a:off x="12058650" y="3429000"/>
                <a:ext cx="4857900" cy="3619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8000">
                    <a:solidFill>
                      <a:srgbClr val="0077CC"/>
                    </a:solidFill>
                    <a:latin typeface="Material Icons"/>
                    <a:ea typeface="Material Icons"/>
                    <a:cs typeface="Material Icons"/>
                    <a:sym typeface="Material Icons"/>
                  </a:rPr>
                  <a:t></a:t>
                </a:r>
                <a:endParaRPr sz="8000">
                  <a:solidFill>
                    <a:srgbClr val="0077CC"/>
                  </a:solidFill>
                  <a:latin typeface="Material Icons"/>
                  <a:ea typeface="Material Icons"/>
                  <a:cs typeface="Material Icons"/>
                  <a:sym typeface="Material Icons"/>
                </a:endParaRPr>
              </a:p>
              <a:p>
                <a:pPr indent="0" lvl="0" marL="0" rtl="0" algn="ctr">
                  <a:spcBef>
                    <a:spcPts val="1500"/>
                  </a:spcBef>
                  <a:spcAft>
                    <a:spcPts val="0"/>
                  </a:spcAft>
                  <a:buNone/>
                </a:pPr>
                <a:r>
                  <a:rPr b="1" lang="en-US" sz="2400">
                    <a:solidFill>
                      <a:srgbClr val="0A0915"/>
                    </a:solidFill>
                    <a:latin typeface="Inter"/>
                    <a:ea typeface="Inter"/>
                    <a:cs typeface="Inter"/>
                    <a:sym typeface="Inter"/>
                  </a:rPr>
                  <a:t>Gestión de Riesgos</a:t>
                </a:r>
                <a:endParaRPr b="1" sz="2400">
                  <a:solidFill>
                    <a:srgbClr val="0A0915"/>
                  </a:solidFill>
                  <a:latin typeface="Inter"/>
                  <a:ea typeface="Inter"/>
                  <a:cs typeface="Inter"/>
                  <a:sym typeface="Inter"/>
                </a:endParaRPr>
              </a:p>
            </p:txBody>
          </p:sp>
        </p:grpSp>
        <p:grpSp>
          <p:nvGrpSpPr>
            <p:cNvPr id="165" name="Google Shape;165;p17"/>
            <p:cNvGrpSpPr/>
            <p:nvPr/>
          </p:nvGrpSpPr>
          <p:grpSpPr>
            <a:xfrm>
              <a:off x="1371600" y="7810500"/>
              <a:ext cx="15544800" cy="1333500"/>
              <a:chOff x="1371600" y="7810500"/>
              <a:chExt cx="15544800" cy="1333500"/>
            </a:xfrm>
          </p:grpSpPr>
          <p:sp>
            <p:nvSpPr>
              <p:cNvPr id="166" name="Google Shape;166;p17"/>
              <p:cNvSpPr/>
              <p:nvPr/>
            </p:nvSpPr>
            <p:spPr>
              <a:xfrm>
                <a:off x="1371600" y="7810500"/>
                <a:ext cx="15544800" cy="1333500"/>
              </a:xfrm>
              <a:prstGeom prst="roundRect">
                <a:avLst>
                  <a:gd fmla="val 11428" name="adj"/>
                </a:avLst>
              </a:prstGeom>
              <a:solidFill>
                <a:srgbClr val="FE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7"/>
              <p:cNvSpPr txBox="1"/>
              <p:nvPr/>
            </p:nvSpPr>
            <p:spPr>
              <a:xfrm>
                <a:off x="1752600" y="7810500"/>
                <a:ext cx="14782800" cy="133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200">
                    <a:solidFill>
                      <a:srgbClr val="991B1B"/>
                    </a:solidFill>
                    <a:latin typeface="Inter SemiBold"/>
                    <a:ea typeface="Inter SemiBold"/>
                    <a:cs typeface="Inter SemiBold"/>
                    <a:sym typeface="Inter SemiBold"/>
                  </a:rPr>
                  <a:t>Sin ese mapa, cualquier configuración técnica se va a romper en la primera reunión política.</a:t>
                </a:r>
                <a:endParaRPr b="0" sz="2200">
                  <a:solidFill>
                    <a:srgbClr val="991B1B"/>
                  </a:solidFill>
                  <a:latin typeface="Inter SemiBold"/>
                  <a:ea typeface="Inter SemiBold"/>
                  <a:cs typeface="Inter SemiBold"/>
                  <a:sym typeface="Inter SemiBold"/>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p:nvPr/>
        </p:nvSpPr>
        <p:spPr>
          <a:xfrm>
            <a:off x="0" y="0"/>
            <a:ext cx="18288000" cy="102870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La Fase A no se mide</a:t>
            </a:r>
            <a:endParaRPr/>
          </a:p>
        </p:txBody>
      </p:sp>
      <p:sp>
        <p:nvSpPr>
          <p:cNvPr id="175" name="Google Shape;175;p18"/>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por reuniones hechas</a:t>
            </a:r>
            <a:endParaRPr/>
          </a:p>
        </p:txBody>
      </p:sp>
      <p:sp>
        <p:nvSpPr>
          <p:cNvPr id="176" name="Google Shape;176;p18"/>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Se mide por decisiones tomadas y nombres en una tabla.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