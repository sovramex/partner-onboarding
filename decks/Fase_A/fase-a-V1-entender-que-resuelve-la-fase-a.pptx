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18.0s · 45 palabras]</a:t>
            </a:r>
          </a:p>
          <a:p/>
          <a:p>
            <a:r>
              <a:t>La Fase A es la primera semana del ciclo de noventa días. Dura poco, pero define casi todo lo que pasa después. Si la haces bien, las cuatro fases siguientes se vuelven manejables. Si la haces mal, vas a estar tapando agujeros hasta el go-live.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13.2s · 33 palabras]</a:t>
            </a:r>
          </a:p>
          <a:p/>
          <a:p>
            <a:r>
              <a:t>Lo primero que tienes que entender es qué NO es la Fase A. No es una semana de presentaciones bonitas. No es repasar la propuesta comercial. No es una ronda de saludos institucionales.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12.4s · 31 palabras]</a:t>
            </a:r>
          </a:p>
          <a:p/>
          <a:p>
            <a:r>
              <a:t>Es una semana operativa donde tu trabajo es producir cuatro cosas concretas: un equipo con nombres, un alcance firmado, un plan de trabajo aceptado y una solicitud de dominio en marcha.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24.0s · 60 palabras]</a:t>
            </a:r>
          </a:p>
          <a:p/>
          <a:p>
            <a:r>
              <a:t>El partner que confunde Fase A con ceremonia llega a la semana cuatro sin saber quién es el especialista funcional del gobierno. El partner que entiende Fase A como ejecución llega a la semana cuatro con los cinco roles asignados, el contrato resumido en lenguaje simple y firmado por ambas partes, y el dominio pedido a TI hace tres semanas.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19.2s · 48 palabras]</a:t>
            </a:r>
          </a:p>
          <a:p/>
          <a:p>
            <a:r>
              <a:t>Piensa en esto como cuando entras al gobierno por primera vez. No vas a empezar configurando la plataforma. Vas a empezar averiguando quién decide, quién impulsa y quién podría bloquear. Sin ese mapa, cualquier configuración técnica que hagas después se va a romper en la primera reunión política.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7.6s · 19 palabras]</a:t>
            </a:r>
          </a:p>
          <a:p/>
          <a:p>
            <a:r>
              <a:t>La Fase A no se mide por reuniones hechas. Se mide por decisiones tomadas y nombres en una tabla.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077CC"/>
                </a:solidFill>
                <a:latin typeface="Figtree"/>
              </a:rPr>
              <a:t>FASE A</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Entender qué resuelve</a:t>
            </a:r>
          </a:p>
          <a:p>
            <a:pPr algn="l">
              <a:lnSpc>
                <a:spcPct val="110000"/>
              </a:lnSpc>
            </a:pPr>
            <a:r>
              <a:rPr sz="8000" b="1" i="0">
                <a:solidFill>
                  <a:srgbClr val="0A0915"/>
                </a:solidFill>
                <a:latin typeface="Plus Jakarta Sans"/>
              </a:rPr>
              <a:t>la Fase A.</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Una semana corta que define casi todo lo que viene después.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Lo que NO es</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Fase A no es ceremonia.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No es una semana de presentaciones bonitas. No es repasar la propuesta comercial. No es una ronda de saludos institucionales.</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Lo que SÍ es</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Una semana operativa.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Tu trabajo es producir cuatro cosas concretas: un equipo con nombres, un alcance firmado, un plan de trabajo aceptado y una solicitud de dominio en marcha.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0000"/>
              </a:lnSpc>
            </a:pPr>
            <a:r>
              <a:rPr sz="4600" b="1" i="0">
                <a:solidFill>
                  <a:srgbClr val="0A0915"/>
                </a:solidFill>
                <a:latin typeface="Plus Jakarta Sans"/>
              </a:rPr>
              <a:t>Cómo se ve en la semana cuatro.</a:t>
            </a:r>
          </a:p>
        </p:txBody>
      </p:sp>
      <p:sp>
        <p:nvSpPr>
          <p:cNvPr id="3" name="Rounded Rectangle 2"/>
          <p:cNvSpPr/>
          <p:nvPr/>
        </p:nvSpPr>
        <p:spPr>
          <a:xfrm>
            <a:off x="1828800" y="4754880"/>
            <a:ext cx="6400800" cy="4114800"/>
          </a:xfrm>
          <a:prstGeom prst="roundRect">
            <a:avLst/>
          </a:prstGeom>
          <a:solidFill>
            <a:srgbClr val="FEF2F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120640"/>
            <a:ext cx="914400" cy="1097280"/>
          </a:xfrm>
          <a:prstGeom prst="rect">
            <a:avLst/>
          </a:prstGeom>
          <a:noFill/>
        </p:spPr>
        <p:txBody>
          <a:bodyPr wrap="square" anchor="t" lIns="0" rIns="0" tIns="0" bIns="0">
            <a:spAutoFit/>
          </a:bodyPr>
          <a:lstStyle/>
          <a:p>
            <a:pPr algn="l">
              <a:lnSpc>
                <a:spcPct val="115000"/>
              </a:lnSpc>
            </a:pPr>
            <a:r>
              <a:rPr sz="3600" b="1" i="0">
                <a:solidFill>
                  <a:srgbClr val="DC2626"/>
                </a:solidFill>
                <a:latin typeface="Plus Jakarta Sans"/>
              </a:rPr>
              <a:t>✗</a:t>
            </a:r>
          </a:p>
        </p:txBody>
      </p:sp>
      <p:sp>
        <p:nvSpPr>
          <p:cNvPr id="5" name="TextBox 4"/>
          <p:cNvSpPr txBox="1"/>
          <p:nvPr/>
        </p:nvSpPr>
        <p:spPr>
          <a:xfrm>
            <a:off x="22860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Fase A como ceremonia</a:t>
            </a:r>
          </a:p>
        </p:txBody>
      </p:sp>
      <p:sp>
        <p:nvSpPr>
          <p:cNvPr id="6" name="TextBox 5"/>
          <p:cNvSpPr txBox="1"/>
          <p:nvPr/>
        </p:nvSpPr>
        <p:spPr>
          <a:xfrm>
            <a:off x="22860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Llegas sin saber quién es el especialista funcional del gobierno.</a:t>
            </a:r>
          </a:p>
        </p:txBody>
      </p:sp>
      <p:sp>
        <p:nvSpPr>
          <p:cNvPr id="7" name="Rounded Rectangle 6"/>
          <p:cNvSpPr/>
          <p:nvPr/>
        </p:nvSpPr>
        <p:spPr>
          <a:xfrm>
            <a:off x="10058400" y="4754880"/>
            <a:ext cx="6400800" cy="411480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0" y="5120640"/>
            <a:ext cx="914400" cy="1097280"/>
          </a:xfrm>
          <a:prstGeom prst="rect">
            <a:avLst/>
          </a:prstGeom>
          <a:noFill/>
        </p:spPr>
        <p:txBody>
          <a:bodyPr wrap="square" anchor="t" lIns="0" rIns="0" tIns="0" bIns="0">
            <a:spAutoFit/>
          </a:bodyPr>
          <a:lstStyle/>
          <a:p>
            <a:pPr algn="l">
              <a:lnSpc>
                <a:spcPct val="115000"/>
              </a:lnSpc>
            </a:pPr>
            <a:r>
              <a:rPr sz="3600" b="1" i="0">
                <a:solidFill>
                  <a:srgbClr val="10B981"/>
                </a:solidFill>
                <a:latin typeface="Plus Jakarta Sans"/>
              </a:rPr>
              <a:t>✓</a:t>
            </a:r>
          </a:p>
        </p:txBody>
      </p:sp>
      <p:sp>
        <p:nvSpPr>
          <p:cNvPr id="9" name="TextBox 8"/>
          <p:cNvSpPr txBox="1"/>
          <p:nvPr/>
        </p:nvSpPr>
        <p:spPr>
          <a:xfrm>
            <a:off x="105156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Fase A como ejecución</a:t>
            </a:r>
          </a:p>
        </p:txBody>
      </p:sp>
      <p:sp>
        <p:nvSpPr>
          <p:cNvPr id="10" name="TextBox 9"/>
          <p:cNvSpPr txBox="1"/>
          <p:nvPr/>
        </p:nvSpPr>
        <p:spPr>
          <a:xfrm>
            <a:off x="105156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Cinco roles asignados, contrato resumido y firmado, dominio pedido hace tres semanas.</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El mapa antes que la plataforma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Primero averiguas quién decide,</a:t>
            </a:r>
          </a:p>
          <a:p>
            <a:pPr algn="ctr">
              <a:lnSpc>
                <a:spcPct val="115000"/>
              </a:lnSpc>
            </a:pPr>
            <a:r>
              <a:rPr sz="5600" b="1" i="0">
                <a:solidFill>
                  <a:srgbClr val="0A0915"/>
                </a:solidFill>
                <a:latin typeface="Plus Jakarta Sans"/>
              </a:rPr>
              <a:t>quién impulsa y quién podría bloquear.</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Sin ese mapa, cualquier configuración técnica que hagas después se va a romper en la primera reunión política.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La Fase A no se mide</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por reuniones hechas.</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Se mide por decisiones tomadas y nombres en una tabla.</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