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10.0s · 25 palabras]</a:t>
            </a:r>
          </a:p>
          <a:p/>
          <a:p>
            <a:r>
              <a:t>En la Fase A vas a enfrentar tres decisiones de criterio que no dependen solo del gobierno. Dependen de tu juicio como líder de implementación.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20.0s · 50 palabras]</a:t>
            </a:r>
          </a:p>
          <a:p/>
          <a:p>
            <a:r>
              <a:t>La primera: ¿el gobierno tiene readiness real? Si terminas la semana uno y todavía no hay nombres en la tabla de roles, no pasas a Fase B. No esperas a ver si se arma. Escalas a Sovra. El criterio es simple: sin equipo con nombres, no hay proyecto que sostener.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22.0s · 55 palabras]</a:t>
            </a:r>
          </a:p>
          <a:p/>
          <a:p>
            <a:r>
              <a:t>La segunda: ¿SaaS o instalación propia? Esta decisión define toda la arquitectura. La tomas en el kickoff, no después. Si el gobierno duda, tu trabajo es ayudar a que decidan, no postergar. La ambigüedad en este punto se paga en Fase C cuando ya tienes formularios cargados y descubres que la infraestructura no estaba prevista.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25.2s · 63 palabras]</a:t>
            </a:r>
          </a:p>
          <a:p/>
          <a:p>
            <a:r>
              <a:t>La tercera: ¿cuántos trámites entran al primer ciclo? La respuesta correcta casi siempre es entre tres y cinco, bien hechos. Si el gobierno presiona por veinte trámites en el primer ciclo, usa los criterios de priorización que vamos a ver en Fase B para negociar a la baja. Es preferible cerrar tres trámites con calidad que abrir veinte que no llegan a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14.4s · 36 palabras]</a:t>
            </a:r>
          </a:p>
          <a:p/>
          <a:p>
            <a:r>
              <a:t>Estas tres decisiones tienen algo en común: si las dejas abiertas en Fase A, se transforman en problemas mayores en las fases siguientes. Resolverlas a tiempo no es ser inflexible. Es ser responsable con 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8.8s · 22 palabras]</a:t>
            </a:r>
          </a:p>
          <a:p/>
          <a:p>
            <a:r>
              <a:t>Las decisiones difíciles de la Fase A se toman en Fase A. Postergarlas no las hace más fáciles, las hace más caras.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077CC"/>
                </a:solidFill>
                <a:latin typeface="Figtree"/>
              </a:rPr>
              <a:t>FASE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155448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0" b="1" i="0">
                <a:solidFill>
                  <a:srgbClr val="0A0915"/>
                </a:solidFill>
                <a:latin typeface="Plus Jakarta Sans"/>
              </a:rPr>
              <a:t>Las tres decisiones</a:t>
            </a:r>
          </a:p>
          <a:p>
            <a:pPr algn="l">
              <a:lnSpc>
                <a:spcPct val="110000"/>
              </a:lnSpc>
            </a:pPr>
            <a:r>
              <a:rPr sz="8000" b="1" i="0">
                <a:solidFill>
                  <a:srgbClr val="0A0915"/>
                </a:solidFill>
                <a:latin typeface="Plus Jakarta Sans"/>
              </a:rPr>
              <a:t>de criterio.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772400"/>
            <a:ext cx="15544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888888"/>
                </a:solidFill>
                <a:latin typeface="Figtree"/>
              </a:rPr>
              <a:t>No dependen solo del gobierno. Dependen de tu juicio como líder de implementación.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1554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077CC"/>
                </a:solidFill>
                <a:latin typeface="Figtree"/>
              </a:rPr>
              <a:t>Decisión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0" b="1" i="0">
                <a:solidFill>
                  <a:srgbClr val="0A0915"/>
                </a:solidFill>
                <a:latin typeface="Plus Jakarta Sans"/>
              </a:rPr>
              <a:t>¿El gobierno tiene readiness real?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858000"/>
            <a:ext cx="14630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 b="0" i="0">
                <a:solidFill>
                  <a:srgbClr val="0A0915"/>
                </a:solidFill>
                <a:latin typeface="Figtree"/>
              </a:rPr>
              <a:t>Si terminas la semana uno y todavía no hay nombres en la tabla de roles, no pasas a Fase B. No esperas "a ver si se arma." Escalas a Sovra. Sin equipo con nombres, no hay proyecto que sostener.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1554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077CC"/>
                </a:solidFill>
                <a:latin typeface="Figtree"/>
              </a:rPr>
              <a:t>Decisión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0" b="1" i="0">
                <a:solidFill>
                  <a:srgbClr val="0A0915"/>
                </a:solidFill>
                <a:latin typeface="Plus Jakarta Sans"/>
              </a:rPr>
              <a:t>¿SaaS o instalación propia?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858000"/>
            <a:ext cx="14630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 b="0" i="0">
                <a:solidFill>
                  <a:srgbClr val="0A0915"/>
                </a:solidFill>
                <a:latin typeface="Figtree"/>
              </a:rPr>
              <a:t>Define toda la arquitectura. La tomas en el kickoff, no después. Si el gobierno duda, tu trabajo es ayudar a que decidan, no postergar. La ambigüedad se paga en Fase C cuando ya tienes formularios cargados.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1554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077CC"/>
                </a:solidFill>
                <a:latin typeface="Figtree"/>
              </a:rPr>
              <a:t>Decisión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0" b="1" i="0">
                <a:solidFill>
                  <a:srgbClr val="0A0915"/>
                </a:solidFill>
                <a:latin typeface="Plus Jakarta Sans"/>
              </a:rPr>
              <a:t>¿Cuántos trámites entran al primer ciclo?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858000"/>
            <a:ext cx="14630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 b="0" i="0">
                <a:solidFill>
                  <a:srgbClr val="0A0915"/>
                </a:solidFill>
                <a:latin typeface="Figtree"/>
              </a:rPr>
              <a:t>La respuesta correcta casi siempre es entre tres y cinco, bien hechos. Si el gobierno presiona por veinte, usa los criterios de priorización de Fase B para negociar a la baja. Mejor cerrar tres con calidad que abrir veinte que no llegan.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1554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077CC"/>
                </a:solidFill>
                <a:latin typeface="Figtree"/>
              </a:rPr>
              <a:t>Lo que tienen en común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0" b="1" i="0">
                <a:solidFill>
                  <a:srgbClr val="0A0915"/>
                </a:solidFill>
                <a:latin typeface="Plus Jakarta Sans"/>
              </a:rPr>
              <a:t>Postergarlas en Fase A</a:t>
            </a:r>
          </a:p>
          <a:p>
            <a:pPr algn="ctr">
              <a:lnSpc>
                <a:spcPct val="115000"/>
              </a:lnSpc>
            </a:pPr>
            <a:r>
              <a:rPr sz="5600" b="1" i="0">
                <a:solidFill>
                  <a:srgbClr val="0A0915"/>
                </a:solidFill>
                <a:latin typeface="Plus Jakarta Sans"/>
              </a:rPr>
              <a:t>se transforma en problemas mayores después.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858000"/>
            <a:ext cx="14630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 b="0" i="0">
                <a:solidFill>
                  <a:srgbClr val="0A0915"/>
                </a:solidFill>
                <a:latin typeface="Figtree"/>
              </a:rPr>
              <a:t>Resolverlas a tiempo no es ser inflexible. Es ser responsable con el proyecto.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0" i="0">
                <a:solidFill>
                  <a:srgbClr val="FFFFFF"/>
                </a:solidFill>
                <a:latin typeface="Plus Jakarta Sans"/>
              </a:rPr>
              <a:t>Las decisiones difíciles de Fase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155448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7800" b="1" i="0">
                <a:solidFill>
                  <a:srgbClr val="FFFFFF"/>
                </a:solidFill>
                <a:latin typeface="Plus Jakarta Sans"/>
              </a:rPr>
              <a:t>se toman en Fase 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315200"/>
            <a:ext cx="15544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0" i="0">
                <a:solidFill>
                  <a:srgbClr val="FFFFFF"/>
                </a:solidFill>
                <a:latin typeface="Plus Jakarta Sans"/>
              </a:rPr>
              <a:t>Postergarlas no las hace más fáciles, las hace más caras.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CE5FF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