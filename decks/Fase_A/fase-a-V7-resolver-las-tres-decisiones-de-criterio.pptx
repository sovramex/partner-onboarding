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10287000" cx="18288000"/>
  <p:notesSz cx="6858000" cy="9144000"/>
  <p:embeddedFontLst>
    <p:embeddedFont>
      <p:font typeface="Inter SemiBold"/>
      <p:regular r:id="rId12"/>
      <p:bold r:id="rId13"/>
      <p:italic r:id="rId14"/>
      <p:boldItalic r:id="rId15"/>
    </p:embeddedFont>
    <p:embeddedFont>
      <p:font typeface="Inter"/>
      <p:regular r:id="rId16"/>
      <p:bold r:id="rId17"/>
      <p:italic r:id="rId18"/>
      <p:boldItalic r:id="rId19"/>
    </p:embeddedFont>
    <p:embeddedFont>
      <p:font typeface="Inter ExtraBold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ExtraBold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InterExtraBold-boldItalic.fntdata"/><Relationship Id="rId13" Type="http://schemas.openxmlformats.org/officeDocument/2006/relationships/font" Target="fonts/InterSemiBold-bold.fntdata"/><Relationship Id="rId12" Type="http://schemas.openxmlformats.org/officeDocument/2006/relationships/font" Target="fonts/InterSemiBold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SemiBold-boldItalic.fntdata"/><Relationship Id="rId14" Type="http://schemas.openxmlformats.org/officeDocument/2006/relationships/font" Target="fonts/InterSemiBold-italic.fntdata"/><Relationship Id="rId17" Type="http://schemas.openxmlformats.org/officeDocument/2006/relationships/font" Target="fonts/Inter-bold.fntdata"/><Relationship Id="rId16" Type="http://schemas.openxmlformats.org/officeDocument/2006/relationships/font" Target="fonts/Inter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-boldItalic.fntdata"/><Relationship Id="rId6" Type="http://schemas.openxmlformats.org/officeDocument/2006/relationships/slide" Target="slides/slide1.xml"/><Relationship Id="rId18" Type="http://schemas.openxmlformats.org/officeDocument/2006/relationships/font" Target="fonts/Inter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10.0s · 25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 la Fase A vas a enfrentar tres decisiones de criterio que no dependen solo del gobierno. Dependen de tu juicio como líder de implementación.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20.0s · 50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primera: ¿el gobierno tiene readiness real? Si terminas la semana uno y todavía no hay nombres en la tabla de roles, no pasas a Fase B. No esperas a ver si se arma. Escalas a Sovra. El criterio es simple: sin equipo con nombres, no hay proyecto que sostener.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22.0s · 55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segunda: ¿SaaS o instalación propia? Esta decisión define toda la arquitectura. La tomas en el kickoff, no después. Si el gobierno duda, tu trabajo es ayudar a que decidan, no postergar. La ambigüedad en este punto se paga en Fase C cuando ya tienes formularios cargados y descubres que la infraestructura no estaba prevista.</a:t>
            </a:r>
            <a:endParaRPr/>
          </a:p>
        </p:txBody>
      </p:sp>
      <p:sp>
        <p:nvSpPr>
          <p:cNvPr id="109" name="Google Shape;10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25.2s · 63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tercera: ¿cuántos trámites entran al primer ciclo? La respuesta correcta casi siempre es entre tres y cinco, bien hechos. Si el gobierno presiona por veinte trámites en el primer ciclo, usa los criterios de priorización que vamos a ver en Fase B para negociar a la baja. Es preferible cerrar tres trámites con calidad que abrir veinte que no llegan a producción.</a:t>
            </a:r>
            <a:endParaRPr/>
          </a:p>
        </p:txBody>
      </p:sp>
      <p:sp>
        <p:nvSpPr>
          <p:cNvPr id="128" name="Google Shape;12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14.4s · 36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Estas tres decisiones tienen algo en común: si las dejas abiertas en Fase A, se transforman en problemas mayores en las fases siguientes. Resolverlas a tiempo no es ser inflexible. Es ser responsable con el proyecto.</a:t>
            </a:r>
            <a:endParaRPr/>
          </a:p>
        </p:txBody>
      </p:sp>
      <p:sp>
        <p:nvSpPr>
          <p:cNvPr id="147" name="Google Shape;14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1" name="Google Shape;161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8.8s · 22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 decisiones difíciles de la Fase A se toman en Fase A. Postergarlas no las hace más fáciles, las hace más caras.</a:t>
            </a:r>
            <a:endParaRPr/>
          </a:p>
        </p:txBody>
      </p:sp>
      <p:sp>
        <p:nvSpPr>
          <p:cNvPr id="162" name="Google Shape;162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FASE 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Las tres decisiones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de criterio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No dependen solo del gobierno. Dependen de tu juicio como líder de implementación.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1040130"/>
            <a:ext cx="952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</a:t>
            </a:r>
            <a:endParaRPr sz="6000">
              <a:solidFill>
                <a:srgbClr val="0077CC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371600" y="2286000"/>
            <a:ext cx="38100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Decisión 1</a:t>
            </a:r>
            <a:endParaRPr b="1" i="0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1371600" y="2762250"/>
            <a:ext cx="15544800" cy="137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¿El gobierno tiene</a:t>
            </a:r>
            <a:br>
              <a:rPr b="0" i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</a:br>
            <a:r>
              <a:rPr b="0" i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readiness real?</a:t>
            </a:r>
            <a:endParaRPr b="0" i="0" sz="448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1371600" y="4476750"/>
            <a:ext cx="952500" cy="76200"/>
          </a:xfrm>
          <a:prstGeom prst="roundRect">
            <a:avLst>
              <a:gd fmla="val 50000" name="adj"/>
            </a:avLst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9" name="Google Shape;99;p14"/>
          <p:cNvGrpSpPr/>
          <p:nvPr/>
        </p:nvGrpSpPr>
        <p:grpSpPr>
          <a:xfrm>
            <a:off x="1371600" y="5238750"/>
            <a:ext cx="7620000" cy="3619500"/>
            <a:chOff x="1371600" y="5238750"/>
            <a:chExt cx="7620000" cy="3619500"/>
          </a:xfrm>
        </p:grpSpPr>
        <p:sp>
          <p:nvSpPr>
            <p:cNvPr id="100" name="Google Shape;100;p14"/>
            <p:cNvSpPr/>
            <p:nvPr/>
          </p:nvSpPr>
          <p:spPr>
            <a:xfrm>
              <a:off x="1371600" y="5238750"/>
              <a:ext cx="7620000" cy="3619500"/>
            </a:xfrm>
            <a:prstGeom prst="roundRect">
              <a:avLst>
                <a:gd fmla="val 5263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4"/>
            <p:cNvSpPr/>
            <p:nvPr/>
          </p:nvSpPr>
          <p:spPr>
            <a:xfrm>
              <a:off x="1371600" y="5238750"/>
              <a:ext cx="7620000" cy="3619500"/>
            </a:xfrm>
            <a:prstGeom prst="roundRect">
              <a:avLst>
                <a:gd fmla="val 5263" name="adj"/>
              </a:avLst>
            </a:prstGeom>
            <a:solidFill>
              <a:srgbClr val="000000">
                <a:alpha val="0"/>
              </a:srgbClr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4"/>
            <p:cNvSpPr txBox="1"/>
            <p:nvPr/>
          </p:nvSpPr>
          <p:spPr>
            <a:xfrm>
              <a:off x="1752600" y="5619750"/>
              <a:ext cx="6858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7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Criterio de Validación</a:t>
              </a:r>
              <a:endParaRPr b="0" sz="2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Si terminas la semana uno y todavía no hay nombres en la tabla de roles, </a:t>
              </a:r>
              <a:r>
                <a:rPr b="1" lang="en-US" sz="2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no pasas a Fase B.</a:t>
              </a:r>
              <a:endParaRPr b="0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3" name="Google Shape;103;p14"/>
          <p:cNvGrpSpPr/>
          <p:nvPr/>
        </p:nvGrpSpPr>
        <p:grpSpPr>
          <a:xfrm>
            <a:off x="9372600" y="5238750"/>
            <a:ext cx="7543800" cy="3619500"/>
            <a:chOff x="9372600" y="5238750"/>
            <a:chExt cx="7543800" cy="3619500"/>
          </a:xfrm>
        </p:grpSpPr>
        <p:sp>
          <p:nvSpPr>
            <p:cNvPr id="104" name="Google Shape;104;p14"/>
            <p:cNvSpPr/>
            <p:nvPr/>
          </p:nvSpPr>
          <p:spPr>
            <a:xfrm>
              <a:off x="9372600" y="5238750"/>
              <a:ext cx="7543800" cy="3619500"/>
            </a:xfrm>
            <a:prstGeom prst="roundRect">
              <a:avLst>
                <a:gd fmla="val 5263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4"/>
            <p:cNvSpPr txBox="1"/>
            <p:nvPr/>
          </p:nvSpPr>
          <p:spPr>
            <a:xfrm>
              <a:off x="9753600" y="5619750"/>
              <a:ext cx="6781800" cy="2857500"/>
            </a:xfrm>
            <a:prstGeom prst="rect">
              <a:avLst/>
            </a:prstGeom>
            <a:solidFill>
              <a:srgbClr val="0077CC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chemeClr val="lt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Acción de Liderazgo</a:t>
              </a:r>
              <a:endParaRPr b="0" sz="24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No esperas "a ver si se arma." </a:t>
              </a:r>
              <a:r>
                <a:rPr b="1" lang="en-US" sz="24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Escalas a Sovra.</a:t>
              </a:r>
              <a:r>
                <a:rPr b="0" lang="en-US" sz="24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Sin equipo con nombres, no hay proyecto que sostener.</a:t>
              </a:r>
              <a:endParaRPr b="0"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" name="Google Shape;112;p15"/>
          <p:cNvGrpSpPr/>
          <p:nvPr/>
        </p:nvGrpSpPr>
        <p:grpSpPr>
          <a:xfrm>
            <a:off x="1371600" y="1040130"/>
            <a:ext cx="952500" cy="1040130"/>
            <a:chOff x="1371600" y="1040130"/>
            <a:chExt cx="952500" cy="1040130"/>
          </a:xfrm>
        </p:grpSpPr>
        <p:sp>
          <p:nvSpPr>
            <p:cNvPr id="113" name="Google Shape;113;p15"/>
            <p:cNvSpPr/>
            <p:nvPr/>
          </p:nvSpPr>
          <p:spPr>
            <a:xfrm>
              <a:off x="1371600" y="1040130"/>
              <a:ext cx="9525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5"/>
            <p:cNvSpPr txBox="1"/>
            <p:nvPr/>
          </p:nvSpPr>
          <p:spPr>
            <a:xfrm>
              <a:off x="1371600" y="1127760"/>
              <a:ext cx="95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</a:t>
              </a:r>
              <a:endParaRPr sz="6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115" name="Google Shape;115;p15"/>
          <p:cNvSpPr txBox="1"/>
          <p:nvPr/>
        </p:nvSpPr>
        <p:spPr>
          <a:xfrm>
            <a:off x="1371600" y="2286000"/>
            <a:ext cx="38100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Decisión 2</a:t>
            </a:r>
            <a:endParaRPr b="1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1371600" y="2762250"/>
            <a:ext cx="15544800" cy="689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¿SaaS o instalación propia?</a:t>
            </a:r>
            <a:endParaRPr b="0" sz="448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1371600" y="4476750"/>
            <a:ext cx="952500" cy="76200"/>
          </a:xfrm>
          <a:prstGeom prst="roundRect">
            <a:avLst>
              <a:gd fmla="val 50000" name="adj"/>
            </a:avLst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8" name="Google Shape;118;p15"/>
          <p:cNvGrpSpPr/>
          <p:nvPr/>
        </p:nvGrpSpPr>
        <p:grpSpPr>
          <a:xfrm>
            <a:off x="1371600" y="5238750"/>
            <a:ext cx="7620000" cy="3619500"/>
            <a:chOff x="1371600" y="5238750"/>
            <a:chExt cx="7620000" cy="3619500"/>
          </a:xfrm>
        </p:grpSpPr>
        <p:sp>
          <p:nvSpPr>
            <p:cNvPr id="119" name="Google Shape;119;p15"/>
            <p:cNvSpPr/>
            <p:nvPr/>
          </p:nvSpPr>
          <p:spPr>
            <a:xfrm>
              <a:off x="1371600" y="5238750"/>
              <a:ext cx="7620000" cy="3619500"/>
            </a:xfrm>
            <a:prstGeom prst="roundRect">
              <a:avLst>
                <a:gd fmla="val 5263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5"/>
            <p:cNvSpPr/>
            <p:nvPr/>
          </p:nvSpPr>
          <p:spPr>
            <a:xfrm>
              <a:off x="1371600" y="5238750"/>
              <a:ext cx="7620000" cy="3619500"/>
            </a:xfrm>
            <a:prstGeom prst="roundRect">
              <a:avLst>
                <a:gd fmla="val 5263" name="adj"/>
              </a:avLst>
            </a:prstGeom>
            <a:solidFill>
              <a:srgbClr val="000000">
                <a:alpha val="0"/>
              </a:srgbClr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5"/>
            <p:cNvSpPr txBox="1"/>
            <p:nvPr/>
          </p:nvSpPr>
          <p:spPr>
            <a:xfrm>
              <a:off x="1752600" y="5619750"/>
              <a:ext cx="6858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7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Definición de Arquitectura</a:t>
              </a:r>
              <a:endParaRPr b="0" sz="2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1500"/>
                </a:spcAft>
                <a:buNone/>
              </a:pPr>
              <a:r>
                <a:rPr b="0" lang="en-US" sz="24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Se toma en el kickoff, no después. Define el rumbo técnico desde el inicio.</a:t>
              </a:r>
              <a:endParaRPr b="0" sz="2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2" name="Google Shape;122;p15"/>
          <p:cNvGrpSpPr/>
          <p:nvPr/>
        </p:nvGrpSpPr>
        <p:grpSpPr>
          <a:xfrm>
            <a:off x="9372600" y="5238750"/>
            <a:ext cx="7543800" cy="3619500"/>
            <a:chOff x="9372600" y="5238750"/>
            <a:chExt cx="7543800" cy="3619500"/>
          </a:xfrm>
        </p:grpSpPr>
        <p:sp>
          <p:nvSpPr>
            <p:cNvPr id="123" name="Google Shape;123;p15"/>
            <p:cNvSpPr/>
            <p:nvPr/>
          </p:nvSpPr>
          <p:spPr>
            <a:xfrm>
              <a:off x="9372600" y="5238750"/>
              <a:ext cx="7543800" cy="3619500"/>
            </a:xfrm>
            <a:prstGeom prst="roundRect">
              <a:avLst>
                <a:gd fmla="val 5263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5"/>
            <p:cNvSpPr txBox="1"/>
            <p:nvPr/>
          </p:nvSpPr>
          <p:spPr>
            <a:xfrm>
              <a:off x="9753600" y="5619750"/>
              <a:ext cx="67818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Acción de Liderazgo</a:t>
              </a:r>
              <a:endParaRPr b="0" sz="24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1500"/>
                </a:spcAft>
                <a:buNone/>
              </a:pPr>
              <a:r>
                <a:rPr b="0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Si el gobierno duda, tu trabajo es ayudar a decidir. </a:t>
              </a:r>
              <a:r>
                <a:rPr b="1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No postergues.</a:t>
              </a:r>
              <a:r>
                <a:rPr b="0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La ambigüedad se paga caro en Fase C.</a:t>
              </a:r>
              <a:endParaRPr b="0" sz="24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1" name="Google Shape;131;p16"/>
          <p:cNvGrpSpPr/>
          <p:nvPr/>
        </p:nvGrpSpPr>
        <p:grpSpPr>
          <a:xfrm>
            <a:off x="1371600" y="1038225"/>
            <a:ext cx="952500" cy="1040130"/>
            <a:chOff x="1371600" y="1038225"/>
            <a:chExt cx="952500" cy="1040130"/>
          </a:xfrm>
        </p:grpSpPr>
        <p:sp>
          <p:nvSpPr>
            <p:cNvPr id="132" name="Google Shape;132;p16"/>
            <p:cNvSpPr/>
            <p:nvPr/>
          </p:nvSpPr>
          <p:spPr>
            <a:xfrm>
              <a:off x="1371600" y="1038225"/>
              <a:ext cx="9525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 txBox="1"/>
            <p:nvPr/>
          </p:nvSpPr>
          <p:spPr>
            <a:xfrm>
              <a:off x="1371600" y="1125855"/>
              <a:ext cx="95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</a:t>
              </a:r>
              <a:endParaRPr sz="6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134" name="Google Shape;134;p16"/>
          <p:cNvSpPr txBox="1"/>
          <p:nvPr/>
        </p:nvSpPr>
        <p:spPr>
          <a:xfrm>
            <a:off x="1371600" y="2286000"/>
            <a:ext cx="38100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Decisión 3</a:t>
            </a:r>
            <a:endParaRPr b="1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1371600" y="2762250"/>
            <a:ext cx="15544800" cy="137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¿Cuántos trámites entran</a:t>
            </a:r>
            <a:br>
              <a:rPr b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</a:br>
            <a:r>
              <a:rPr b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al primer ciclo?</a:t>
            </a:r>
            <a:endParaRPr b="0" sz="448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1371600" y="4476750"/>
            <a:ext cx="952500" cy="76200"/>
          </a:xfrm>
          <a:prstGeom prst="roundRect">
            <a:avLst>
              <a:gd fmla="val 50000" name="adj"/>
            </a:avLst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7" name="Google Shape;137;p16"/>
          <p:cNvGrpSpPr/>
          <p:nvPr/>
        </p:nvGrpSpPr>
        <p:grpSpPr>
          <a:xfrm>
            <a:off x="1371600" y="5238750"/>
            <a:ext cx="7620000" cy="3619500"/>
            <a:chOff x="1371600" y="5238750"/>
            <a:chExt cx="7620000" cy="3619500"/>
          </a:xfrm>
        </p:grpSpPr>
        <p:sp>
          <p:nvSpPr>
            <p:cNvPr id="138" name="Google Shape;138;p16"/>
            <p:cNvSpPr/>
            <p:nvPr/>
          </p:nvSpPr>
          <p:spPr>
            <a:xfrm>
              <a:off x="1371600" y="5238750"/>
              <a:ext cx="7620000" cy="3619500"/>
            </a:xfrm>
            <a:prstGeom prst="roundRect">
              <a:avLst>
                <a:gd fmla="val 5263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16"/>
            <p:cNvSpPr/>
            <p:nvPr/>
          </p:nvSpPr>
          <p:spPr>
            <a:xfrm>
              <a:off x="1371600" y="5238750"/>
              <a:ext cx="7620000" cy="3619500"/>
            </a:xfrm>
            <a:prstGeom prst="roundRect">
              <a:avLst>
                <a:gd fmla="val 5263" name="adj"/>
              </a:avLst>
            </a:prstGeom>
            <a:solidFill>
              <a:srgbClr val="000000">
                <a:alpha val="0"/>
              </a:srgbClr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1752600" y="5619750"/>
              <a:ext cx="68580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7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Criterio de Selección</a:t>
              </a:r>
              <a:endParaRPr b="0" sz="2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 respuesta correcta casi siempre es </a:t>
              </a:r>
              <a:r>
                <a:rPr b="1" lang="en-US" sz="2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entre tres y cinco</a:t>
              </a:r>
              <a:r>
                <a:rPr b="0" lang="en-US" sz="24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, bien hechos.</a:t>
              </a:r>
              <a:endParaRPr b="0" sz="2400">
                <a:solidFill>
                  <a:srgbClr val="0077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141" name="Google Shape;141;p16"/>
          <p:cNvGrpSpPr/>
          <p:nvPr/>
        </p:nvGrpSpPr>
        <p:grpSpPr>
          <a:xfrm>
            <a:off x="9372600" y="5238750"/>
            <a:ext cx="7543800" cy="3619500"/>
            <a:chOff x="9372600" y="5238750"/>
            <a:chExt cx="7543800" cy="3619500"/>
          </a:xfrm>
        </p:grpSpPr>
        <p:sp>
          <p:nvSpPr>
            <p:cNvPr id="142" name="Google Shape;142;p16"/>
            <p:cNvSpPr/>
            <p:nvPr/>
          </p:nvSpPr>
          <p:spPr>
            <a:xfrm>
              <a:off x="9372600" y="5238750"/>
              <a:ext cx="7543800" cy="3619500"/>
            </a:xfrm>
            <a:prstGeom prst="roundRect">
              <a:avLst>
                <a:gd fmla="val 5263" name="adj"/>
              </a:avLst>
            </a:prstGeom>
            <a:solidFill>
              <a:srgbClr val="0077C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6"/>
            <p:cNvSpPr txBox="1"/>
            <p:nvPr/>
          </p:nvSpPr>
          <p:spPr>
            <a:xfrm>
              <a:off x="9753600" y="5619750"/>
              <a:ext cx="67818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Acción de Liderazgo</a:t>
              </a:r>
              <a:endParaRPr b="0" sz="24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Si presionan por veinte, usa Fase B para negociar. </a:t>
              </a:r>
              <a:r>
                <a:rPr b="1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Calidad sobre cantidad.</a:t>
              </a:r>
              <a:r>
                <a:rPr b="0" lang="en-US" sz="24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Mejor cerrar tres bien que abrir veinte que no llegan.</a:t>
              </a:r>
              <a:endParaRPr b="0" sz="24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0" name="Google Shape;150;p17"/>
          <p:cNvGrpSpPr/>
          <p:nvPr/>
        </p:nvGrpSpPr>
        <p:grpSpPr>
          <a:xfrm>
            <a:off x="1371600" y="1038225"/>
            <a:ext cx="952500" cy="1040130"/>
            <a:chOff x="1371600" y="1038225"/>
            <a:chExt cx="952500" cy="1040130"/>
          </a:xfrm>
        </p:grpSpPr>
        <p:sp>
          <p:nvSpPr>
            <p:cNvPr id="151" name="Google Shape;151;p17"/>
            <p:cNvSpPr/>
            <p:nvPr/>
          </p:nvSpPr>
          <p:spPr>
            <a:xfrm>
              <a:off x="1371600" y="1038225"/>
              <a:ext cx="952500" cy="952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1371600" y="1125855"/>
              <a:ext cx="95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0077CC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</a:t>
              </a:r>
              <a:endParaRPr sz="6000">
                <a:solidFill>
                  <a:srgbClr val="0077CC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sp>
        <p:nvSpPr>
          <p:cNvPr id="153" name="Google Shape;153;p17"/>
          <p:cNvSpPr txBox="1"/>
          <p:nvPr/>
        </p:nvSpPr>
        <p:spPr>
          <a:xfrm>
            <a:off x="1371600" y="2286000"/>
            <a:ext cx="155448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rPr>
              <a:t>Lo que tienen en común</a:t>
            </a:r>
            <a:endParaRPr b="1" sz="2000">
              <a:solidFill>
                <a:srgbClr val="0077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1371600" y="2762250"/>
            <a:ext cx="155448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480">
                <a:solidFill>
                  <a:srgbClr val="0A091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Postergarlas en Fase A se transforma en problemas mayores después</a:t>
            </a:r>
            <a:endParaRPr b="0" sz="4480">
              <a:solidFill>
                <a:srgbClr val="0A091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1371600" y="4572000"/>
            <a:ext cx="952500" cy="76200"/>
          </a:xfrm>
          <a:prstGeom prst="roundRect">
            <a:avLst>
              <a:gd fmla="val 50000" name="adj"/>
            </a:avLst>
          </a:prstGeom>
          <a:solidFill>
            <a:srgbClr val="0077C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6" name="Google Shape;156;p17"/>
          <p:cNvGrpSpPr/>
          <p:nvPr/>
        </p:nvGrpSpPr>
        <p:grpSpPr>
          <a:xfrm>
            <a:off x="1371600" y="5238750"/>
            <a:ext cx="15544800" cy="3619500"/>
            <a:chOff x="1371600" y="5238750"/>
            <a:chExt cx="15544800" cy="3619500"/>
          </a:xfrm>
        </p:grpSpPr>
        <p:sp>
          <p:nvSpPr>
            <p:cNvPr id="157" name="Google Shape;157;p17"/>
            <p:cNvSpPr/>
            <p:nvPr/>
          </p:nvSpPr>
          <p:spPr>
            <a:xfrm>
              <a:off x="1371600" y="5238750"/>
              <a:ext cx="15544800" cy="3619500"/>
            </a:xfrm>
            <a:prstGeom prst="roundRect">
              <a:avLst>
                <a:gd fmla="val 526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17"/>
            <p:cNvSpPr txBox="1"/>
            <p:nvPr/>
          </p:nvSpPr>
          <p:spPr>
            <a:xfrm>
              <a:off x="1752600" y="5619750"/>
              <a:ext cx="14782800" cy="285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077CC"/>
                  </a:solidFill>
                  <a:latin typeface="Inter"/>
                  <a:ea typeface="Inter"/>
                  <a:cs typeface="Inter"/>
                  <a:sym typeface="Inter"/>
                </a:rPr>
                <a:t>La responsabilidad del líder</a:t>
              </a:r>
              <a:endParaRPr b="1" sz="3200">
                <a:solidFill>
                  <a:srgbClr val="0077C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Resolverlas a tiempo no es ser inflexible. </a:t>
              </a: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Es ser responsable con el proyecto.</a:t>
              </a:r>
              <a:endParaRPr b="0" sz="28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Las decisiones difíciles de Fase A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1371600" y="4754880"/>
            <a:ext cx="15544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 toman en Fase A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Postergarlas no las hace más fáciles, las hace más caras.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