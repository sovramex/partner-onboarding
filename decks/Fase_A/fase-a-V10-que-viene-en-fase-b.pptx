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10287000" cx="18288000"/>
  <p:notesSz cx="6858000" cy="9144000"/>
  <p:embeddedFontLst>
    <p:embeddedFont>
      <p:font typeface="Inter SemiBold"/>
      <p:regular r:id="rId12"/>
      <p:bold r:id="rId13"/>
      <p:italic r:id="rId14"/>
      <p:boldItalic r:id="rId15"/>
    </p:embeddedFont>
    <p:embeddedFont>
      <p:font typeface="Inter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SemiBold-bold.fntdata"/><Relationship Id="rId12" Type="http://schemas.openxmlformats.org/officeDocument/2006/relationships/font" Target="fonts/InterSemiBold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SemiBold-boldItalic.fntdata"/><Relationship Id="rId14" Type="http://schemas.openxmlformats.org/officeDocument/2006/relationships/font" Target="fonts/InterSemiBold-italic.fntdata"/><Relationship Id="rId17" Type="http://schemas.openxmlformats.org/officeDocument/2006/relationships/font" Target="fonts/Inter-bold.fntdata"/><Relationship Id="rId16" Type="http://schemas.openxmlformats.org/officeDocument/2006/relationships/font" Target="fonts/Inter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-boldItalic.fntdata"/><Relationship Id="rId6" Type="http://schemas.openxmlformats.org/officeDocument/2006/relationships/slide" Target="slides/slide1.xml"/><Relationship Id="rId18" Type="http://schemas.openxmlformats.org/officeDocument/2006/relationships/font" Target="fonts/Inter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6.8s · 17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Si llegaste a este punto con los nueve puntos del checklist en verde, terminaste la Fase A.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16.0s · 40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Tienes equipo con nombres, alcance acordado, plan de trabajo aceptado, dominio en proceso y canales funcionando. Lo que viene es la Fase B: Preparación. Son cuatro semanas, de la semana dos a la cinco. Y cambia el ritmo del trabajo.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23.6s · 59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 Fase B vas a capacitar al equipo del gobierno en la plataforma. Vas a guiar el discovery de trámites: qué trámites se digitalizan primero, qué información necesitan, qué decisiones tiene que tomar el gobierno sobre cada uno. Vas a tomar decisiones técnicas importantes, como si el gobierno usa autenticación propia o se integra con un proveedor de identidad.</a:t>
            </a:r>
            <a:endParaRPr/>
          </a:p>
        </p:txBody>
      </p:sp>
      <p:sp>
        <p:nvSpPr>
          <p:cNvPr id="120" name="Google Shape;12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11.6s · 29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principio rector de Fase B es aprender haciendo. El gobierno no se va a capacitar leyendo manuales. Se va a capacitar trabajando contigo en sus propios trámites reales.</a:t>
            </a:r>
            <a:endParaRPr/>
          </a:p>
        </p:txBody>
      </p:sp>
      <p:sp>
        <p:nvSpPr>
          <p:cNvPr id="141" name="Google Shape;14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26.4s · 66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Para llegar bien a Fase B, hay algo que tienes que hacer en paralelo: estudiar tú primero el knowledge-base de la plataforma. No puedes capacitar al gobierno sobre algo que tú mismo no dominas. Antes de la primera capacitación, conoce a fondo el módulo de trámites, los catálogos, la apariencia del portal y el módulo de usuarios. Nos vemos en el primer video de Fase B.</a:t>
            </a:r>
            <a:endParaRPr/>
          </a:p>
        </p:txBody>
      </p:sp>
      <p:sp>
        <p:nvSpPr>
          <p:cNvPr id="157" name="Google Shape;15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6.0s · 15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Fase A es el cimiento. Fase B es donde el proyecto empieza a tomar forma.</a:t>
            </a:r>
            <a:endParaRPr/>
          </a:p>
        </p:txBody>
      </p:sp>
      <p:sp>
        <p:nvSpPr>
          <p:cNvPr id="179" name="Google Shape;179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Qué viene: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Fase B — Preparación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Cuatro semanas, de la dos a la cinco. Cambia el ritmo del trabajo.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371600" y="762000"/>
            <a:ext cx="155448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Lo que cerraste en Fase A</a:t>
            </a:r>
            <a:endParaRPr b="1" sz="4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Hitos Alcanzados</a:t>
            </a:r>
            <a:endParaRPr b="1" sz="1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96" name="Google Shape;96;p14"/>
          <p:cNvGrpSpPr/>
          <p:nvPr/>
        </p:nvGrpSpPr>
        <p:grpSpPr>
          <a:xfrm>
            <a:off x="1371600" y="2667000"/>
            <a:ext cx="15544800" cy="6477000"/>
            <a:chOff x="1371600" y="2667000"/>
            <a:chExt cx="15544800" cy="6477000"/>
          </a:xfrm>
        </p:grpSpPr>
        <p:sp>
          <p:nvSpPr>
            <p:cNvPr id="97" name="Google Shape;97;p14"/>
            <p:cNvSpPr/>
            <p:nvPr/>
          </p:nvSpPr>
          <p:spPr>
            <a:xfrm>
              <a:off x="1371600" y="2667000"/>
              <a:ext cx="15544800" cy="1143000"/>
            </a:xfrm>
            <a:prstGeom prst="roundRect">
              <a:avLst>
                <a:gd fmla="val 10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8" name="Google Shape;98;p14"/>
            <p:cNvGrpSpPr/>
            <p:nvPr/>
          </p:nvGrpSpPr>
          <p:grpSpPr>
            <a:xfrm>
              <a:off x="1752600" y="2857500"/>
              <a:ext cx="14782800" cy="820420"/>
              <a:chOff x="1752600" y="2857500"/>
              <a:chExt cx="14782800" cy="820420"/>
            </a:xfrm>
          </p:grpSpPr>
          <p:sp>
            <p:nvSpPr>
              <p:cNvPr id="99" name="Google Shape;99;p14"/>
              <p:cNvSpPr txBox="1"/>
              <p:nvPr/>
            </p:nvSpPr>
            <p:spPr>
              <a:xfrm>
                <a:off x="1752600" y="291592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</a:t>
                </a:r>
                <a:endParaRPr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00" name="Google Shape;100;p14"/>
              <p:cNvSpPr txBox="1"/>
              <p:nvPr/>
            </p:nvSpPr>
            <p:spPr>
              <a:xfrm>
                <a:off x="2705100" y="2857500"/>
                <a:ext cx="138303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400">
                    <a:solidFill>
                      <a:srgbClr val="0A0915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Equipo con nombres</a:t>
                </a:r>
                <a:endParaRPr b="0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101" name="Google Shape;101;p14"/>
            <p:cNvSpPr/>
            <p:nvPr/>
          </p:nvSpPr>
          <p:spPr>
            <a:xfrm>
              <a:off x="1371600" y="4000500"/>
              <a:ext cx="15544800" cy="1143000"/>
            </a:xfrm>
            <a:prstGeom prst="roundRect">
              <a:avLst>
                <a:gd fmla="val 10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2" name="Google Shape;102;p14"/>
            <p:cNvGrpSpPr/>
            <p:nvPr/>
          </p:nvGrpSpPr>
          <p:grpSpPr>
            <a:xfrm>
              <a:off x="1752600" y="4191000"/>
              <a:ext cx="14782800" cy="820420"/>
              <a:chOff x="1752600" y="4191000"/>
              <a:chExt cx="14782800" cy="820420"/>
            </a:xfrm>
          </p:grpSpPr>
          <p:sp>
            <p:nvSpPr>
              <p:cNvPr id="103" name="Google Shape;103;p14"/>
              <p:cNvSpPr txBox="1"/>
              <p:nvPr/>
            </p:nvSpPr>
            <p:spPr>
              <a:xfrm>
                <a:off x="1752600" y="424942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</a:t>
                </a:r>
                <a:endParaRPr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04" name="Google Shape;104;p14"/>
              <p:cNvSpPr txBox="1"/>
              <p:nvPr/>
            </p:nvSpPr>
            <p:spPr>
              <a:xfrm>
                <a:off x="2705100" y="4191000"/>
                <a:ext cx="138303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400">
                    <a:solidFill>
                      <a:srgbClr val="0A0915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Alcance acordado</a:t>
                </a:r>
                <a:endParaRPr b="0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105" name="Google Shape;105;p14"/>
            <p:cNvSpPr/>
            <p:nvPr/>
          </p:nvSpPr>
          <p:spPr>
            <a:xfrm>
              <a:off x="1371600" y="5334000"/>
              <a:ext cx="15544800" cy="1143000"/>
            </a:xfrm>
            <a:prstGeom prst="roundRect">
              <a:avLst>
                <a:gd fmla="val 10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6" name="Google Shape;106;p14"/>
            <p:cNvGrpSpPr/>
            <p:nvPr/>
          </p:nvGrpSpPr>
          <p:grpSpPr>
            <a:xfrm>
              <a:off x="1752600" y="5524500"/>
              <a:ext cx="14782800" cy="820420"/>
              <a:chOff x="1752600" y="5524500"/>
              <a:chExt cx="14782800" cy="820420"/>
            </a:xfrm>
          </p:grpSpPr>
          <p:sp>
            <p:nvSpPr>
              <p:cNvPr id="107" name="Google Shape;107;p14"/>
              <p:cNvSpPr txBox="1"/>
              <p:nvPr/>
            </p:nvSpPr>
            <p:spPr>
              <a:xfrm>
                <a:off x="1752600" y="558292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</a:t>
                </a:r>
                <a:endParaRPr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08" name="Google Shape;108;p14"/>
              <p:cNvSpPr txBox="1"/>
              <p:nvPr/>
            </p:nvSpPr>
            <p:spPr>
              <a:xfrm>
                <a:off x="2705100" y="5524500"/>
                <a:ext cx="138303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400">
                    <a:solidFill>
                      <a:srgbClr val="0A0915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Plan de trabajo aceptado</a:t>
                </a:r>
                <a:endParaRPr b="0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109" name="Google Shape;109;p14"/>
            <p:cNvSpPr/>
            <p:nvPr/>
          </p:nvSpPr>
          <p:spPr>
            <a:xfrm>
              <a:off x="1371600" y="6667500"/>
              <a:ext cx="15544800" cy="1143000"/>
            </a:xfrm>
            <a:prstGeom prst="roundRect">
              <a:avLst>
                <a:gd fmla="val 10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0" name="Google Shape;110;p14"/>
            <p:cNvGrpSpPr/>
            <p:nvPr/>
          </p:nvGrpSpPr>
          <p:grpSpPr>
            <a:xfrm>
              <a:off x="1752600" y="6858000"/>
              <a:ext cx="14782800" cy="820420"/>
              <a:chOff x="1752600" y="6858000"/>
              <a:chExt cx="14782800" cy="820420"/>
            </a:xfrm>
          </p:grpSpPr>
          <p:sp>
            <p:nvSpPr>
              <p:cNvPr id="111" name="Google Shape;111;p14"/>
              <p:cNvSpPr txBox="1"/>
              <p:nvPr/>
            </p:nvSpPr>
            <p:spPr>
              <a:xfrm>
                <a:off x="1752600" y="691642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</a:t>
                </a:r>
                <a:endParaRPr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12" name="Google Shape;112;p14"/>
              <p:cNvSpPr txBox="1"/>
              <p:nvPr/>
            </p:nvSpPr>
            <p:spPr>
              <a:xfrm>
                <a:off x="2705100" y="6858000"/>
                <a:ext cx="138303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400">
                    <a:solidFill>
                      <a:srgbClr val="0A0915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Dominio en proceso</a:t>
                </a:r>
                <a:endParaRPr b="0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113" name="Google Shape;113;p14"/>
            <p:cNvSpPr/>
            <p:nvPr/>
          </p:nvSpPr>
          <p:spPr>
            <a:xfrm>
              <a:off x="1371600" y="8001000"/>
              <a:ext cx="15544800" cy="1143000"/>
            </a:xfrm>
            <a:prstGeom prst="roundRect">
              <a:avLst>
                <a:gd fmla="val 10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14" name="Google Shape;114;p14"/>
            <p:cNvGrpSpPr/>
            <p:nvPr/>
          </p:nvGrpSpPr>
          <p:grpSpPr>
            <a:xfrm>
              <a:off x="1752600" y="8191500"/>
              <a:ext cx="14782800" cy="820420"/>
              <a:chOff x="1752600" y="8191500"/>
              <a:chExt cx="14782800" cy="820420"/>
            </a:xfrm>
          </p:grpSpPr>
          <p:sp>
            <p:nvSpPr>
              <p:cNvPr id="115" name="Google Shape;115;p14"/>
              <p:cNvSpPr txBox="1"/>
              <p:nvPr/>
            </p:nvSpPr>
            <p:spPr>
              <a:xfrm>
                <a:off x="1752600" y="8249920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0">
                    <a:solidFill>
                      <a:srgbClr val="0077CC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</a:t>
                </a:r>
                <a:endParaRPr sz="4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16" name="Google Shape;116;p14"/>
              <p:cNvSpPr txBox="1"/>
              <p:nvPr/>
            </p:nvSpPr>
            <p:spPr>
              <a:xfrm>
                <a:off x="2705100" y="8191500"/>
                <a:ext cx="138303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2400">
                    <a:solidFill>
                      <a:srgbClr val="0A0915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Canales funcionando</a:t>
                </a:r>
                <a:endParaRPr b="0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371600" y="762000"/>
            <a:ext cx="15544800" cy="95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8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Lo que viene en Fase B</a:t>
            </a:r>
            <a:endParaRPr b="1" sz="408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53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Hoja de Ruta de Implementación</a:t>
            </a:r>
            <a:endParaRPr b="0" sz="153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24" name="Google Shape;124;p15"/>
          <p:cNvGrpSpPr/>
          <p:nvPr/>
        </p:nvGrpSpPr>
        <p:grpSpPr>
          <a:xfrm>
            <a:off x="1371600" y="2476500"/>
            <a:ext cx="15544800" cy="1784604"/>
            <a:chOff x="1371600" y="2476500"/>
            <a:chExt cx="15544800" cy="1784604"/>
          </a:xfrm>
        </p:grpSpPr>
        <p:sp>
          <p:nvSpPr>
            <p:cNvPr id="125" name="Google Shape;125;p15"/>
            <p:cNvSpPr/>
            <p:nvPr/>
          </p:nvSpPr>
          <p:spPr>
            <a:xfrm>
              <a:off x="1371600" y="2476500"/>
              <a:ext cx="155448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15"/>
            <p:cNvSpPr txBox="1"/>
            <p:nvPr/>
          </p:nvSpPr>
          <p:spPr>
            <a:xfrm>
              <a:off x="1752600" y="2546604"/>
              <a:ext cx="952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48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</a:t>
              </a:r>
              <a:endParaRPr b="0" sz="48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7" name="Google Shape;127;p15"/>
            <p:cNvSpPr txBox="1"/>
            <p:nvPr/>
          </p:nvSpPr>
          <p:spPr>
            <a:xfrm>
              <a:off x="2895600" y="2476500"/>
              <a:ext cx="136398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Capacitación de Equipos</a:t>
              </a:r>
              <a:endParaRPr b="0" sz="2400">
                <a:solidFill>
                  <a:srgbClr val="0A091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Entrenar al equipo de gobierno en el uso experto de la plataforma.</a:t>
              </a:r>
              <a:endParaRPr b="0" sz="16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8" name="Google Shape;128;p15"/>
          <p:cNvGrpSpPr/>
          <p:nvPr/>
        </p:nvGrpSpPr>
        <p:grpSpPr>
          <a:xfrm>
            <a:off x="1371600" y="4476750"/>
            <a:ext cx="15544800" cy="1784604"/>
            <a:chOff x="1371600" y="4476750"/>
            <a:chExt cx="15544800" cy="1784604"/>
          </a:xfrm>
        </p:grpSpPr>
        <p:sp>
          <p:nvSpPr>
            <p:cNvPr id="129" name="Google Shape;129;p15"/>
            <p:cNvSpPr/>
            <p:nvPr/>
          </p:nvSpPr>
          <p:spPr>
            <a:xfrm>
              <a:off x="1371600" y="4476750"/>
              <a:ext cx="155448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5"/>
            <p:cNvSpPr txBox="1"/>
            <p:nvPr/>
          </p:nvSpPr>
          <p:spPr>
            <a:xfrm>
              <a:off x="1752600" y="4546854"/>
              <a:ext cx="952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48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</a:t>
              </a:r>
              <a:endParaRPr b="0" sz="48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1" name="Google Shape;131;p15"/>
            <p:cNvSpPr txBox="1"/>
            <p:nvPr/>
          </p:nvSpPr>
          <p:spPr>
            <a:xfrm>
              <a:off x="2895600" y="4476750"/>
              <a:ext cx="136398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Discovery de Trámites</a:t>
              </a:r>
              <a:endParaRPr b="0" sz="2400">
                <a:solidFill>
                  <a:srgbClr val="0A091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Guiar el proceso de priorización, definición de información y toma de decisiones operativas.</a:t>
              </a:r>
              <a:endParaRPr b="0" sz="16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2" name="Google Shape;132;p15"/>
          <p:cNvGrpSpPr/>
          <p:nvPr/>
        </p:nvGrpSpPr>
        <p:grpSpPr>
          <a:xfrm>
            <a:off x="1371600" y="6477000"/>
            <a:ext cx="15544800" cy="1784604"/>
            <a:chOff x="1371600" y="6477000"/>
            <a:chExt cx="15544800" cy="1784604"/>
          </a:xfrm>
        </p:grpSpPr>
        <p:sp>
          <p:nvSpPr>
            <p:cNvPr id="133" name="Google Shape;133;p15"/>
            <p:cNvSpPr/>
            <p:nvPr/>
          </p:nvSpPr>
          <p:spPr>
            <a:xfrm>
              <a:off x="1371600" y="6477000"/>
              <a:ext cx="155448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5"/>
            <p:cNvSpPr txBox="1"/>
            <p:nvPr/>
          </p:nvSpPr>
          <p:spPr>
            <a:xfrm>
              <a:off x="1752600" y="6547104"/>
              <a:ext cx="952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48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</a:t>
              </a:r>
              <a:endParaRPr b="0" sz="48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5" name="Google Shape;135;p15"/>
            <p:cNvSpPr txBox="1"/>
            <p:nvPr/>
          </p:nvSpPr>
          <p:spPr>
            <a:xfrm>
              <a:off x="2895600" y="6477000"/>
              <a:ext cx="136398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Definición Técnica</a:t>
              </a:r>
              <a:endParaRPr b="0" sz="2400">
                <a:solidFill>
                  <a:srgbClr val="0A091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Resolver la infraestructura de identidad: autenticación propia o proveedor externo.</a:t>
              </a:r>
              <a:endParaRPr b="0" sz="16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36" name="Google Shape;136;p15"/>
          <p:cNvSpPr/>
          <p:nvPr/>
        </p:nvSpPr>
        <p:spPr>
          <a:xfrm>
            <a:off x="1371600" y="8572500"/>
            <a:ext cx="155448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1371600" y="8763000"/>
            <a:ext cx="15544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Fase B: Preparación integral para el despliegue digital · Duración estimada: 4 semanas</a:t>
            </a:r>
            <a:endParaRPr b="0" sz="12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0" y="0"/>
            <a:ext cx="18288000" cy="1714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1371600" y="571500"/>
            <a:ext cx="57150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El principio rector</a:t>
            </a:r>
            <a:endParaRPr b="1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16"/>
          <p:cNvSpPr txBox="1"/>
          <p:nvPr/>
        </p:nvSpPr>
        <p:spPr>
          <a:xfrm>
            <a:off x="1371600" y="952500"/>
            <a:ext cx="7620000" cy="732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76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Aprender haciendo</a:t>
            </a:r>
            <a:endParaRPr b="1" sz="476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7" name="Google Shape;147;p16"/>
          <p:cNvGrpSpPr/>
          <p:nvPr/>
        </p:nvGrpSpPr>
        <p:grpSpPr>
          <a:xfrm>
            <a:off x="1371600" y="2476500"/>
            <a:ext cx="15544800" cy="5334000"/>
            <a:chOff x="1371600" y="2476500"/>
            <a:chExt cx="15544800" cy="5334000"/>
          </a:xfrm>
        </p:grpSpPr>
        <p:sp>
          <p:nvSpPr>
            <p:cNvPr id="148" name="Google Shape;148;p16"/>
            <p:cNvSpPr/>
            <p:nvPr/>
          </p:nvSpPr>
          <p:spPr>
            <a:xfrm>
              <a:off x="1371600" y="2476500"/>
              <a:ext cx="7239000" cy="5334000"/>
            </a:xfrm>
            <a:prstGeom prst="roundRect">
              <a:avLst>
                <a:gd fmla="val 4285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6"/>
            <p:cNvSpPr txBox="1"/>
            <p:nvPr/>
          </p:nvSpPr>
          <p:spPr>
            <a:xfrm>
              <a:off x="1752600" y="2945130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50">
                  <a:solidFill>
                    <a:srgbClr val="64748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</a:t>
              </a:r>
              <a:endParaRPr sz="4650">
                <a:solidFill>
                  <a:srgbClr val="64748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0" name="Google Shape;150;p16"/>
            <p:cNvSpPr txBox="1"/>
            <p:nvPr/>
          </p:nvSpPr>
          <p:spPr>
            <a:xfrm>
              <a:off x="1752600" y="4000500"/>
              <a:ext cx="64770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La teoría tiene un límite.</a:t>
              </a:r>
              <a:endParaRPr b="1" sz="36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El gobierno no se va a capacitar leyendo manuales extensos o documentos teóricos.</a:t>
              </a:r>
              <a:endParaRPr b="0" sz="2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1" name="Google Shape;151;p16"/>
            <p:cNvSpPr/>
            <p:nvPr/>
          </p:nvSpPr>
          <p:spPr>
            <a:xfrm>
              <a:off x="8991600" y="2476500"/>
              <a:ext cx="7924800" cy="5334000"/>
            </a:xfrm>
            <a:prstGeom prst="roundRect">
              <a:avLst>
                <a:gd fmla="val 4285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6"/>
            <p:cNvSpPr txBox="1"/>
            <p:nvPr/>
          </p:nvSpPr>
          <p:spPr>
            <a:xfrm>
              <a:off x="9372600" y="2945130"/>
              <a:ext cx="76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5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</a:t>
              </a:r>
              <a:endParaRPr sz="465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3" name="Google Shape;153;p16"/>
            <p:cNvSpPr txBox="1"/>
            <p:nvPr/>
          </p:nvSpPr>
          <p:spPr>
            <a:xfrm>
              <a:off x="9372600" y="4000500"/>
              <a:ext cx="71628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Impacto Real.</a:t>
              </a:r>
              <a:endParaRPr b="1" sz="3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E0F2FE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Se va a capacitar trabajando contigo en sus propios trámites reales, asegurando una transferencia de conocimiento efectiva.</a:t>
              </a:r>
              <a:endParaRPr b="0" sz="2400">
                <a:solidFill>
                  <a:srgbClr val="E0F2FE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1371600" y="762000"/>
            <a:ext cx="155448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Tu tarea en paralelo</a:t>
            </a:r>
            <a:endParaRPr b="1" sz="48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Estudiar el knowledge-base de la plataforma</a:t>
            </a:r>
            <a:endParaRPr b="0" sz="18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61" name="Google Shape;161;p17"/>
          <p:cNvGrpSpPr/>
          <p:nvPr/>
        </p:nvGrpSpPr>
        <p:grpSpPr>
          <a:xfrm>
            <a:off x="1371600" y="2667000"/>
            <a:ext cx="15544800" cy="2857500"/>
            <a:chOff x="1371600" y="2667000"/>
            <a:chExt cx="15544800" cy="2857500"/>
          </a:xfrm>
        </p:grpSpPr>
        <p:sp>
          <p:nvSpPr>
            <p:cNvPr id="162" name="Google Shape;162;p17"/>
            <p:cNvSpPr/>
            <p:nvPr/>
          </p:nvSpPr>
          <p:spPr>
            <a:xfrm>
              <a:off x="1371600" y="2667000"/>
              <a:ext cx="15544800" cy="2857500"/>
            </a:xfrm>
            <a:prstGeom prst="roundRect">
              <a:avLst>
                <a:gd fmla="val 8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1752600" y="3135630"/>
              <a:ext cx="95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</a:t>
              </a:r>
              <a:endParaRPr sz="6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4" name="Google Shape;164;p17"/>
            <p:cNvSpPr txBox="1"/>
            <p:nvPr/>
          </p:nvSpPr>
          <p:spPr>
            <a:xfrm>
              <a:off x="3086100" y="2952750"/>
              <a:ext cx="134493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No puedes capacitar sobre lo que no dominas.</a:t>
              </a:r>
              <a:endParaRPr b="1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Antes de la primera capacitación, es fundamental conocer a fondo los pilares operativos del sistema:</a:t>
              </a:r>
              <a:endParaRPr b="0" sz="2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5" name="Google Shape;165;p17"/>
          <p:cNvGrpSpPr/>
          <p:nvPr/>
        </p:nvGrpSpPr>
        <p:grpSpPr>
          <a:xfrm>
            <a:off x="1371600" y="5905500"/>
            <a:ext cx="15535275" cy="1714500"/>
            <a:chOff x="1371600" y="5905500"/>
            <a:chExt cx="15535275" cy="1714500"/>
          </a:xfrm>
        </p:grpSpPr>
        <p:sp>
          <p:nvSpPr>
            <p:cNvPr id="166" name="Google Shape;166;p17"/>
            <p:cNvSpPr/>
            <p:nvPr/>
          </p:nvSpPr>
          <p:spPr>
            <a:xfrm>
              <a:off x="1371600" y="5905500"/>
              <a:ext cx="3619500" cy="1714500"/>
            </a:xfrm>
            <a:prstGeom prst="roundRect">
              <a:avLst>
                <a:gd fmla="val 666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1562100" y="6096000"/>
              <a:ext cx="32385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</a:t>
              </a:r>
              <a:endParaRPr sz="24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Módulo de trámites</a:t>
              </a:r>
              <a:endParaRPr b="0" sz="1800">
                <a:solidFill>
                  <a:srgbClr val="0A091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68" name="Google Shape;168;p17"/>
            <p:cNvSpPr/>
            <p:nvPr/>
          </p:nvSpPr>
          <p:spPr>
            <a:xfrm>
              <a:off x="5343525" y="5905500"/>
              <a:ext cx="3619500" cy="1714500"/>
            </a:xfrm>
            <a:prstGeom prst="roundRect">
              <a:avLst>
                <a:gd fmla="val 666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17"/>
            <p:cNvSpPr txBox="1"/>
            <p:nvPr/>
          </p:nvSpPr>
          <p:spPr>
            <a:xfrm>
              <a:off x="5534025" y="6096000"/>
              <a:ext cx="32385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</a:t>
              </a:r>
              <a:endParaRPr sz="24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Catálogos</a:t>
              </a:r>
              <a:endParaRPr b="0" sz="1800">
                <a:solidFill>
                  <a:srgbClr val="0A091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9315450" y="5905500"/>
              <a:ext cx="3619500" cy="1714500"/>
            </a:xfrm>
            <a:prstGeom prst="roundRect">
              <a:avLst>
                <a:gd fmla="val 666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9505950" y="6096000"/>
              <a:ext cx="32385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</a:t>
              </a:r>
              <a:endParaRPr sz="24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Apariencia del portal</a:t>
              </a:r>
              <a:endParaRPr b="0" sz="1800">
                <a:solidFill>
                  <a:srgbClr val="0A091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172" name="Google Shape;172;p17"/>
            <p:cNvSpPr/>
            <p:nvPr/>
          </p:nvSpPr>
          <p:spPr>
            <a:xfrm>
              <a:off x="13287375" y="5905500"/>
              <a:ext cx="3619500" cy="1714500"/>
            </a:xfrm>
            <a:prstGeom prst="roundRect">
              <a:avLst>
                <a:gd fmla="val 6666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17"/>
            <p:cNvSpPr txBox="1"/>
            <p:nvPr/>
          </p:nvSpPr>
          <p:spPr>
            <a:xfrm>
              <a:off x="13477875" y="6096000"/>
              <a:ext cx="32385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</a:t>
              </a:r>
              <a:endParaRPr sz="24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A091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Módulo de usuarios</a:t>
              </a:r>
              <a:endParaRPr b="0" sz="1800">
                <a:solidFill>
                  <a:srgbClr val="0A091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174" name="Google Shape;174;p17"/>
          <p:cNvSpPr/>
          <p:nvPr/>
        </p:nvSpPr>
        <p:spPr>
          <a:xfrm>
            <a:off x="1371600" y="8572500"/>
            <a:ext cx="155448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371600" y="8763000"/>
            <a:ext cx="15544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Preparación para la Fase B: El dominio del conocimiento técnico es la clave del éxito en la implementación.</a:t>
            </a:r>
            <a:endParaRPr sz="12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 txBox="1"/>
          <p:nvPr/>
        </p:nvSpPr>
        <p:spPr>
          <a:xfrm>
            <a:off x="1371600" y="3200400"/>
            <a:ext cx="1554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A es el cimiento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Fase B es donde el proyecto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371600" y="7315200"/>
            <a:ext cx="155448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empieza a tomar forma.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