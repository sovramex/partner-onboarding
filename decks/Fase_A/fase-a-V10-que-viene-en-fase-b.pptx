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6.8s · 17 palabras]</a:t>
            </a:r>
          </a:p>
          <a:p/>
          <a:p>
            <a:r>
              <a:t>Si llegaste a este punto con los nueve puntos del checklist en verde, terminaste la Fase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16.0s · 40 palabras]</a:t>
            </a:r>
          </a:p>
          <a:p/>
          <a:p>
            <a:r>
              <a:t>Tienes equipo con nombres, alcance acordado, plan de trabajo aceptado, dominio en proceso y canales funcionando. Lo que viene es la Fase B: Preparación. Son cuatro semanas, de la semana dos a la cinco. Y cambia el ritmo del trabajo.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23.6s · 59 palabras]</a:t>
            </a:r>
          </a:p>
          <a:p/>
          <a:p>
            <a:r>
              <a:t>En Fase B vas a capacitar al equipo del gobierno en la plataforma. Vas a guiar el discovery de trámites: qué trámites se digitalizan primero, qué información necesitan, qué decisiones tiene que tomar el gobierno sobre cada uno. Vas a tomar decisiones técnicas importantes, como si el gobierno usa autenticación propia o se integra con un proveedor de identidad.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11.6s · 29 palabras]</a:t>
            </a:r>
          </a:p>
          <a:p/>
          <a:p>
            <a:r>
              <a:t>El principio rector de Fase B es aprender haciendo. El gobierno no se va a capacitar leyendo manuales. Se va a capacitar trabajando contigo en sus propios trámites reales.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26.4s · 66 palabras]</a:t>
            </a:r>
          </a:p>
          <a:p/>
          <a:p>
            <a:r>
              <a:t>Para llegar bien a Fase B, hay algo que tienes que hacer en paralelo: estudiar tú primero el knowledge-base de la plataforma. No puedes capacitar al gobierno sobre algo que tú mismo no dominas. Antes de la primera capacitación, conoce a fondo el módulo de trámites, los catálogos, la apariencia del portal y el módulo de usuarios. Nos vemos en el primer video de Fase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6.0s · 15 palabras]</a:t>
            </a:r>
          </a:p>
          <a:p/>
          <a:p>
            <a:r>
              <a:t>Fase A es el cimiento. Fase B es donde el proyecto empieza a tomar forma.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1554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077CC"/>
                </a:solidFill>
                <a:latin typeface="Figtree"/>
              </a:rPr>
              <a:t>FASE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155448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0" b="1" i="0">
                <a:solidFill>
                  <a:srgbClr val="0A0915"/>
                </a:solidFill>
                <a:latin typeface="Plus Jakarta Sans"/>
              </a:rPr>
              <a:t>Qué viene:</a:t>
            </a:r>
          </a:p>
          <a:p>
            <a:pPr algn="l">
              <a:lnSpc>
                <a:spcPct val="110000"/>
              </a:lnSpc>
            </a:pPr>
            <a:r>
              <a:rPr sz="8000" b="1" i="0">
                <a:solidFill>
                  <a:srgbClr val="0A0915"/>
                </a:solidFill>
                <a:latin typeface="Plus Jakarta Sans"/>
              </a:rPr>
              <a:t>Fase B — Preparación.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772400"/>
            <a:ext cx="15544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888888"/>
                </a:solidFill>
                <a:latin typeface="Figtree"/>
              </a:rPr>
              <a:t>Cuatro semanas, de la dos a la cinco. Cambia el ritmo del trabajo.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15544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0A0915"/>
                </a:solidFill>
                <a:latin typeface="Plus Jakarta Sans"/>
              </a:rPr>
              <a:t>Lo que cerraste en Fase A.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3886200"/>
            <a:ext cx="228600" cy="228600"/>
          </a:xfrm>
          <a:prstGeom prst="round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1508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A0915"/>
                </a:solidFill>
                <a:latin typeface="Figtree"/>
              </a:rPr>
              <a:t>Equipo con nombres.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709160"/>
            <a:ext cx="228600" cy="228600"/>
          </a:xfrm>
          <a:prstGeom prst="round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480560"/>
            <a:ext cx="1508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A0915"/>
                </a:solidFill>
                <a:latin typeface="Figtree"/>
              </a:rPr>
              <a:t>Alcance acordado.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532120"/>
            <a:ext cx="228600" cy="228600"/>
          </a:xfrm>
          <a:prstGeom prst="round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5303520"/>
            <a:ext cx="1508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A0915"/>
                </a:solidFill>
                <a:latin typeface="Figtree"/>
              </a:rPr>
              <a:t>Plan de trabajo aceptado.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6355080"/>
            <a:ext cx="228600" cy="228600"/>
          </a:xfrm>
          <a:prstGeom prst="round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6126480"/>
            <a:ext cx="1508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A0915"/>
                </a:solidFill>
                <a:latin typeface="Figtree"/>
              </a:rPr>
              <a:t>Dominio en proceso.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7178040"/>
            <a:ext cx="228600" cy="228600"/>
          </a:xfrm>
          <a:prstGeom prst="round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6949440"/>
            <a:ext cx="1508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A0915"/>
                </a:solidFill>
                <a:latin typeface="Figtree"/>
              </a:rPr>
              <a:t>Canales funcionando.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15544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0A0915"/>
                </a:solidFill>
                <a:latin typeface="Plus Jakarta Sans"/>
              </a:rPr>
              <a:t>Lo que viene en Fase B.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3886200"/>
            <a:ext cx="228600" cy="228600"/>
          </a:xfrm>
          <a:prstGeom prst="round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1508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A0915"/>
                </a:solidFill>
                <a:latin typeface="Figtree"/>
              </a:rPr>
              <a:t>Capacitar al equipo del gobierno en la plataforma.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709160"/>
            <a:ext cx="228600" cy="228600"/>
          </a:xfrm>
          <a:prstGeom prst="round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480560"/>
            <a:ext cx="1508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A0915"/>
                </a:solidFill>
                <a:latin typeface="Figtree"/>
              </a:rPr>
              <a:t>Guiar el discovery de trámites: cuáles primero, qué información, qué decisiones.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532120"/>
            <a:ext cx="228600" cy="228600"/>
          </a:xfrm>
          <a:prstGeom prst="round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5303520"/>
            <a:ext cx="1508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A0915"/>
                </a:solidFill>
                <a:latin typeface="Figtree"/>
              </a:rPr>
              <a:t>Tomar decisiones técnicas: autenticación propia o proveedor de identidad.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1554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077CC"/>
                </a:solidFill>
                <a:latin typeface="Figtree"/>
              </a:rPr>
              <a:t>El principio rector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155448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0" b="1" i="0">
                <a:solidFill>
                  <a:srgbClr val="0A0915"/>
                </a:solidFill>
                <a:latin typeface="Plus Jakarta Sans"/>
              </a:rPr>
              <a:t>Aprender haciendo.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858000"/>
            <a:ext cx="14630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 b="0" i="0">
                <a:solidFill>
                  <a:srgbClr val="0A0915"/>
                </a:solidFill>
                <a:latin typeface="Figtree"/>
              </a:rPr>
              <a:t>El gobierno no se va a capacitar leyendo manuales. Se va a capacitar trabajando contigo en sus propios trámites reales.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1554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077CC"/>
                </a:solidFill>
                <a:latin typeface="Figtree"/>
              </a:rPr>
              <a:t>Tu tarea en paralelo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155448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0" b="1" i="0">
                <a:solidFill>
                  <a:srgbClr val="0A0915"/>
                </a:solidFill>
                <a:latin typeface="Plus Jakarta Sans"/>
              </a:rPr>
              <a:t>Estudiar el knowledge-base de la plataforma.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858000"/>
            <a:ext cx="14630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 b="0" i="0">
                <a:solidFill>
                  <a:srgbClr val="0A0915"/>
                </a:solidFill>
                <a:latin typeface="Figtree"/>
              </a:rPr>
              <a:t>No puedes capacitar al gobierno sobre algo que tú mismo no dominas. Antes de la primera capacitación, conoce a fondo el módulo de trámites, los catálogos, la apariencia del portal y el módulo de usuarios.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15544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200" b="0" i="0">
                <a:solidFill>
                  <a:srgbClr val="FFFFFF"/>
                </a:solidFill>
                <a:latin typeface="Plus Jakarta Sans"/>
              </a:rPr>
              <a:t>Fase A es el cimiento.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155448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7800" b="1" i="0">
                <a:solidFill>
                  <a:srgbClr val="FFFFFF"/>
                </a:solidFill>
                <a:latin typeface="Plus Jakarta Sans"/>
              </a:rPr>
              <a:t>Fase B es donde 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315200"/>
            <a:ext cx="15544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0" i="0">
                <a:solidFill>
                  <a:srgbClr val="FFFFFF"/>
                </a:solidFill>
                <a:latin typeface="Plus Jakarta Sans"/>
              </a:rPr>
              <a:t>empieza a tomar forma.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CE5FF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