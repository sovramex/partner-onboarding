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regular.fntdata"/><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italic.fntdata"/><Relationship Id="rId14" Type="http://schemas.openxmlformats.org/officeDocument/2006/relationships/font" Target="fonts/Inter-bold.fntdata"/><Relationship Id="rId16" Type="http://schemas.openxmlformats.org/officeDocument/2006/relationships/font" Target="fonts/Inter-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15.2s · 38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Antes de la primera reunión formal, hay una conversación que vale la pena tener. Se llama sesión cero. Es opcional en el papel, pero en la práctica es la reunión con el mejor retorno de toda la implementación.</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15.6s · 39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sesión cero es una conversación informal, de aproximadamente una hora, entre tú como líder de implementación y el coordinador del gobierno. Si puedes sumar al dueño del proyecto, mejor. El objetivo no es trabajar. El objetivo es conocerse.</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22.4s · 56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 que tienes que sacar de esa hora es información que ningún documento te va a dar. Quién impulsa el proyecto desde adentro. Quién podría bloquearlo. Qué proyectos de digitalización ya intentaron antes y por qué fallaron. Qué expectativas reales tiene el gobierno, más allá de lo que dice el contrato. Qué temas son sensibles políticamente.</a:t>
            </a:r>
            <a:endParaRPr/>
          </a:p>
        </p:txBody>
      </p:sp>
      <p:sp>
        <p:nvSpPr>
          <p:cNvPr id="100" name="Google Shape;100;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2" name="Google Shape;122;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14.0s · 35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Una regla simple: en la sesión cero, deja que el gobierno hable más de lo que hablas tú. Tu rol es hacer preguntas abiertas y escuchar. No vendes nada. No prometes nada. No abres laptop.</a:t>
            </a:r>
            <a:endParaRPr/>
          </a:p>
        </p:txBody>
      </p:sp>
      <p:sp>
        <p:nvSpPr>
          <p:cNvPr id="123" name="Google Shape;123;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5" name="Google Shape;145;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13.6s · 34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 que sales con: un mapa informal de stakeholders, primeras impresiones documentadas sobre la madurez digital del gobierno, y una lista de temas sensibles que vas a manejar con cuidado en el kickoff formal.</a:t>
            </a:r>
            <a:endParaRPr/>
          </a:p>
        </p:txBody>
      </p:sp>
      <p:sp>
        <p:nvSpPr>
          <p:cNvPr id="146" name="Google Shape;146;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15.6s · 39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no puedes hacer sesión cero, no es un blocker. La fase sigue adelante. Pero si tienes la oportunidad y la dejas pasar, vas a descubrir en la semana seis cosas que podrías haber sabido en la semana uno.</a:t>
            </a:r>
            <a:endParaRPr/>
          </a:p>
        </p:txBody>
      </p:sp>
      <p:sp>
        <p:nvSpPr>
          <p:cNvPr id="165" name="Google Shape;165;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9.6s · 24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sesión cero es la reunión más barata y con mayor retorno de toda la implementación. La confianza que genera ahorra semanas de fricción.</a:t>
            </a:r>
            <a:endParaRPr/>
          </a:p>
        </p:txBody>
      </p:sp>
      <p:sp>
        <p:nvSpPr>
          <p:cNvPr id="180" name="Google Shape;180;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0077C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0077CC"/>
                </a:solidFill>
                <a:latin typeface="Inter"/>
                <a:ea typeface="Inter"/>
                <a:cs typeface="Inter"/>
                <a:sym typeface="Inter"/>
              </a:rPr>
              <a:t>FASE A</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La sesión cero,</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antes del kickoff</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Opcional en el papel. La reunión con mejor retorno de toda la implementación.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2286000"/>
            <a:ext cx="15544800" cy="5715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0077CC"/>
                </a:solidFill>
                <a:latin typeface="Inter"/>
                <a:ea typeface="Inter"/>
                <a:cs typeface="Inter"/>
                <a:sym typeface="Inter"/>
              </a:rPr>
              <a:t>LA DINÁMICA</a:t>
            </a:r>
            <a:endParaRPr b="1" sz="2000">
              <a:solidFill>
                <a:srgbClr val="0077CC"/>
              </a:solidFill>
              <a:latin typeface="Inter"/>
              <a:ea typeface="Inter"/>
              <a:cs typeface="Inter"/>
              <a:sym typeface="Inter"/>
            </a:endParaRPr>
          </a:p>
          <a:p>
            <a:pPr indent="0" lvl="0" marL="0" rtl="0" algn="ctr">
              <a:spcBef>
                <a:spcPts val="1800"/>
              </a:spcBef>
              <a:spcAft>
                <a:spcPts val="0"/>
              </a:spcAft>
              <a:buNone/>
            </a:pPr>
            <a:r>
              <a:rPr b="1" lang="en-US" sz="7200">
                <a:solidFill>
                  <a:srgbClr val="0A0915"/>
                </a:solidFill>
                <a:latin typeface="Inter"/>
                <a:ea typeface="Inter"/>
                <a:cs typeface="Inter"/>
                <a:sym typeface="Inter"/>
              </a:rPr>
              <a:t>Una hora informal.</a:t>
            </a:r>
            <a:endParaRPr b="1" sz="7200">
              <a:solidFill>
                <a:srgbClr val="0A0915"/>
              </a:solidFill>
              <a:latin typeface="Inter"/>
              <a:ea typeface="Inter"/>
              <a:cs typeface="Inter"/>
              <a:sym typeface="Inter"/>
            </a:endParaRPr>
          </a:p>
          <a:p>
            <a:pPr indent="0" lvl="0" marL="0" rtl="0" algn="ctr">
              <a:spcBef>
                <a:spcPts val="1200"/>
              </a:spcBef>
              <a:spcAft>
                <a:spcPts val="0"/>
              </a:spcAft>
              <a:buNone/>
            </a:pPr>
            <a:r>
              <a:rPr b="1" lang="en-US" sz="7200">
                <a:solidFill>
                  <a:srgbClr val="0A0915"/>
                </a:solidFill>
                <a:latin typeface="Inter"/>
                <a:ea typeface="Inter"/>
                <a:cs typeface="Inter"/>
                <a:sym typeface="Inter"/>
              </a:rPr>
              <a:t>Tú y el coordinador</a:t>
            </a:r>
            <a:endParaRPr b="1" sz="7200">
              <a:solidFill>
                <a:srgbClr val="0A0915"/>
              </a:solidFill>
              <a:latin typeface="Inter"/>
              <a:ea typeface="Inter"/>
              <a:cs typeface="Inter"/>
              <a:sym typeface="Inter"/>
            </a:endParaRPr>
          </a:p>
          <a:p>
            <a:pPr indent="0" lvl="0" marL="0" rtl="0" algn="ctr">
              <a:spcBef>
                <a:spcPts val="4500"/>
              </a:spcBef>
              <a:spcAft>
                <a:spcPts val="0"/>
              </a:spcAft>
              <a:buNone/>
            </a:pPr>
            <a:r>
              <a:rPr b="0" lang="en-US" sz="2400">
                <a:solidFill>
                  <a:srgbClr val="475569"/>
                </a:solidFill>
                <a:highlight>
                  <a:srgbClr val="F8FAFC"/>
                </a:highlight>
                <a:latin typeface="Inter"/>
                <a:ea typeface="Inter"/>
                <a:cs typeface="Inter"/>
                <a:sym typeface="Inter"/>
              </a:rPr>
              <a:t>Si puedes sumar al dueño del proyecto, mejor</a:t>
            </a:r>
            <a:endParaRPr b="0" sz="2400">
              <a:solidFill>
                <a:srgbClr val="475569"/>
              </a:solidFill>
              <a:highlight>
                <a:srgbClr val="F8FAFC"/>
              </a:highlight>
              <a:latin typeface="Inter"/>
              <a:ea typeface="Inter"/>
              <a:cs typeface="Inter"/>
              <a:sym typeface="Inter"/>
            </a:endParaRPr>
          </a:p>
          <a:p>
            <a:pPr indent="0" lvl="0" marL="0" rtl="0" algn="ctr">
              <a:spcBef>
                <a:spcPts val="1125"/>
              </a:spcBef>
              <a:spcAft>
                <a:spcPts val="0"/>
              </a:spcAft>
              <a:buNone/>
            </a:pPr>
            <a:r>
              <a:rPr b="1" lang="en-US" sz="2800">
                <a:solidFill>
                  <a:srgbClr val="0A0915"/>
                </a:solidFill>
                <a:highlight>
                  <a:srgbClr val="F8FAFC"/>
                </a:highlight>
                <a:latin typeface="Inter"/>
                <a:ea typeface="Inter"/>
                <a:cs typeface="Inter"/>
                <a:sym typeface="Inter"/>
              </a:rPr>
              <a:t>El objetivo no es trabajar. El objetivo es conocerse</a:t>
            </a:r>
            <a:endParaRPr b="1" sz="2800">
              <a:solidFill>
                <a:srgbClr val="0A0915"/>
              </a:solidFill>
              <a:highlight>
                <a:srgbClr val="F8FAFC"/>
              </a:highlight>
              <a:latin typeface="Inter"/>
              <a:ea typeface="Inter"/>
              <a:cs typeface="Inter"/>
              <a:sym typeface="Inter"/>
            </a:endParaRPr>
          </a:p>
        </p:txBody>
      </p:sp>
      <p:sp>
        <p:nvSpPr>
          <p:cNvPr id="96" name="Google Shape;96;p14"/>
          <p:cNvSpPr txBox="1"/>
          <p:nvPr/>
        </p:nvSpPr>
        <p:spPr>
          <a:xfrm>
            <a:off x="8534400" y="1617472"/>
            <a:ext cx="1219200" cy="1219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6400">
                <a:solidFill>
                  <a:srgbClr val="0077CC"/>
                </a:solidFill>
                <a:latin typeface="Material Icons"/>
                <a:ea typeface="Material Icons"/>
                <a:cs typeface="Material Icons"/>
                <a:sym typeface="Material Icons"/>
              </a:rPr>
              <a:t></a:t>
            </a:r>
            <a:endParaRPr sz="6400">
              <a:solidFill>
                <a:srgbClr val="0077CC"/>
              </a:solidFill>
              <a:latin typeface="Material Icons"/>
              <a:ea typeface="Material Icons"/>
              <a:cs typeface="Material Icons"/>
              <a:sym typeface="Material Ico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5"/>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15"/>
          <p:cNvSpPr txBox="1"/>
          <p:nvPr/>
        </p:nvSpPr>
        <p:spPr>
          <a:xfrm>
            <a:off x="1371600" y="762000"/>
            <a:ext cx="15544800" cy="831300"/>
          </a:xfrm>
          <a:prstGeom prst="rect">
            <a:avLst/>
          </a:prstGeom>
          <a:solidFill>
            <a:srgbClr val="000000">
              <a:alpha val="0"/>
            </a:srgbClr>
          </a:solidFill>
          <a:ln>
            <a:noFill/>
          </a:ln>
        </p:spPr>
        <p:txBody>
          <a:bodyPr anchorCtr="0" anchor="b" bIns="0" lIns="0" spcFirstLastPara="1" rIns="0" wrap="square" tIns="0">
            <a:spAutoFit/>
          </a:bodyPr>
          <a:lstStyle/>
          <a:p>
            <a:pPr indent="0" lvl="0" marL="0" rtl="0" algn="l">
              <a:spcBef>
                <a:spcPts val="0"/>
              </a:spcBef>
              <a:spcAft>
                <a:spcPts val="0"/>
              </a:spcAft>
              <a:buNone/>
            </a:pPr>
            <a:r>
              <a:rPr b="1" i="0" lang="en-US" sz="5400">
                <a:solidFill>
                  <a:srgbClr val="0A0915"/>
                </a:solidFill>
                <a:latin typeface="Inter"/>
                <a:ea typeface="Inter"/>
                <a:cs typeface="Inter"/>
                <a:sym typeface="Inter"/>
              </a:rPr>
              <a:t>Lo que tienes que sacar de esa hora</a:t>
            </a:r>
            <a:endParaRPr b="1" i="0" sz="5400">
              <a:solidFill>
                <a:srgbClr val="0A0915"/>
              </a:solidFill>
              <a:latin typeface="Inter"/>
              <a:ea typeface="Inter"/>
              <a:cs typeface="Inter"/>
              <a:sym typeface="Inter"/>
            </a:endParaRPr>
          </a:p>
        </p:txBody>
      </p:sp>
      <p:grpSp>
        <p:nvGrpSpPr>
          <p:cNvPr id="104" name="Google Shape;104;p15"/>
          <p:cNvGrpSpPr/>
          <p:nvPr/>
        </p:nvGrpSpPr>
        <p:grpSpPr>
          <a:xfrm>
            <a:off x="1371600" y="2476500"/>
            <a:ext cx="15544800" cy="6477000"/>
            <a:chOff x="1371600" y="2476500"/>
            <a:chExt cx="15544800" cy="6477000"/>
          </a:xfrm>
        </p:grpSpPr>
        <p:sp>
          <p:nvSpPr>
            <p:cNvPr id="105" name="Google Shape;105;p15"/>
            <p:cNvSpPr/>
            <p:nvPr/>
          </p:nvSpPr>
          <p:spPr>
            <a:xfrm>
              <a:off x="1371600" y="2476500"/>
              <a:ext cx="7239000" cy="2286000"/>
            </a:xfrm>
            <a:prstGeom prst="roundRect">
              <a:avLst>
                <a:gd fmla="val 5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6" name="Google Shape;106;p15"/>
            <p:cNvSpPr txBox="1"/>
            <p:nvPr/>
          </p:nvSpPr>
          <p:spPr>
            <a:xfrm>
              <a:off x="1657350" y="2820670"/>
              <a:ext cx="571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0077CC"/>
                  </a:solidFill>
                  <a:latin typeface="Material Icons"/>
                  <a:ea typeface="Material Icons"/>
                  <a:cs typeface="Material Icons"/>
                  <a:sym typeface="Material Icons"/>
                </a:rPr>
                <a:t></a:t>
              </a:r>
              <a:endParaRPr sz="3700">
                <a:solidFill>
                  <a:srgbClr val="0077CC"/>
                </a:solidFill>
                <a:latin typeface="Material Icons"/>
                <a:ea typeface="Material Icons"/>
                <a:cs typeface="Material Icons"/>
                <a:sym typeface="Material Icons"/>
              </a:endParaRPr>
            </a:p>
          </p:txBody>
        </p:sp>
        <p:sp>
          <p:nvSpPr>
            <p:cNvPr id="107" name="Google Shape;107;p15"/>
            <p:cNvSpPr txBox="1"/>
            <p:nvPr/>
          </p:nvSpPr>
          <p:spPr>
            <a:xfrm>
              <a:off x="2324100" y="2762250"/>
              <a:ext cx="6096000" cy="1143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Aliados Internos</a:t>
              </a:r>
              <a:endParaRPr b="1" sz="2000">
                <a:solidFill>
                  <a:srgbClr val="0A0915"/>
                </a:solidFill>
                <a:latin typeface="Inter"/>
                <a:ea typeface="Inter"/>
                <a:cs typeface="Inter"/>
                <a:sym typeface="Inter"/>
              </a:endParaRPr>
            </a:p>
            <a:p>
              <a:pPr indent="0" lvl="0" marL="0" rtl="0" algn="l">
                <a:spcBef>
                  <a:spcPts val="600"/>
                </a:spcBef>
                <a:spcAft>
                  <a:spcPts val="0"/>
                </a:spcAft>
                <a:buNone/>
              </a:pPr>
              <a:r>
                <a:rPr b="0" lang="en-US" sz="1600">
                  <a:solidFill>
                    <a:srgbClr val="475569"/>
                  </a:solidFill>
                  <a:latin typeface="Inter"/>
                  <a:ea typeface="Inter"/>
                  <a:cs typeface="Inter"/>
                  <a:sym typeface="Inter"/>
                </a:rPr>
                <a:t>Quién impulsa el proyecto desde adentro.</a:t>
              </a:r>
              <a:endParaRPr b="0" sz="1600">
                <a:solidFill>
                  <a:srgbClr val="475569"/>
                </a:solidFill>
                <a:latin typeface="Inter"/>
                <a:ea typeface="Inter"/>
                <a:cs typeface="Inter"/>
                <a:sym typeface="Inter"/>
              </a:endParaRPr>
            </a:p>
          </p:txBody>
        </p:sp>
        <p:sp>
          <p:nvSpPr>
            <p:cNvPr id="108" name="Google Shape;108;p15"/>
            <p:cNvSpPr/>
            <p:nvPr/>
          </p:nvSpPr>
          <p:spPr>
            <a:xfrm>
              <a:off x="9677400" y="2476500"/>
              <a:ext cx="7239000" cy="2286000"/>
            </a:xfrm>
            <a:prstGeom prst="roundRect">
              <a:avLst>
                <a:gd fmla="val 5000" name="adj"/>
              </a:avLst>
            </a:prstGeom>
            <a:solidFill>
              <a:srgbClr val="FE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9" name="Google Shape;109;p15"/>
            <p:cNvSpPr txBox="1"/>
            <p:nvPr/>
          </p:nvSpPr>
          <p:spPr>
            <a:xfrm>
              <a:off x="9963150" y="2820670"/>
              <a:ext cx="571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DC2626"/>
                  </a:solidFill>
                  <a:latin typeface="Material Icons"/>
                  <a:ea typeface="Material Icons"/>
                  <a:cs typeface="Material Icons"/>
                  <a:sym typeface="Material Icons"/>
                </a:rPr>
                <a:t></a:t>
              </a:r>
              <a:endParaRPr sz="3700">
                <a:solidFill>
                  <a:srgbClr val="DC2626"/>
                </a:solidFill>
                <a:latin typeface="Material Icons"/>
                <a:ea typeface="Material Icons"/>
                <a:cs typeface="Material Icons"/>
                <a:sym typeface="Material Icons"/>
              </a:endParaRPr>
            </a:p>
          </p:txBody>
        </p:sp>
        <p:sp>
          <p:nvSpPr>
            <p:cNvPr id="110" name="Google Shape;110;p15"/>
            <p:cNvSpPr txBox="1"/>
            <p:nvPr/>
          </p:nvSpPr>
          <p:spPr>
            <a:xfrm>
              <a:off x="10629900" y="2762250"/>
              <a:ext cx="6096000" cy="1143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Posibles Bloqueos</a:t>
              </a:r>
              <a:endParaRPr b="1" sz="2000">
                <a:solidFill>
                  <a:srgbClr val="0A0915"/>
                </a:solidFill>
                <a:latin typeface="Inter"/>
                <a:ea typeface="Inter"/>
                <a:cs typeface="Inter"/>
                <a:sym typeface="Inter"/>
              </a:endParaRPr>
            </a:p>
            <a:p>
              <a:pPr indent="0" lvl="0" marL="0" rtl="0" algn="l">
                <a:spcBef>
                  <a:spcPts val="600"/>
                </a:spcBef>
                <a:spcAft>
                  <a:spcPts val="0"/>
                </a:spcAft>
                <a:buNone/>
              </a:pPr>
              <a:r>
                <a:rPr b="0" lang="en-US" sz="1600">
                  <a:solidFill>
                    <a:srgbClr val="475569"/>
                  </a:solidFill>
                  <a:latin typeface="Inter"/>
                  <a:ea typeface="Inter"/>
                  <a:cs typeface="Inter"/>
                  <a:sym typeface="Inter"/>
                </a:rPr>
                <a:t>Quién podría bloquearlo.</a:t>
              </a:r>
              <a:endParaRPr b="0" sz="1600">
                <a:solidFill>
                  <a:srgbClr val="475569"/>
                </a:solidFill>
                <a:latin typeface="Inter"/>
                <a:ea typeface="Inter"/>
                <a:cs typeface="Inter"/>
                <a:sym typeface="Inter"/>
              </a:endParaRPr>
            </a:p>
          </p:txBody>
        </p:sp>
        <p:sp>
          <p:nvSpPr>
            <p:cNvPr id="111" name="Google Shape;111;p15"/>
            <p:cNvSpPr/>
            <p:nvPr/>
          </p:nvSpPr>
          <p:spPr>
            <a:xfrm>
              <a:off x="1371600" y="5048250"/>
              <a:ext cx="7239000" cy="2286000"/>
            </a:xfrm>
            <a:prstGeom prst="roundRect">
              <a:avLst>
                <a:gd fmla="val 5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2" name="Google Shape;112;p15"/>
            <p:cNvSpPr txBox="1"/>
            <p:nvPr/>
          </p:nvSpPr>
          <p:spPr>
            <a:xfrm>
              <a:off x="1657350" y="5392420"/>
              <a:ext cx="571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0077CC"/>
                  </a:solidFill>
                  <a:latin typeface="Material Icons"/>
                  <a:ea typeface="Material Icons"/>
                  <a:cs typeface="Material Icons"/>
                  <a:sym typeface="Material Icons"/>
                </a:rPr>
                <a:t></a:t>
              </a:r>
              <a:endParaRPr sz="3700">
                <a:solidFill>
                  <a:srgbClr val="0077CC"/>
                </a:solidFill>
                <a:latin typeface="Material Icons"/>
                <a:ea typeface="Material Icons"/>
                <a:cs typeface="Material Icons"/>
                <a:sym typeface="Material Icons"/>
              </a:endParaRPr>
            </a:p>
          </p:txBody>
        </p:sp>
        <p:sp>
          <p:nvSpPr>
            <p:cNvPr id="113" name="Google Shape;113;p15"/>
            <p:cNvSpPr txBox="1"/>
            <p:nvPr/>
          </p:nvSpPr>
          <p:spPr>
            <a:xfrm>
              <a:off x="2324100" y="5334000"/>
              <a:ext cx="6096000" cy="1428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Historial Digital</a:t>
              </a:r>
              <a:endParaRPr b="1" sz="2000">
                <a:solidFill>
                  <a:srgbClr val="0A0915"/>
                </a:solidFill>
                <a:latin typeface="Inter"/>
                <a:ea typeface="Inter"/>
                <a:cs typeface="Inter"/>
                <a:sym typeface="Inter"/>
              </a:endParaRPr>
            </a:p>
            <a:p>
              <a:pPr indent="0" lvl="0" marL="0" rtl="0" algn="l">
                <a:spcBef>
                  <a:spcPts val="600"/>
                </a:spcBef>
                <a:spcAft>
                  <a:spcPts val="0"/>
                </a:spcAft>
                <a:buNone/>
              </a:pPr>
              <a:r>
                <a:rPr b="0" lang="en-US" sz="1600">
                  <a:solidFill>
                    <a:srgbClr val="475569"/>
                  </a:solidFill>
                  <a:latin typeface="Inter"/>
                  <a:ea typeface="Inter"/>
                  <a:cs typeface="Inter"/>
                  <a:sym typeface="Inter"/>
                </a:rPr>
                <a:t>Qué proyectos de digitalización ya intentaron antes y por qué fallaron.</a:t>
              </a:r>
              <a:endParaRPr b="0" sz="1600">
                <a:solidFill>
                  <a:srgbClr val="475569"/>
                </a:solidFill>
                <a:latin typeface="Inter"/>
                <a:ea typeface="Inter"/>
                <a:cs typeface="Inter"/>
                <a:sym typeface="Inter"/>
              </a:endParaRPr>
            </a:p>
          </p:txBody>
        </p:sp>
        <p:sp>
          <p:nvSpPr>
            <p:cNvPr id="114" name="Google Shape;114;p15"/>
            <p:cNvSpPr/>
            <p:nvPr/>
          </p:nvSpPr>
          <p:spPr>
            <a:xfrm>
              <a:off x="9677400" y="5048250"/>
              <a:ext cx="7239000" cy="2286000"/>
            </a:xfrm>
            <a:prstGeom prst="roundRect">
              <a:avLst>
                <a:gd fmla="val 5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5"/>
            <p:cNvSpPr txBox="1"/>
            <p:nvPr/>
          </p:nvSpPr>
          <p:spPr>
            <a:xfrm>
              <a:off x="9963150" y="5392420"/>
              <a:ext cx="571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0077CC"/>
                  </a:solidFill>
                  <a:latin typeface="Material Icons"/>
                  <a:ea typeface="Material Icons"/>
                  <a:cs typeface="Material Icons"/>
                  <a:sym typeface="Material Icons"/>
                </a:rPr>
                <a:t></a:t>
              </a:r>
              <a:endParaRPr sz="3700">
                <a:solidFill>
                  <a:srgbClr val="0077CC"/>
                </a:solidFill>
                <a:latin typeface="Material Icons"/>
                <a:ea typeface="Material Icons"/>
                <a:cs typeface="Material Icons"/>
                <a:sym typeface="Material Icons"/>
              </a:endParaRPr>
            </a:p>
          </p:txBody>
        </p:sp>
        <p:sp>
          <p:nvSpPr>
            <p:cNvPr id="116" name="Google Shape;116;p15"/>
            <p:cNvSpPr txBox="1"/>
            <p:nvPr/>
          </p:nvSpPr>
          <p:spPr>
            <a:xfrm>
              <a:off x="10629900" y="5334000"/>
              <a:ext cx="6096000" cy="1428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Expectativas Reales</a:t>
              </a:r>
              <a:endParaRPr b="1" sz="2000">
                <a:solidFill>
                  <a:srgbClr val="0A0915"/>
                </a:solidFill>
                <a:latin typeface="Inter"/>
                <a:ea typeface="Inter"/>
                <a:cs typeface="Inter"/>
                <a:sym typeface="Inter"/>
              </a:endParaRPr>
            </a:p>
            <a:p>
              <a:pPr indent="0" lvl="0" marL="0" rtl="0" algn="l">
                <a:spcBef>
                  <a:spcPts val="600"/>
                </a:spcBef>
                <a:spcAft>
                  <a:spcPts val="0"/>
                </a:spcAft>
                <a:buNone/>
              </a:pPr>
              <a:r>
                <a:rPr b="0" lang="en-US" sz="1600">
                  <a:solidFill>
                    <a:srgbClr val="475569"/>
                  </a:solidFill>
                  <a:latin typeface="Inter"/>
                  <a:ea typeface="Inter"/>
                  <a:cs typeface="Inter"/>
                  <a:sym typeface="Inter"/>
                </a:rPr>
                <a:t>Qué expectativas reales tiene el gobierno, más allá del contrato.</a:t>
              </a:r>
              <a:endParaRPr b="0" sz="1600">
                <a:solidFill>
                  <a:srgbClr val="475569"/>
                </a:solidFill>
                <a:latin typeface="Inter"/>
                <a:ea typeface="Inter"/>
                <a:cs typeface="Inter"/>
                <a:sym typeface="Inter"/>
              </a:endParaRPr>
            </a:p>
          </p:txBody>
        </p:sp>
        <p:sp>
          <p:nvSpPr>
            <p:cNvPr id="117" name="Google Shape;117;p15"/>
            <p:cNvSpPr/>
            <p:nvPr/>
          </p:nvSpPr>
          <p:spPr>
            <a:xfrm>
              <a:off x="1371600" y="7620000"/>
              <a:ext cx="15544800" cy="1333500"/>
            </a:xfrm>
            <a:prstGeom prst="roundRect">
              <a:avLst>
                <a:gd fmla="val 8571" name="adj"/>
              </a:avLst>
            </a:prstGeom>
            <a:solidFill>
              <a:srgbClr val="FFFB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8" name="Google Shape;118;p15"/>
            <p:cNvSpPr txBox="1"/>
            <p:nvPr/>
          </p:nvSpPr>
          <p:spPr>
            <a:xfrm>
              <a:off x="1657350" y="8059420"/>
              <a:ext cx="571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D97706"/>
                  </a:solidFill>
                  <a:latin typeface="Material Icons"/>
                  <a:ea typeface="Material Icons"/>
                  <a:cs typeface="Material Icons"/>
                  <a:sym typeface="Material Icons"/>
                </a:rPr>
                <a:t></a:t>
              </a:r>
              <a:endParaRPr sz="3700">
                <a:solidFill>
                  <a:srgbClr val="D97706"/>
                </a:solidFill>
                <a:latin typeface="Material Icons"/>
                <a:ea typeface="Material Icons"/>
                <a:cs typeface="Material Icons"/>
                <a:sym typeface="Material Icons"/>
              </a:endParaRPr>
            </a:p>
          </p:txBody>
        </p:sp>
        <p:sp>
          <p:nvSpPr>
            <p:cNvPr id="119" name="Google Shape;119;p15"/>
            <p:cNvSpPr txBox="1"/>
            <p:nvPr/>
          </p:nvSpPr>
          <p:spPr>
            <a:xfrm>
              <a:off x="2324100" y="7905750"/>
              <a:ext cx="144018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2200">
                  <a:solidFill>
                    <a:srgbClr val="0A0915"/>
                  </a:solidFill>
                  <a:latin typeface="Inter"/>
                  <a:ea typeface="Inter"/>
                  <a:cs typeface="Inter"/>
                  <a:sym typeface="Inter"/>
                </a:rPr>
                <a:t>Sensibilidad Política</a:t>
              </a:r>
              <a:endParaRPr b="1" sz="2200">
                <a:solidFill>
                  <a:srgbClr val="0A0915"/>
                </a:solidFill>
                <a:latin typeface="Inter"/>
                <a:ea typeface="Inter"/>
                <a:cs typeface="Inter"/>
                <a:sym typeface="Inter"/>
              </a:endParaRPr>
            </a:p>
            <a:p>
              <a:pPr indent="0" lvl="0" marL="0" rtl="0" algn="l">
                <a:spcBef>
                  <a:spcPts val="300"/>
                </a:spcBef>
                <a:spcAft>
                  <a:spcPts val="0"/>
                </a:spcAft>
                <a:buNone/>
              </a:pPr>
              <a:r>
                <a:rPr b="0" lang="en-US" sz="1800">
                  <a:solidFill>
                    <a:srgbClr val="475569"/>
                  </a:solidFill>
                  <a:latin typeface="Inter"/>
                  <a:ea typeface="Inter"/>
                  <a:cs typeface="Inter"/>
                  <a:sym typeface="Inter"/>
                </a:rPr>
                <a:t>Qué temas son sensibles políticamente.</a:t>
              </a:r>
              <a:endParaRPr b="0" sz="1800">
                <a:solidFill>
                  <a:srgbClr val="475569"/>
                </a:solidFill>
                <a:latin typeface="Inter"/>
                <a:ea typeface="Inter"/>
                <a:cs typeface="Inter"/>
                <a:sym typeface="Inte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6"/>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26" name="Google Shape;126;p16"/>
          <p:cNvGrpSpPr/>
          <p:nvPr/>
        </p:nvGrpSpPr>
        <p:grpSpPr>
          <a:xfrm>
            <a:off x="1371600" y="952500"/>
            <a:ext cx="15544800" cy="2095500"/>
            <a:chOff x="1371600" y="952500"/>
            <a:chExt cx="15544800" cy="2095500"/>
          </a:xfrm>
        </p:grpSpPr>
        <p:sp>
          <p:nvSpPr>
            <p:cNvPr id="127" name="Google Shape;127;p16"/>
            <p:cNvSpPr txBox="1"/>
            <p:nvPr/>
          </p:nvSpPr>
          <p:spPr>
            <a:xfrm>
              <a:off x="1371600" y="9525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000">
                  <a:solidFill>
                    <a:srgbClr val="0077CC"/>
                  </a:solidFill>
                  <a:latin typeface="Inter"/>
                  <a:ea typeface="Inter"/>
                  <a:cs typeface="Inter"/>
                  <a:sym typeface="Inter"/>
                </a:rPr>
                <a:t>La regla</a:t>
              </a:r>
              <a:endParaRPr b="1" sz="2000">
                <a:solidFill>
                  <a:srgbClr val="0077CC"/>
                </a:solidFill>
                <a:latin typeface="Inter"/>
                <a:ea typeface="Inter"/>
                <a:cs typeface="Inter"/>
                <a:sym typeface="Inter"/>
              </a:endParaRPr>
            </a:p>
          </p:txBody>
        </p:sp>
        <p:sp>
          <p:nvSpPr>
            <p:cNvPr id="128" name="Google Shape;128;p16"/>
            <p:cNvSpPr txBox="1"/>
            <p:nvPr/>
          </p:nvSpPr>
          <p:spPr>
            <a:xfrm>
              <a:off x="1371600" y="1524000"/>
              <a:ext cx="15544800" cy="1524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760">
                  <a:solidFill>
                    <a:srgbClr val="0A0915"/>
                  </a:solidFill>
                  <a:latin typeface="Inter"/>
                  <a:ea typeface="Inter"/>
                  <a:cs typeface="Inter"/>
                  <a:sym typeface="Inter"/>
                </a:rPr>
                <a:t>Deja que el gobierno hable más de lo que hablas tú</a:t>
              </a:r>
              <a:endParaRPr b="1" sz="4760">
                <a:solidFill>
                  <a:srgbClr val="0A0915"/>
                </a:solidFill>
                <a:latin typeface="Inter"/>
                <a:ea typeface="Inter"/>
                <a:cs typeface="Inter"/>
                <a:sym typeface="Inter"/>
              </a:endParaRPr>
            </a:p>
          </p:txBody>
        </p:sp>
      </p:grpSp>
      <p:grpSp>
        <p:nvGrpSpPr>
          <p:cNvPr id="129" name="Google Shape;129;p16"/>
          <p:cNvGrpSpPr/>
          <p:nvPr/>
        </p:nvGrpSpPr>
        <p:grpSpPr>
          <a:xfrm>
            <a:off x="1371600" y="3619500"/>
            <a:ext cx="15544800" cy="4667250"/>
            <a:chOff x="1371600" y="3619500"/>
            <a:chExt cx="15544800" cy="4667250"/>
          </a:xfrm>
        </p:grpSpPr>
        <p:sp>
          <p:nvSpPr>
            <p:cNvPr id="130" name="Google Shape;130;p16"/>
            <p:cNvSpPr/>
            <p:nvPr/>
          </p:nvSpPr>
          <p:spPr>
            <a:xfrm>
              <a:off x="1371600" y="3619500"/>
              <a:ext cx="15544800" cy="1714500"/>
            </a:xfrm>
            <a:prstGeom prst="roundRect">
              <a:avLst>
                <a:gd fmla="val 8888"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1" name="Google Shape;131;p16"/>
            <p:cNvSpPr txBox="1"/>
            <p:nvPr/>
          </p:nvSpPr>
          <p:spPr>
            <a:xfrm>
              <a:off x="1752600" y="39753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0077CC"/>
                  </a:solidFill>
                  <a:latin typeface="Material Icons"/>
                  <a:ea typeface="Material Icons"/>
                  <a:cs typeface="Material Icons"/>
                  <a:sym typeface="Material Icons"/>
                </a:rPr>
                <a:t></a:t>
              </a:r>
              <a:endParaRPr sz="4800">
                <a:solidFill>
                  <a:srgbClr val="0077CC"/>
                </a:solidFill>
                <a:latin typeface="Material Icons"/>
                <a:ea typeface="Material Icons"/>
                <a:cs typeface="Material Icons"/>
                <a:sym typeface="Material Icons"/>
              </a:endParaRPr>
            </a:p>
          </p:txBody>
        </p:sp>
        <p:sp>
          <p:nvSpPr>
            <p:cNvPr id="132" name="Google Shape;132;p16"/>
            <p:cNvSpPr txBox="1"/>
            <p:nvPr/>
          </p:nvSpPr>
          <p:spPr>
            <a:xfrm>
              <a:off x="2705100" y="3619500"/>
              <a:ext cx="13830300" cy="171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2800">
                  <a:solidFill>
                    <a:srgbClr val="0A0915"/>
                  </a:solidFill>
                  <a:latin typeface="Inter"/>
                  <a:ea typeface="Inter"/>
                  <a:cs typeface="Inter"/>
                  <a:sym typeface="Inter"/>
                </a:rPr>
                <a:t>Tu rol es hacer </a:t>
              </a:r>
              <a:r>
                <a:rPr b="1" lang="en-US" sz="2800">
                  <a:solidFill>
                    <a:srgbClr val="0077CC"/>
                  </a:solidFill>
                  <a:latin typeface="Inter"/>
                  <a:ea typeface="Inter"/>
                  <a:cs typeface="Inter"/>
                  <a:sym typeface="Inter"/>
                </a:rPr>
                <a:t>preguntas abiertas</a:t>
              </a:r>
              <a:r>
                <a:rPr b="0" lang="en-US" sz="2800">
                  <a:solidFill>
                    <a:srgbClr val="0A0915"/>
                  </a:solidFill>
                  <a:latin typeface="Inter"/>
                  <a:ea typeface="Inter"/>
                  <a:cs typeface="Inter"/>
                  <a:sym typeface="Inter"/>
                </a:rPr>
                <a:t> y </a:t>
              </a:r>
              <a:r>
                <a:rPr b="1" lang="en-US" sz="2800">
                  <a:solidFill>
                    <a:srgbClr val="0077CC"/>
                  </a:solidFill>
                  <a:latin typeface="Inter"/>
                  <a:ea typeface="Inter"/>
                  <a:cs typeface="Inter"/>
                  <a:sym typeface="Inter"/>
                </a:rPr>
                <a:t>escuchar</a:t>
              </a:r>
              <a:r>
                <a:rPr b="0" lang="en-US" sz="2800">
                  <a:solidFill>
                    <a:srgbClr val="0A0915"/>
                  </a:solidFill>
                  <a:latin typeface="Inter"/>
                  <a:ea typeface="Inter"/>
                  <a:cs typeface="Inter"/>
                  <a:sym typeface="Inter"/>
                </a:rPr>
                <a:t>.</a:t>
              </a:r>
              <a:endParaRPr b="0" sz="2800">
                <a:solidFill>
                  <a:srgbClr val="0A0915"/>
                </a:solidFill>
                <a:latin typeface="Inter"/>
                <a:ea typeface="Inter"/>
                <a:cs typeface="Inter"/>
                <a:sym typeface="Inter"/>
              </a:endParaRPr>
            </a:p>
          </p:txBody>
        </p:sp>
        <p:grpSp>
          <p:nvGrpSpPr>
            <p:cNvPr id="133" name="Google Shape;133;p16"/>
            <p:cNvGrpSpPr/>
            <p:nvPr/>
          </p:nvGrpSpPr>
          <p:grpSpPr>
            <a:xfrm>
              <a:off x="1371600" y="5619750"/>
              <a:ext cx="15544800" cy="2667000"/>
              <a:chOff x="1371600" y="5619750"/>
              <a:chExt cx="15544800" cy="2667000"/>
            </a:xfrm>
          </p:grpSpPr>
          <p:sp>
            <p:nvSpPr>
              <p:cNvPr id="134" name="Google Shape;134;p16"/>
              <p:cNvSpPr/>
              <p:nvPr/>
            </p:nvSpPr>
            <p:spPr>
              <a:xfrm>
                <a:off x="1371600" y="5619750"/>
                <a:ext cx="4991100" cy="2667000"/>
              </a:xfrm>
              <a:prstGeom prst="roundRect">
                <a:avLst>
                  <a:gd fmla="val 5714" name="adj"/>
                </a:avLst>
              </a:prstGeom>
              <a:solidFill>
                <a:srgbClr val="FE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5" name="Google Shape;135;p16"/>
              <p:cNvSpPr txBox="1"/>
              <p:nvPr/>
            </p:nvSpPr>
            <p:spPr>
              <a:xfrm>
                <a:off x="1371600" y="6059170"/>
                <a:ext cx="49911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DC2626"/>
                    </a:solidFill>
                    <a:latin typeface="Material Icons"/>
                    <a:ea typeface="Material Icons"/>
                    <a:cs typeface="Material Icons"/>
                    <a:sym typeface="Material Icons"/>
                  </a:rPr>
                  <a:t></a:t>
                </a:r>
                <a:endParaRPr sz="3700">
                  <a:solidFill>
                    <a:srgbClr val="DC2626"/>
                  </a:solidFill>
                  <a:latin typeface="Material Icons"/>
                  <a:ea typeface="Material Icons"/>
                  <a:cs typeface="Material Icons"/>
                  <a:sym typeface="Material Icons"/>
                </a:endParaRPr>
              </a:p>
            </p:txBody>
          </p:sp>
          <p:sp>
            <p:nvSpPr>
              <p:cNvPr id="136" name="Google Shape;136;p16"/>
              <p:cNvSpPr txBox="1"/>
              <p:nvPr/>
            </p:nvSpPr>
            <p:spPr>
              <a:xfrm>
                <a:off x="1371600" y="6762750"/>
                <a:ext cx="49911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0A0915"/>
                    </a:solidFill>
                    <a:latin typeface="Inter"/>
                    <a:ea typeface="Inter"/>
                    <a:cs typeface="Inter"/>
                    <a:sym typeface="Inter"/>
                  </a:rPr>
                  <a:t>No vendes nada</a:t>
                </a:r>
                <a:endParaRPr b="1" sz="2400">
                  <a:solidFill>
                    <a:srgbClr val="0A0915"/>
                  </a:solidFill>
                  <a:latin typeface="Inter"/>
                  <a:ea typeface="Inter"/>
                  <a:cs typeface="Inter"/>
                  <a:sym typeface="Inter"/>
                </a:endParaRPr>
              </a:p>
            </p:txBody>
          </p:sp>
          <p:sp>
            <p:nvSpPr>
              <p:cNvPr id="137" name="Google Shape;137;p16"/>
              <p:cNvSpPr/>
              <p:nvPr/>
            </p:nvSpPr>
            <p:spPr>
              <a:xfrm>
                <a:off x="6648450" y="5619750"/>
                <a:ext cx="4991100" cy="2667000"/>
              </a:xfrm>
              <a:prstGeom prst="roundRect">
                <a:avLst>
                  <a:gd fmla="val 5714" name="adj"/>
                </a:avLst>
              </a:prstGeom>
              <a:solidFill>
                <a:srgbClr val="FE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8" name="Google Shape;138;p16"/>
              <p:cNvSpPr txBox="1"/>
              <p:nvPr/>
            </p:nvSpPr>
            <p:spPr>
              <a:xfrm>
                <a:off x="6648450" y="6059170"/>
                <a:ext cx="49911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DC2626"/>
                    </a:solidFill>
                    <a:latin typeface="Material Icons"/>
                    <a:ea typeface="Material Icons"/>
                    <a:cs typeface="Material Icons"/>
                    <a:sym typeface="Material Icons"/>
                  </a:rPr>
                  <a:t></a:t>
                </a:r>
                <a:endParaRPr sz="3700">
                  <a:solidFill>
                    <a:srgbClr val="DC2626"/>
                  </a:solidFill>
                  <a:latin typeface="Material Icons"/>
                  <a:ea typeface="Material Icons"/>
                  <a:cs typeface="Material Icons"/>
                  <a:sym typeface="Material Icons"/>
                </a:endParaRPr>
              </a:p>
            </p:txBody>
          </p:sp>
          <p:sp>
            <p:nvSpPr>
              <p:cNvPr id="139" name="Google Shape;139;p16"/>
              <p:cNvSpPr txBox="1"/>
              <p:nvPr/>
            </p:nvSpPr>
            <p:spPr>
              <a:xfrm>
                <a:off x="6648450" y="6762750"/>
                <a:ext cx="49911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0A0915"/>
                    </a:solidFill>
                    <a:latin typeface="Inter"/>
                    <a:ea typeface="Inter"/>
                    <a:cs typeface="Inter"/>
                    <a:sym typeface="Inter"/>
                  </a:rPr>
                  <a:t>No prometes nada</a:t>
                </a:r>
                <a:endParaRPr b="1" sz="2400">
                  <a:solidFill>
                    <a:srgbClr val="0A0915"/>
                  </a:solidFill>
                  <a:latin typeface="Inter"/>
                  <a:ea typeface="Inter"/>
                  <a:cs typeface="Inter"/>
                  <a:sym typeface="Inter"/>
                </a:endParaRPr>
              </a:p>
            </p:txBody>
          </p:sp>
          <p:sp>
            <p:nvSpPr>
              <p:cNvPr id="140" name="Google Shape;140;p16"/>
              <p:cNvSpPr/>
              <p:nvPr/>
            </p:nvSpPr>
            <p:spPr>
              <a:xfrm>
                <a:off x="11925300" y="5619750"/>
                <a:ext cx="4991100" cy="2667000"/>
              </a:xfrm>
              <a:prstGeom prst="roundRect">
                <a:avLst>
                  <a:gd fmla="val 5714" name="adj"/>
                </a:avLst>
              </a:prstGeom>
              <a:solidFill>
                <a:srgbClr val="FE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6"/>
              <p:cNvSpPr txBox="1"/>
              <p:nvPr/>
            </p:nvSpPr>
            <p:spPr>
              <a:xfrm>
                <a:off x="11925300" y="6059170"/>
                <a:ext cx="49911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DC2626"/>
                    </a:solidFill>
                    <a:latin typeface="Material Icons"/>
                    <a:ea typeface="Material Icons"/>
                    <a:cs typeface="Material Icons"/>
                    <a:sym typeface="Material Icons"/>
                  </a:rPr>
                  <a:t>laptop_off</a:t>
                </a:r>
                <a:endParaRPr sz="3700">
                  <a:solidFill>
                    <a:srgbClr val="DC2626"/>
                  </a:solidFill>
                  <a:latin typeface="Material Icons"/>
                  <a:ea typeface="Material Icons"/>
                  <a:cs typeface="Material Icons"/>
                  <a:sym typeface="Material Icons"/>
                </a:endParaRPr>
              </a:p>
            </p:txBody>
          </p:sp>
          <p:sp>
            <p:nvSpPr>
              <p:cNvPr id="142" name="Google Shape;142;p16"/>
              <p:cNvSpPr txBox="1"/>
              <p:nvPr/>
            </p:nvSpPr>
            <p:spPr>
              <a:xfrm>
                <a:off x="11925300" y="6762750"/>
                <a:ext cx="49911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0A0915"/>
                    </a:solidFill>
                    <a:latin typeface="Inter"/>
                    <a:ea typeface="Inter"/>
                    <a:cs typeface="Inter"/>
                    <a:sym typeface="Inter"/>
                  </a:rPr>
                  <a:t>No abres laptop</a:t>
                </a:r>
                <a:endParaRPr b="1" sz="2400">
                  <a:solidFill>
                    <a:srgbClr val="0A0915"/>
                  </a:solidFill>
                  <a:latin typeface="Inter"/>
                  <a:ea typeface="Inter"/>
                  <a:cs typeface="Inter"/>
                  <a:sym typeface="Inter"/>
                </a:endParaRPr>
              </a:p>
            </p:txBody>
          </p:sp>
        </p:gr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7"/>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17"/>
          <p:cNvSpPr txBox="1"/>
          <p:nvPr/>
        </p:nvSpPr>
        <p:spPr>
          <a:xfrm>
            <a:off x="1371600" y="762000"/>
            <a:ext cx="15544800" cy="831300"/>
          </a:xfrm>
          <a:prstGeom prst="rect">
            <a:avLst/>
          </a:prstGeom>
          <a:solidFill>
            <a:srgbClr val="000000">
              <a:alpha val="0"/>
            </a:srgbClr>
          </a:solidFill>
          <a:ln>
            <a:noFill/>
          </a:ln>
        </p:spPr>
        <p:txBody>
          <a:bodyPr anchorCtr="0" anchor="b" bIns="0" lIns="0" spcFirstLastPara="1" rIns="0" wrap="square" tIns="0">
            <a:spAutoFit/>
          </a:bodyPr>
          <a:lstStyle/>
          <a:p>
            <a:pPr indent="0" lvl="0" marL="0" rtl="0" algn="l">
              <a:spcBef>
                <a:spcPts val="0"/>
              </a:spcBef>
              <a:spcAft>
                <a:spcPts val="0"/>
              </a:spcAft>
              <a:buNone/>
            </a:pPr>
            <a:r>
              <a:rPr b="1" i="0" lang="en-US" sz="5400">
                <a:solidFill>
                  <a:srgbClr val="0A0915"/>
                </a:solidFill>
                <a:latin typeface="Inter"/>
                <a:ea typeface="Inter"/>
                <a:cs typeface="Inter"/>
                <a:sym typeface="Inter"/>
              </a:rPr>
              <a:t>Lo que sales con</a:t>
            </a:r>
            <a:endParaRPr b="1" i="0" sz="5400">
              <a:solidFill>
                <a:srgbClr val="0A0915"/>
              </a:solidFill>
              <a:latin typeface="Inter"/>
              <a:ea typeface="Inter"/>
              <a:cs typeface="Inter"/>
              <a:sym typeface="Inter"/>
            </a:endParaRPr>
          </a:p>
        </p:txBody>
      </p:sp>
      <p:grpSp>
        <p:nvGrpSpPr>
          <p:cNvPr id="150" name="Google Shape;150;p17"/>
          <p:cNvGrpSpPr/>
          <p:nvPr/>
        </p:nvGrpSpPr>
        <p:grpSpPr>
          <a:xfrm>
            <a:off x="1371600" y="2476500"/>
            <a:ext cx="4991100" cy="3810000"/>
            <a:chOff x="1371600" y="2476500"/>
            <a:chExt cx="4991100" cy="3810000"/>
          </a:xfrm>
        </p:grpSpPr>
        <p:sp>
          <p:nvSpPr>
            <p:cNvPr id="151" name="Google Shape;151;p17"/>
            <p:cNvSpPr/>
            <p:nvPr/>
          </p:nvSpPr>
          <p:spPr>
            <a:xfrm>
              <a:off x="1371600" y="2476500"/>
              <a:ext cx="4991100" cy="3810000"/>
            </a:xfrm>
            <a:prstGeom prst="roundRect">
              <a:avLst>
                <a:gd fmla="val 3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2" name="Google Shape;152;p17"/>
            <p:cNvSpPr txBox="1"/>
            <p:nvPr/>
          </p:nvSpPr>
          <p:spPr>
            <a:xfrm>
              <a:off x="1371600" y="2476500"/>
              <a:ext cx="4991100" cy="3810000"/>
            </a:xfrm>
            <a:prstGeom prst="rect">
              <a:avLst/>
            </a:prstGeom>
            <a:noFill/>
            <a:ln>
              <a:noFill/>
            </a:ln>
          </p:spPr>
          <p:txBody>
            <a:bodyPr anchorCtr="0" anchor="ctr" bIns="381000" lIns="381000" spcFirstLastPara="1" rIns="381000" wrap="square" tIns="381000">
              <a:noAutofit/>
            </a:bodyPr>
            <a:lstStyle/>
            <a:p>
              <a:pPr indent="0" lvl="0" marL="0" rtl="0" algn="ctr">
                <a:spcBef>
                  <a:spcPts val="0"/>
                </a:spcBef>
                <a:spcAft>
                  <a:spcPts val="0"/>
                </a:spcAft>
                <a:buNone/>
              </a:pPr>
              <a:r>
                <a:rPr lang="en-US" sz="4800">
                  <a:solidFill>
                    <a:srgbClr val="0077CC"/>
                  </a:solidFill>
                  <a:latin typeface="Material Icons"/>
                  <a:ea typeface="Material Icons"/>
                  <a:cs typeface="Material Icons"/>
                  <a:sym typeface="Material Icons"/>
                </a:rPr>
                <a:t></a:t>
              </a:r>
              <a:endParaRPr sz="4800">
                <a:solidFill>
                  <a:srgbClr val="0077CC"/>
                </a:solidFill>
                <a:latin typeface="Material Icons"/>
                <a:ea typeface="Material Icons"/>
                <a:cs typeface="Material Icons"/>
                <a:sym typeface="Material Icons"/>
              </a:endParaRPr>
            </a:p>
            <a:p>
              <a:pPr indent="0" lvl="0" marL="0" rtl="0" algn="ctr">
                <a:spcBef>
                  <a:spcPts val="1800"/>
                </a:spcBef>
                <a:spcAft>
                  <a:spcPts val="0"/>
                </a:spcAft>
                <a:buNone/>
              </a:pPr>
              <a:r>
                <a:rPr b="1" lang="en-US" sz="2200">
                  <a:solidFill>
                    <a:srgbClr val="0A0915"/>
                  </a:solidFill>
                  <a:latin typeface="Inter"/>
                  <a:ea typeface="Inter"/>
                  <a:cs typeface="Inter"/>
                  <a:sym typeface="Inter"/>
                </a:rPr>
                <a:t>Mapa de Stakeholders</a:t>
              </a:r>
              <a:endParaRPr b="1" sz="2200">
                <a:solidFill>
                  <a:srgbClr val="0A0915"/>
                </a:solidFill>
                <a:latin typeface="Inter"/>
                <a:ea typeface="Inter"/>
                <a:cs typeface="Inter"/>
                <a:sym typeface="Inter"/>
              </a:endParaRPr>
            </a:p>
            <a:p>
              <a:pPr indent="0" lvl="0" marL="0" rtl="0" algn="ctr">
                <a:spcBef>
                  <a:spcPts val="900"/>
                </a:spcBef>
                <a:spcAft>
                  <a:spcPts val="0"/>
                </a:spcAft>
                <a:buNone/>
              </a:pPr>
              <a:r>
                <a:rPr b="0" lang="en-US" sz="1600">
                  <a:solidFill>
                    <a:srgbClr val="475569"/>
                  </a:solidFill>
                  <a:latin typeface="Inter"/>
                  <a:ea typeface="Inter"/>
                  <a:cs typeface="Inter"/>
                  <a:sym typeface="Inter"/>
                </a:rPr>
                <a:t>Un mapa informal de quién es quién en la organización.</a:t>
              </a:r>
              <a:endParaRPr b="0" sz="1600">
                <a:solidFill>
                  <a:srgbClr val="475569"/>
                </a:solidFill>
                <a:latin typeface="Inter"/>
                <a:ea typeface="Inter"/>
                <a:cs typeface="Inter"/>
                <a:sym typeface="Inter"/>
              </a:endParaRPr>
            </a:p>
          </p:txBody>
        </p:sp>
      </p:grpSp>
      <p:grpSp>
        <p:nvGrpSpPr>
          <p:cNvPr id="153" name="Google Shape;153;p17"/>
          <p:cNvGrpSpPr/>
          <p:nvPr/>
        </p:nvGrpSpPr>
        <p:grpSpPr>
          <a:xfrm>
            <a:off x="6648450" y="2476500"/>
            <a:ext cx="4991100" cy="3810000"/>
            <a:chOff x="6648450" y="2476500"/>
            <a:chExt cx="4991100" cy="3810000"/>
          </a:xfrm>
        </p:grpSpPr>
        <p:sp>
          <p:nvSpPr>
            <p:cNvPr id="154" name="Google Shape;154;p17"/>
            <p:cNvSpPr/>
            <p:nvPr/>
          </p:nvSpPr>
          <p:spPr>
            <a:xfrm>
              <a:off x="6648450" y="2476500"/>
              <a:ext cx="4991100" cy="3810000"/>
            </a:xfrm>
            <a:prstGeom prst="roundRect">
              <a:avLst>
                <a:gd fmla="val 3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5" name="Google Shape;155;p17"/>
            <p:cNvSpPr txBox="1"/>
            <p:nvPr/>
          </p:nvSpPr>
          <p:spPr>
            <a:xfrm>
              <a:off x="6648450" y="2476500"/>
              <a:ext cx="4991100" cy="3810000"/>
            </a:xfrm>
            <a:prstGeom prst="rect">
              <a:avLst/>
            </a:prstGeom>
            <a:noFill/>
            <a:ln>
              <a:noFill/>
            </a:ln>
          </p:spPr>
          <p:txBody>
            <a:bodyPr anchorCtr="0" anchor="ctr" bIns="381000" lIns="381000" spcFirstLastPara="1" rIns="381000" wrap="square" tIns="381000">
              <a:noAutofit/>
            </a:bodyPr>
            <a:lstStyle/>
            <a:p>
              <a:pPr indent="0" lvl="0" marL="0" rtl="0" algn="ctr">
                <a:spcBef>
                  <a:spcPts val="0"/>
                </a:spcBef>
                <a:spcAft>
                  <a:spcPts val="0"/>
                </a:spcAft>
                <a:buNone/>
              </a:pPr>
              <a:r>
                <a:rPr lang="en-US" sz="4800">
                  <a:solidFill>
                    <a:srgbClr val="0077CC"/>
                  </a:solidFill>
                  <a:latin typeface="Material Icons"/>
                  <a:ea typeface="Material Icons"/>
                  <a:cs typeface="Material Icons"/>
                  <a:sym typeface="Material Icons"/>
                </a:rPr>
                <a:t></a:t>
              </a:r>
              <a:endParaRPr sz="4800">
                <a:solidFill>
                  <a:srgbClr val="0077CC"/>
                </a:solidFill>
                <a:latin typeface="Material Icons"/>
                <a:ea typeface="Material Icons"/>
                <a:cs typeface="Material Icons"/>
                <a:sym typeface="Material Icons"/>
              </a:endParaRPr>
            </a:p>
            <a:p>
              <a:pPr indent="0" lvl="0" marL="0" rtl="0" algn="ctr">
                <a:spcBef>
                  <a:spcPts val="1800"/>
                </a:spcBef>
                <a:spcAft>
                  <a:spcPts val="0"/>
                </a:spcAft>
                <a:buNone/>
              </a:pPr>
              <a:r>
                <a:rPr b="1" lang="en-US" sz="2200">
                  <a:solidFill>
                    <a:srgbClr val="0A0915"/>
                  </a:solidFill>
                  <a:latin typeface="Inter"/>
                  <a:ea typeface="Inter"/>
                  <a:cs typeface="Inter"/>
                  <a:sym typeface="Inter"/>
                </a:rPr>
                <a:t>Madurez Digital</a:t>
              </a:r>
              <a:endParaRPr b="1" sz="2200">
                <a:solidFill>
                  <a:srgbClr val="0A0915"/>
                </a:solidFill>
                <a:latin typeface="Inter"/>
                <a:ea typeface="Inter"/>
                <a:cs typeface="Inter"/>
                <a:sym typeface="Inter"/>
              </a:endParaRPr>
            </a:p>
            <a:p>
              <a:pPr indent="0" lvl="0" marL="0" rtl="0" algn="ctr">
                <a:spcBef>
                  <a:spcPts val="900"/>
                </a:spcBef>
                <a:spcAft>
                  <a:spcPts val="0"/>
                </a:spcAft>
                <a:buNone/>
              </a:pPr>
              <a:r>
                <a:rPr b="0" lang="en-US" sz="1600">
                  <a:solidFill>
                    <a:srgbClr val="475569"/>
                  </a:solidFill>
                  <a:latin typeface="Inter"/>
                  <a:ea typeface="Inter"/>
                  <a:cs typeface="Inter"/>
                  <a:sym typeface="Inter"/>
                </a:rPr>
                <a:t>Primeras impresiones sobre la capacidad real del gobierno.</a:t>
              </a:r>
              <a:endParaRPr b="0" sz="1600">
                <a:solidFill>
                  <a:srgbClr val="475569"/>
                </a:solidFill>
                <a:latin typeface="Inter"/>
                <a:ea typeface="Inter"/>
                <a:cs typeface="Inter"/>
                <a:sym typeface="Inter"/>
              </a:endParaRPr>
            </a:p>
          </p:txBody>
        </p:sp>
      </p:grpSp>
      <p:grpSp>
        <p:nvGrpSpPr>
          <p:cNvPr id="156" name="Google Shape;156;p17"/>
          <p:cNvGrpSpPr/>
          <p:nvPr/>
        </p:nvGrpSpPr>
        <p:grpSpPr>
          <a:xfrm>
            <a:off x="11925300" y="2476500"/>
            <a:ext cx="4991100" cy="3810000"/>
            <a:chOff x="11925300" y="2476500"/>
            <a:chExt cx="4991100" cy="3810000"/>
          </a:xfrm>
        </p:grpSpPr>
        <p:sp>
          <p:nvSpPr>
            <p:cNvPr id="157" name="Google Shape;157;p17"/>
            <p:cNvSpPr/>
            <p:nvPr/>
          </p:nvSpPr>
          <p:spPr>
            <a:xfrm>
              <a:off x="11925300" y="2476500"/>
              <a:ext cx="4991100" cy="3810000"/>
            </a:xfrm>
            <a:prstGeom prst="roundRect">
              <a:avLst>
                <a:gd fmla="val 3000" name="adj"/>
              </a:avLst>
            </a:prstGeom>
            <a:solidFill>
              <a:srgbClr val="FE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8" name="Google Shape;158;p17"/>
            <p:cNvSpPr txBox="1"/>
            <p:nvPr/>
          </p:nvSpPr>
          <p:spPr>
            <a:xfrm>
              <a:off x="11925300" y="2476500"/>
              <a:ext cx="4991100" cy="3810000"/>
            </a:xfrm>
            <a:prstGeom prst="rect">
              <a:avLst/>
            </a:prstGeom>
            <a:noFill/>
            <a:ln>
              <a:noFill/>
            </a:ln>
          </p:spPr>
          <p:txBody>
            <a:bodyPr anchorCtr="0" anchor="ctr" bIns="381000" lIns="381000" spcFirstLastPara="1" rIns="381000" wrap="square" tIns="381000">
              <a:noAutofit/>
            </a:bodyPr>
            <a:lstStyle/>
            <a:p>
              <a:pPr indent="0" lvl="0" marL="0" rtl="0" algn="ctr">
                <a:spcBef>
                  <a:spcPts val="0"/>
                </a:spcBef>
                <a:spcAft>
                  <a:spcPts val="0"/>
                </a:spcAft>
                <a:buNone/>
              </a:pPr>
              <a:r>
                <a:rPr lang="en-US" sz="4800">
                  <a:solidFill>
                    <a:srgbClr val="DC2626"/>
                  </a:solidFill>
                  <a:latin typeface="Material Icons"/>
                  <a:ea typeface="Material Icons"/>
                  <a:cs typeface="Material Icons"/>
                  <a:sym typeface="Material Icons"/>
                </a:rPr>
                <a:t></a:t>
              </a:r>
              <a:endParaRPr sz="4800">
                <a:solidFill>
                  <a:srgbClr val="DC2626"/>
                </a:solidFill>
                <a:latin typeface="Material Icons"/>
                <a:ea typeface="Material Icons"/>
                <a:cs typeface="Material Icons"/>
                <a:sym typeface="Material Icons"/>
              </a:endParaRPr>
            </a:p>
            <a:p>
              <a:pPr indent="0" lvl="0" marL="0" rtl="0" algn="ctr">
                <a:spcBef>
                  <a:spcPts val="1800"/>
                </a:spcBef>
                <a:spcAft>
                  <a:spcPts val="0"/>
                </a:spcAft>
                <a:buNone/>
              </a:pPr>
              <a:r>
                <a:rPr b="1" lang="en-US" sz="2200">
                  <a:solidFill>
                    <a:srgbClr val="0A0915"/>
                  </a:solidFill>
                  <a:latin typeface="Inter"/>
                  <a:ea typeface="Inter"/>
                  <a:cs typeface="Inter"/>
                  <a:sym typeface="Inter"/>
                </a:rPr>
                <a:t>Temas Sensibles</a:t>
              </a:r>
              <a:endParaRPr b="1" sz="2200">
                <a:solidFill>
                  <a:srgbClr val="0A0915"/>
                </a:solidFill>
                <a:latin typeface="Inter"/>
                <a:ea typeface="Inter"/>
                <a:cs typeface="Inter"/>
                <a:sym typeface="Inter"/>
              </a:endParaRPr>
            </a:p>
            <a:p>
              <a:pPr indent="0" lvl="0" marL="0" rtl="0" algn="ctr">
                <a:spcBef>
                  <a:spcPts val="900"/>
                </a:spcBef>
                <a:spcAft>
                  <a:spcPts val="0"/>
                </a:spcAft>
                <a:buNone/>
              </a:pPr>
              <a:r>
                <a:rPr b="0" lang="en-US" sz="1600">
                  <a:solidFill>
                    <a:srgbClr val="475569"/>
                  </a:solidFill>
                  <a:latin typeface="Inter"/>
                  <a:ea typeface="Inter"/>
                  <a:cs typeface="Inter"/>
                  <a:sym typeface="Inter"/>
                </a:rPr>
                <a:t>Lista de puntos críticos para manejar con cuidado en el kickoff.</a:t>
              </a:r>
              <a:endParaRPr b="0" sz="1600">
                <a:solidFill>
                  <a:srgbClr val="475569"/>
                </a:solidFill>
                <a:latin typeface="Inter"/>
                <a:ea typeface="Inter"/>
                <a:cs typeface="Inter"/>
                <a:sym typeface="Inter"/>
              </a:endParaRPr>
            </a:p>
          </p:txBody>
        </p:sp>
      </p:grpSp>
      <p:grpSp>
        <p:nvGrpSpPr>
          <p:cNvPr id="159" name="Google Shape;159;p17"/>
          <p:cNvGrpSpPr/>
          <p:nvPr/>
        </p:nvGrpSpPr>
        <p:grpSpPr>
          <a:xfrm>
            <a:off x="1371600" y="6667500"/>
            <a:ext cx="15544800" cy="1333500"/>
            <a:chOff x="1371600" y="6667500"/>
            <a:chExt cx="15544800" cy="1333500"/>
          </a:xfrm>
        </p:grpSpPr>
        <p:sp>
          <p:nvSpPr>
            <p:cNvPr id="160" name="Google Shape;160;p17"/>
            <p:cNvSpPr/>
            <p:nvPr/>
          </p:nvSpPr>
          <p:spPr>
            <a:xfrm>
              <a:off x="1371600" y="6667500"/>
              <a:ext cx="15544800" cy="1333500"/>
            </a:xfrm>
            <a:prstGeom prst="roundRect">
              <a:avLst>
                <a:gd fmla="val 8571" name="adj"/>
              </a:avLst>
            </a:prstGeom>
            <a:solidFill>
              <a:srgbClr val="F0F9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1" name="Google Shape;161;p17"/>
            <p:cNvSpPr txBox="1"/>
            <p:nvPr/>
          </p:nvSpPr>
          <p:spPr>
            <a:xfrm>
              <a:off x="1371600" y="6667500"/>
              <a:ext cx="15544800" cy="1333500"/>
            </a:xfrm>
            <a:prstGeom prst="rect">
              <a:avLst/>
            </a:prstGeom>
            <a:noFill/>
            <a:ln>
              <a:noFill/>
            </a:ln>
          </p:spPr>
          <p:txBody>
            <a:bodyPr anchorCtr="0" anchor="ctr" bIns="0" lIns="381000" spcFirstLastPara="1" rIns="381000" wrap="square" tIns="0">
              <a:noAutofit/>
            </a:bodyPr>
            <a:lstStyle/>
            <a:p>
              <a:pPr indent="0" lvl="0" marL="0" rtl="0" algn="ctr">
                <a:spcBef>
                  <a:spcPts val="0"/>
                </a:spcBef>
                <a:spcAft>
                  <a:spcPts val="0"/>
                </a:spcAft>
                <a:buNone/>
              </a:pPr>
              <a:r>
                <a:rPr lang="en-US" sz="3600">
                  <a:solidFill>
                    <a:srgbClr val="0077CC"/>
                  </a:solidFill>
                  <a:latin typeface="Material Icons"/>
                  <a:ea typeface="Material Icons"/>
                  <a:cs typeface="Material Icons"/>
                  <a:sym typeface="Material Icons"/>
                </a:rPr>
                <a:t></a:t>
              </a:r>
              <a:endParaRPr b="0" sz="2000">
                <a:solidFill>
                  <a:srgbClr val="0A0915"/>
                </a:solidFill>
                <a:latin typeface="Inter"/>
                <a:ea typeface="Inter"/>
                <a:cs typeface="Inter"/>
                <a:sym typeface="Inter"/>
              </a:endParaRPr>
            </a:p>
            <a:p>
              <a:pPr indent="0" lvl="0" marL="0" rtl="0" algn="ctr">
                <a:spcBef>
                  <a:spcPts val="0"/>
                </a:spcBef>
                <a:spcAft>
                  <a:spcPts val="0"/>
                </a:spcAft>
                <a:buNone/>
              </a:pPr>
              <a:r>
                <a:rPr b="0" lang="en-US" sz="2000">
                  <a:solidFill>
                    <a:srgbClr val="0A0915"/>
                  </a:solidFill>
                  <a:latin typeface="Inter"/>
                  <a:ea typeface="Inter"/>
                  <a:cs typeface="Inter"/>
                  <a:sym typeface="Inter"/>
                </a:rPr>
                <a:t>Estos entregables te permiten </a:t>
              </a:r>
              <a:r>
                <a:rPr b="1" lang="en-US" sz="2000">
                  <a:solidFill>
                    <a:srgbClr val="0077CC"/>
                  </a:solidFill>
                  <a:latin typeface="Inter"/>
                  <a:ea typeface="Inter"/>
                  <a:cs typeface="Inter"/>
                  <a:sym typeface="Inter"/>
                </a:rPr>
                <a:t>anticipar riesgos</a:t>
              </a:r>
              <a:r>
                <a:rPr b="0" lang="en-US" sz="2000">
                  <a:solidFill>
                    <a:srgbClr val="0A0915"/>
                  </a:solidFill>
                  <a:latin typeface="Inter"/>
                  <a:ea typeface="Inter"/>
                  <a:cs typeface="Inter"/>
                  <a:sym typeface="Inter"/>
                </a:rPr>
                <a:t> y alinear al equipo desde el primer día.</a:t>
              </a:r>
              <a:endParaRPr b="0" sz="2000">
                <a:solidFill>
                  <a:srgbClr val="0A0915"/>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8"/>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8" name="Google Shape;168;p18"/>
          <p:cNvSpPr txBox="1"/>
          <p:nvPr/>
        </p:nvSpPr>
        <p:spPr>
          <a:xfrm>
            <a:off x="1371600" y="952500"/>
            <a:ext cx="15544800" cy="307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000">
                <a:solidFill>
                  <a:srgbClr val="0077CC"/>
                </a:solidFill>
                <a:latin typeface="Inter"/>
                <a:ea typeface="Inter"/>
                <a:cs typeface="Inter"/>
                <a:sym typeface="Inter"/>
              </a:rPr>
              <a:t>Si no se puede</a:t>
            </a:r>
            <a:endParaRPr b="1" i="0" sz="2000">
              <a:solidFill>
                <a:srgbClr val="0077CC"/>
              </a:solidFill>
              <a:latin typeface="Inter"/>
              <a:ea typeface="Inter"/>
              <a:cs typeface="Inter"/>
              <a:sym typeface="Inter"/>
            </a:endParaRPr>
          </a:p>
        </p:txBody>
      </p:sp>
      <p:sp>
        <p:nvSpPr>
          <p:cNvPr id="169" name="Google Shape;169;p18"/>
          <p:cNvSpPr txBox="1"/>
          <p:nvPr/>
        </p:nvSpPr>
        <p:spPr>
          <a:xfrm>
            <a:off x="1371600" y="1524000"/>
            <a:ext cx="15544800" cy="831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5400">
                <a:solidFill>
                  <a:srgbClr val="0A0915"/>
                </a:solidFill>
                <a:latin typeface="Inter"/>
                <a:ea typeface="Inter"/>
                <a:cs typeface="Inter"/>
                <a:sym typeface="Inter"/>
              </a:rPr>
              <a:t>No es un blocker</a:t>
            </a:r>
            <a:endParaRPr b="1" i="0" sz="5400">
              <a:solidFill>
                <a:srgbClr val="0A0915"/>
              </a:solidFill>
              <a:latin typeface="Inter"/>
              <a:ea typeface="Inter"/>
              <a:cs typeface="Inter"/>
              <a:sym typeface="Inter"/>
            </a:endParaRPr>
          </a:p>
        </p:txBody>
      </p:sp>
      <p:grpSp>
        <p:nvGrpSpPr>
          <p:cNvPr id="170" name="Google Shape;170;p18"/>
          <p:cNvGrpSpPr/>
          <p:nvPr/>
        </p:nvGrpSpPr>
        <p:grpSpPr>
          <a:xfrm>
            <a:off x="1371600" y="3619500"/>
            <a:ext cx="15544800" cy="2667000"/>
            <a:chOff x="1371600" y="3619500"/>
            <a:chExt cx="15544800" cy="2667000"/>
          </a:xfrm>
        </p:grpSpPr>
        <p:sp>
          <p:nvSpPr>
            <p:cNvPr id="171" name="Google Shape;171;p18"/>
            <p:cNvSpPr/>
            <p:nvPr/>
          </p:nvSpPr>
          <p:spPr>
            <a:xfrm>
              <a:off x="1371600" y="3619500"/>
              <a:ext cx="15544800" cy="2667000"/>
            </a:xfrm>
            <a:prstGeom prst="roundRect">
              <a:avLst>
                <a:gd fmla="val 5714"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2" name="Google Shape;172;p18"/>
            <p:cNvSpPr txBox="1"/>
            <p:nvPr/>
          </p:nvSpPr>
          <p:spPr>
            <a:xfrm>
              <a:off x="1752600" y="40706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0077CC"/>
                  </a:solidFill>
                  <a:latin typeface="Material Icons"/>
                  <a:ea typeface="Material Icons"/>
                  <a:cs typeface="Material Icons"/>
                  <a:sym typeface="Material Icons"/>
                </a:rPr>
                <a:t></a:t>
              </a:r>
              <a:endParaRPr sz="4800">
                <a:solidFill>
                  <a:srgbClr val="0077CC"/>
                </a:solidFill>
                <a:latin typeface="Material Icons"/>
                <a:ea typeface="Material Icons"/>
                <a:cs typeface="Material Icons"/>
                <a:sym typeface="Material Icons"/>
              </a:endParaRPr>
            </a:p>
          </p:txBody>
        </p:sp>
        <p:sp>
          <p:nvSpPr>
            <p:cNvPr id="173" name="Google Shape;173;p18"/>
            <p:cNvSpPr txBox="1"/>
            <p:nvPr/>
          </p:nvSpPr>
          <p:spPr>
            <a:xfrm>
              <a:off x="2705100" y="3619500"/>
              <a:ext cx="13830300" cy="2667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2800">
                  <a:solidFill>
                    <a:srgbClr val="0A0915"/>
                  </a:solidFill>
                  <a:latin typeface="Inter"/>
                  <a:ea typeface="Inter"/>
                  <a:cs typeface="Inter"/>
                  <a:sym typeface="Inter"/>
                </a:rPr>
                <a:t>La fase </a:t>
              </a:r>
              <a:r>
                <a:rPr b="1" lang="en-US" sz="2800">
                  <a:solidFill>
                    <a:srgbClr val="0A0915"/>
                  </a:solidFill>
                  <a:latin typeface="Inter"/>
                  <a:ea typeface="Inter"/>
                  <a:cs typeface="Inter"/>
                  <a:sym typeface="Inter"/>
                </a:rPr>
                <a:t>sigue adelante</a:t>
              </a:r>
              <a:r>
                <a:rPr lang="en-US" sz="2800">
                  <a:solidFill>
                    <a:srgbClr val="0A0915"/>
                  </a:solidFill>
                  <a:latin typeface="Inter"/>
                  <a:ea typeface="Inter"/>
                  <a:cs typeface="Inter"/>
                  <a:sym typeface="Inter"/>
                </a:rPr>
                <a:t>. Pero si tienes la oportunidad y la dejas pasar...</a:t>
              </a:r>
              <a:endParaRPr sz="2800">
                <a:solidFill>
                  <a:srgbClr val="0A0915"/>
                </a:solidFill>
                <a:latin typeface="Inter"/>
                <a:ea typeface="Inter"/>
                <a:cs typeface="Inter"/>
                <a:sym typeface="Inter"/>
              </a:endParaRPr>
            </a:p>
          </p:txBody>
        </p:sp>
      </p:grpSp>
      <p:grpSp>
        <p:nvGrpSpPr>
          <p:cNvPr id="174" name="Google Shape;174;p18"/>
          <p:cNvGrpSpPr/>
          <p:nvPr/>
        </p:nvGrpSpPr>
        <p:grpSpPr>
          <a:xfrm>
            <a:off x="1371600" y="6858000"/>
            <a:ext cx="15544800" cy="1905000"/>
            <a:chOff x="1371600" y="6858000"/>
            <a:chExt cx="15544800" cy="1905000"/>
          </a:xfrm>
        </p:grpSpPr>
        <p:sp>
          <p:nvSpPr>
            <p:cNvPr id="175" name="Google Shape;175;p18"/>
            <p:cNvSpPr/>
            <p:nvPr/>
          </p:nvSpPr>
          <p:spPr>
            <a:xfrm>
              <a:off x="1371600" y="6858000"/>
              <a:ext cx="15544800" cy="1905000"/>
            </a:xfrm>
            <a:prstGeom prst="roundRect">
              <a:avLst>
                <a:gd fmla="val 8000" name="adj"/>
              </a:avLst>
            </a:prstGeom>
            <a:solidFill>
              <a:srgbClr val="FE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6" name="Google Shape;176;p18"/>
            <p:cNvSpPr txBox="1"/>
            <p:nvPr/>
          </p:nvSpPr>
          <p:spPr>
            <a:xfrm>
              <a:off x="1752600" y="6858000"/>
              <a:ext cx="14782800" cy="1905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200">
                  <a:solidFill>
                    <a:srgbClr val="0A0915"/>
                  </a:solidFill>
                  <a:latin typeface="Inter"/>
                  <a:ea typeface="Inter"/>
                  <a:cs typeface="Inter"/>
                  <a:sym typeface="Inter"/>
                </a:rPr>
                <a:t>Descubrirás en la </a:t>
              </a:r>
              <a:r>
                <a:rPr b="1" lang="en-US" sz="3200">
                  <a:solidFill>
                    <a:srgbClr val="DC2626"/>
                  </a:solidFill>
                  <a:latin typeface="Inter"/>
                  <a:ea typeface="Inter"/>
                  <a:cs typeface="Inter"/>
                  <a:sym typeface="Inter"/>
                </a:rPr>
                <a:t>semana seis</a:t>
              </a:r>
              <a:r>
                <a:rPr lang="en-US" sz="3200">
                  <a:solidFill>
                    <a:srgbClr val="0A0915"/>
                  </a:solidFill>
                  <a:latin typeface="Inter"/>
                  <a:ea typeface="Inter"/>
                  <a:cs typeface="Inter"/>
                  <a:sym typeface="Inter"/>
                </a:rPr>
                <a:t> lo que podrías haber sabido en la </a:t>
              </a:r>
              <a:r>
                <a:rPr b="1" lang="en-US" sz="3200">
                  <a:solidFill>
                    <a:srgbClr val="DC2626"/>
                  </a:solidFill>
                  <a:latin typeface="Inter"/>
                  <a:ea typeface="Inter"/>
                  <a:cs typeface="Inter"/>
                  <a:sym typeface="Inter"/>
                </a:rPr>
                <a:t>semana uno</a:t>
              </a:r>
              <a:r>
                <a:rPr lang="en-US" sz="3200">
                  <a:solidFill>
                    <a:srgbClr val="0A0915"/>
                  </a:solidFill>
                  <a:latin typeface="Inter"/>
                  <a:ea typeface="Inter"/>
                  <a:cs typeface="Inter"/>
                  <a:sym typeface="Inter"/>
                </a:rPr>
                <a:t>.</a:t>
              </a:r>
              <a:endParaRPr sz="3200">
                <a:solidFill>
                  <a:srgbClr val="0A0915"/>
                </a:solidFill>
                <a:latin typeface="Inter"/>
                <a:ea typeface="Inter"/>
                <a:cs typeface="Inter"/>
                <a:sym typeface="In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19"/>
          <p:cNvSpPr/>
          <p:nvPr/>
        </p:nvSpPr>
        <p:spPr>
          <a:xfrm>
            <a:off x="0" y="0"/>
            <a:ext cx="18288000" cy="10287000"/>
          </a:xfrm>
          <a:prstGeom prst="rect">
            <a:avLst/>
          </a:prstGeom>
          <a:solidFill>
            <a:srgbClr val="0077C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 name="Google Shape;183;p19"/>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La reunión más barata</a:t>
            </a:r>
            <a:endParaRPr/>
          </a:p>
        </p:txBody>
      </p:sp>
      <p:sp>
        <p:nvSpPr>
          <p:cNvPr id="184" name="Google Shape;184;p19"/>
          <p:cNvSpPr txBox="1"/>
          <p:nvPr/>
        </p:nvSpPr>
        <p:spPr>
          <a:xfrm>
            <a:off x="1371600" y="4754880"/>
            <a:ext cx="15544800" cy="1200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y con mayor retorno</a:t>
            </a:r>
            <a:endParaRPr/>
          </a:p>
        </p:txBody>
      </p:sp>
      <p:sp>
        <p:nvSpPr>
          <p:cNvPr id="185" name="Google Shape;185;p19"/>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La confianza que genera ahorra semanas de fricción.</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