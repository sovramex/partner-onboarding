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9.2s · 23 palabras]</a:t>
            </a:r>
          </a:p>
          <a:p/>
          <a:p>
            <a:r>
              <a:t>Hay tres errores que se repiten en casi todas las implementaciones cuando el partner no tiene experiencia. Saber reconocerlos antes te ahorra semanas.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34.4s · 86 palabras]</a:t>
            </a:r>
          </a:p>
          <a:p/>
          <a:p>
            <a:r>
              <a:t>El primero: el gobierno dice que tiene equipo pero no asigna nombres. Te dan respuestas como estamos viendo quién va a ser o lo definimos la semana que viene. Si esto pasa, no avanzas a Fase B. Pides una reunión específica con el dueño del proyecto y le planteas el problema sin rodeos. Si después de una semana de esa conversación todavía no hay nombres, escalas a Sovra. No es desprolijidad de tu parte: es la señal más clara de que el gobierno no está listo.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29.2s · 73 palabras]</a:t>
            </a:r>
          </a:p>
          <a:p/>
          <a:p>
            <a:r>
              <a:t>El segundo error: arrancar sin alinear el alcance. Es muy común que el partner asuma que el contrato ya está firmado, todos saben qué entra. En la realidad, casi nadie del lado del gobierno leyó el contrato a fondo. Tu trabajo es leerlo tú, preparar un resumen en lenguaje simple, y presentarlo en el kickoff formal. Si no haces esto, vas a estar discutiendo alcance en Fase C, en el peor momento posible.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14.0s · 35 palabras]</a:t>
            </a:r>
          </a:p>
          <a:p/>
          <a:p>
            <a:r>
              <a:t>El tercer error: postergar el pedido de dominio. Ya lo vimos en el video anterior. Si lo dejas para la semana seis, vas a tener un go-live demorado y no hay forma elegante de explicarlo.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20.0s · 50 palabras]</a:t>
            </a:r>
          </a:p>
          <a:p/>
          <a:p>
            <a:r>
              <a:t>Hay cuatro situaciones que requieren escalar a Sovra sin dudarlo: cuando el gobierno no asigna el equipo core, cuando hay confusión sobre el alcance del contrato que no logras resolver, cuando las expectativas técnicas del gobierno exceden lo contratado, o cuando no hay respaldo político suficiente para sostener el proyecto.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9.6s · 24 palabras]</a:t>
            </a:r>
          </a:p>
          <a:p/>
          <a:p>
            <a:r>
              <a:t>Escalar no es debilidad. Es la herramienta que tienes para que Sovra intervenga antes de que el problema se vuelva irreversible. Para eso estamos.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9.6s · 24 palabras]</a:t>
            </a:r>
          </a:p>
          <a:p/>
          <a:p>
            <a:r>
              <a:t>Los errores de Fase A son predecibles. Reconocerlos a tiempo es la diferencia entre un proyecto que se recupera y uno que se hunde.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228600"/>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548640"/>
          </a:xfrm>
          <a:prstGeom prst="rect">
            <a:avLst/>
          </a:prstGeom>
          <a:noFill/>
        </p:spPr>
        <p:txBody>
          <a:bodyPr wrap="square" anchor="t" lIns="0" rIns="0" tIns="0" bIns="0">
            <a:spAutoFit/>
          </a:bodyPr>
          <a:lstStyle/>
          <a:p>
            <a:pPr algn="l">
              <a:lnSpc>
                <a:spcPct val="115000"/>
              </a:lnSpc>
            </a:pPr>
            <a:r>
              <a:rPr sz="1800" b="1" i="0">
                <a:solidFill>
                  <a:srgbClr val="0077CC"/>
                </a:solidFill>
                <a:latin typeface="Figtree"/>
              </a:rPr>
              <a:t>FASE A</a:t>
            </a:r>
          </a:p>
        </p:txBody>
      </p:sp>
      <p:sp>
        <p:nvSpPr>
          <p:cNvPr id="4" name="TextBox 3"/>
          <p:cNvSpPr txBox="1"/>
          <p:nvPr/>
        </p:nvSpPr>
        <p:spPr>
          <a:xfrm>
            <a:off x="1371600" y="3840480"/>
            <a:ext cx="15544800" cy="3657600"/>
          </a:xfrm>
          <a:prstGeom prst="rect">
            <a:avLst/>
          </a:prstGeom>
          <a:noFill/>
        </p:spPr>
        <p:txBody>
          <a:bodyPr wrap="square" anchor="t" lIns="0" rIns="0" tIns="0" bIns="0">
            <a:spAutoFit/>
          </a:bodyPr>
          <a:lstStyle/>
          <a:p>
            <a:pPr algn="l">
              <a:lnSpc>
                <a:spcPct val="110000"/>
              </a:lnSpc>
            </a:pPr>
            <a:r>
              <a:rPr sz="8000" b="1" i="0">
                <a:solidFill>
                  <a:srgbClr val="0A0915"/>
                </a:solidFill>
                <a:latin typeface="Plus Jakarta Sans"/>
              </a:rPr>
              <a:t>Errores típicos</a:t>
            </a:r>
          </a:p>
          <a:p>
            <a:pPr algn="l">
              <a:lnSpc>
                <a:spcPct val="110000"/>
              </a:lnSpc>
            </a:pPr>
            <a:r>
              <a:rPr sz="8000" b="1" i="0">
                <a:solidFill>
                  <a:srgbClr val="0A0915"/>
                </a:solidFill>
                <a:latin typeface="Plus Jakarta Sans"/>
              </a:rPr>
              <a:t>y cuándo escalar.</a:t>
            </a:r>
          </a:p>
        </p:txBody>
      </p:sp>
      <p:sp>
        <p:nvSpPr>
          <p:cNvPr id="5" name="TextBox 4"/>
          <p:cNvSpPr txBox="1"/>
          <p:nvPr/>
        </p:nvSpPr>
        <p:spPr>
          <a:xfrm>
            <a:off x="1371600" y="7772400"/>
            <a:ext cx="15544800" cy="1371600"/>
          </a:xfrm>
          <a:prstGeom prst="rect">
            <a:avLst/>
          </a:prstGeom>
          <a:noFill/>
        </p:spPr>
        <p:txBody>
          <a:bodyPr wrap="square" anchor="t" lIns="0" rIns="0" tIns="0" bIns="0">
            <a:spAutoFit/>
          </a:bodyPr>
          <a:lstStyle/>
          <a:p>
            <a:pPr algn="l">
              <a:lnSpc>
                <a:spcPct val="130000"/>
              </a:lnSpc>
            </a:pPr>
            <a:r>
              <a:rPr sz="2200" b="0" i="0">
                <a:solidFill>
                  <a:srgbClr val="888888"/>
                </a:solidFill>
                <a:latin typeface="Figtree"/>
              </a:rPr>
              <a:t>Tres errores que se repiten. Saberlos reconocer te ahorra semanas.</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0077CC"/>
                </a:solidFill>
                <a:latin typeface="Figtree"/>
              </a:rPr>
              <a:t>Error 1</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Equipo sin nombres.</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"Estamos viendo quién va a ser." "Lo definimos la semana que viene." No avanzas a Fase B. Pides reunión específica con el dueño y planteas el problema sin rodeos. Si después de una semana todavía no hay nombres, escalas a Sovra.</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0077CC"/>
                </a:solidFill>
                <a:latin typeface="Figtree"/>
              </a:rPr>
              <a:t>Error 2</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Arrancar sin alinear el alcance.</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"El contrato ya está firmado, todos saben qué entra." Casi nadie del gobierno leyó el contrato a fondo. Tu trabajo es leerlo tú, preparar un resumen en lenguaje simple, y presentarlo en el kickoff formal.</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0077CC"/>
                </a:solidFill>
                <a:latin typeface="Figtree"/>
              </a:rPr>
              <a:t>Error 3</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Postergar el pedido de dominio.</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Si lo dejas para la semana seis, vas a tener un go-live demorado y no hay forma elegante de explicarlo.</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371600"/>
            <a:ext cx="15544800" cy="1828800"/>
          </a:xfrm>
          <a:prstGeom prst="rect">
            <a:avLst/>
          </a:prstGeom>
          <a:noFill/>
        </p:spPr>
        <p:txBody>
          <a:bodyPr wrap="square" anchor="t" lIns="0" rIns="0" tIns="0" bIns="0">
            <a:spAutoFit/>
          </a:bodyPr>
          <a:lstStyle/>
          <a:p>
            <a:pPr algn="l">
              <a:lnSpc>
                <a:spcPct val="115000"/>
              </a:lnSpc>
            </a:pPr>
            <a:r>
              <a:rPr sz="4200" b="1" i="0">
                <a:solidFill>
                  <a:srgbClr val="0A0915"/>
                </a:solidFill>
                <a:latin typeface="Plus Jakarta Sans"/>
              </a:rPr>
              <a:t>Cuándo escalar a Sovra sin dudarlo.</a:t>
            </a:r>
          </a:p>
        </p:txBody>
      </p:sp>
      <p:sp>
        <p:nvSpPr>
          <p:cNvPr id="3" name="Rounded Rectangle 2"/>
          <p:cNvSpPr/>
          <p:nvPr/>
        </p:nvSpPr>
        <p:spPr>
          <a:xfrm>
            <a:off x="1371600" y="3886200"/>
            <a:ext cx="228600" cy="228600"/>
          </a:xfrm>
          <a:prstGeom prst="round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365760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Cuando el gobierno no asigna el equipo core.</a:t>
            </a:r>
          </a:p>
        </p:txBody>
      </p:sp>
      <p:sp>
        <p:nvSpPr>
          <p:cNvPr id="5" name="Rounded Rectangle 4"/>
          <p:cNvSpPr/>
          <p:nvPr/>
        </p:nvSpPr>
        <p:spPr>
          <a:xfrm>
            <a:off x="1371600" y="4709160"/>
            <a:ext cx="228600" cy="228600"/>
          </a:xfrm>
          <a:prstGeom prst="round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448056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Cuando hay confusión sobre el alcance del contrato que no logras resolver.</a:t>
            </a:r>
          </a:p>
        </p:txBody>
      </p:sp>
      <p:sp>
        <p:nvSpPr>
          <p:cNvPr id="7" name="Rounded Rectangle 6"/>
          <p:cNvSpPr/>
          <p:nvPr/>
        </p:nvSpPr>
        <p:spPr>
          <a:xfrm>
            <a:off x="1371600" y="5532120"/>
            <a:ext cx="228600" cy="228600"/>
          </a:xfrm>
          <a:prstGeom prst="round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30352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Cuando las expectativas técnicas del gobierno exceden lo contratado.</a:t>
            </a:r>
          </a:p>
        </p:txBody>
      </p:sp>
      <p:sp>
        <p:nvSpPr>
          <p:cNvPr id="9" name="Rounded Rectangle 8"/>
          <p:cNvSpPr/>
          <p:nvPr/>
        </p:nvSpPr>
        <p:spPr>
          <a:xfrm>
            <a:off x="1371600" y="6355080"/>
            <a:ext cx="228600" cy="228600"/>
          </a:xfrm>
          <a:prstGeom prst="round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612648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Cuando no hay respaldo político suficiente para sostener el proyecto.</a:t>
            </a:r>
          </a:p>
        </p:txBody>
      </p:sp>
      <p:sp>
        <p:nvSpPr>
          <p:cNvPr id="11" name="TextBox 10"/>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0077CC"/>
                </a:solidFill>
                <a:latin typeface="Figtree"/>
              </a:rPr>
              <a:t>Importante</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Escalar no es debilidad.</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Es la herramienta que tienes para que Sovra intervenga antes de que el problema se vuelva irreversible. Para eso estamos.</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1371600"/>
          </a:xfrm>
          <a:prstGeom prst="rect">
            <a:avLst/>
          </a:prstGeom>
          <a:noFill/>
        </p:spPr>
        <p:txBody>
          <a:bodyPr wrap="square" anchor="t" lIns="0" rIns="0" tIns="0" bIns="0">
            <a:spAutoFit/>
          </a:bodyPr>
          <a:lstStyle/>
          <a:p>
            <a:pPr algn="ctr">
              <a:lnSpc>
                <a:spcPct val="115000"/>
              </a:lnSpc>
            </a:pPr>
            <a:r>
              <a:rPr sz="4200" b="0" i="0">
                <a:solidFill>
                  <a:srgbClr val="FFFFFF"/>
                </a:solidFill>
                <a:latin typeface="Plus Jakarta Sans"/>
              </a:rPr>
              <a:t>Los errores de Fase A</a:t>
            </a:r>
          </a:p>
        </p:txBody>
      </p:sp>
      <p:sp>
        <p:nvSpPr>
          <p:cNvPr id="4" name="TextBox 3"/>
          <p:cNvSpPr txBox="1"/>
          <p:nvPr/>
        </p:nvSpPr>
        <p:spPr>
          <a:xfrm>
            <a:off x="1371600" y="4754880"/>
            <a:ext cx="15544800" cy="2286000"/>
          </a:xfrm>
          <a:prstGeom prst="rect">
            <a:avLst/>
          </a:prstGeom>
          <a:noFill/>
        </p:spPr>
        <p:txBody>
          <a:bodyPr wrap="square" anchor="t" lIns="0" rIns="0" tIns="0" bIns="0">
            <a:spAutoFit/>
          </a:bodyPr>
          <a:lstStyle/>
          <a:p>
            <a:pPr algn="ctr">
              <a:lnSpc>
                <a:spcPct val="110000"/>
              </a:lnSpc>
            </a:pPr>
            <a:r>
              <a:rPr sz="7800" b="1" i="0">
                <a:solidFill>
                  <a:srgbClr val="FFFFFF"/>
                </a:solidFill>
                <a:latin typeface="Plus Jakarta Sans"/>
              </a:rPr>
              <a:t>son predecibles.</a:t>
            </a:r>
          </a:p>
        </p:txBody>
      </p:sp>
      <p:sp>
        <p:nvSpPr>
          <p:cNvPr id="5" name="TextBox 4"/>
          <p:cNvSpPr txBox="1"/>
          <p:nvPr/>
        </p:nvSpPr>
        <p:spPr>
          <a:xfrm>
            <a:off x="1371600" y="7315200"/>
            <a:ext cx="15544800" cy="1097280"/>
          </a:xfrm>
          <a:prstGeom prst="rect">
            <a:avLst/>
          </a:prstGeom>
          <a:noFill/>
        </p:spPr>
        <p:txBody>
          <a:bodyPr wrap="square" anchor="t" lIns="0" rIns="0" tIns="0" bIns="0">
            <a:spAutoFit/>
          </a:bodyPr>
          <a:lstStyle/>
          <a:p>
            <a:pPr algn="ctr">
              <a:lnSpc>
                <a:spcPct val="115000"/>
              </a:lnSpc>
            </a:pPr>
            <a:r>
              <a:rPr sz="3000" b="0" i="0">
                <a:solidFill>
                  <a:srgbClr val="FFFFFF"/>
                </a:solidFill>
                <a:latin typeface="Plus Jakarta Sans"/>
              </a:rPr>
              <a:t>Reconocerlos a tiempo es la diferencia entre un proyecto que se recupera y uno que se hunde.</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CCE5FF"/>
                </a:solidFill>
                <a:latin typeface="Figtree"/>
              </a:rPr>
              <a:t>Sovra Partners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