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italic.fntdata"/><Relationship Id="rId14" Type="http://schemas.openxmlformats.org/officeDocument/2006/relationships/font" Target="fonts/Inter-bold.fntdata"/><Relationship Id="rId16" Type="http://schemas.openxmlformats.org/officeDocument/2006/relationships/font" Target="fonts/Inter-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9.2s · 23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Hay tres errores que se repiten en casi todas las implementaciones cuando el partner no tiene experiencia. Saber reconocerlos antes te ahorra semanas.</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34.4s · 86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primero: el gobierno dice que tiene equipo pero no asigna nombres. Te dan respuestas como estamos viendo quién va a ser o lo definimos la semana que viene. Si esto pasa, no avanzas a Fase B. Pides una reunión específica con el dueño del proyecto y le planteas el problema sin rodeos. Si después de una semana de esa conversación todavía no hay nombres, escalas a Sovra. No es desprolijidad de tu parte: es la señal más clara de que el gobierno no está listo.</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29.2s · 73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segundo error: arrancar sin alinear el alcance. Es muy común que el partner asuma que el contrato ya está firmado, todos saben qué entra. En la realidad, casi nadie del lado del gobierno leyó el contrato a fondo. Tu trabajo es leerlo tú, preparar un resumen en lenguaje simple, y presentarlo en el kickoff formal. Si no haces esto, vas a estar discutiendo alcance en Fase C, en el peor momento posible.</a:t>
            </a:r>
            <a:endParaRPr/>
          </a:p>
        </p:txBody>
      </p:sp>
      <p:sp>
        <p:nvSpPr>
          <p:cNvPr id="113" name="Google Shape;113;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0" name="Google Shape;13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14.0s · 35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tercer error: postergar el pedido de dominio. Ya lo vimos en el video anterior. Si lo dejas para la semana seis, vas a tener un go-live demorado y no hay forma elegante de explicarlo.</a:t>
            </a:r>
            <a:endParaRPr/>
          </a:p>
        </p:txBody>
      </p:sp>
      <p:sp>
        <p:nvSpPr>
          <p:cNvPr id="131" name="Google Shape;131;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20.0s · 50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Hay cuatro situaciones que requieren escalar a Sovra sin dudarlo: cuando el gobierno no asigna el equipo core, cuando hay confusión sobre el alcance del contrato que no logras resolver, cuando las expectativas técnicas del gobierno exceden lo contratado, o cuando no hay respaldo político suficiente para sostener el proyecto.</a:t>
            </a:r>
            <a:endParaRPr/>
          </a:p>
        </p:txBody>
      </p:sp>
      <p:sp>
        <p:nvSpPr>
          <p:cNvPr id="145" name="Google Shape;145;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Escalar no es debilidad. Es la herramienta que tienes para que Sovra intervenga antes de que el problema se vuelva irreversible. Para eso estamos.</a:t>
            </a:r>
            <a:endParaRPr/>
          </a:p>
        </p:txBody>
      </p:sp>
      <p:sp>
        <p:nvSpPr>
          <p:cNvPr id="164" name="Google Shape;16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errores de Fase A son predecibles. Reconocerlos a tiempo es la diferencia entre un proyecto que se recupera y uno que se hunde.</a:t>
            </a:r>
            <a:endParaRPr/>
          </a:p>
        </p:txBody>
      </p:sp>
      <p:sp>
        <p:nvSpPr>
          <p:cNvPr id="176" name="Google Shape;17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0077CC"/>
                </a:solidFill>
                <a:latin typeface="Inter"/>
                <a:ea typeface="Inter"/>
                <a:cs typeface="Inter"/>
                <a:sym typeface="Inter"/>
              </a:rPr>
              <a:t>FASE A</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Errores típicos</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y cuándo escalar</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Tres errores que se repiten. Saberlos reconocer te ahorra semanas.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95" name="Google Shape;95;p14"/>
          <p:cNvGrpSpPr/>
          <p:nvPr/>
        </p:nvGrpSpPr>
        <p:grpSpPr>
          <a:xfrm>
            <a:off x="1371600" y="952500"/>
            <a:ext cx="15544800" cy="1524000"/>
            <a:chOff x="1371600" y="952500"/>
            <a:chExt cx="15544800" cy="1524000"/>
          </a:xfrm>
        </p:grpSpPr>
        <p:sp>
          <p:nvSpPr>
            <p:cNvPr id="96" name="Google Shape;96;p14"/>
            <p:cNvSpPr/>
            <p:nvPr/>
          </p:nvSpPr>
          <p:spPr>
            <a:xfrm>
              <a:off x="1371600" y="952500"/>
              <a:ext cx="15544800" cy="548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 name="Google Shape;97;p14"/>
            <p:cNvSpPr txBox="1"/>
            <p:nvPr/>
          </p:nvSpPr>
          <p:spPr>
            <a:xfrm>
              <a:off x="1371600" y="952500"/>
              <a:ext cx="15544800" cy="548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077CC"/>
                  </a:solidFill>
                  <a:latin typeface="Inter"/>
                  <a:ea typeface="Inter"/>
                  <a:cs typeface="Inter"/>
                  <a:sym typeface="Inter"/>
                </a:rPr>
                <a:t>Error 1</a:t>
              </a:r>
              <a:endParaRPr b="1" sz="2000">
                <a:solidFill>
                  <a:srgbClr val="0077CC"/>
                </a:solidFill>
                <a:latin typeface="Inter"/>
                <a:ea typeface="Inter"/>
                <a:cs typeface="Inter"/>
                <a:sym typeface="Inter"/>
              </a:endParaRPr>
            </a:p>
          </p:txBody>
        </p:sp>
        <p:sp>
          <p:nvSpPr>
            <p:cNvPr id="98" name="Google Shape;98;p14"/>
            <p:cNvSpPr/>
            <p:nvPr/>
          </p:nvSpPr>
          <p:spPr>
            <a:xfrm>
              <a:off x="1371600" y="1524000"/>
              <a:ext cx="155448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9" name="Google Shape;99;p14"/>
            <p:cNvSpPr txBox="1"/>
            <p:nvPr/>
          </p:nvSpPr>
          <p:spPr>
            <a:xfrm>
              <a:off x="1371600" y="1524000"/>
              <a:ext cx="155448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5600">
                  <a:solidFill>
                    <a:srgbClr val="0A0915"/>
                  </a:solidFill>
                  <a:latin typeface="Inter"/>
                  <a:ea typeface="Inter"/>
                  <a:cs typeface="Inter"/>
                  <a:sym typeface="Inter"/>
                </a:rPr>
                <a:t>Equipo sin nombres</a:t>
              </a:r>
              <a:endParaRPr b="1" sz="5600">
                <a:solidFill>
                  <a:srgbClr val="0A0915"/>
                </a:solidFill>
                <a:latin typeface="Inter"/>
                <a:ea typeface="Inter"/>
                <a:cs typeface="Inter"/>
                <a:sym typeface="Inter"/>
              </a:endParaRPr>
            </a:p>
          </p:txBody>
        </p:sp>
      </p:grpSp>
      <p:grpSp>
        <p:nvGrpSpPr>
          <p:cNvPr id="100" name="Google Shape;100;p14"/>
          <p:cNvGrpSpPr/>
          <p:nvPr/>
        </p:nvGrpSpPr>
        <p:grpSpPr>
          <a:xfrm>
            <a:off x="1371600" y="3048000"/>
            <a:ext cx="15544800" cy="1905000"/>
            <a:chOff x="1371600" y="3048000"/>
            <a:chExt cx="15544800" cy="1905000"/>
          </a:xfrm>
        </p:grpSpPr>
        <p:sp>
          <p:nvSpPr>
            <p:cNvPr id="101" name="Google Shape;101;p14"/>
            <p:cNvSpPr/>
            <p:nvPr/>
          </p:nvSpPr>
          <p:spPr>
            <a:xfrm>
              <a:off x="1371600" y="3048000"/>
              <a:ext cx="15544800" cy="1905000"/>
            </a:xfrm>
            <a:prstGeom prst="roundRect">
              <a:avLst>
                <a:gd fmla="val 8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2" name="Google Shape;102;p14"/>
            <p:cNvSpPr txBox="1"/>
            <p:nvPr/>
          </p:nvSpPr>
          <p:spPr>
            <a:xfrm>
              <a:off x="1752600" y="3048000"/>
              <a:ext cx="14782800" cy="1905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i="1" lang="en-US" sz="2800">
                  <a:solidFill>
                    <a:srgbClr val="64748B"/>
                  </a:solidFill>
                  <a:latin typeface="Inter"/>
                  <a:ea typeface="Inter"/>
                  <a:cs typeface="Inter"/>
                  <a:sym typeface="Inter"/>
                </a:rPr>
                <a:t>"Estamos viendo quién va a ser." "Lo definimos la semana que viene."</a:t>
              </a:r>
              <a:endParaRPr i="1" sz="2800">
                <a:solidFill>
                  <a:srgbClr val="64748B"/>
                </a:solidFill>
                <a:latin typeface="Inter"/>
                <a:ea typeface="Inter"/>
                <a:cs typeface="Inter"/>
                <a:sym typeface="Inter"/>
              </a:endParaRPr>
            </a:p>
          </p:txBody>
        </p:sp>
      </p:grpSp>
      <p:grpSp>
        <p:nvGrpSpPr>
          <p:cNvPr id="103" name="Google Shape;103;p14"/>
          <p:cNvGrpSpPr/>
          <p:nvPr/>
        </p:nvGrpSpPr>
        <p:grpSpPr>
          <a:xfrm>
            <a:off x="1371600" y="5334000"/>
            <a:ext cx="15544950" cy="3619500"/>
            <a:chOff x="1371600" y="5334000"/>
            <a:chExt cx="15544950" cy="3619500"/>
          </a:xfrm>
        </p:grpSpPr>
        <p:sp>
          <p:nvSpPr>
            <p:cNvPr id="104" name="Google Shape;104;p14"/>
            <p:cNvSpPr/>
            <p:nvPr/>
          </p:nvSpPr>
          <p:spPr>
            <a:xfrm>
              <a:off x="1371600" y="5334000"/>
              <a:ext cx="4857900" cy="3619500"/>
            </a:xfrm>
            <a:prstGeom prst="roundRect">
              <a:avLst>
                <a:gd fmla="val 4210" name="adj"/>
              </a:avLst>
            </a:prstGeom>
            <a:solidFill>
              <a:srgbClr val="FFF1F2"/>
            </a:solidFill>
            <a:ln cap="flat" cmpd="sng" w="19050">
              <a:solidFill>
                <a:srgbClr val="FECDD3"/>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14"/>
            <p:cNvSpPr txBox="1"/>
            <p:nvPr/>
          </p:nvSpPr>
          <p:spPr>
            <a:xfrm>
              <a:off x="1752600" y="5524500"/>
              <a:ext cx="40959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E11D48"/>
                  </a:solidFill>
                  <a:latin typeface="Inter"/>
                  <a:ea typeface="Inter"/>
                  <a:cs typeface="Inter"/>
                  <a:sym typeface="Inter"/>
                </a:rPr>
                <a:t>DETENER</a:t>
              </a:r>
              <a:endParaRPr b="1" sz="1800">
                <a:solidFill>
                  <a:srgbClr val="E11D48"/>
                </a:solidFill>
                <a:latin typeface="Inter"/>
                <a:ea typeface="Inter"/>
                <a:cs typeface="Inter"/>
                <a:sym typeface="Inter"/>
              </a:endParaRPr>
            </a:p>
            <a:p>
              <a:pPr indent="0" lvl="0" marL="0" rtl="0" algn="l">
                <a:spcBef>
                  <a:spcPts val="1500"/>
                </a:spcBef>
                <a:spcAft>
                  <a:spcPts val="0"/>
                </a:spcAft>
                <a:buNone/>
              </a:pPr>
              <a:r>
                <a:rPr b="1" lang="en-US" sz="2400">
                  <a:solidFill>
                    <a:srgbClr val="0A0915"/>
                  </a:solidFill>
                  <a:latin typeface="Inter"/>
                  <a:ea typeface="Inter"/>
                  <a:cs typeface="Inter"/>
                  <a:sym typeface="Inter"/>
                </a:rPr>
                <a:t>No avanzas a Fase B</a:t>
              </a:r>
              <a:endParaRPr b="1" sz="2400">
                <a:solidFill>
                  <a:srgbClr val="0A0915"/>
                </a:solidFill>
                <a:latin typeface="Inter"/>
                <a:ea typeface="Inter"/>
                <a:cs typeface="Inter"/>
                <a:sym typeface="Inter"/>
              </a:endParaRPr>
            </a:p>
          </p:txBody>
        </p:sp>
        <p:sp>
          <p:nvSpPr>
            <p:cNvPr id="106" name="Google Shape;106;p14"/>
            <p:cNvSpPr/>
            <p:nvPr/>
          </p:nvSpPr>
          <p:spPr>
            <a:xfrm>
              <a:off x="6715125" y="5334000"/>
              <a:ext cx="4857900" cy="3619500"/>
            </a:xfrm>
            <a:prstGeom prst="roundRect">
              <a:avLst>
                <a:gd fmla="val 4210" name="adj"/>
              </a:avLst>
            </a:prstGeom>
            <a:solidFill>
              <a:srgbClr val="F0F9FF"/>
            </a:solidFill>
            <a:ln cap="flat" cmpd="sng" w="19050">
              <a:solidFill>
                <a:srgbClr val="BAE6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7" name="Google Shape;107;p14"/>
            <p:cNvSpPr txBox="1"/>
            <p:nvPr/>
          </p:nvSpPr>
          <p:spPr>
            <a:xfrm>
              <a:off x="7096125" y="5524500"/>
              <a:ext cx="40959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0284C7"/>
                  </a:solidFill>
                  <a:latin typeface="Inter"/>
                  <a:ea typeface="Inter"/>
                  <a:cs typeface="Inter"/>
                  <a:sym typeface="Inter"/>
                </a:rPr>
                <a:t>ACCIONAR</a:t>
              </a:r>
              <a:endParaRPr b="1" sz="1800">
                <a:solidFill>
                  <a:srgbClr val="0284C7"/>
                </a:solidFill>
                <a:latin typeface="Inter"/>
                <a:ea typeface="Inter"/>
                <a:cs typeface="Inter"/>
                <a:sym typeface="Inter"/>
              </a:endParaRPr>
            </a:p>
            <a:p>
              <a:pPr indent="0" lvl="0" marL="0" rtl="0" algn="l">
                <a:spcBef>
                  <a:spcPts val="1500"/>
                </a:spcBef>
                <a:spcAft>
                  <a:spcPts val="0"/>
                </a:spcAft>
                <a:buNone/>
              </a:pPr>
              <a:r>
                <a:rPr b="0" lang="en-US" sz="2200">
                  <a:solidFill>
                    <a:srgbClr val="0A0915"/>
                  </a:solidFill>
                  <a:latin typeface="Inter"/>
                  <a:ea typeface="Inter"/>
                  <a:cs typeface="Inter"/>
                  <a:sym typeface="Inter"/>
                </a:rPr>
                <a:t>Pides reunión específica con el dueño y planteas el problema sin rodeos.</a:t>
              </a:r>
              <a:endParaRPr b="0" sz="2200">
                <a:solidFill>
                  <a:srgbClr val="0A0915"/>
                </a:solidFill>
                <a:latin typeface="Inter"/>
                <a:ea typeface="Inter"/>
                <a:cs typeface="Inter"/>
                <a:sym typeface="Inter"/>
              </a:endParaRPr>
            </a:p>
          </p:txBody>
        </p:sp>
        <p:sp>
          <p:nvSpPr>
            <p:cNvPr id="108" name="Google Shape;108;p14"/>
            <p:cNvSpPr/>
            <p:nvPr/>
          </p:nvSpPr>
          <p:spPr>
            <a:xfrm>
              <a:off x="12058650" y="5334000"/>
              <a:ext cx="4857900" cy="3619500"/>
            </a:xfrm>
            <a:prstGeom prst="roundRect">
              <a:avLst>
                <a:gd fmla="val 4210" name="adj"/>
              </a:avLst>
            </a:prstGeom>
            <a:solidFill>
              <a:srgbClr val="F0FDFA"/>
            </a:solidFill>
            <a:ln cap="flat" cmpd="sng" w="19050">
              <a:solidFill>
                <a:srgbClr val="99F6E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9" name="Google Shape;109;p14"/>
            <p:cNvSpPr txBox="1"/>
            <p:nvPr/>
          </p:nvSpPr>
          <p:spPr>
            <a:xfrm>
              <a:off x="12439650" y="5524500"/>
              <a:ext cx="40959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0D9488"/>
                  </a:solidFill>
                  <a:latin typeface="Inter"/>
                  <a:ea typeface="Inter"/>
                  <a:cs typeface="Inter"/>
                  <a:sym typeface="Inter"/>
                </a:rPr>
                <a:t>ESCALAR</a:t>
              </a:r>
              <a:endParaRPr b="1" sz="1800">
                <a:solidFill>
                  <a:srgbClr val="0D9488"/>
                </a:solidFill>
                <a:latin typeface="Inter"/>
                <a:ea typeface="Inter"/>
                <a:cs typeface="Inter"/>
                <a:sym typeface="Inter"/>
              </a:endParaRPr>
            </a:p>
            <a:p>
              <a:pPr indent="0" lvl="0" marL="0" rtl="0" algn="l">
                <a:spcBef>
                  <a:spcPts val="1500"/>
                </a:spcBef>
                <a:spcAft>
                  <a:spcPts val="0"/>
                </a:spcAft>
                <a:buNone/>
              </a:pPr>
              <a:r>
                <a:rPr b="0" lang="en-US" sz="2200">
                  <a:solidFill>
                    <a:srgbClr val="0A0915"/>
                  </a:solidFill>
                  <a:latin typeface="Inter"/>
                  <a:ea typeface="Inter"/>
                  <a:cs typeface="Inter"/>
                  <a:sym typeface="Inter"/>
                </a:rPr>
                <a:t>Si después de una semana todavía no hay nombres, escalas a Sovra.</a:t>
              </a:r>
              <a:endParaRPr b="0" sz="2200">
                <a:solidFill>
                  <a:srgbClr val="0A0915"/>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15"/>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6" name="Google Shape;116;p15"/>
          <p:cNvSpPr txBox="1"/>
          <p:nvPr/>
        </p:nvSpPr>
        <p:spPr>
          <a:xfrm>
            <a:off x="1371600" y="952500"/>
            <a:ext cx="155448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0077CC"/>
                </a:solidFill>
                <a:latin typeface="Inter"/>
                <a:ea typeface="Inter"/>
                <a:cs typeface="Inter"/>
                <a:sym typeface="Inter"/>
              </a:rPr>
              <a:t>Error 2</a:t>
            </a:r>
            <a:endParaRPr b="1" sz="2000">
              <a:solidFill>
                <a:srgbClr val="0077CC"/>
              </a:solidFill>
              <a:latin typeface="Inter"/>
              <a:ea typeface="Inter"/>
              <a:cs typeface="Inter"/>
              <a:sym typeface="Inter"/>
            </a:endParaRPr>
          </a:p>
        </p:txBody>
      </p:sp>
      <p:sp>
        <p:nvSpPr>
          <p:cNvPr id="117" name="Google Shape;117;p15"/>
          <p:cNvSpPr txBox="1"/>
          <p:nvPr/>
        </p:nvSpPr>
        <p:spPr>
          <a:xfrm>
            <a:off x="1371600" y="1524000"/>
            <a:ext cx="15544800" cy="861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5600">
                <a:solidFill>
                  <a:srgbClr val="0A0915"/>
                </a:solidFill>
                <a:latin typeface="Inter"/>
                <a:ea typeface="Inter"/>
                <a:cs typeface="Inter"/>
                <a:sym typeface="Inter"/>
              </a:rPr>
              <a:t>Arrancar sin alinear el alcance</a:t>
            </a:r>
            <a:endParaRPr b="1" sz="5600">
              <a:solidFill>
                <a:srgbClr val="0A0915"/>
              </a:solidFill>
              <a:latin typeface="Inter"/>
              <a:ea typeface="Inter"/>
              <a:cs typeface="Inter"/>
              <a:sym typeface="Inter"/>
            </a:endParaRPr>
          </a:p>
        </p:txBody>
      </p:sp>
      <p:grpSp>
        <p:nvGrpSpPr>
          <p:cNvPr id="118" name="Google Shape;118;p15"/>
          <p:cNvGrpSpPr/>
          <p:nvPr/>
        </p:nvGrpSpPr>
        <p:grpSpPr>
          <a:xfrm>
            <a:off x="1371600" y="3048000"/>
            <a:ext cx="15544800" cy="1905000"/>
            <a:chOff x="1371600" y="3048000"/>
            <a:chExt cx="15544800" cy="1905000"/>
          </a:xfrm>
        </p:grpSpPr>
        <p:sp>
          <p:nvSpPr>
            <p:cNvPr id="119" name="Google Shape;119;p15"/>
            <p:cNvSpPr/>
            <p:nvPr/>
          </p:nvSpPr>
          <p:spPr>
            <a:xfrm>
              <a:off x="1371600" y="3048000"/>
              <a:ext cx="15544800" cy="1905000"/>
            </a:xfrm>
            <a:prstGeom prst="roundRect">
              <a:avLst>
                <a:gd fmla="val 8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0" name="Google Shape;120;p15"/>
            <p:cNvSpPr txBox="1"/>
            <p:nvPr/>
          </p:nvSpPr>
          <p:spPr>
            <a:xfrm>
              <a:off x="1752600" y="3048000"/>
              <a:ext cx="14782800" cy="1905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i="1" lang="en-US" sz="2800">
                  <a:solidFill>
                    <a:srgbClr val="64748B"/>
                  </a:solidFill>
                  <a:latin typeface="Inter"/>
                  <a:ea typeface="Inter"/>
                  <a:cs typeface="Inter"/>
                  <a:sym typeface="Inter"/>
                </a:rPr>
                <a:t>"El contrato ya está firmado, todos saben qué entra."</a:t>
              </a:r>
              <a:endParaRPr b="0" i="1" sz="2800">
                <a:solidFill>
                  <a:srgbClr val="64748B"/>
                </a:solidFill>
                <a:latin typeface="Inter"/>
                <a:ea typeface="Inter"/>
                <a:cs typeface="Inter"/>
                <a:sym typeface="Inter"/>
              </a:endParaRPr>
            </a:p>
          </p:txBody>
        </p:sp>
      </p:grpSp>
      <p:grpSp>
        <p:nvGrpSpPr>
          <p:cNvPr id="121" name="Google Shape;121;p15"/>
          <p:cNvGrpSpPr/>
          <p:nvPr/>
        </p:nvGrpSpPr>
        <p:grpSpPr>
          <a:xfrm>
            <a:off x="1371600" y="5334000"/>
            <a:ext cx="15544950" cy="3619500"/>
            <a:chOff x="1371600" y="5334000"/>
            <a:chExt cx="15544950" cy="3619500"/>
          </a:xfrm>
        </p:grpSpPr>
        <p:sp>
          <p:nvSpPr>
            <p:cNvPr id="122" name="Google Shape;122;p15"/>
            <p:cNvSpPr/>
            <p:nvPr/>
          </p:nvSpPr>
          <p:spPr>
            <a:xfrm>
              <a:off x="1371600" y="5334000"/>
              <a:ext cx="4857900" cy="3619500"/>
            </a:xfrm>
            <a:prstGeom prst="roundRect">
              <a:avLst>
                <a:gd fmla="val 4210" name="adj"/>
              </a:avLst>
            </a:prstGeom>
            <a:solidFill>
              <a:srgbClr val="FFF1F2"/>
            </a:solidFill>
            <a:ln cap="flat" cmpd="sng" w="19050">
              <a:solidFill>
                <a:srgbClr val="FECDD3"/>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5"/>
            <p:cNvSpPr txBox="1"/>
            <p:nvPr/>
          </p:nvSpPr>
          <p:spPr>
            <a:xfrm>
              <a:off x="1752600" y="5524500"/>
              <a:ext cx="40959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E11D48"/>
                  </a:solidFill>
                  <a:latin typeface="Inter"/>
                  <a:ea typeface="Inter"/>
                  <a:cs typeface="Inter"/>
                  <a:sym typeface="Inter"/>
                </a:rPr>
                <a:t>REALIDAD</a:t>
              </a:r>
              <a:endParaRPr b="1" sz="1800">
                <a:solidFill>
                  <a:srgbClr val="E11D48"/>
                </a:solidFill>
                <a:latin typeface="Inter"/>
                <a:ea typeface="Inter"/>
                <a:cs typeface="Inter"/>
                <a:sym typeface="Inter"/>
              </a:endParaRPr>
            </a:p>
            <a:p>
              <a:pPr indent="0" lvl="0" marL="0" rtl="0" algn="l">
                <a:spcBef>
                  <a:spcPts val="1500"/>
                </a:spcBef>
                <a:spcAft>
                  <a:spcPts val="1500"/>
                </a:spcAft>
                <a:buNone/>
              </a:pPr>
              <a:r>
                <a:rPr b="0" lang="en-US" sz="2200">
                  <a:solidFill>
                    <a:srgbClr val="0A0915"/>
                  </a:solidFill>
                  <a:latin typeface="Inter"/>
                  <a:ea typeface="Inter"/>
                  <a:cs typeface="Inter"/>
                  <a:sym typeface="Inter"/>
                </a:rPr>
                <a:t>Casi nadie del gobierno leyó el contrato a fondo.</a:t>
              </a:r>
              <a:endParaRPr b="1" sz="1800">
                <a:solidFill>
                  <a:srgbClr val="E11D48"/>
                </a:solidFill>
                <a:latin typeface="Inter"/>
                <a:ea typeface="Inter"/>
                <a:cs typeface="Inter"/>
                <a:sym typeface="Inter"/>
              </a:endParaRPr>
            </a:p>
          </p:txBody>
        </p:sp>
        <p:sp>
          <p:nvSpPr>
            <p:cNvPr id="124" name="Google Shape;124;p15"/>
            <p:cNvSpPr/>
            <p:nvPr/>
          </p:nvSpPr>
          <p:spPr>
            <a:xfrm>
              <a:off x="6715125" y="5334000"/>
              <a:ext cx="4857900" cy="3619500"/>
            </a:xfrm>
            <a:prstGeom prst="roundRect">
              <a:avLst>
                <a:gd fmla="val 4210" name="adj"/>
              </a:avLst>
            </a:prstGeom>
            <a:solidFill>
              <a:srgbClr val="F0F9FF"/>
            </a:solidFill>
            <a:ln cap="flat" cmpd="sng" w="19050">
              <a:solidFill>
                <a:srgbClr val="BAE6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5" name="Google Shape;125;p15"/>
            <p:cNvSpPr txBox="1"/>
            <p:nvPr/>
          </p:nvSpPr>
          <p:spPr>
            <a:xfrm>
              <a:off x="7096125" y="5524500"/>
              <a:ext cx="40959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0284C7"/>
                  </a:solidFill>
                  <a:latin typeface="Inter"/>
                  <a:ea typeface="Inter"/>
                  <a:cs typeface="Inter"/>
                  <a:sym typeface="Inter"/>
                </a:rPr>
                <a:t>TU TAREA</a:t>
              </a:r>
              <a:endParaRPr b="1" sz="1800">
                <a:solidFill>
                  <a:srgbClr val="0284C7"/>
                </a:solidFill>
                <a:latin typeface="Inter"/>
                <a:ea typeface="Inter"/>
                <a:cs typeface="Inter"/>
                <a:sym typeface="Inter"/>
              </a:endParaRPr>
            </a:p>
            <a:p>
              <a:pPr indent="0" lvl="0" marL="0" rtl="0" algn="l">
                <a:spcBef>
                  <a:spcPts val="1500"/>
                </a:spcBef>
                <a:spcAft>
                  <a:spcPts val="1500"/>
                </a:spcAft>
                <a:buNone/>
              </a:pPr>
              <a:r>
                <a:rPr b="0" lang="en-US" sz="2200">
                  <a:solidFill>
                    <a:srgbClr val="0A0915"/>
                  </a:solidFill>
                  <a:latin typeface="Inter"/>
                  <a:ea typeface="Inter"/>
                  <a:cs typeface="Inter"/>
                  <a:sym typeface="Inter"/>
                </a:rPr>
                <a:t>Leerlo tú y preparar un resumen en lenguaje simple.</a:t>
              </a:r>
              <a:endParaRPr b="1" sz="1800">
                <a:solidFill>
                  <a:srgbClr val="0284C7"/>
                </a:solidFill>
                <a:latin typeface="Inter"/>
                <a:ea typeface="Inter"/>
                <a:cs typeface="Inter"/>
                <a:sym typeface="Inter"/>
              </a:endParaRPr>
            </a:p>
          </p:txBody>
        </p:sp>
        <p:sp>
          <p:nvSpPr>
            <p:cNvPr id="126" name="Google Shape;126;p15"/>
            <p:cNvSpPr/>
            <p:nvPr/>
          </p:nvSpPr>
          <p:spPr>
            <a:xfrm>
              <a:off x="12058650" y="5334000"/>
              <a:ext cx="4857900" cy="3619500"/>
            </a:xfrm>
            <a:prstGeom prst="roundRect">
              <a:avLst>
                <a:gd fmla="val 4210" name="adj"/>
              </a:avLst>
            </a:prstGeom>
            <a:solidFill>
              <a:srgbClr val="F0FDFA"/>
            </a:solidFill>
            <a:ln cap="flat" cmpd="sng" w="19050">
              <a:solidFill>
                <a:srgbClr val="99F6E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7" name="Google Shape;127;p15"/>
            <p:cNvSpPr txBox="1"/>
            <p:nvPr/>
          </p:nvSpPr>
          <p:spPr>
            <a:xfrm>
              <a:off x="12439650" y="5524500"/>
              <a:ext cx="40959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0D9488"/>
                  </a:solidFill>
                  <a:latin typeface="Inter"/>
                  <a:ea typeface="Inter"/>
                  <a:cs typeface="Inter"/>
                  <a:sym typeface="Inter"/>
                </a:rPr>
                <a:t>KICKOFF</a:t>
              </a:r>
              <a:endParaRPr b="1" sz="1800">
                <a:solidFill>
                  <a:srgbClr val="0D9488"/>
                </a:solidFill>
                <a:latin typeface="Inter"/>
                <a:ea typeface="Inter"/>
                <a:cs typeface="Inter"/>
                <a:sym typeface="Inter"/>
              </a:endParaRPr>
            </a:p>
            <a:p>
              <a:pPr indent="0" lvl="0" marL="0" rtl="0" algn="l">
                <a:spcBef>
                  <a:spcPts val="1500"/>
                </a:spcBef>
                <a:spcAft>
                  <a:spcPts val="1500"/>
                </a:spcAft>
                <a:buNone/>
              </a:pPr>
              <a:r>
                <a:rPr b="0" lang="en-US" sz="2200">
                  <a:solidFill>
                    <a:srgbClr val="0A0915"/>
                  </a:solidFill>
                  <a:latin typeface="Inter"/>
                  <a:ea typeface="Inter"/>
                  <a:cs typeface="Inter"/>
                  <a:sym typeface="Inter"/>
                </a:rPr>
                <a:t>Presentar el resumen para alinear expectativas formalmente.</a:t>
              </a:r>
              <a:endParaRPr b="1" sz="1800">
                <a:solidFill>
                  <a:srgbClr val="0D9488"/>
                </a:solidFill>
                <a:latin typeface="Inter"/>
                <a:ea typeface="Inter"/>
                <a:cs typeface="Inter"/>
                <a:sym typeface="Inte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4" name="Google Shape;134;p16"/>
          <p:cNvSpPr txBox="1"/>
          <p:nvPr/>
        </p:nvSpPr>
        <p:spPr>
          <a:xfrm>
            <a:off x="1371600" y="952500"/>
            <a:ext cx="155448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0077CC"/>
                </a:solidFill>
                <a:latin typeface="Inter"/>
                <a:ea typeface="Inter"/>
                <a:cs typeface="Inter"/>
                <a:sym typeface="Inter"/>
              </a:rPr>
              <a:t>Error 3</a:t>
            </a:r>
            <a:endParaRPr b="1" sz="2000">
              <a:solidFill>
                <a:srgbClr val="0077CC"/>
              </a:solidFill>
              <a:latin typeface="Inter"/>
              <a:ea typeface="Inter"/>
              <a:cs typeface="Inter"/>
              <a:sym typeface="Inter"/>
            </a:endParaRPr>
          </a:p>
        </p:txBody>
      </p:sp>
      <p:sp>
        <p:nvSpPr>
          <p:cNvPr id="135" name="Google Shape;135;p16"/>
          <p:cNvSpPr txBox="1"/>
          <p:nvPr/>
        </p:nvSpPr>
        <p:spPr>
          <a:xfrm>
            <a:off x="1371600" y="1524000"/>
            <a:ext cx="15544800" cy="861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5600">
                <a:solidFill>
                  <a:srgbClr val="0A0915"/>
                </a:solidFill>
                <a:latin typeface="Inter"/>
                <a:ea typeface="Inter"/>
                <a:cs typeface="Inter"/>
                <a:sym typeface="Inter"/>
              </a:rPr>
              <a:t>Postergar el pedido de dominio</a:t>
            </a:r>
            <a:endParaRPr b="1" sz="5600">
              <a:solidFill>
                <a:srgbClr val="0A0915"/>
              </a:solidFill>
              <a:latin typeface="Inter"/>
              <a:ea typeface="Inter"/>
              <a:cs typeface="Inter"/>
              <a:sym typeface="Inter"/>
            </a:endParaRPr>
          </a:p>
        </p:txBody>
      </p:sp>
      <p:grpSp>
        <p:nvGrpSpPr>
          <p:cNvPr id="136" name="Google Shape;136;p16"/>
          <p:cNvGrpSpPr/>
          <p:nvPr/>
        </p:nvGrpSpPr>
        <p:grpSpPr>
          <a:xfrm>
            <a:off x="1371600" y="3048000"/>
            <a:ext cx="15544800" cy="2286000"/>
            <a:chOff x="1371600" y="3048000"/>
            <a:chExt cx="15544800" cy="2286000"/>
          </a:xfrm>
        </p:grpSpPr>
        <p:sp>
          <p:nvSpPr>
            <p:cNvPr id="137" name="Google Shape;137;p16"/>
            <p:cNvSpPr/>
            <p:nvPr/>
          </p:nvSpPr>
          <p:spPr>
            <a:xfrm>
              <a:off x="1371600" y="3048000"/>
              <a:ext cx="15544800" cy="2286000"/>
            </a:xfrm>
            <a:prstGeom prst="roundRect">
              <a:avLst>
                <a:gd fmla="val 6666" name="adj"/>
              </a:avLst>
            </a:prstGeom>
            <a:solidFill>
              <a:srgbClr val="FFF1F2"/>
            </a:solidFill>
            <a:ln cap="flat" cmpd="sng" w="19050">
              <a:solidFill>
                <a:srgbClr val="FECDD3"/>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8" name="Google Shape;138;p16"/>
            <p:cNvSpPr txBox="1"/>
            <p:nvPr/>
          </p:nvSpPr>
          <p:spPr>
            <a:xfrm>
              <a:off x="1752600" y="3048000"/>
              <a:ext cx="14782800" cy="228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i="1" lang="en-US" sz="2800">
                  <a:solidFill>
                    <a:srgbClr val="64748B"/>
                  </a:solidFill>
                  <a:latin typeface="Inter"/>
                  <a:ea typeface="Inter"/>
                  <a:cs typeface="Inter"/>
                  <a:sym typeface="Inter"/>
                </a:rPr>
                <a:t>"Lo pedimos la semana que viene, total el go-live falta mucho."</a:t>
              </a:r>
              <a:endParaRPr b="0" i="1" sz="2800">
                <a:solidFill>
                  <a:srgbClr val="64748B"/>
                </a:solidFill>
                <a:latin typeface="Inter"/>
                <a:ea typeface="Inter"/>
                <a:cs typeface="Inter"/>
                <a:sym typeface="Inter"/>
              </a:endParaRPr>
            </a:p>
          </p:txBody>
        </p:sp>
      </p:grpSp>
      <p:grpSp>
        <p:nvGrpSpPr>
          <p:cNvPr id="139" name="Google Shape;139;p16"/>
          <p:cNvGrpSpPr/>
          <p:nvPr/>
        </p:nvGrpSpPr>
        <p:grpSpPr>
          <a:xfrm>
            <a:off x="1371600" y="5715000"/>
            <a:ext cx="15544800" cy="3619500"/>
            <a:chOff x="1371600" y="5715000"/>
            <a:chExt cx="15544800" cy="3619500"/>
          </a:xfrm>
        </p:grpSpPr>
        <p:sp>
          <p:nvSpPr>
            <p:cNvPr id="140" name="Google Shape;140;p16"/>
            <p:cNvSpPr/>
            <p:nvPr/>
          </p:nvSpPr>
          <p:spPr>
            <a:xfrm>
              <a:off x="1371600" y="5715000"/>
              <a:ext cx="15544800" cy="3619500"/>
            </a:xfrm>
            <a:prstGeom prst="roundRect">
              <a:avLst>
                <a:gd fmla="val 4210" name="adj"/>
              </a:avLst>
            </a:prstGeom>
            <a:solidFill>
              <a:srgbClr val="F0F9FF"/>
            </a:solidFill>
            <a:ln cap="flat" cmpd="sng" w="19050">
              <a:solidFill>
                <a:srgbClr val="BAE6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6"/>
            <p:cNvSpPr txBox="1"/>
            <p:nvPr/>
          </p:nvSpPr>
          <p:spPr>
            <a:xfrm>
              <a:off x="1752600" y="6096000"/>
              <a:ext cx="14782800" cy="2857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0284C7"/>
                  </a:solidFill>
                  <a:latin typeface="Inter"/>
                  <a:ea typeface="Inter"/>
                  <a:cs typeface="Inter"/>
                  <a:sym typeface="Inter"/>
                </a:rPr>
                <a:t>Consecuencia Directa</a:t>
              </a:r>
              <a:endParaRPr b="1" sz="1800">
                <a:solidFill>
                  <a:srgbClr val="0284C7"/>
                </a:solidFill>
                <a:latin typeface="Inter"/>
                <a:ea typeface="Inter"/>
                <a:cs typeface="Inter"/>
                <a:sym typeface="Inter"/>
              </a:endParaRPr>
            </a:p>
            <a:p>
              <a:pPr indent="0" lvl="0" marL="0" rtl="0" algn="l">
                <a:spcBef>
                  <a:spcPts val="2000"/>
                </a:spcBef>
                <a:spcAft>
                  <a:spcPts val="0"/>
                </a:spcAft>
                <a:buNone/>
              </a:pPr>
              <a:r>
                <a:rPr b="0" lang="en-US" sz="2400">
                  <a:solidFill>
                    <a:srgbClr val="0A0915"/>
                  </a:solidFill>
                  <a:latin typeface="Inter"/>
                  <a:ea typeface="Inter"/>
                  <a:cs typeface="Inter"/>
                  <a:sym typeface="Inter"/>
                </a:rPr>
                <a:t>Si lo dejas para la semana seis, vas a tener un </a:t>
              </a:r>
              <a:r>
                <a:rPr b="1" lang="en-US" sz="2400">
                  <a:solidFill>
                    <a:srgbClr val="0077CC"/>
                  </a:solidFill>
                  <a:latin typeface="Inter"/>
                  <a:ea typeface="Inter"/>
                  <a:cs typeface="Inter"/>
                  <a:sym typeface="Inter"/>
                </a:rPr>
                <a:t>go-live demorado</a:t>
              </a:r>
              <a:r>
                <a:rPr b="0" lang="en-US" sz="2400">
                  <a:solidFill>
                    <a:srgbClr val="0A0915"/>
                  </a:solidFill>
                  <a:latin typeface="Inter"/>
                  <a:ea typeface="Inter"/>
                  <a:cs typeface="Inter"/>
                  <a:sym typeface="Inter"/>
                </a:rPr>
                <a:t> y no hay forma elegante de explicarlo.</a:t>
              </a:r>
              <a:endParaRPr b="0" sz="2400">
                <a:solidFill>
                  <a:srgbClr val="0A0915"/>
                </a:solidFill>
                <a:latin typeface="Inter"/>
                <a:ea typeface="Inter"/>
                <a:cs typeface="Inter"/>
                <a:sym typeface="In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7"/>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8" name="Google Shape;148;p17"/>
          <p:cNvSpPr txBox="1"/>
          <p:nvPr/>
        </p:nvSpPr>
        <p:spPr>
          <a:xfrm>
            <a:off x="1371600" y="1143000"/>
            <a:ext cx="15544800" cy="861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5600">
                <a:solidFill>
                  <a:srgbClr val="0A0915"/>
                </a:solidFill>
                <a:latin typeface="Inter"/>
                <a:ea typeface="Inter"/>
                <a:cs typeface="Inter"/>
                <a:sym typeface="Inter"/>
              </a:rPr>
              <a:t>Cuándo escalar a Sovra sin dudarlo</a:t>
            </a:r>
            <a:endParaRPr b="1" i="0" sz="5600">
              <a:solidFill>
                <a:srgbClr val="0A0915"/>
              </a:solidFill>
              <a:latin typeface="Inter"/>
              <a:ea typeface="Inter"/>
              <a:cs typeface="Inter"/>
              <a:sym typeface="Inter"/>
            </a:endParaRPr>
          </a:p>
        </p:txBody>
      </p:sp>
      <p:grpSp>
        <p:nvGrpSpPr>
          <p:cNvPr id="149" name="Google Shape;149;p17"/>
          <p:cNvGrpSpPr/>
          <p:nvPr/>
        </p:nvGrpSpPr>
        <p:grpSpPr>
          <a:xfrm>
            <a:off x="1371600" y="2667000"/>
            <a:ext cx="7543800" cy="2667000"/>
            <a:chOff x="1371600" y="2667000"/>
            <a:chExt cx="7543800" cy="2667000"/>
          </a:xfrm>
        </p:grpSpPr>
        <p:sp>
          <p:nvSpPr>
            <p:cNvPr id="150" name="Google Shape;150;p17"/>
            <p:cNvSpPr/>
            <p:nvPr/>
          </p:nvSpPr>
          <p:spPr>
            <a:xfrm>
              <a:off x="1371600" y="2667000"/>
              <a:ext cx="7543800" cy="2667000"/>
            </a:xfrm>
            <a:prstGeom prst="roundRect">
              <a:avLst>
                <a:gd fmla="val 5714" name="adj"/>
              </a:avLst>
            </a:prstGeom>
            <a:solidFill>
              <a:srgbClr val="F0F9FF"/>
            </a:solidFill>
            <a:ln cap="flat" cmpd="sng" w="19050">
              <a:solidFill>
                <a:srgbClr val="BAE6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1" name="Google Shape;151;p17"/>
            <p:cNvSpPr txBox="1"/>
            <p:nvPr/>
          </p:nvSpPr>
          <p:spPr>
            <a:xfrm>
              <a:off x="1752600" y="2667000"/>
              <a:ext cx="6781800" cy="2667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284C7"/>
                  </a:solidFill>
                  <a:latin typeface="Inter"/>
                  <a:ea typeface="Inter"/>
                  <a:cs typeface="Inter"/>
                  <a:sym typeface="Inter"/>
                </a:rPr>
                <a:t>EQUIPO CORE</a:t>
              </a:r>
              <a:endParaRPr b="1" sz="1800">
                <a:solidFill>
                  <a:srgbClr val="0284C7"/>
                </a:solidFill>
                <a:latin typeface="Inter"/>
                <a:ea typeface="Inter"/>
                <a:cs typeface="Inter"/>
                <a:sym typeface="Inter"/>
              </a:endParaRPr>
            </a:p>
            <a:p>
              <a:pPr indent="0" lvl="0" marL="0" rtl="0" algn="l">
                <a:spcBef>
                  <a:spcPts val="1000"/>
                </a:spcBef>
                <a:spcAft>
                  <a:spcPts val="0"/>
                </a:spcAft>
                <a:buNone/>
              </a:pPr>
              <a:r>
                <a:rPr b="0" lang="en-US" sz="2400">
                  <a:solidFill>
                    <a:srgbClr val="0A0915"/>
                  </a:solidFill>
                  <a:latin typeface="Inter"/>
                  <a:ea typeface="Inter"/>
                  <a:cs typeface="Inter"/>
                  <a:sym typeface="Inter"/>
                </a:rPr>
                <a:t>Cuando el gobierno no asigna el equipo core para la ejecución.</a:t>
              </a:r>
              <a:endParaRPr b="0" sz="2400">
                <a:solidFill>
                  <a:srgbClr val="0A0915"/>
                </a:solidFill>
                <a:latin typeface="Inter"/>
                <a:ea typeface="Inter"/>
                <a:cs typeface="Inter"/>
                <a:sym typeface="Inter"/>
              </a:endParaRPr>
            </a:p>
          </p:txBody>
        </p:sp>
      </p:grpSp>
      <p:grpSp>
        <p:nvGrpSpPr>
          <p:cNvPr id="152" name="Google Shape;152;p17"/>
          <p:cNvGrpSpPr/>
          <p:nvPr/>
        </p:nvGrpSpPr>
        <p:grpSpPr>
          <a:xfrm>
            <a:off x="9372600" y="2667000"/>
            <a:ext cx="7543800" cy="2667000"/>
            <a:chOff x="9372600" y="2667000"/>
            <a:chExt cx="7543800" cy="2667000"/>
          </a:xfrm>
        </p:grpSpPr>
        <p:sp>
          <p:nvSpPr>
            <p:cNvPr id="153" name="Google Shape;153;p17"/>
            <p:cNvSpPr/>
            <p:nvPr/>
          </p:nvSpPr>
          <p:spPr>
            <a:xfrm>
              <a:off x="9372600" y="2667000"/>
              <a:ext cx="7543800" cy="2667000"/>
            </a:xfrm>
            <a:prstGeom prst="roundRect">
              <a:avLst>
                <a:gd fmla="val 5714" name="adj"/>
              </a:avLst>
            </a:prstGeom>
            <a:solidFill>
              <a:srgbClr val="F0FDFA"/>
            </a:solidFill>
            <a:ln cap="flat" cmpd="sng" w="19050">
              <a:solidFill>
                <a:srgbClr val="99F6E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4" name="Google Shape;154;p17"/>
            <p:cNvSpPr txBox="1"/>
            <p:nvPr/>
          </p:nvSpPr>
          <p:spPr>
            <a:xfrm>
              <a:off x="9753600" y="2667000"/>
              <a:ext cx="6781800" cy="2667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D9488"/>
                  </a:solidFill>
                  <a:latin typeface="Inter"/>
                  <a:ea typeface="Inter"/>
                  <a:cs typeface="Inter"/>
                  <a:sym typeface="Inter"/>
                </a:rPr>
                <a:t>ALCANCE</a:t>
              </a:r>
              <a:endParaRPr b="1" sz="1800">
                <a:solidFill>
                  <a:srgbClr val="0D9488"/>
                </a:solidFill>
                <a:latin typeface="Inter"/>
                <a:ea typeface="Inter"/>
                <a:cs typeface="Inter"/>
                <a:sym typeface="Inter"/>
              </a:endParaRPr>
            </a:p>
            <a:p>
              <a:pPr indent="0" lvl="0" marL="0" rtl="0" algn="l">
                <a:spcBef>
                  <a:spcPts val="1000"/>
                </a:spcBef>
                <a:spcAft>
                  <a:spcPts val="0"/>
                </a:spcAft>
                <a:buNone/>
              </a:pPr>
              <a:r>
                <a:rPr b="0" lang="en-US" sz="2400">
                  <a:solidFill>
                    <a:srgbClr val="0A0915"/>
                  </a:solidFill>
                  <a:latin typeface="Inter"/>
                  <a:ea typeface="Inter"/>
                  <a:cs typeface="Inter"/>
                  <a:sym typeface="Inter"/>
                </a:rPr>
                <a:t>Cuando hay confusión sobre el alcance del contrato que no logras resolver.</a:t>
              </a:r>
              <a:endParaRPr b="0" sz="2400">
                <a:solidFill>
                  <a:srgbClr val="0A0915"/>
                </a:solidFill>
                <a:latin typeface="Inter"/>
                <a:ea typeface="Inter"/>
                <a:cs typeface="Inter"/>
                <a:sym typeface="Inter"/>
              </a:endParaRPr>
            </a:p>
          </p:txBody>
        </p:sp>
      </p:grpSp>
      <p:grpSp>
        <p:nvGrpSpPr>
          <p:cNvPr id="155" name="Google Shape;155;p17"/>
          <p:cNvGrpSpPr/>
          <p:nvPr/>
        </p:nvGrpSpPr>
        <p:grpSpPr>
          <a:xfrm>
            <a:off x="1371600" y="5715000"/>
            <a:ext cx="7543800" cy="2667000"/>
            <a:chOff x="1371600" y="5715000"/>
            <a:chExt cx="7543800" cy="2667000"/>
          </a:xfrm>
        </p:grpSpPr>
        <p:sp>
          <p:nvSpPr>
            <p:cNvPr id="156" name="Google Shape;156;p17"/>
            <p:cNvSpPr/>
            <p:nvPr/>
          </p:nvSpPr>
          <p:spPr>
            <a:xfrm>
              <a:off x="1371600" y="5715000"/>
              <a:ext cx="7543800" cy="2667000"/>
            </a:xfrm>
            <a:prstGeom prst="roundRect">
              <a:avLst>
                <a:gd fmla="val 5714" name="adj"/>
              </a:avLst>
            </a:prstGeom>
            <a:solidFill>
              <a:srgbClr val="FFF1F2"/>
            </a:solidFill>
            <a:ln cap="flat" cmpd="sng" w="19050">
              <a:solidFill>
                <a:srgbClr val="FECDD3"/>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17"/>
            <p:cNvSpPr txBox="1"/>
            <p:nvPr/>
          </p:nvSpPr>
          <p:spPr>
            <a:xfrm>
              <a:off x="1752600" y="5715000"/>
              <a:ext cx="6781800" cy="2667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11D48"/>
                  </a:solidFill>
                  <a:latin typeface="Inter"/>
                  <a:ea typeface="Inter"/>
                  <a:cs typeface="Inter"/>
                  <a:sym typeface="Inter"/>
                </a:rPr>
                <a:t>EXPECTATIVAS</a:t>
              </a:r>
              <a:endParaRPr b="1" sz="1800">
                <a:solidFill>
                  <a:srgbClr val="E11D48"/>
                </a:solidFill>
                <a:latin typeface="Inter"/>
                <a:ea typeface="Inter"/>
                <a:cs typeface="Inter"/>
                <a:sym typeface="Inter"/>
              </a:endParaRPr>
            </a:p>
            <a:p>
              <a:pPr indent="0" lvl="0" marL="0" rtl="0" algn="l">
                <a:spcBef>
                  <a:spcPts val="1000"/>
                </a:spcBef>
                <a:spcAft>
                  <a:spcPts val="0"/>
                </a:spcAft>
                <a:buNone/>
              </a:pPr>
              <a:r>
                <a:rPr b="0" lang="en-US" sz="2400">
                  <a:solidFill>
                    <a:srgbClr val="0A0915"/>
                  </a:solidFill>
                  <a:latin typeface="Inter"/>
                  <a:ea typeface="Inter"/>
                  <a:cs typeface="Inter"/>
                  <a:sym typeface="Inter"/>
                </a:rPr>
                <a:t>Cuando las expectativas técnicas del gobierno exceden lo contratado.</a:t>
              </a:r>
              <a:endParaRPr b="0" sz="2400">
                <a:solidFill>
                  <a:srgbClr val="0A0915"/>
                </a:solidFill>
                <a:latin typeface="Inter"/>
                <a:ea typeface="Inter"/>
                <a:cs typeface="Inter"/>
                <a:sym typeface="Inter"/>
              </a:endParaRPr>
            </a:p>
          </p:txBody>
        </p:sp>
      </p:grpSp>
      <p:grpSp>
        <p:nvGrpSpPr>
          <p:cNvPr id="158" name="Google Shape;158;p17"/>
          <p:cNvGrpSpPr/>
          <p:nvPr/>
        </p:nvGrpSpPr>
        <p:grpSpPr>
          <a:xfrm>
            <a:off x="9372600" y="5715000"/>
            <a:ext cx="7543800" cy="2667000"/>
            <a:chOff x="9372600" y="5715000"/>
            <a:chExt cx="7543800" cy="2667000"/>
          </a:xfrm>
        </p:grpSpPr>
        <p:sp>
          <p:nvSpPr>
            <p:cNvPr id="159" name="Google Shape;159;p17"/>
            <p:cNvSpPr/>
            <p:nvPr/>
          </p:nvSpPr>
          <p:spPr>
            <a:xfrm>
              <a:off x="9372600" y="5715000"/>
              <a:ext cx="7543800" cy="2667000"/>
            </a:xfrm>
            <a:prstGeom prst="roundRect">
              <a:avLst>
                <a:gd fmla="val 5714"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17"/>
            <p:cNvSpPr txBox="1"/>
            <p:nvPr/>
          </p:nvSpPr>
          <p:spPr>
            <a:xfrm>
              <a:off x="9753600" y="5715000"/>
              <a:ext cx="6781800" cy="2667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64748B"/>
                  </a:solidFill>
                  <a:latin typeface="Inter"/>
                  <a:ea typeface="Inter"/>
                  <a:cs typeface="Inter"/>
                  <a:sym typeface="Inter"/>
                </a:rPr>
                <a:t>RESPALDO POLÍTICO</a:t>
              </a:r>
              <a:endParaRPr b="1" sz="1800">
                <a:solidFill>
                  <a:srgbClr val="64748B"/>
                </a:solidFill>
                <a:latin typeface="Inter"/>
                <a:ea typeface="Inter"/>
                <a:cs typeface="Inter"/>
                <a:sym typeface="Inter"/>
              </a:endParaRPr>
            </a:p>
            <a:p>
              <a:pPr indent="0" lvl="0" marL="0" rtl="0" algn="l">
                <a:spcBef>
                  <a:spcPts val="1000"/>
                </a:spcBef>
                <a:spcAft>
                  <a:spcPts val="0"/>
                </a:spcAft>
                <a:buNone/>
              </a:pPr>
              <a:r>
                <a:rPr b="0" lang="en-US" sz="2400">
                  <a:solidFill>
                    <a:srgbClr val="0A0915"/>
                  </a:solidFill>
                  <a:latin typeface="Inter"/>
                  <a:ea typeface="Inter"/>
                  <a:cs typeface="Inter"/>
                  <a:sym typeface="Inter"/>
                </a:rPr>
                <a:t>Cuando no hay respaldo político suficiente para sostener el proyecto.</a:t>
              </a:r>
              <a:endParaRPr b="0" sz="2400">
                <a:solidFill>
                  <a:srgbClr val="0A0915"/>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8"/>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67" name="Google Shape;167;p18"/>
          <p:cNvGrpSpPr/>
          <p:nvPr/>
        </p:nvGrpSpPr>
        <p:grpSpPr>
          <a:xfrm>
            <a:off x="1371600" y="2286000"/>
            <a:ext cx="15544800" cy="5715000"/>
            <a:chOff x="1371600" y="2286000"/>
            <a:chExt cx="15544800" cy="5715000"/>
          </a:xfrm>
        </p:grpSpPr>
        <p:sp>
          <p:nvSpPr>
            <p:cNvPr id="168" name="Google Shape;168;p18"/>
            <p:cNvSpPr/>
            <p:nvPr/>
          </p:nvSpPr>
          <p:spPr>
            <a:xfrm>
              <a:off x="1371600" y="2286000"/>
              <a:ext cx="15544800" cy="5715000"/>
            </a:xfrm>
            <a:prstGeom prst="roundRect">
              <a:avLst>
                <a:gd fmla="val 3333"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9" name="Google Shape;169;p18"/>
            <p:cNvSpPr txBox="1"/>
            <p:nvPr/>
          </p:nvSpPr>
          <p:spPr>
            <a:xfrm>
              <a:off x="1371600" y="3048000"/>
              <a:ext cx="15544800" cy="3810000"/>
            </a:xfrm>
            <a:prstGeom prst="rect">
              <a:avLst/>
            </a:prstGeom>
            <a:noFill/>
            <a:ln>
              <a:noFill/>
            </a:ln>
          </p:spPr>
          <p:txBody>
            <a:bodyPr anchorCtr="0" anchor="ctr" bIns="0" lIns="762000" spcFirstLastPara="1" rIns="762000" wrap="square" tIns="0">
              <a:noAutofit/>
            </a:bodyPr>
            <a:lstStyle/>
            <a:p>
              <a:pPr indent="0" lvl="0" marL="0" rtl="0" algn="ctr">
                <a:spcBef>
                  <a:spcPts val="0"/>
                </a:spcBef>
                <a:spcAft>
                  <a:spcPts val="0"/>
                </a:spcAft>
                <a:buNone/>
              </a:pPr>
              <a:r>
                <a:rPr b="1" lang="en-US" sz="2400">
                  <a:solidFill>
                    <a:srgbClr val="0077CC"/>
                  </a:solidFill>
                  <a:latin typeface="Inter"/>
                  <a:ea typeface="Inter"/>
                  <a:cs typeface="Inter"/>
                  <a:sym typeface="Inter"/>
                </a:rPr>
                <a:t>IMPORTANTE</a:t>
              </a:r>
              <a:endParaRPr b="1" sz="2400">
                <a:solidFill>
                  <a:srgbClr val="0077CC"/>
                </a:solidFill>
                <a:latin typeface="Inter"/>
                <a:ea typeface="Inter"/>
                <a:cs typeface="Inter"/>
                <a:sym typeface="Inter"/>
              </a:endParaRPr>
            </a:p>
            <a:p>
              <a:pPr indent="0" lvl="0" marL="0" rtl="0" algn="ctr">
                <a:spcBef>
                  <a:spcPts val="2250"/>
                </a:spcBef>
                <a:spcAft>
                  <a:spcPts val="0"/>
                </a:spcAft>
                <a:buNone/>
              </a:pPr>
              <a:r>
                <a:rPr b="1" lang="en-US" sz="6800">
                  <a:solidFill>
                    <a:srgbClr val="0A0915"/>
                  </a:solidFill>
                  <a:latin typeface="Inter"/>
                  <a:ea typeface="Inter"/>
                  <a:cs typeface="Inter"/>
                  <a:sym typeface="Inter"/>
                </a:rPr>
                <a:t>Escalar no es debilidad</a:t>
              </a:r>
              <a:endParaRPr b="1" sz="6800">
                <a:solidFill>
                  <a:srgbClr val="0A0915"/>
                </a:solidFill>
                <a:latin typeface="Inter"/>
                <a:ea typeface="Inter"/>
                <a:cs typeface="Inter"/>
                <a:sym typeface="Inter"/>
              </a:endParaRPr>
            </a:p>
            <a:p>
              <a:pPr indent="0" lvl="0" marL="0" rtl="0" algn="ctr">
                <a:spcBef>
                  <a:spcPts val="3750"/>
                </a:spcBef>
                <a:spcAft>
                  <a:spcPts val="0"/>
                </a:spcAft>
                <a:buNone/>
              </a:pPr>
              <a:r>
                <a:rPr b="0" lang="en-US" sz="2800">
                  <a:solidFill>
                    <a:srgbClr val="475569"/>
                  </a:solidFill>
                  <a:latin typeface="Inter"/>
                  <a:ea typeface="Inter"/>
                  <a:cs typeface="Inter"/>
                  <a:sym typeface="Inter"/>
                </a:rPr>
                <a:t>Es la herramienta que tienes para que Sovra intervenga antes de que el problema se vuelva </a:t>
              </a:r>
              <a:r>
                <a:rPr b="1" lang="en-US" sz="2800">
                  <a:solidFill>
                    <a:srgbClr val="0A0915"/>
                  </a:solidFill>
                  <a:latin typeface="Inter"/>
                  <a:ea typeface="Inter"/>
                  <a:cs typeface="Inter"/>
                  <a:sym typeface="Inter"/>
                </a:rPr>
                <a:t>irreversible</a:t>
              </a:r>
              <a:r>
                <a:rPr b="0" lang="en-US" sz="2800">
                  <a:solidFill>
                    <a:srgbClr val="475569"/>
                  </a:solidFill>
                  <a:latin typeface="Inter"/>
                  <a:ea typeface="Inter"/>
                  <a:cs typeface="Inter"/>
                  <a:sym typeface="Inter"/>
                </a:rPr>
                <a:t>. Para eso estamos.</a:t>
              </a:r>
              <a:endParaRPr b="0" sz="2800">
                <a:solidFill>
                  <a:srgbClr val="475569"/>
                </a:solidFill>
                <a:latin typeface="Inter"/>
                <a:ea typeface="Inter"/>
                <a:cs typeface="Inter"/>
                <a:sym typeface="Inter"/>
              </a:endParaRPr>
            </a:p>
          </p:txBody>
        </p:sp>
      </p:grpSp>
      <p:grpSp>
        <p:nvGrpSpPr>
          <p:cNvPr id="170" name="Google Shape;170;p18"/>
          <p:cNvGrpSpPr/>
          <p:nvPr/>
        </p:nvGrpSpPr>
        <p:grpSpPr>
          <a:xfrm>
            <a:off x="8667750" y="1524000"/>
            <a:ext cx="952500" cy="1022604"/>
            <a:chOff x="8667750" y="1524000"/>
            <a:chExt cx="952500" cy="1022604"/>
          </a:xfrm>
        </p:grpSpPr>
        <p:sp>
          <p:nvSpPr>
            <p:cNvPr id="171" name="Google Shape;171;p18"/>
            <p:cNvSpPr/>
            <p:nvPr/>
          </p:nvSpPr>
          <p:spPr>
            <a:xfrm>
              <a:off x="8667750" y="1524000"/>
              <a:ext cx="952500" cy="952500"/>
            </a:xfrm>
            <a:prstGeom prst="roundRect">
              <a:avLst>
                <a:gd fmla="val 50000" name="adj"/>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2" name="Google Shape;172;p18"/>
            <p:cNvSpPr txBox="1"/>
            <p:nvPr/>
          </p:nvSpPr>
          <p:spPr>
            <a:xfrm>
              <a:off x="8667750" y="1594104"/>
              <a:ext cx="952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FFFFFF"/>
                  </a:solidFill>
                  <a:latin typeface="Material Icons"/>
                  <a:ea typeface="Material Icons"/>
                  <a:cs typeface="Material Icons"/>
                  <a:sym typeface="Material Icons"/>
                </a:rPr>
                <a:t></a:t>
              </a:r>
              <a:endParaRPr sz="4800">
                <a:solidFill>
                  <a:srgbClr val="FFFFFF"/>
                </a:solidFill>
                <a:latin typeface="Material Icons"/>
                <a:ea typeface="Material Icons"/>
                <a:cs typeface="Material Icons"/>
                <a:sym typeface="Material Icons"/>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19"/>
          <p:cNvSpPr/>
          <p:nvPr/>
        </p:nvSpPr>
        <p:spPr>
          <a:xfrm>
            <a:off x="0" y="0"/>
            <a:ext cx="18288000" cy="102870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9"/>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Los errores de Fase A</a:t>
            </a:r>
            <a:endParaRPr/>
          </a:p>
        </p:txBody>
      </p:sp>
      <p:sp>
        <p:nvSpPr>
          <p:cNvPr id="180" name="Google Shape;180;p19"/>
          <p:cNvSpPr txBox="1"/>
          <p:nvPr/>
        </p:nvSpPr>
        <p:spPr>
          <a:xfrm>
            <a:off x="1371600" y="4754880"/>
            <a:ext cx="15544800" cy="1200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son predecibles</a:t>
            </a:r>
            <a:endParaRPr/>
          </a:p>
        </p:txBody>
      </p:sp>
      <p:sp>
        <p:nvSpPr>
          <p:cNvPr id="181" name="Google Shape;181;p19"/>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Reconocerlos a tiempo es la diferencia entre un proyecto que se recupera y uno que se hunde.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