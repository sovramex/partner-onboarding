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Inter"/>
      <p:regular r:id="rId14"/>
      <p:bold r:id="rId15"/>
      <p:italic r:id="rId16"/>
      <p:boldItalic r:id="rId17"/>
    </p:embeddedFont>
    <p:embeddedFont>
      <p:font typeface="Inter ExtraBold"/>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19" Type="http://schemas.openxmlformats.org/officeDocument/2006/relationships/font" Target="fonts/InterExtraBold-boldItalic.fntdata"/><Relationship Id="rId6" Type="http://schemas.openxmlformats.org/officeDocument/2006/relationships/slide" Target="slides/slide1.xml"/><Relationship Id="rId18" Type="http://schemas.openxmlformats.org/officeDocument/2006/relationships/font" Target="fonts/InterExtraBo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8.8s · 22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tercera reunión obligatoria es la de metodología detallada. Una hora y media a dos horas, con el equipo core ya conformado.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18.8s · 47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objetivo es que el gobierno salga de esta reunión sabiendo exactamente qué información debe preparar y para cuándo. Es la reunión donde el partner deja de hablar de el proyecto en general y empieza a hablar de esta semana hacemos esto, la que viene esto otro.</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21.6s · 54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Recorres las cinco fases del ciclo, una por una. Qué pasa en cada una, cuánto dura, qué necesitas del gobierno en cada momento. No es necesario entrar en detalle operativo de plataforma. Es necesario que cada persona en la sala entienda en qué fase tendrá que tomar decisiones y qué tendrá que tener listo.</a:t>
            </a:r>
            <a:endParaRPr/>
          </a:p>
        </p:txBody>
      </p:sp>
      <p:sp>
        <p:nvSpPr>
          <p:cNvPr id="106" name="Google Shape;10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15.6s · 39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Después presentas el plan de trabajo con fechas, hitos y dependencias. Idealmente un gantt o un cronograma equivalente. No es un documento decorativo: es la herramienta con la que vas a hacer seguimiento semanal de aquí hasta el go-live.</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18.0s · 45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esta reunión también entregas el documento de requisitos del proyecto. Ese documento le dice al gobierno qué información debe preparar antes de cada fase: datos de trámites, accesos, decisiones pendientes. No basta con dárselo. Tienes que explicárselo y agendar cuándo lo vas a revisar.</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13.6s · 34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Pides al gobierno que arme una primera lista de trámites candidatos para el primer ciclo. Ellos proponen, tú priorizas en Fase B. No los presiones a decidir ahora, pero sí a tener la lista.</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12.0s · 30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 antes de cerrar la reunión, agendas las próximas. Las capacitaciones de Fase B no se agendan en Fase B: se agendan ahora, mientras todos están en la misma sala.</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7.6s · 19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metodología deja de ser teórica cuando el gobierno sabe qué tiene que preparar para la semana que viene.</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077CC"/>
                </a:solidFill>
                <a:latin typeface="Inter"/>
                <a:ea typeface="Inter"/>
                <a:cs typeface="Inter"/>
                <a:sym typeface="Inter"/>
              </a:rPr>
              <a:t>FASE A</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Metodología</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y plan de trabajo</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La tercera reunión obligatoria. Una hora y media a dos horas, con el equipo core.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5" name="Google Shape;95;p14"/>
          <p:cNvGrpSpPr/>
          <p:nvPr/>
        </p:nvGrpSpPr>
        <p:grpSpPr>
          <a:xfrm>
            <a:off x="1371600" y="2286000"/>
            <a:ext cx="15544800" cy="4000500"/>
            <a:chOff x="1371600" y="2286000"/>
            <a:chExt cx="15544800" cy="4000500"/>
          </a:xfrm>
        </p:grpSpPr>
        <p:sp>
          <p:nvSpPr>
            <p:cNvPr id="96" name="Google Shape;96;p14"/>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txBox="1"/>
            <p:nvPr/>
          </p:nvSpPr>
          <p:spPr>
            <a:xfrm>
              <a:off x="1847850" y="2762250"/>
              <a:ext cx="145923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0077CC"/>
                  </a:solidFill>
                  <a:latin typeface="Inter"/>
                  <a:ea typeface="Inter"/>
                  <a:cs typeface="Inter"/>
                  <a:sym typeface="Inter"/>
                </a:rPr>
                <a:t>El Objetivo Principal</a:t>
              </a:r>
              <a:endParaRPr b="1" sz="2000">
                <a:solidFill>
                  <a:srgbClr val="0077CC"/>
                </a:solidFill>
                <a:latin typeface="Inter"/>
                <a:ea typeface="Inter"/>
                <a:cs typeface="Inter"/>
                <a:sym typeface="Inter"/>
              </a:endParaRPr>
            </a:p>
          </p:txBody>
        </p:sp>
        <p:sp>
          <p:nvSpPr>
            <p:cNvPr id="98" name="Google Shape;98;p14"/>
            <p:cNvSpPr txBox="1"/>
            <p:nvPr/>
          </p:nvSpPr>
          <p:spPr>
            <a:xfrm>
              <a:off x="1847850" y="3524250"/>
              <a:ext cx="14592300" cy="2286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6400">
                  <a:solidFill>
                    <a:srgbClr val="0A0915"/>
                  </a:solidFill>
                  <a:latin typeface="Inter ExtraBold"/>
                  <a:ea typeface="Inter ExtraBold"/>
                  <a:cs typeface="Inter ExtraBold"/>
                  <a:sym typeface="Inter ExtraBold"/>
                </a:rPr>
                <a:t>Que el gobierno sepa exactamente</a:t>
              </a:r>
              <a:endParaRPr b="0" sz="6400">
                <a:solidFill>
                  <a:srgbClr val="0A0915"/>
                </a:solidFill>
                <a:latin typeface="Inter ExtraBold"/>
                <a:ea typeface="Inter ExtraBold"/>
                <a:cs typeface="Inter ExtraBold"/>
                <a:sym typeface="Inter ExtraBold"/>
              </a:endParaRPr>
            </a:p>
            <a:p>
              <a:pPr indent="0" lvl="0" marL="0" rtl="0" algn="ctr">
                <a:spcBef>
                  <a:spcPts val="0"/>
                </a:spcBef>
                <a:spcAft>
                  <a:spcPts val="0"/>
                </a:spcAft>
                <a:buNone/>
              </a:pPr>
              <a:r>
                <a:rPr b="0" lang="en-US" sz="6400">
                  <a:solidFill>
                    <a:srgbClr val="0077CC"/>
                  </a:solidFill>
                  <a:latin typeface="Inter ExtraBold"/>
                  <a:ea typeface="Inter ExtraBold"/>
                  <a:cs typeface="Inter ExtraBold"/>
                  <a:sym typeface="Inter ExtraBold"/>
                </a:rPr>
                <a:t>qué preparar y para cuándo</a:t>
              </a:r>
              <a:endParaRPr b="0" sz="6400">
                <a:solidFill>
                  <a:srgbClr val="0077CC"/>
                </a:solidFill>
                <a:latin typeface="Inter ExtraBold"/>
                <a:ea typeface="Inter ExtraBold"/>
                <a:cs typeface="Inter ExtraBold"/>
                <a:sym typeface="Inter ExtraBold"/>
              </a:endParaRPr>
            </a:p>
          </p:txBody>
        </p:sp>
      </p:grpSp>
      <p:grpSp>
        <p:nvGrpSpPr>
          <p:cNvPr id="99" name="Google Shape;99;p14"/>
          <p:cNvGrpSpPr/>
          <p:nvPr/>
        </p:nvGrpSpPr>
        <p:grpSpPr>
          <a:xfrm>
            <a:off x="1371600" y="6572250"/>
            <a:ext cx="15544800" cy="2095500"/>
            <a:chOff x="1371600" y="6572250"/>
            <a:chExt cx="15544800" cy="2095500"/>
          </a:xfrm>
        </p:grpSpPr>
        <p:sp>
          <p:nvSpPr>
            <p:cNvPr id="100" name="Google Shape;100;p14"/>
            <p:cNvSpPr/>
            <p:nvPr/>
          </p:nvSpPr>
          <p:spPr>
            <a:xfrm>
              <a:off x="1371600" y="6572250"/>
              <a:ext cx="15544800" cy="2095500"/>
            </a:xfrm>
            <a:prstGeom prst="roundRect">
              <a:avLst>
                <a:gd fmla="val 9090" name="adj"/>
              </a:avLst>
            </a:prstGeom>
            <a:solidFill>
              <a:srgbClr val="0077CC">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1847850" y="6928104"/>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4800">
                  <a:solidFill>
                    <a:srgbClr val="0077CC"/>
                  </a:solidFill>
                  <a:latin typeface="Material Icons"/>
                  <a:ea typeface="Material Icons"/>
                  <a:cs typeface="Material Icons"/>
                  <a:sym typeface="Material Icons"/>
                </a:rPr>
                <a:t></a:t>
              </a:r>
              <a:endParaRPr sz="4800">
                <a:solidFill>
                  <a:srgbClr val="0077CC"/>
                </a:solidFill>
                <a:latin typeface="Material Icons"/>
                <a:ea typeface="Material Icons"/>
                <a:cs typeface="Material Icons"/>
                <a:sym typeface="Material Icons"/>
              </a:endParaRPr>
            </a:p>
          </p:txBody>
        </p:sp>
        <p:sp>
          <p:nvSpPr>
            <p:cNvPr id="102" name="Google Shape;102;p14"/>
            <p:cNvSpPr txBox="1"/>
            <p:nvPr/>
          </p:nvSpPr>
          <p:spPr>
            <a:xfrm>
              <a:off x="2857500" y="6762750"/>
              <a:ext cx="135828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Inter"/>
                  <a:ea typeface="Inter"/>
                  <a:cs typeface="Inter"/>
                  <a:sym typeface="Inter"/>
                </a:rPr>
                <a:t>Es el momento donde el partner deja de hablar del </a:t>
              </a:r>
              <a:r>
                <a:rPr b="1" lang="en-US" sz="2400">
                  <a:solidFill>
                    <a:srgbClr val="0A0915"/>
                  </a:solidFill>
                  <a:latin typeface="Inter"/>
                  <a:ea typeface="Inter"/>
                  <a:cs typeface="Inter"/>
                  <a:sym typeface="Inter"/>
                </a:rPr>
                <a:t>"proyecto en general"</a:t>
              </a:r>
              <a:endParaRPr b="0" sz="2400">
                <a:solidFill>
                  <a:srgbClr val="475569"/>
                </a:solidFill>
                <a:latin typeface="Inter"/>
                <a:ea typeface="Inter"/>
                <a:cs typeface="Inter"/>
                <a:sym typeface="Inter"/>
              </a:endParaRPr>
            </a:p>
            <a:p>
              <a:pPr indent="0" lvl="0" marL="0" rtl="0" algn="l">
                <a:spcBef>
                  <a:spcPts val="750"/>
                </a:spcBef>
                <a:spcAft>
                  <a:spcPts val="0"/>
                </a:spcAft>
                <a:buNone/>
              </a:pPr>
              <a:r>
                <a:rPr b="0" lang="en-US" sz="2400">
                  <a:solidFill>
                    <a:srgbClr val="475569"/>
                  </a:solidFill>
                  <a:latin typeface="Inter"/>
                  <a:ea typeface="Inter"/>
                  <a:cs typeface="Inter"/>
                  <a:sym typeface="Inter"/>
                </a:rPr>
                <a:t>y aterriza en la ejecución táctica: </a:t>
              </a:r>
              <a:r>
                <a:rPr b="1" lang="en-US" sz="2400">
                  <a:solidFill>
                    <a:srgbClr val="0077CC"/>
                  </a:solidFill>
                  <a:latin typeface="Inter"/>
                  <a:ea typeface="Inter"/>
                  <a:cs typeface="Inter"/>
                  <a:sym typeface="Inter"/>
                </a:rPr>
                <a:t>"esta semana hacemos esto, la que viene aquello."</a:t>
              </a:r>
              <a:endParaRPr b="0" sz="2400">
                <a:solidFill>
                  <a:srgbClr val="475569"/>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 name="Google Shape;109;p15"/>
          <p:cNvGrpSpPr/>
          <p:nvPr/>
        </p:nvGrpSpPr>
        <p:grpSpPr>
          <a:xfrm>
            <a:off x="1371600" y="2286000"/>
            <a:ext cx="15544800" cy="4000500"/>
            <a:chOff x="1371600" y="2286000"/>
            <a:chExt cx="15544800" cy="4000500"/>
          </a:xfrm>
        </p:grpSpPr>
        <p:sp>
          <p:nvSpPr>
            <p:cNvPr id="110" name="Google Shape;110;p15"/>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847850" y="2762250"/>
              <a:ext cx="145923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0077CC"/>
                  </a:solidFill>
                  <a:latin typeface="Inter"/>
                  <a:ea typeface="Inter"/>
                  <a:cs typeface="Inter"/>
                  <a:sym typeface="Inter"/>
                </a:rPr>
                <a:t>Las cinco fases del ciclo</a:t>
              </a:r>
              <a:endParaRPr b="1" sz="2000">
                <a:solidFill>
                  <a:srgbClr val="0077CC"/>
                </a:solidFill>
                <a:latin typeface="Inter"/>
                <a:ea typeface="Inter"/>
                <a:cs typeface="Inter"/>
                <a:sym typeface="Inter"/>
              </a:endParaRPr>
            </a:p>
          </p:txBody>
        </p:sp>
        <p:sp>
          <p:nvSpPr>
            <p:cNvPr id="112" name="Google Shape;112;p15"/>
            <p:cNvSpPr txBox="1"/>
            <p:nvPr/>
          </p:nvSpPr>
          <p:spPr>
            <a:xfrm>
              <a:off x="1847850" y="3524250"/>
              <a:ext cx="14592300" cy="2286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6400">
                  <a:solidFill>
                    <a:srgbClr val="0A0915"/>
                  </a:solidFill>
                  <a:latin typeface="Inter ExtraBold"/>
                  <a:ea typeface="Inter ExtraBold"/>
                  <a:cs typeface="Inter ExtraBold"/>
                  <a:sym typeface="Inter ExtraBold"/>
                </a:rPr>
                <a:t>Una por una</a:t>
              </a:r>
              <a:endParaRPr b="0" sz="6400">
                <a:solidFill>
                  <a:srgbClr val="0A0915"/>
                </a:solidFill>
                <a:latin typeface="Inter ExtraBold"/>
                <a:ea typeface="Inter ExtraBold"/>
                <a:cs typeface="Inter ExtraBold"/>
                <a:sym typeface="Inter ExtraBold"/>
              </a:endParaRPr>
            </a:p>
          </p:txBody>
        </p:sp>
      </p:grpSp>
      <p:grpSp>
        <p:nvGrpSpPr>
          <p:cNvPr id="113" name="Google Shape;113;p15"/>
          <p:cNvGrpSpPr/>
          <p:nvPr/>
        </p:nvGrpSpPr>
        <p:grpSpPr>
          <a:xfrm>
            <a:off x="1371600" y="6572250"/>
            <a:ext cx="15544800" cy="2095500"/>
            <a:chOff x="1371600" y="6572250"/>
            <a:chExt cx="15544800" cy="2095500"/>
          </a:xfrm>
        </p:grpSpPr>
        <p:sp>
          <p:nvSpPr>
            <p:cNvPr id="114" name="Google Shape;114;p15"/>
            <p:cNvSpPr/>
            <p:nvPr/>
          </p:nvSpPr>
          <p:spPr>
            <a:xfrm>
              <a:off x="1371600" y="6572250"/>
              <a:ext cx="15544800" cy="2095500"/>
            </a:xfrm>
            <a:prstGeom prst="roundRect">
              <a:avLst>
                <a:gd fmla="val 9090" name="adj"/>
              </a:avLst>
            </a:prstGeom>
            <a:solidFill>
              <a:srgbClr val="0077CC">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txBox="1"/>
            <p:nvPr/>
          </p:nvSpPr>
          <p:spPr>
            <a:xfrm>
              <a:off x="1847850" y="6994779"/>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4800">
                  <a:solidFill>
                    <a:srgbClr val="0077CC"/>
                  </a:solidFill>
                  <a:latin typeface="Material Icons"/>
                  <a:ea typeface="Material Icons"/>
                  <a:cs typeface="Material Icons"/>
                  <a:sym typeface="Material Icons"/>
                </a:rPr>
                <a:t></a:t>
              </a:r>
              <a:endParaRPr sz="4800">
                <a:solidFill>
                  <a:srgbClr val="0077CC"/>
                </a:solidFill>
                <a:latin typeface="Material Icons"/>
                <a:ea typeface="Material Icons"/>
                <a:cs typeface="Material Icons"/>
                <a:sym typeface="Material Icons"/>
              </a:endParaRPr>
            </a:p>
          </p:txBody>
        </p:sp>
        <p:sp>
          <p:nvSpPr>
            <p:cNvPr id="116" name="Google Shape;116;p15"/>
            <p:cNvSpPr txBox="1"/>
            <p:nvPr/>
          </p:nvSpPr>
          <p:spPr>
            <a:xfrm>
              <a:off x="2857500" y="6762750"/>
              <a:ext cx="135828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Inter"/>
                  <a:ea typeface="Inter"/>
                  <a:cs typeface="Inter"/>
                  <a:sym typeface="Inter"/>
                </a:rPr>
                <a:t>Qué pasa en cada una, cuánto dura, qué necesitas del gobierno en cada momento.</a:t>
              </a:r>
              <a:endParaRPr b="0" sz="2400">
                <a:solidFill>
                  <a:srgbClr val="475569"/>
                </a:solidFill>
                <a:latin typeface="Inter"/>
                <a:ea typeface="Inter"/>
                <a:cs typeface="Inter"/>
                <a:sym typeface="Inter"/>
              </a:endParaRPr>
            </a:p>
            <a:p>
              <a:pPr indent="0" lvl="0" marL="0" rtl="0" algn="l">
                <a:spcBef>
                  <a:spcPts val="750"/>
                </a:spcBef>
                <a:spcAft>
                  <a:spcPts val="0"/>
                </a:spcAft>
                <a:buNone/>
              </a:pPr>
              <a:r>
                <a:rPr b="0" lang="en-US" sz="2400">
                  <a:solidFill>
                    <a:srgbClr val="475569"/>
                  </a:solidFill>
                  <a:latin typeface="Inter"/>
                  <a:ea typeface="Inter"/>
                  <a:cs typeface="Inter"/>
                  <a:sym typeface="Inter"/>
                </a:rPr>
                <a:t>Cada persona en la sala entiende en qué fase tendrá que </a:t>
              </a:r>
              <a:r>
                <a:rPr b="1" lang="en-US" sz="2400">
                  <a:solidFill>
                    <a:srgbClr val="0A0915"/>
                  </a:solidFill>
                  <a:latin typeface="Inter"/>
                  <a:ea typeface="Inter"/>
                  <a:cs typeface="Inter"/>
                  <a:sym typeface="Inter"/>
                </a:rPr>
                <a:t>tomar decisiones</a:t>
              </a:r>
              <a:r>
                <a:rPr b="0" lang="en-US" sz="2400">
                  <a:solidFill>
                    <a:srgbClr val="475569"/>
                  </a:solidFill>
                  <a:latin typeface="Inter"/>
                  <a:ea typeface="Inter"/>
                  <a:cs typeface="Inter"/>
                  <a:sym typeface="Inter"/>
                </a:rPr>
                <a:t> y qué tendrá que </a:t>
              </a:r>
              <a:r>
                <a:rPr b="1" lang="en-US" sz="2400">
                  <a:solidFill>
                    <a:srgbClr val="0077CC"/>
                  </a:solidFill>
                  <a:latin typeface="Inter"/>
                  <a:ea typeface="Inter"/>
                  <a:cs typeface="Inter"/>
                  <a:sym typeface="Inter"/>
                </a:rPr>
                <a:t>tener listo</a:t>
              </a:r>
              <a:r>
                <a:rPr b="0" lang="en-US" sz="2400">
                  <a:solidFill>
                    <a:srgbClr val="475569"/>
                  </a:solidFill>
                  <a:latin typeface="Inter"/>
                  <a:ea typeface="Inter"/>
                  <a:cs typeface="Inter"/>
                  <a:sym typeface="Inter"/>
                </a:rPr>
                <a:t>.</a:t>
              </a:r>
              <a:endParaRPr b="0" sz="2400">
                <a:solidFill>
                  <a:srgbClr val="475569"/>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1847850" y="2762250"/>
            <a:ext cx="145923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0077CC"/>
                </a:solidFill>
                <a:latin typeface="Inter"/>
                <a:ea typeface="Inter"/>
                <a:cs typeface="Inter"/>
                <a:sym typeface="Inter"/>
              </a:rPr>
              <a:t>El plan de trabajo</a:t>
            </a:r>
            <a:endParaRPr b="1" sz="2000">
              <a:solidFill>
                <a:srgbClr val="0077CC"/>
              </a:solidFill>
              <a:latin typeface="Inter"/>
              <a:ea typeface="Inter"/>
              <a:cs typeface="Inter"/>
              <a:sym typeface="Inter"/>
            </a:endParaRPr>
          </a:p>
        </p:txBody>
      </p:sp>
      <p:sp>
        <p:nvSpPr>
          <p:cNvPr id="125" name="Google Shape;125;p16"/>
          <p:cNvSpPr txBox="1"/>
          <p:nvPr/>
        </p:nvSpPr>
        <p:spPr>
          <a:xfrm>
            <a:off x="1847850" y="3524250"/>
            <a:ext cx="14592300" cy="1970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6400">
                <a:solidFill>
                  <a:srgbClr val="0A0915"/>
                </a:solidFill>
                <a:latin typeface="Inter ExtraBold"/>
                <a:ea typeface="Inter ExtraBold"/>
                <a:cs typeface="Inter ExtraBold"/>
                <a:sym typeface="Inter ExtraBold"/>
              </a:rPr>
              <a:t>Fechas, hitos y</a:t>
            </a:r>
            <a:endParaRPr b="0" sz="6400">
              <a:solidFill>
                <a:srgbClr val="0A0915"/>
              </a:solidFill>
              <a:latin typeface="Inter ExtraBold"/>
              <a:ea typeface="Inter ExtraBold"/>
              <a:cs typeface="Inter ExtraBold"/>
              <a:sym typeface="Inter ExtraBold"/>
            </a:endParaRPr>
          </a:p>
          <a:p>
            <a:pPr indent="0" lvl="0" marL="0" rtl="0" algn="ctr">
              <a:spcBef>
                <a:spcPts val="0"/>
              </a:spcBef>
              <a:spcAft>
                <a:spcPts val="0"/>
              </a:spcAft>
              <a:buNone/>
            </a:pPr>
            <a:r>
              <a:rPr b="0" lang="en-US" sz="6400">
                <a:solidFill>
                  <a:srgbClr val="0077CC"/>
                </a:solidFill>
                <a:latin typeface="Inter ExtraBold"/>
                <a:ea typeface="Inter ExtraBold"/>
                <a:cs typeface="Inter ExtraBold"/>
                <a:sym typeface="Inter ExtraBold"/>
              </a:rPr>
              <a:t>dependencias</a:t>
            </a:r>
            <a:endParaRPr b="0" sz="6400">
              <a:solidFill>
                <a:srgbClr val="0077CC"/>
              </a:solidFill>
              <a:latin typeface="Inter ExtraBold"/>
              <a:ea typeface="Inter ExtraBold"/>
              <a:cs typeface="Inter ExtraBold"/>
              <a:sym typeface="Inter ExtraBold"/>
            </a:endParaRPr>
          </a:p>
        </p:txBody>
      </p:sp>
      <p:sp>
        <p:nvSpPr>
          <p:cNvPr id="126" name="Google Shape;126;p16"/>
          <p:cNvSpPr/>
          <p:nvPr/>
        </p:nvSpPr>
        <p:spPr>
          <a:xfrm>
            <a:off x="1371600" y="6572250"/>
            <a:ext cx="15544800" cy="2095500"/>
          </a:xfrm>
          <a:prstGeom prst="roundRect">
            <a:avLst>
              <a:gd fmla="val 9090" name="adj"/>
            </a:avLst>
          </a:prstGeom>
          <a:solidFill>
            <a:srgbClr val="0077CC">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1847850" y="7309104"/>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800">
                <a:solidFill>
                  <a:srgbClr val="0077CC"/>
                </a:solidFill>
                <a:latin typeface="Material Icons"/>
                <a:ea typeface="Material Icons"/>
                <a:cs typeface="Material Icons"/>
                <a:sym typeface="Material Icons"/>
              </a:rPr>
              <a:t></a:t>
            </a:r>
            <a:endParaRPr b="0" sz="4800">
              <a:solidFill>
                <a:srgbClr val="0077CC"/>
              </a:solidFill>
              <a:latin typeface="Material Icons"/>
              <a:ea typeface="Material Icons"/>
              <a:cs typeface="Material Icons"/>
              <a:sym typeface="Material Icons"/>
            </a:endParaRPr>
          </a:p>
        </p:txBody>
      </p:sp>
      <p:sp>
        <p:nvSpPr>
          <p:cNvPr id="128" name="Google Shape;128;p16"/>
          <p:cNvSpPr txBox="1"/>
          <p:nvPr/>
        </p:nvSpPr>
        <p:spPr>
          <a:xfrm>
            <a:off x="2857500" y="6762750"/>
            <a:ext cx="13582800" cy="83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0">
                <a:solidFill>
                  <a:srgbClr val="475569"/>
                </a:solidFill>
                <a:latin typeface="Inter"/>
                <a:ea typeface="Inter"/>
                <a:cs typeface="Inter"/>
                <a:sym typeface="Inter"/>
              </a:rPr>
              <a:t>Idealmente un gantt o un cronograma equivalente. </a:t>
            </a:r>
            <a:r>
              <a:rPr b="1" lang="en-US" sz="2400">
                <a:solidFill>
                  <a:srgbClr val="0A0915"/>
                </a:solidFill>
                <a:latin typeface="Inter"/>
                <a:ea typeface="Inter"/>
                <a:cs typeface="Inter"/>
                <a:sym typeface="Inter"/>
              </a:rPr>
              <a:t>No es un documento decorativo:</a:t>
            </a:r>
            <a:endParaRPr b="0" sz="2400">
              <a:solidFill>
                <a:srgbClr val="475569"/>
              </a:solidFill>
              <a:latin typeface="Inter"/>
              <a:ea typeface="Inter"/>
              <a:cs typeface="Inter"/>
              <a:sym typeface="Inter"/>
            </a:endParaRPr>
          </a:p>
          <a:p>
            <a:pPr indent="0" lvl="0" marL="0" rtl="0" algn="l">
              <a:spcBef>
                <a:spcPts val="750"/>
              </a:spcBef>
              <a:spcAft>
                <a:spcPts val="0"/>
              </a:spcAft>
              <a:buNone/>
            </a:pPr>
            <a:r>
              <a:rPr b="0" lang="en-US" sz="2400">
                <a:solidFill>
                  <a:srgbClr val="475569"/>
                </a:solidFill>
                <a:latin typeface="Inter"/>
                <a:ea typeface="Inter"/>
                <a:cs typeface="Inter"/>
                <a:sym typeface="Inter"/>
              </a:rPr>
              <a:t>es la herramienta con la que vas a hacer </a:t>
            </a:r>
            <a:r>
              <a:rPr b="1" lang="en-US" sz="2400">
                <a:solidFill>
                  <a:srgbClr val="0077CC"/>
                </a:solidFill>
                <a:latin typeface="Inter"/>
                <a:ea typeface="Inter"/>
                <a:cs typeface="Inter"/>
                <a:sym typeface="Inter"/>
              </a:rPr>
              <a:t>seguimiento semanal</a:t>
            </a:r>
            <a:r>
              <a:rPr b="0" lang="en-US" sz="2400">
                <a:solidFill>
                  <a:srgbClr val="475569"/>
                </a:solidFill>
                <a:latin typeface="Inter"/>
                <a:ea typeface="Inter"/>
                <a:cs typeface="Inter"/>
                <a:sym typeface="Inter"/>
              </a:rPr>
              <a:t> hasta el go-live.</a:t>
            </a:r>
            <a:endParaRPr b="0" sz="2400">
              <a:solidFill>
                <a:srgbClr val="475569"/>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7"/>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7"/>
          <p:cNvSpPr txBox="1"/>
          <p:nvPr/>
        </p:nvSpPr>
        <p:spPr>
          <a:xfrm>
            <a:off x="1847850" y="2762250"/>
            <a:ext cx="145923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0077CC"/>
                </a:solidFill>
                <a:latin typeface="Inter"/>
                <a:ea typeface="Inter"/>
                <a:cs typeface="Inter"/>
                <a:sym typeface="Inter"/>
              </a:rPr>
              <a:t>El documento de requisitos</a:t>
            </a:r>
            <a:endParaRPr b="1" sz="2000">
              <a:solidFill>
                <a:srgbClr val="0077CC"/>
              </a:solidFill>
              <a:latin typeface="Inter"/>
              <a:ea typeface="Inter"/>
              <a:cs typeface="Inter"/>
              <a:sym typeface="Inter"/>
            </a:endParaRPr>
          </a:p>
        </p:txBody>
      </p:sp>
      <p:sp>
        <p:nvSpPr>
          <p:cNvPr id="137" name="Google Shape;137;p17"/>
          <p:cNvSpPr txBox="1"/>
          <p:nvPr/>
        </p:nvSpPr>
        <p:spPr>
          <a:xfrm>
            <a:off x="1847850" y="3524250"/>
            <a:ext cx="14592300" cy="1970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6400">
                <a:solidFill>
                  <a:srgbClr val="0A0915"/>
                </a:solidFill>
                <a:latin typeface="Inter ExtraBold"/>
                <a:ea typeface="Inter ExtraBold"/>
                <a:cs typeface="Inter ExtraBold"/>
                <a:sym typeface="Inter ExtraBold"/>
              </a:rPr>
              <a:t>Qué información</a:t>
            </a:r>
            <a:endParaRPr b="0" sz="6400">
              <a:solidFill>
                <a:srgbClr val="0A0915"/>
              </a:solidFill>
              <a:latin typeface="Inter ExtraBold"/>
              <a:ea typeface="Inter ExtraBold"/>
              <a:cs typeface="Inter ExtraBold"/>
              <a:sym typeface="Inter ExtraBold"/>
            </a:endParaRPr>
          </a:p>
          <a:p>
            <a:pPr indent="0" lvl="0" marL="0" rtl="0" algn="ctr">
              <a:spcBef>
                <a:spcPts val="0"/>
              </a:spcBef>
              <a:spcAft>
                <a:spcPts val="0"/>
              </a:spcAft>
              <a:buNone/>
            </a:pPr>
            <a:r>
              <a:rPr b="0" lang="en-US" sz="6400">
                <a:solidFill>
                  <a:srgbClr val="0077CC"/>
                </a:solidFill>
                <a:latin typeface="Inter ExtraBold"/>
                <a:ea typeface="Inter ExtraBold"/>
                <a:cs typeface="Inter ExtraBold"/>
                <a:sym typeface="Inter ExtraBold"/>
              </a:rPr>
              <a:t>preparar</a:t>
            </a:r>
            <a:endParaRPr b="0" sz="6400">
              <a:solidFill>
                <a:srgbClr val="0A0915"/>
              </a:solidFill>
              <a:latin typeface="Inter ExtraBold"/>
              <a:ea typeface="Inter ExtraBold"/>
              <a:cs typeface="Inter ExtraBold"/>
              <a:sym typeface="Inter ExtraBold"/>
            </a:endParaRPr>
          </a:p>
        </p:txBody>
      </p:sp>
      <p:sp>
        <p:nvSpPr>
          <p:cNvPr id="138" name="Google Shape;138;p17"/>
          <p:cNvSpPr/>
          <p:nvPr/>
        </p:nvSpPr>
        <p:spPr>
          <a:xfrm>
            <a:off x="1371600" y="6572250"/>
            <a:ext cx="15544800" cy="2095500"/>
          </a:xfrm>
          <a:prstGeom prst="roundRect">
            <a:avLst>
              <a:gd fmla="val 9090" name="adj"/>
            </a:avLst>
          </a:prstGeom>
          <a:solidFill>
            <a:srgbClr val="0077CC">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7"/>
          <p:cNvSpPr txBox="1"/>
          <p:nvPr/>
        </p:nvSpPr>
        <p:spPr>
          <a:xfrm>
            <a:off x="1847850" y="7309104"/>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800">
                <a:solidFill>
                  <a:srgbClr val="0077CC"/>
                </a:solidFill>
                <a:latin typeface="Material Icons"/>
                <a:ea typeface="Material Icons"/>
                <a:cs typeface="Material Icons"/>
                <a:sym typeface="Material Icons"/>
              </a:rPr>
              <a:t></a:t>
            </a:r>
            <a:endParaRPr b="0" sz="4800">
              <a:solidFill>
                <a:srgbClr val="0077CC"/>
              </a:solidFill>
              <a:latin typeface="Material Icons"/>
              <a:ea typeface="Material Icons"/>
              <a:cs typeface="Material Icons"/>
              <a:sym typeface="Material Icons"/>
            </a:endParaRPr>
          </a:p>
        </p:txBody>
      </p:sp>
      <p:sp>
        <p:nvSpPr>
          <p:cNvPr id="140" name="Google Shape;140;p17"/>
          <p:cNvSpPr txBox="1"/>
          <p:nvPr/>
        </p:nvSpPr>
        <p:spPr>
          <a:xfrm>
            <a:off x="2857500" y="6762750"/>
            <a:ext cx="13582800" cy="83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0">
                <a:solidFill>
                  <a:srgbClr val="475569"/>
                </a:solidFill>
                <a:latin typeface="Inter"/>
                <a:ea typeface="Inter"/>
                <a:cs typeface="Inter"/>
                <a:sym typeface="Inter"/>
              </a:rPr>
              <a:t>Datos de trámites, accesos, decisiones pendientes. </a:t>
            </a:r>
            <a:r>
              <a:rPr b="1" lang="en-US" sz="2400">
                <a:solidFill>
                  <a:srgbClr val="0A0915"/>
                </a:solidFill>
                <a:latin typeface="Inter"/>
                <a:ea typeface="Inter"/>
                <a:cs typeface="Inter"/>
                <a:sym typeface="Inter"/>
              </a:rPr>
              <a:t>No basta con dárselo:</a:t>
            </a:r>
            <a:endParaRPr b="0" sz="2400">
              <a:solidFill>
                <a:srgbClr val="475569"/>
              </a:solidFill>
              <a:latin typeface="Inter"/>
              <a:ea typeface="Inter"/>
              <a:cs typeface="Inter"/>
              <a:sym typeface="Inter"/>
            </a:endParaRPr>
          </a:p>
          <a:p>
            <a:pPr indent="0" lvl="0" marL="0" rtl="0" algn="l">
              <a:spcBef>
                <a:spcPts val="750"/>
              </a:spcBef>
              <a:spcAft>
                <a:spcPts val="0"/>
              </a:spcAft>
              <a:buNone/>
            </a:pPr>
            <a:r>
              <a:rPr b="0" lang="en-US" sz="2400">
                <a:solidFill>
                  <a:srgbClr val="475569"/>
                </a:solidFill>
                <a:latin typeface="Inter"/>
                <a:ea typeface="Inter"/>
                <a:cs typeface="Inter"/>
                <a:sym typeface="Inter"/>
              </a:rPr>
              <a:t>tienes que </a:t>
            </a:r>
            <a:r>
              <a:rPr b="1" lang="en-US" sz="2400">
                <a:solidFill>
                  <a:srgbClr val="0077CC"/>
                </a:solidFill>
                <a:latin typeface="Inter"/>
                <a:ea typeface="Inter"/>
                <a:cs typeface="Inter"/>
                <a:sym typeface="Inter"/>
              </a:rPr>
              <a:t>explicárselo</a:t>
            </a:r>
            <a:r>
              <a:rPr b="0" lang="en-US" sz="2400">
                <a:solidFill>
                  <a:srgbClr val="475569"/>
                </a:solidFill>
                <a:latin typeface="Inter"/>
                <a:ea typeface="Inter"/>
                <a:cs typeface="Inter"/>
                <a:sym typeface="Inter"/>
              </a:rPr>
              <a:t> y agendar cuándo lo vas a revisar.</a:t>
            </a:r>
            <a:endParaRPr b="0" sz="2400">
              <a:solidFill>
                <a:srgbClr val="475569"/>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8"/>
          <p:cNvSpPr txBox="1"/>
          <p:nvPr/>
        </p:nvSpPr>
        <p:spPr>
          <a:xfrm>
            <a:off x="1847850" y="2762250"/>
            <a:ext cx="145923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2000">
                <a:solidFill>
                  <a:srgbClr val="0077CC"/>
                </a:solidFill>
                <a:latin typeface="Inter"/>
                <a:ea typeface="Inter"/>
                <a:cs typeface="Inter"/>
                <a:sym typeface="Inter"/>
              </a:rPr>
              <a:t>Trámites candidatos</a:t>
            </a:r>
            <a:endParaRPr b="1" i="0" sz="2000">
              <a:solidFill>
                <a:srgbClr val="0077CC"/>
              </a:solidFill>
              <a:latin typeface="Inter"/>
              <a:ea typeface="Inter"/>
              <a:cs typeface="Inter"/>
              <a:sym typeface="Inter"/>
            </a:endParaRPr>
          </a:p>
        </p:txBody>
      </p:sp>
      <p:sp>
        <p:nvSpPr>
          <p:cNvPr id="149" name="Google Shape;149;p18"/>
          <p:cNvSpPr txBox="1"/>
          <p:nvPr/>
        </p:nvSpPr>
        <p:spPr>
          <a:xfrm>
            <a:off x="1847850" y="3524250"/>
            <a:ext cx="14592300" cy="1970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0" lang="en-US" sz="6400">
                <a:solidFill>
                  <a:srgbClr val="0A0915"/>
                </a:solidFill>
                <a:latin typeface="Inter ExtraBold"/>
                <a:ea typeface="Inter ExtraBold"/>
                <a:cs typeface="Inter ExtraBold"/>
                <a:sym typeface="Inter ExtraBold"/>
              </a:rPr>
              <a:t>Ellos proponen, tú</a:t>
            </a:r>
            <a:endParaRPr b="0" i="0" sz="6400">
              <a:solidFill>
                <a:srgbClr val="0A0915"/>
              </a:solidFill>
              <a:latin typeface="Inter ExtraBold"/>
              <a:ea typeface="Inter ExtraBold"/>
              <a:cs typeface="Inter ExtraBold"/>
              <a:sym typeface="Inter ExtraBold"/>
            </a:endParaRPr>
          </a:p>
          <a:p>
            <a:pPr indent="0" lvl="0" marL="0" rtl="0" algn="ctr">
              <a:spcBef>
                <a:spcPts val="0"/>
              </a:spcBef>
              <a:spcAft>
                <a:spcPts val="0"/>
              </a:spcAft>
              <a:buNone/>
            </a:pPr>
            <a:r>
              <a:rPr b="0" i="0" lang="en-US" sz="6400">
                <a:solidFill>
                  <a:srgbClr val="0077CC"/>
                </a:solidFill>
                <a:latin typeface="Inter ExtraBold"/>
                <a:ea typeface="Inter ExtraBold"/>
                <a:cs typeface="Inter ExtraBold"/>
                <a:sym typeface="Inter ExtraBold"/>
              </a:rPr>
              <a:t>priorizas</a:t>
            </a:r>
            <a:r>
              <a:rPr b="0" i="0" lang="en-US" sz="6400">
                <a:solidFill>
                  <a:srgbClr val="0A0915"/>
                </a:solidFill>
                <a:latin typeface="Inter ExtraBold"/>
                <a:ea typeface="Inter ExtraBold"/>
                <a:cs typeface="Inter ExtraBold"/>
                <a:sym typeface="Inter ExtraBold"/>
              </a:rPr>
              <a:t> en Fase B</a:t>
            </a:r>
            <a:endParaRPr b="0" i="0" sz="6400">
              <a:solidFill>
                <a:srgbClr val="0A0915"/>
              </a:solidFill>
              <a:latin typeface="Inter ExtraBold"/>
              <a:ea typeface="Inter ExtraBold"/>
              <a:cs typeface="Inter ExtraBold"/>
              <a:sym typeface="Inter ExtraBold"/>
            </a:endParaRPr>
          </a:p>
        </p:txBody>
      </p:sp>
      <p:sp>
        <p:nvSpPr>
          <p:cNvPr id="150" name="Google Shape;150;p18"/>
          <p:cNvSpPr/>
          <p:nvPr/>
        </p:nvSpPr>
        <p:spPr>
          <a:xfrm>
            <a:off x="1371600" y="6572250"/>
            <a:ext cx="15544800" cy="2095500"/>
          </a:xfrm>
          <a:prstGeom prst="roundRect">
            <a:avLst>
              <a:gd fmla="val 9089" name="adj"/>
            </a:avLst>
          </a:prstGeom>
          <a:solidFill>
            <a:srgbClr val="0077CC">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8"/>
          <p:cNvSpPr txBox="1"/>
          <p:nvPr/>
        </p:nvSpPr>
        <p:spPr>
          <a:xfrm>
            <a:off x="1847850" y="7379208"/>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US" sz="4800">
                <a:solidFill>
                  <a:srgbClr val="0077CC"/>
                </a:solidFill>
                <a:latin typeface="Material Icons"/>
                <a:ea typeface="Material Icons"/>
                <a:cs typeface="Material Icons"/>
                <a:sym typeface="Material Icons"/>
              </a:rPr>
              <a:t></a:t>
            </a:r>
            <a:endParaRPr b="0" i="0" sz="4800">
              <a:solidFill>
                <a:srgbClr val="0077CC"/>
              </a:solidFill>
              <a:latin typeface="Material Icons"/>
              <a:ea typeface="Material Icons"/>
              <a:cs typeface="Material Icons"/>
              <a:sym typeface="Material Icons"/>
            </a:endParaRPr>
          </a:p>
        </p:txBody>
      </p:sp>
      <p:sp>
        <p:nvSpPr>
          <p:cNvPr id="152" name="Google Shape;152;p18"/>
          <p:cNvSpPr txBox="1"/>
          <p:nvPr/>
        </p:nvSpPr>
        <p:spPr>
          <a:xfrm>
            <a:off x="2857500" y="6762750"/>
            <a:ext cx="13582800" cy="83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i="0" lang="en-US" sz="2400">
                <a:solidFill>
                  <a:srgbClr val="475569"/>
                </a:solidFill>
                <a:latin typeface="Inter"/>
                <a:ea typeface="Inter"/>
                <a:cs typeface="Inter"/>
                <a:sym typeface="Inter"/>
              </a:rPr>
              <a:t>Pides al gobierno que arme una primera lista de trámites. </a:t>
            </a:r>
            <a:r>
              <a:rPr b="1" i="0" lang="en-US" sz="2400">
                <a:solidFill>
                  <a:srgbClr val="0A0915"/>
                </a:solidFill>
                <a:latin typeface="Inter"/>
                <a:ea typeface="Inter"/>
                <a:cs typeface="Inter"/>
                <a:sym typeface="Inter"/>
              </a:rPr>
              <a:t>Sin presiones inmediatas:</a:t>
            </a:r>
            <a:endParaRPr b="0" i="0" sz="2400">
              <a:solidFill>
                <a:srgbClr val="475569"/>
              </a:solidFill>
              <a:latin typeface="Inter"/>
              <a:ea typeface="Inter"/>
              <a:cs typeface="Inter"/>
              <a:sym typeface="Inter"/>
            </a:endParaRPr>
          </a:p>
          <a:p>
            <a:pPr indent="0" lvl="0" marL="0" rtl="0" algn="l">
              <a:spcBef>
                <a:spcPts val="750"/>
              </a:spcBef>
              <a:spcAft>
                <a:spcPts val="0"/>
              </a:spcAft>
              <a:buNone/>
            </a:pPr>
            <a:r>
              <a:rPr b="0" i="0" lang="en-US" sz="2400">
                <a:solidFill>
                  <a:srgbClr val="475569"/>
                </a:solidFill>
                <a:latin typeface="Inter"/>
                <a:ea typeface="Inter"/>
                <a:cs typeface="Inter"/>
                <a:sym typeface="Inter"/>
              </a:rPr>
              <a:t>el objetivo es </a:t>
            </a:r>
            <a:r>
              <a:rPr b="1" i="0" lang="en-US" sz="2400">
                <a:solidFill>
                  <a:srgbClr val="0077CC"/>
                </a:solidFill>
                <a:latin typeface="Inter"/>
                <a:ea typeface="Inter"/>
                <a:cs typeface="Inter"/>
                <a:sym typeface="Inter"/>
              </a:rPr>
              <a:t>tener la lista</a:t>
            </a:r>
            <a:r>
              <a:rPr b="0" i="0" lang="en-US" sz="2400">
                <a:solidFill>
                  <a:srgbClr val="475569"/>
                </a:solidFill>
                <a:latin typeface="Inter"/>
                <a:ea typeface="Inter"/>
                <a:cs typeface="Inter"/>
                <a:sym typeface="Inter"/>
              </a:rPr>
              <a:t> para empezar a decidir.</a:t>
            </a:r>
            <a:endParaRPr b="0" i="0" sz="2400">
              <a:solidFill>
                <a:srgbClr val="475569"/>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9"/>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9"/>
          <p:cNvSpPr txBox="1"/>
          <p:nvPr/>
        </p:nvSpPr>
        <p:spPr>
          <a:xfrm>
            <a:off x="1847850" y="2762250"/>
            <a:ext cx="145923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0077CC"/>
                </a:solidFill>
                <a:latin typeface="Inter"/>
                <a:ea typeface="Inter"/>
                <a:cs typeface="Inter"/>
                <a:sym typeface="Inter"/>
              </a:rPr>
              <a:t>Antes de cerrar</a:t>
            </a:r>
            <a:endParaRPr b="1" sz="2000">
              <a:solidFill>
                <a:srgbClr val="0077CC"/>
              </a:solidFill>
              <a:latin typeface="Inter"/>
              <a:ea typeface="Inter"/>
              <a:cs typeface="Inter"/>
              <a:sym typeface="Inter"/>
            </a:endParaRPr>
          </a:p>
        </p:txBody>
      </p:sp>
      <p:sp>
        <p:nvSpPr>
          <p:cNvPr id="161" name="Google Shape;161;p19"/>
          <p:cNvSpPr txBox="1"/>
          <p:nvPr/>
        </p:nvSpPr>
        <p:spPr>
          <a:xfrm>
            <a:off x="1847850" y="3524250"/>
            <a:ext cx="14592300" cy="1970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6400">
                <a:solidFill>
                  <a:srgbClr val="0A0915"/>
                </a:solidFill>
                <a:latin typeface="Inter ExtraBold"/>
                <a:ea typeface="Inter ExtraBold"/>
                <a:cs typeface="Inter ExtraBold"/>
                <a:sym typeface="Inter ExtraBold"/>
              </a:rPr>
              <a:t>Agendar las</a:t>
            </a:r>
            <a:endParaRPr b="0" sz="6400">
              <a:solidFill>
                <a:srgbClr val="0A0915"/>
              </a:solidFill>
              <a:latin typeface="Inter ExtraBold"/>
              <a:ea typeface="Inter ExtraBold"/>
              <a:cs typeface="Inter ExtraBold"/>
              <a:sym typeface="Inter ExtraBold"/>
            </a:endParaRPr>
          </a:p>
          <a:p>
            <a:pPr indent="0" lvl="0" marL="0" rtl="0" algn="ctr">
              <a:spcBef>
                <a:spcPts val="0"/>
              </a:spcBef>
              <a:spcAft>
                <a:spcPts val="0"/>
              </a:spcAft>
              <a:buNone/>
            </a:pPr>
            <a:r>
              <a:rPr b="0" lang="en-US" sz="6400">
                <a:solidFill>
                  <a:srgbClr val="0077CC"/>
                </a:solidFill>
                <a:latin typeface="Inter ExtraBold"/>
                <a:ea typeface="Inter ExtraBold"/>
                <a:cs typeface="Inter ExtraBold"/>
                <a:sym typeface="Inter ExtraBold"/>
              </a:rPr>
              <a:t>próximas reuniones</a:t>
            </a:r>
            <a:endParaRPr b="0" sz="6400">
              <a:solidFill>
                <a:srgbClr val="0077CC"/>
              </a:solidFill>
              <a:latin typeface="Inter ExtraBold"/>
              <a:ea typeface="Inter ExtraBold"/>
              <a:cs typeface="Inter ExtraBold"/>
              <a:sym typeface="Inter ExtraBold"/>
            </a:endParaRPr>
          </a:p>
        </p:txBody>
      </p:sp>
      <p:sp>
        <p:nvSpPr>
          <p:cNvPr id="162" name="Google Shape;162;p19"/>
          <p:cNvSpPr/>
          <p:nvPr/>
        </p:nvSpPr>
        <p:spPr>
          <a:xfrm>
            <a:off x="1371600" y="6572250"/>
            <a:ext cx="15544800" cy="2095500"/>
          </a:xfrm>
          <a:prstGeom prst="roundRect">
            <a:avLst>
              <a:gd fmla="val 9090" name="adj"/>
            </a:avLst>
          </a:prstGeom>
          <a:solidFill>
            <a:srgbClr val="0077CC">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9"/>
          <p:cNvSpPr txBox="1"/>
          <p:nvPr/>
        </p:nvSpPr>
        <p:spPr>
          <a:xfrm>
            <a:off x="1847850" y="7309104"/>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920">
                <a:solidFill>
                  <a:srgbClr val="0077CC"/>
                </a:solidFill>
                <a:latin typeface="Material Icons"/>
                <a:ea typeface="Material Icons"/>
                <a:cs typeface="Material Icons"/>
                <a:sym typeface="Material Icons"/>
              </a:rPr>
              <a:t>event_upcoming</a:t>
            </a:r>
            <a:endParaRPr b="0" sz="1920">
              <a:solidFill>
                <a:srgbClr val="0077CC"/>
              </a:solidFill>
              <a:latin typeface="Material Icons"/>
              <a:ea typeface="Material Icons"/>
              <a:cs typeface="Material Icons"/>
              <a:sym typeface="Material Icons"/>
            </a:endParaRPr>
          </a:p>
        </p:txBody>
      </p:sp>
      <p:sp>
        <p:nvSpPr>
          <p:cNvPr id="164" name="Google Shape;164;p19"/>
          <p:cNvSpPr txBox="1"/>
          <p:nvPr/>
        </p:nvSpPr>
        <p:spPr>
          <a:xfrm>
            <a:off x="2857500" y="6905625"/>
            <a:ext cx="13335000" cy="83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0">
                <a:solidFill>
                  <a:srgbClr val="475569"/>
                </a:solidFill>
                <a:latin typeface="Inter"/>
                <a:ea typeface="Inter"/>
                <a:cs typeface="Inter"/>
                <a:sym typeface="Inter"/>
              </a:rPr>
              <a:t>Las capacitaciones de Fase B </a:t>
            </a:r>
            <a:r>
              <a:rPr b="1" lang="en-US" sz="2400">
                <a:solidFill>
                  <a:srgbClr val="0A0915"/>
                </a:solidFill>
                <a:latin typeface="Inter"/>
                <a:ea typeface="Inter"/>
                <a:cs typeface="Inter"/>
                <a:sym typeface="Inter"/>
              </a:rPr>
              <a:t>no se agendan en Fase B:</a:t>
            </a:r>
            <a:endParaRPr b="0" sz="2400">
              <a:solidFill>
                <a:srgbClr val="475569"/>
              </a:solidFill>
              <a:latin typeface="Inter"/>
              <a:ea typeface="Inter"/>
              <a:cs typeface="Inter"/>
              <a:sym typeface="Inter"/>
            </a:endParaRPr>
          </a:p>
          <a:p>
            <a:pPr indent="0" lvl="0" marL="0" rtl="0" algn="l">
              <a:spcBef>
                <a:spcPts val="750"/>
              </a:spcBef>
              <a:spcAft>
                <a:spcPts val="0"/>
              </a:spcAft>
              <a:buNone/>
            </a:pPr>
            <a:r>
              <a:rPr b="0" lang="en-US" sz="2400">
                <a:solidFill>
                  <a:srgbClr val="475569"/>
                </a:solidFill>
                <a:latin typeface="Inter"/>
                <a:ea typeface="Inter"/>
                <a:cs typeface="Inter"/>
                <a:sym typeface="Inter"/>
              </a:rPr>
              <a:t>se agendan ahora, mientras </a:t>
            </a:r>
            <a:r>
              <a:rPr b="1" lang="en-US" sz="2400">
                <a:solidFill>
                  <a:srgbClr val="0077CC"/>
                </a:solidFill>
                <a:latin typeface="Inter"/>
                <a:ea typeface="Inter"/>
                <a:cs typeface="Inter"/>
                <a:sym typeface="Inter"/>
              </a:rPr>
              <a:t>todos están en la misma sala.</a:t>
            </a:r>
            <a:endParaRPr b="0" sz="2400">
              <a:solidFill>
                <a:srgbClr val="475569"/>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p:nvPr/>
        </p:nvSpPr>
        <p:spPr>
          <a:xfrm>
            <a:off x="0" y="0"/>
            <a:ext cx="18288000" cy="102870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20"/>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La metodología deja de ser teórica</a:t>
            </a:r>
            <a:endParaRPr/>
          </a:p>
        </p:txBody>
      </p:sp>
      <p:sp>
        <p:nvSpPr>
          <p:cNvPr id="172" name="Google Shape;172;p20"/>
          <p:cNvSpPr txBox="1"/>
          <p:nvPr/>
        </p:nvSpPr>
        <p:spPr>
          <a:xfrm>
            <a:off x="1371600" y="4754880"/>
            <a:ext cx="15544800" cy="2286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cuando el gobierno sabe</a:t>
            </a:r>
            <a:endParaRPr/>
          </a:p>
        </p:txBody>
      </p:sp>
      <p:sp>
        <p:nvSpPr>
          <p:cNvPr id="173" name="Google Shape;173;p20"/>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qué tiene que preparar para la semana que viene.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