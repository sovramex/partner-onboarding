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10287000" cx="18288000"/>
  <p:notesSz cx="6858000" cy="9144000"/>
  <p:embeddedFontLst>
    <p:embeddedFont>
      <p:font typeface="Inter"/>
      <p:regular r:id="rId12"/>
      <p:bold r:id="rId13"/>
      <p:italic r:id="rId14"/>
      <p:boldItalic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Inter-bold.fntdata"/><Relationship Id="rId12" Type="http://schemas.openxmlformats.org/officeDocument/2006/relationships/font" Target="fonts/Inter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Inter-boldItalic.fntdata"/><Relationship Id="rId14" Type="http://schemas.openxmlformats.org/officeDocument/2006/relationships/font" Target="fonts/Inter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12.4s · 31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Hay un entregable de la Fase A que parece administrativo y termina siendo el blocker más silencioso de toda la implementación: la solicitud de dominio al equipo de TI del gobierno.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16.8s · 42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equipo de TI del gobierno puede tardar entre dos y cuatro semanas en responder. A veces más. No depende de ti, no depende del dueño del proyecto, no depende del coordinador. Depende de un proceso interno que tiene sus propios tiempos.</a:t>
            </a:r>
            <a:endParaRPr/>
          </a:p>
        </p:txBody>
      </p:sp>
      <p:sp>
        <p:nvSpPr>
          <p:cNvPr id="92" name="Google Shape;92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9" name="Google Shape;109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13.6s · 34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Por eso la regla es clara: pide el dominio el día uno. No la semana seis. No cuando ya estés probando integraciones. Día uno. La solicitud sale durante la reunión tres, la de metodología.</a:t>
            </a:r>
            <a:endParaRPr/>
          </a:p>
        </p:txBody>
      </p:sp>
      <p:sp>
        <p:nvSpPr>
          <p:cNvPr id="110" name="Google Shape;110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4" name="Google Shape;124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15.6s · 39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técnico del gobierno se lleva la tarea, con deadline explícito a fin de la semana dos. Tu trabajo, desde ese momento, es hacer seguimiento semanal. No agresivo, pero constante. Una pregunta corta cada lunes hasta que esté resuelto.</a:t>
            </a:r>
            <a:endParaRPr/>
          </a:p>
        </p:txBody>
      </p:sp>
      <p:sp>
        <p:nvSpPr>
          <p:cNvPr id="125" name="Google Shape;125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1" name="Google Shape;141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22.0s · 55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Si llegas a Fase D sin dominio resuelto, no puedes lanzar. Es así de simple. Y el costo de no tenerlo no es técnico: es político. Vas a tener que explicarle al gobierno por qué no hay go-live, y la respuesta TI todavía no asignó el dominio no funciona cuando ya estás en semana diez.</a:t>
            </a:r>
            <a:endParaRPr/>
          </a:p>
        </p:txBody>
      </p:sp>
      <p:sp>
        <p:nvSpPr>
          <p:cNvPr id="142" name="Google Shape;142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2" name="Google Shape;152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9.6s · 24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dominio se pide el día uno. Cada semana que pasa sin pedirlo es una semana que se le suma al final del proyecto.</a:t>
            </a:r>
            <a:endParaRPr/>
          </a:p>
        </p:txBody>
      </p:sp>
      <p:sp>
        <p:nvSpPr>
          <p:cNvPr id="153" name="Google Shape;153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371600" y="3200400"/>
            <a:ext cx="15544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FASE A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371600" y="3840480"/>
            <a:ext cx="15544800" cy="25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El dominio,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el día uno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371600" y="6517900"/>
            <a:ext cx="155448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rPr>
              <a:t>Parece administrativo. Es el blocker más silencioso de toda la implementación.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1371600" y="952500"/>
            <a:ext cx="15544800" cy="307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Los tiempos</a:t>
            </a:r>
            <a:endParaRPr b="1" i="0" sz="2000">
              <a:solidFill>
                <a:srgbClr val="0077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1371600" y="1619250"/>
            <a:ext cx="9525000" cy="1527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96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Entre dos y cuatro semanas,</a:t>
            </a:r>
            <a:endParaRPr b="1" i="0" sz="496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96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a veces más</a:t>
            </a:r>
            <a:endParaRPr b="1" i="0" sz="4960">
              <a:solidFill>
                <a:srgbClr val="0077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97" name="Google Shape;97;p14"/>
          <p:cNvGrpSpPr/>
          <p:nvPr/>
        </p:nvGrpSpPr>
        <p:grpSpPr>
          <a:xfrm>
            <a:off x="1371600" y="4191000"/>
            <a:ext cx="7620000" cy="1143000"/>
            <a:chOff x="1371600" y="4191000"/>
            <a:chExt cx="7620000" cy="1143000"/>
          </a:xfrm>
        </p:grpSpPr>
        <p:sp>
          <p:nvSpPr>
            <p:cNvPr id="98" name="Google Shape;98;p14"/>
            <p:cNvSpPr/>
            <p:nvPr/>
          </p:nvSpPr>
          <p:spPr>
            <a:xfrm>
              <a:off x="1371600" y="4191000"/>
              <a:ext cx="7620000" cy="1143000"/>
            </a:xfrm>
            <a:prstGeom prst="roundRect">
              <a:avLst>
                <a:gd fmla="val 50000" name="adj"/>
              </a:avLst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" name="Google Shape;99;p14"/>
            <p:cNvSpPr/>
            <p:nvPr/>
          </p:nvSpPr>
          <p:spPr>
            <a:xfrm>
              <a:off x="1371600" y="4191000"/>
              <a:ext cx="4762500" cy="1143000"/>
            </a:xfrm>
            <a:prstGeom prst="roundRect">
              <a:avLst>
                <a:gd fmla="val 50000" name="adj"/>
              </a:avLst>
            </a:prstGeom>
            <a:solidFill>
              <a:srgbClr val="0077C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14"/>
            <p:cNvSpPr txBox="1"/>
            <p:nvPr/>
          </p:nvSpPr>
          <p:spPr>
            <a:xfrm>
              <a:off x="1371600" y="4191000"/>
              <a:ext cx="47625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2-4 Semanas</a:t>
              </a:r>
              <a:endParaRPr b="1" sz="3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1" name="Google Shape;101;p14"/>
            <p:cNvSpPr txBox="1"/>
            <p:nvPr/>
          </p:nvSpPr>
          <p:spPr>
            <a:xfrm>
              <a:off x="6286500" y="4191000"/>
              <a:ext cx="27051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Incertidumbre</a:t>
              </a:r>
              <a:endParaRPr b="1" sz="24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02" name="Google Shape;102;p14"/>
          <p:cNvSpPr/>
          <p:nvPr/>
        </p:nvSpPr>
        <p:spPr>
          <a:xfrm>
            <a:off x="1371600" y="6096000"/>
            <a:ext cx="15544800" cy="2857500"/>
          </a:xfrm>
          <a:prstGeom prst="roundRect">
            <a:avLst>
              <a:gd fmla="val 13333" name="adj"/>
            </a:avLst>
          </a:prstGeom>
          <a:solidFill>
            <a:srgbClr val="F8FAFC"/>
          </a:solidFill>
          <a:ln cap="flat" cmpd="sng" w="190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2324100" y="6572250"/>
            <a:ext cx="13639800" cy="105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No depende de ti, ni del dueño del proyecto, ni del coordinador.</a:t>
            </a:r>
            <a:endParaRPr b="0" i="0" sz="2800"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1" i="0" lang="en-US" sz="2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Depende de un proceso interno de TI con sus propios tiempos.</a:t>
            </a:r>
            <a:endParaRPr b="1" i="0" sz="280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04" name="Google Shape;104;p14"/>
          <p:cNvGrpSpPr/>
          <p:nvPr/>
        </p:nvGrpSpPr>
        <p:grpSpPr>
          <a:xfrm>
            <a:off x="15621000" y="6953250"/>
            <a:ext cx="1143000" cy="1143000"/>
            <a:chOff x="15621000" y="6953250"/>
            <a:chExt cx="1143000" cy="1143000"/>
          </a:xfrm>
        </p:grpSpPr>
        <p:sp>
          <p:nvSpPr>
            <p:cNvPr id="105" name="Google Shape;105;p14"/>
            <p:cNvSpPr/>
            <p:nvPr/>
          </p:nvSpPr>
          <p:spPr>
            <a:xfrm>
              <a:off x="15621000" y="6953250"/>
              <a:ext cx="1143000" cy="1143000"/>
            </a:xfrm>
            <a:prstGeom prst="ellipse">
              <a:avLst/>
            </a:prstGeom>
            <a:solidFill>
              <a:srgbClr val="0077CC">
                <a:alpha val="1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" name="Google Shape;106;p14"/>
            <p:cNvSpPr txBox="1"/>
            <p:nvPr/>
          </p:nvSpPr>
          <p:spPr>
            <a:xfrm>
              <a:off x="15811500" y="7213854"/>
              <a:ext cx="762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800">
                  <a:solidFill>
                    <a:srgbClr val="0077CC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</a:t>
              </a:r>
              <a:endParaRPr sz="4800">
                <a:solidFill>
                  <a:srgbClr val="0077CC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1371600" y="952500"/>
            <a:ext cx="15544800" cy="738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La regla es clara</a:t>
            </a:r>
            <a:endParaRPr b="1" i="0" sz="480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14" name="Google Shape;114;p15"/>
          <p:cNvGrpSpPr/>
          <p:nvPr/>
        </p:nvGrpSpPr>
        <p:grpSpPr>
          <a:xfrm>
            <a:off x="1828800" y="3048000"/>
            <a:ext cx="6400800" cy="4572000"/>
            <a:chOff x="1828800" y="3048000"/>
            <a:chExt cx="6400800" cy="4572000"/>
          </a:xfrm>
        </p:grpSpPr>
        <p:sp>
          <p:nvSpPr>
            <p:cNvPr id="115" name="Google Shape;115;p15"/>
            <p:cNvSpPr/>
            <p:nvPr/>
          </p:nvSpPr>
          <p:spPr>
            <a:xfrm>
              <a:off x="1828800" y="3048000"/>
              <a:ext cx="6400800" cy="4572000"/>
            </a:xfrm>
            <a:prstGeom prst="roundRect">
              <a:avLst>
                <a:gd fmla="val 8333" name="adj"/>
              </a:avLst>
            </a:prstGeom>
            <a:solidFill>
              <a:srgbClr val="FEF2F2"/>
            </a:solidFill>
            <a:ln cap="flat" cmpd="sng" w="19050">
              <a:solidFill>
                <a:srgbClr val="FEE2E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5"/>
            <p:cNvSpPr txBox="1"/>
            <p:nvPr/>
          </p:nvSpPr>
          <p:spPr>
            <a:xfrm>
              <a:off x="2286000" y="3522472"/>
              <a:ext cx="952500" cy="952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20">
                  <a:solidFill>
                    <a:srgbClr val="DC262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</a:t>
              </a:r>
              <a:endParaRPr sz="5920">
                <a:solidFill>
                  <a:srgbClr val="DC262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17" name="Google Shape;117;p15"/>
            <p:cNvSpPr txBox="1"/>
            <p:nvPr/>
          </p:nvSpPr>
          <p:spPr>
            <a:xfrm>
              <a:off x="2286000" y="4476750"/>
              <a:ext cx="5486400" cy="2857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6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La semana seis</a:t>
              </a:r>
              <a:endParaRPr b="1" sz="36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20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Cuando ya estás probando integraciones.</a:t>
              </a:r>
              <a:endParaRPr b="0" sz="2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18" name="Google Shape;118;p15"/>
          <p:cNvGrpSpPr/>
          <p:nvPr/>
        </p:nvGrpSpPr>
        <p:grpSpPr>
          <a:xfrm>
            <a:off x="10058400" y="3048000"/>
            <a:ext cx="6400800" cy="4572000"/>
            <a:chOff x="10058400" y="3048000"/>
            <a:chExt cx="6400800" cy="4572000"/>
          </a:xfrm>
        </p:grpSpPr>
        <p:sp>
          <p:nvSpPr>
            <p:cNvPr id="119" name="Google Shape;119;p15"/>
            <p:cNvSpPr/>
            <p:nvPr/>
          </p:nvSpPr>
          <p:spPr>
            <a:xfrm>
              <a:off x="10058400" y="3048000"/>
              <a:ext cx="6400800" cy="4572000"/>
            </a:xfrm>
            <a:prstGeom prst="roundRect">
              <a:avLst>
                <a:gd fmla="val 8333" name="adj"/>
              </a:avLst>
            </a:prstGeom>
            <a:solidFill>
              <a:srgbClr val="ECFDF5"/>
            </a:solidFill>
            <a:ln cap="flat" cmpd="sng" w="19050">
              <a:solidFill>
                <a:srgbClr val="A7F3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5"/>
            <p:cNvSpPr txBox="1"/>
            <p:nvPr/>
          </p:nvSpPr>
          <p:spPr>
            <a:xfrm>
              <a:off x="10515600" y="3522472"/>
              <a:ext cx="952500" cy="952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20">
                  <a:solidFill>
                    <a:srgbClr val="10B981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</a:t>
              </a:r>
              <a:endParaRPr sz="5920">
                <a:solidFill>
                  <a:srgbClr val="10B981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21" name="Google Shape;121;p15"/>
            <p:cNvSpPr txBox="1"/>
            <p:nvPr/>
          </p:nvSpPr>
          <p:spPr>
            <a:xfrm>
              <a:off x="10515600" y="4476750"/>
              <a:ext cx="5486400" cy="2857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6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Día uno</a:t>
              </a:r>
              <a:endParaRPr b="1" sz="36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20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La solicitud sale durante la reunión de metodología.</a:t>
              </a:r>
              <a:endParaRPr b="0" sz="2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6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16"/>
          <p:cNvSpPr txBox="1"/>
          <p:nvPr/>
        </p:nvSpPr>
        <p:spPr>
          <a:xfrm>
            <a:off x="1371600" y="952500"/>
            <a:ext cx="15544800" cy="307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Quién y cuándo</a:t>
            </a:r>
            <a:endParaRPr b="1" i="0" sz="2000">
              <a:solidFill>
                <a:srgbClr val="0077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9" name="Google Shape;129;p16"/>
          <p:cNvSpPr txBox="1"/>
          <p:nvPr/>
        </p:nvSpPr>
        <p:spPr>
          <a:xfrm>
            <a:off x="1371600" y="1619250"/>
            <a:ext cx="9525000" cy="1192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75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El técnico del gobierno se lleva la tarea,</a:t>
            </a:r>
            <a:endParaRPr b="1" i="0" sz="3875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75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con deadline a fin de semana dos</a:t>
            </a:r>
            <a:endParaRPr b="1" i="0" sz="3875">
              <a:solidFill>
                <a:srgbClr val="0077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0" name="Google Shape;130;p16"/>
          <p:cNvSpPr/>
          <p:nvPr/>
        </p:nvSpPr>
        <p:spPr>
          <a:xfrm>
            <a:off x="1371600" y="5524500"/>
            <a:ext cx="15544800" cy="2857500"/>
          </a:xfrm>
          <a:prstGeom prst="roundRect">
            <a:avLst>
              <a:gd fmla="val 13333" name="adj"/>
            </a:avLst>
          </a:prstGeom>
          <a:solidFill>
            <a:srgbClr val="F8FAFC"/>
          </a:solidFill>
          <a:ln cap="flat" cmpd="sng" w="190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2324100" y="6096000"/>
            <a:ext cx="12382500" cy="1437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Tu trabajo, desde ese momento, es hacer </a:t>
            </a:r>
            <a:r>
              <a:rPr b="1" i="0" lang="en-US" sz="28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seguimiento semanal</a:t>
            </a:r>
            <a:r>
              <a:rPr b="0" i="0" lang="en-US" sz="280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. No agresivo, pero constante.</a:t>
            </a:r>
            <a:endParaRPr b="0" i="0" sz="2800"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125"/>
              </a:spcBef>
              <a:spcAft>
                <a:spcPts val="0"/>
              </a:spcAft>
              <a:buNone/>
            </a:pPr>
            <a:r>
              <a:rPr b="1" i="0" lang="en-US" sz="2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Una pregunta corta cada lunes hasta que esté resuelto.</a:t>
            </a:r>
            <a:endParaRPr b="1" i="0" sz="280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32" name="Google Shape;132;p16"/>
          <p:cNvGrpSpPr/>
          <p:nvPr/>
        </p:nvGrpSpPr>
        <p:grpSpPr>
          <a:xfrm>
            <a:off x="15621000" y="6381750"/>
            <a:ext cx="1143000" cy="1143000"/>
            <a:chOff x="15621000" y="6381750"/>
            <a:chExt cx="1143000" cy="1143000"/>
          </a:xfrm>
        </p:grpSpPr>
        <p:sp>
          <p:nvSpPr>
            <p:cNvPr id="133" name="Google Shape;133;p16"/>
            <p:cNvSpPr/>
            <p:nvPr/>
          </p:nvSpPr>
          <p:spPr>
            <a:xfrm>
              <a:off x="15621000" y="6381750"/>
              <a:ext cx="1143000" cy="1143000"/>
            </a:xfrm>
            <a:prstGeom prst="ellipse">
              <a:avLst/>
            </a:prstGeom>
            <a:solidFill>
              <a:srgbClr val="0077CC">
                <a:alpha val="1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16"/>
            <p:cNvSpPr txBox="1"/>
            <p:nvPr/>
          </p:nvSpPr>
          <p:spPr>
            <a:xfrm>
              <a:off x="15811500" y="6642354"/>
              <a:ext cx="762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800">
                  <a:solidFill>
                    <a:srgbClr val="0077CC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</a:t>
              </a:r>
              <a:endParaRPr sz="4800">
                <a:solidFill>
                  <a:srgbClr val="0077CC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  <p:grpSp>
        <p:nvGrpSpPr>
          <p:cNvPr id="135" name="Google Shape;135;p16"/>
          <p:cNvGrpSpPr/>
          <p:nvPr/>
        </p:nvGrpSpPr>
        <p:grpSpPr>
          <a:xfrm>
            <a:off x="1371600" y="3810000"/>
            <a:ext cx="7772400" cy="952500"/>
            <a:chOff x="1371600" y="3810000"/>
            <a:chExt cx="7772400" cy="952500"/>
          </a:xfrm>
        </p:grpSpPr>
        <p:sp>
          <p:nvSpPr>
            <p:cNvPr id="136" name="Google Shape;136;p16"/>
            <p:cNvSpPr/>
            <p:nvPr/>
          </p:nvSpPr>
          <p:spPr>
            <a:xfrm>
              <a:off x="1371600" y="3810000"/>
              <a:ext cx="4762500" cy="952500"/>
            </a:xfrm>
            <a:prstGeom prst="roundRect">
              <a:avLst>
                <a:gd fmla="val 50000" name="adj"/>
              </a:avLst>
            </a:prstGeom>
            <a:solidFill>
              <a:srgbClr val="0077C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" name="Google Shape;137;p16"/>
            <p:cNvSpPr txBox="1"/>
            <p:nvPr/>
          </p:nvSpPr>
          <p:spPr>
            <a:xfrm>
              <a:off x="1371600" y="3810000"/>
              <a:ext cx="4762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Semana 2</a:t>
              </a:r>
              <a:endParaRPr b="1" sz="3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8" name="Google Shape;138;p16"/>
            <p:cNvSpPr txBox="1"/>
            <p:nvPr/>
          </p:nvSpPr>
          <p:spPr>
            <a:xfrm>
              <a:off x="6286500" y="3810000"/>
              <a:ext cx="2857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Deadline final</a:t>
              </a:r>
              <a:endParaRPr b="1" sz="24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7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1371600" y="952500"/>
            <a:ext cx="155448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Consecuencia crítica</a:t>
            </a:r>
            <a:endParaRPr b="1" sz="2000">
              <a:solidFill>
                <a:srgbClr val="0077C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1" lang="en-US" sz="56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No puedes lanzar</a:t>
            </a:r>
            <a:endParaRPr b="1" sz="560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46" name="Google Shape;146;p17"/>
          <p:cNvGrpSpPr/>
          <p:nvPr/>
        </p:nvGrpSpPr>
        <p:grpSpPr>
          <a:xfrm>
            <a:off x="1371600" y="3429000"/>
            <a:ext cx="15544800" cy="4000500"/>
            <a:chOff x="1371600" y="3429000"/>
            <a:chExt cx="15544800" cy="4000500"/>
          </a:xfrm>
        </p:grpSpPr>
        <p:sp>
          <p:nvSpPr>
            <p:cNvPr id="147" name="Google Shape;147;p17"/>
            <p:cNvSpPr/>
            <p:nvPr/>
          </p:nvSpPr>
          <p:spPr>
            <a:xfrm>
              <a:off x="1371600" y="3429000"/>
              <a:ext cx="15544800" cy="4000500"/>
            </a:xfrm>
            <a:prstGeom prst="roundRect">
              <a:avLst>
                <a:gd fmla="val 9523" name="adj"/>
              </a:avLst>
            </a:prstGeom>
            <a:solidFill>
              <a:srgbClr val="FEF2F2"/>
            </a:solidFill>
            <a:ln cap="flat" cmpd="sng" w="19050">
              <a:solidFill>
                <a:srgbClr val="FEE2E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17"/>
            <p:cNvSpPr txBox="1"/>
            <p:nvPr/>
          </p:nvSpPr>
          <p:spPr>
            <a:xfrm>
              <a:off x="2095500" y="4117340"/>
              <a:ext cx="1143000" cy="1143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400">
                  <a:solidFill>
                    <a:srgbClr val="DC262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</a:t>
              </a:r>
              <a:endParaRPr sz="7400">
                <a:solidFill>
                  <a:srgbClr val="DC262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49" name="Google Shape;149;p17"/>
            <p:cNvSpPr txBox="1"/>
            <p:nvPr/>
          </p:nvSpPr>
          <p:spPr>
            <a:xfrm>
              <a:off x="3619500" y="3905250"/>
              <a:ext cx="12382500" cy="304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991B1B"/>
                  </a:solidFill>
                  <a:latin typeface="Inter"/>
                  <a:ea typeface="Inter"/>
                  <a:cs typeface="Inter"/>
                  <a:sym typeface="Inter"/>
                </a:rPr>
                <a:t>Si llegas a Fase D sin dominio</a:t>
              </a:r>
              <a:endParaRPr b="1" sz="3200">
                <a:solidFill>
                  <a:srgbClr val="991B1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Y el costo no es técnico: </a:t>
              </a:r>
              <a:r>
                <a:rPr b="1" lang="en-US" sz="2400">
                  <a:solidFill>
                    <a:srgbClr val="DC2626"/>
                  </a:solidFill>
                  <a:latin typeface="Inter"/>
                  <a:ea typeface="Inter"/>
                  <a:cs typeface="Inter"/>
                  <a:sym typeface="Inter"/>
                </a:rPr>
                <a:t>es político</a:t>
              </a:r>
              <a:r>
                <a:rPr b="0" lang="en-US" sz="24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.</a:t>
              </a:r>
              <a:endParaRPr b="0" sz="24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"TI todavía no asignó el dominio" no funciona cuando ya estás en semana diez.</a:t>
              </a:r>
              <a:endParaRPr b="0" sz="24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8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77C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8"/>
          <p:cNvSpPr txBox="1"/>
          <p:nvPr/>
        </p:nvSpPr>
        <p:spPr>
          <a:xfrm>
            <a:off x="1371600" y="3200400"/>
            <a:ext cx="15544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El dominio se pide el día uno</a:t>
            </a:r>
            <a:endParaRPr/>
          </a:p>
        </p:txBody>
      </p:sp>
      <p:sp>
        <p:nvSpPr>
          <p:cNvPr id="157" name="Google Shape;157;p18"/>
          <p:cNvSpPr txBox="1"/>
          <p:nvPr/>
        </p:nvSpPr>
        <p:spPr>
          <a:xfrm>
            <a:off x="1371600" y="4754880"/>
            <a:ext cx="155448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Cada semana sin pedirlo</a:t>
            </a:r>
            <a:endParaRPr/>
          </a:p>
        </p:txBody>
      </p:sp>
      <p:sp>
        <p:nvSpPr>
          <p:cNvPr id="158" name="Google Shape;158;p18"/>
          <p:cNvSpPr txBox="1"/>
          <p:nvPr/>
        </p:nvSpPr>
        <p:spPr>
          <a:xfrm>
            <a:off x="1371600" y="7315200"/>
            <a:ext cx="15544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es una semana que se le suma al final del proyecto.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