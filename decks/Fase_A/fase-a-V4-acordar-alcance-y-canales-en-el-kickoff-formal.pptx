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10287000" cx="18288000"/>
  <p:notesSz cx="6858000" cy="9144000"/>
  <p:embeddedFontLst>
    <p:embeddedFont>
      <p:font typeface="Int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6"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9.6s · 24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segunda reunión es el kickoff formal. Dura una hora y media a dos horas. Es la reunión más importante de la Fase A.</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17.2s · 43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objetivo del kickoff no es presentar la plataforma. Es lograr que todos en la sala entiendan exactamente qué se va a hacer, qué NO se va a hacer, y quién es responsable de qué. Es un acuerdo de trabajo, no una presentación.</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30.8s · 77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Antes de la reunión, tu tarea es leer el contrato completo y preparar un resumen del alcance en lenguaje simple. Lenguaje simple significa que el dueño del proyecto, que probablemente no leyó el contrato a fondo, lo entienda en cinco minutos. Qué módulos entran. Qué integraciones aplican. Qué queda explícitamente afuera. En la reunión, recorres ese resumen y lo confirmas con ambas partes. Es preferible que quede firmado, pero como mínimo tiene que quedar confirmado por escrito.</a:t>
            </a:r>
            <a:endParaRPr/>
          </a:p>
        </p:txBody>
      </p:sp>
      <p:sp>
        <p:nvSpPr>
          <p:cNvPr id="105" name="Google Shape;10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17.2s · 43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una decisión que se toma acá y no después: SaaS o instalación propia. Esto define toda la arquitectura del proyecto. Si sales del kickoff con esto ambiguo, te vas a chocar con esa ambigüedad en Fase C, cuando ya sea muy tarde.</a:t>
            </a:r>
            <a:endParaRPr/>
          </a:p>
        </p:txBody>
      </p:sp>
      <p:sp>
        <p:nvSpPr>
          <p:cNvPr id="115" name="Google Shape;11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11.6s · 29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Después del alcance vienen las responsabilidades. Una matriz simple, no necesariamente un RACI completo, pero un documento explícito que diga quién hace qué. No basta con un acuerdo verbal.</a:t>
            </a:r>
            <a:endParaRPr/>
          </a:p>
        </p:txBody>
      </p:sp>
      <p:sp>
        <p:nvSpPr>
          <p:cNvPr id="128" name="Google Shape;12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18.8s · 47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 por último, los canales de comunicación. Qué canal se usa para qué tema. Cuál es la urgencia esperada de cada uno. Qué horarios aplican. Si la persona de comunicación del gobierno solo lee correos por la mañana, hay que saberlo ahora, no en la semana ocho.</a:t>
            </a:r>
            <a:endParaRPr/>
          </a:p>
        </p:txBody>
      </p:sp>
      <p:sp>
        <p:nvSpPr>
          <p:cNvPr id="141" name="Google Shape;14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7.2s · 18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kickoff no se mide por las slides que mostraste. Se mide por las preguntas que quedaron respondidas.</a:t>
            </a:r>
            <a:endParaRPr/>
          </a:p>
        </p:txBody>
      </p:sp>
      <p:sp>
        <p:nvSpPr>
          <p:cNvPr id="160" name="Google Shape;16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077CC"/>
                </a:solidFill>
                <a:latin typeface="Inter"/>
                <a:ea typeface="Inter"/>
                <a:cs typeface="Inter"/>
                <a:sym typeface="Inter"/>
              </a:rPr>
              <a:t>FASE A</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Alcance y canales</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en el kickoff formal</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Una hora y media a dos horas. La reunión más importante de la Fase 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5" name="Google Shape;95;p14"/>
          <p:cNvGrpSpPr/>
          <p:nvPr/>
        </p:nvGrpSpPr>
        <p:grpSpPr>
          <a:xfrm>
            <a:off x="1371600" y="3048000"/>
            <a:ext cx="15544800" cy="4572000"/>
            <a:chOff x="1371600" y="3048000"/>
            <a:chExt cx="15544800" cy="4572000"/>
          </a:xfrm>
        </p:grpSpPr>
        <p:sp>
          <p:nvSpPr>
            <p:cNvPr id="96" name="Google Shape;96;p14"/>
            <p:cNvSpPr/>
            <p:nvPr/>
          </p:nvSpPr>
          <p:spPr>
            <a:xfrm>
              <a:off x="1371600" y="3048000"/>
              <a:ext cx="7620000" cy="4572000"/>
            </a:xfrm>
            <a:prstGeom prst="roundRect">
              <a:avLst>
                <a:gd fmla="val 8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4"/>
            <p:cNvSpPr/>
            <p:nvPr/>
          </p:nvSpPr>
          <p:spPr>
            <a:xfrm>
              <a:off x="9296400" y="3048000"/>
              <a:ext cx="7620000" cy="4572000"/>
            </a:xfrm>
            <a:prstGeom prst="roundRect">
              <a:avLst>
                <a:gd fmla="val 8333"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4"/>
            <p:cNvSpPr txBox="1"/>
            <p:nvPr/>
          </p:nvSpPr>
          <p:spPr>
            <a:xfrm>
              <a:off x="1752600" y="3429000"/>
              <a:ext cx="685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888888"/>
                  </a:solidFill>
                  <a:latin typeface="Inter"/>
                  <a:ea typeface="Inter"/>
                  <a:cs typeface="Inter"/>
                  <a:sym typeface="Inter"/>
                </a:rPr>
                <a:t>LO QUE NO ES</a:t>
              </a:r>
              <a:endParaRPr b="1" sz="2400">
                <a:solidFill>
                  <a:srgbClr val="888888"/>
                </a:solidFill>
                <a:latin typeface="Inter"/>
                <a:ea typeface="Inter"/>
                <a:cs typeface="Inter"/>
                <a:sym typeface="Inter"/>
              </a:endParaRPr>
            </a:p>
          </p:txBody>
        </p:sp>
        <p:sp>
          <p:nvSpPr>
            <p:cNvPr id="99" name="Google Shape;99;p14"/>
            <p:cNvSpPr txBox="1"/>
            <p:nvPr/>
          </p:nvSpPr>
          <p:spPr>
            <a:xfrm>
              <a:off x="1752600" y="4381500"/>
              <a:ext cx="68580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800">
                  <a:solidFill>
                    <a:srgbClr val="0A0915"/>
                  </a:solidFill>
                  <a:latin typeface="Inter"/>
                  <a:ea typeface="Inter"/>
                  <a:cs typeface="Inter"/>
                  <a:sym typeface="Inter"/>
                </a:rPr>
                <a:t>No es presentar la plataforma</a:t>
              </a:r>
              <a:endParaRPr b="1" sz="4800">
                <a:solidFill>
                  <a:srgbClr val="0A0915"/>
                </a:solidFill>
                <a:latin typeface="Inter"/>
                <a:ea typeface="Inter"/>
                <a:cs typeface="Inter"/>
                <a:sym typeface="Inter"/>
              </a:endParaRPr>
            </a:p>
          </p:txBody>
        </p:sp>
        <p:sp>
          <p:nvSpPr>
            <p:cNvPr id="100" name="Google Shape;100;p14"/>
            <p:cNvSpPr txBox="1"/>
            <p:nvPr/>
          </p:nvSpPr>
          <p:spPr>
            <a:xfrm>
              <a:off x="9677400" y="3429000"/>
              <a:ext cx="685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E0E0E0"/>
                  </a:solidFill>
                  <a:latin typeface="Inter"/>
                  <a:ea typeface="Inter"/>
                  <a:cs typeface="Inter"/>
                  <a:sym typeface="Inter"/>
                </a:rPr>
                <a:t>LO QUE SÍ ES</a:t>
              </a:r>
              <a:endParaRPr b="1" sz="2400">
                <a:solidFill>
                  <a:srgbClr val="E0E0E0"/>
                </a:solidFill>
                <a:latin typeface="Inter"/>
                <a:ea typeface="Inter"/>
                <a:cs typeface="Inter"/>
                <a:sym typeface="Inter"/>
              </a:endParaRPr>
            </a:p>
          </p:txBody>
        </p:sp>
        <p:sp>
          <p:nvSpPr>
            <p:cNvPr id="101" name="Google Shape;101;p14"/>
            <p:cNvSpPr txBox="1"/>
            <p:nvPr/>
          </p:nvSpPr>
          <p:spPr>
            <a:xfrm>
              <a:off x="9677400" y="4381500"/>
              <a:ext cx="68580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FFFFFF"/>
                  </a:solidFill>
                  <a:latin typeface="Inter"/>
                  <a:ea typeface="Inter"/>
                  <a:cs typeface="Inter"/>
                  <a:sym typeface="Inter"/>
                </a:rPr>
                <a:t>Un acuerdo de trabajo, no una presentación</a:t>
              </a:r>
              <a:endParaRPr b="1" sz="3200">
                <a:solidFill>
                  <a:srgbClr val="FFFFFF"/>
                </a:solidFill>
                <a:latin typeface="Inter"/>
                <a:ea typeface="Inter"/>
                <a:cs typeface="Inter"/>
                <a:sym typeface="Inter"/>
              </a:endParaRPr>
            </a:p>
            <a:p>
              <a:pPr indent="0" lvl="0" marL="0" rtl="0" algn="l">
                <a:spcBef>
                  <a:spcPts val="1500"/>
                </a:spcBef>
                <a:spcAft>
                  <a:spcPts val="0"/>
                </a:spcAft>
                <a:buNone/>
              </a:pPr>
              <a:r>
                <a:rPr b="0" lang="en-US" sz="2000">
                  <a:solidFill>
                    <a:srgbClr val="FFFFFF"/>
                  </a:solidFill>
                  <a:latin typeface="Inter"/>
                  <a:ea typeface="Inter"/>
                  <a:cs typeface="Inter"/>
                  <a:sym typeface="Inter"/>
                </a:rPr>
                <a:t>Lograr que todos entiendan qué se va a hacer, qué NO se va a hacer, y quién es responsable.</a:t>
              </a:r>
              <a:endParaRPr b="0" sz="2000">
                <a:solidFill>
                  <a:srgbClr val="FFFFFF"/>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5"/>
          <p:cNvSpPr/>
          <p:nvPr/>
        </p:nvSpPr>
        <p:spPr>
          <a:xfrm>
            <a:off x="1371600" y="3048000"/>
            <a:ext cx="15544800" cy="4572000"/>
          </a:xfrm>
          <a:prstGeom prst="roundRect">
            <a:avLst>
              <a:gd fmla="val 8333"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1371600" y="2286000"/>
            <a:ext cx="15544800" cy="307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i="0" lang="en-US" sz="2000">
                <a:solidFill>
                  <a:srgbClr val="0077CC"/>
                </a:solidFill>
                <a:latin typeface="Inter"/>
                <a:ea typeface="Inter"/>
                <a:cs typeface="Inter"/>
                <a:sym typeface="Inter"/>
              </a:rPr>
              <a:t>Antes de la reunión</a:t>
            </a:r>
            <a:endParaRPr b="1" i="0" sz="2000">
              <a:solidFill>
                <a:srgbClr val="0077CC"/>
              </a:solidFill>
              <a:latin typeface="Inter"/>
              <a:ea typeface="Inter"/>
              <a:cs typeface="Inter"/>
              <a:sym typeface="Inter"/>
            </a:endParaRPr>
          </a:p>
        </p:txBody>
      </p:sp>
      <p:sp>
        <p:nvSpPr>
          <p:cNvPr id="110" name="Google Shape;110;p15"/>
          <p:cNvSpPr txBox="1"/>
          <p:nvPr/>
        </p:nvSpPr>
        <p:spPr>
          <a:xfrm>
            <a:off x="1847850" y="3619500"/>
            <a:ext cx="14592300" cy="1360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4420">
                <a:solidFill>
                  <a:srgbClr val="0A0915"/>
                </a:solidFill>
                <a:latin typeface="Inter"/>
                <a:ea typeface="Inter"/>
                <a:cs typeface="Inter"/>
                <a:sym typeface="Inter"/>
              </a:rPr>
              <a:t>Leer el contrato y preparar un resumen en lenguaje simple</a:t>
            </a:r>
            <a:endParaRPr b="1" i="0" sz="4420">
              <a:solidFill>
                <a:srgbClr val="0A0915"/>
              </a:solidFill>
              <a:latin typeface="Inter"/>
              <a:ea typeface="Inter"/>
              <a:cs typeface="Inter"/>
              <a:sym typeface="Inter"/>
            </a:endParaRPr>
          </a:p>
        </p:txBody>
      </p:sp>
      <p:sp>
        <p:nvSpPr>
          <p:cNvPr id="111" name="Google Shape;111;p15"/>
          <p:cNvSpPr txBox="1"/>
          <p:nvPr/>
        </p:nvSpPr>
        <p:spPr>
          <a:xfrm>
            <a:off x="2476500" y="5238750"/>
            <a:ext cx="13335000" cy="1862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i="0" lang="en-US" sz="2400">
                <a:solidFill>
                  <a:srgbClr val="0A0915"/>
                </a:solidFill>
                <a:latin typeface="Inter"/>
                <a:ea typeface="Inter"/>
                <a:cs typeface="Inter"/>
                <a:sym typeface="Inter"/>
              </a:rPr>
              <a:t>Que el dueño del proyecto lo entienda en </a:t>
            </a:r>
            <a:r>
              <a:rPr b="1" i="0" lang="en-US" sz="2400">
                <a:solidFill>
                  <a:srgbClr val="0077CC"/>
                </a:solidFill>
                <a:latin typeface="Inter"/>
                <a:ea typeface="Inter"/>
                <a:cs typeface="Inter"/>
                <a:sym typeface="Inter"/>
              </a:rPr>
              <a:t>cinco minutos</a:t>
            </a:r>
            <a:r>
              <a:rPr b="0" i="0" lang="en-US" sz="2400">
                <a:solidFill>
                  <a:srgbClr val="0A0915"/>
                </a:solidFill>
                <a:latin typeface="Inter"/>
                <a:ea typeface="Inter"/>
                <a:cs typeface="Inter"/>
                <a:sym typeface="Inter"/>
              </a:rPr>
              <a:t>.</a:t>
            </a:r>
            <a:endParaRPr b="0" i="0" sz="2400">
              <a:solidFill>
                <a:srgbClr val="0A0915"/>
              </a:solidFill>
              <a:latin typeface="Inter"/>
              <a:ea typeface="Inter"/>
              <a:cs typeface="Inter"/>
              <a:sym typeface="Inter"/>
            </a:endParaRPr>
          </a:p>
          <a:p>
            <a:pPr indent="-381000" lvl="0" marL="457200" rtl="0" algn="l">
              <a:spcBef>
                <a:spcPts val="1500"/>
              </a:spcBef>
              <a:spcAft>
                <a:spcPts val="0"/>
              </a:spcAft>
              <a:buClr>
                <a:srgbClr val="0A0915"/>
              </a:buClr>
              <a:buSzPts val="2400"/>
              <a:buFont typeface="Inter"/>
              <a:buChar char="●"/>
            </a:pPr>
            <a:r>
              <a:rPr b="0" i="0" lang="en-US" sz="2400">
                <a:solidFill>
                  <a:srgbClr val="0A0915"/>
                </a:solidFill>
                <a:latin typeface="Inter"/>
                <a:ea typeface="Inter"/>
                <a:cs typeface="Inter"/>
                <a:sym typeface="Inter"/>
              </a:rPr>
              <a:t>Qué módulos entran.</a:t>
            </a:r>
            <a:endParaRPr b="0" i="0" sz="2400">
              <a:solidFill>
                <a:srgbClr val="0A0915"/>
              </a:solidFill>
              <a:latin typeface="Inter"/>
              <a:ea typeface="Inter"/>
              <a:cs typeface="Inter"/>
              <a:sym typeface="Inter"/>
            </a:endParaRPr>
          </a:p>
          <a:p>
            <a:pPr indent="-381000" lvl="0" marL="457200" rtl="0" algn="l">
              <a:spcBef>
                <a:spcPts val="750"/>
              </a:spcBef>
              <a:spcAft>
                <a:spcPts val="0"/>
              </a:spcAft>
              <a:buClr>
                <a:srgbClr val="0A0915"/>
              </a:buClr>
              <a:buSzPts val="2400"/>
              <a:buFont typeface="Inter"/>
              <a:buChar char="●"/>
            </a:pPr>
            <a:r>
              <a:rPr b="0" i="0" lang="en-US" sz="2400">
                <a:solidFill>
                  <a:srgbClr val="0A0915"/>
                </a:solidFill>
                <a:latin typeface="Inter"/>
                <a:ea typeface="Inter"/>
                <a:cs typeface="Inter"/>
                <a:sym typeface="Inter"/>
              </a:rPr>
              <a:t>Qué integraciones aplican.</a:t>
            </a:r>
            <a:endParaRPr b="0" i="0" sz="2400">
              <a:solidFill>
                <a:srgbClr val="0A0915"/>
              </a:solidFill>
              <a:latin typeface="Inter"/>
              <a:ea typeface="Inter"/>
              <a:cs typeface="Inter"/>
              <a:sym typeface="Inter"/>
            </a:endParaRPr>
          </a:p>
          <a:p>
            <a:pPr indent="-381000" lvl="0" marL="457200" rtl="0" algn="l">
              <a:spcBef>
                <a:spcPts val="750"/>
              </a:spcBef>
              <a:spcAft>
                <a:spcPts val="0"/>
              </a:spcAft>
              <a:buClr>
                <a:srgbClr val="0A0915"/>
              </a:buClr>
              <a:buSzPts val="2400"/>
              <a:buFont typeface="Inter"/>
              <a:buChar char="●"/>
            </a:pPr>
            <a:r>
              <a:rPr b="0" i="0" lang="en-US" sz="2400">
                <a:solidFill>
                  <a:srgbClr val="0A0915"/>
                </a:solidFill>
                <a:latin typeface="Inter"/>
                <a:ea typeface="Inter"/>
                <a:cs typeface="Inter"/>
                <a:sym typeface="Inter"/>
              </a:rPr>
              <a:t>Qué queda explícitamente afuera.</a:t>
            </a:r>
            <a:endParaRPr b="0" i="0" sz="2400">
              <a:solidFill>
                <a:srgbClr val="0A0915"/>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6"/>
          <p:cNvSpPr txBox="1"/>
          <p:nvPr/>
        </p:nvSpPr>
        <p:spPr>
          <a:xfrm>
            <a:off x="1371600" y="952500"/>
            <a:ext cx="15544800" cy="1323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5400">
                <a:solidFill>
                  <a:srgbClr val="0A0915"/>
                </a:solidFill>
                <a:latin typeface="Inter"/>
                <a:ea typeface="Inter"/>
                <a:cs typeface="Inter"/>
                <a:sym typeface="Inter"/>
              </a:rPr>
              <a:t>Una decisión que se toma </a:t>
            </a:r>
            <a:r>
              <a:rPr b="1" i="0" lang="en-US" sz="5400">
                <a:solidFill>
                  <a:srgbClr val="0077CC"/>
                </a:solidFill>
                <a:latin typeface="Inter"/>
                <a:ea typeface="Inter"/>
                <a:cs typeface="Inter"/>
                <a:sym typeface="Inter"/>
              </a:rPr>
              <a:t>acá</a:t>
            </a:r>
            <a:endParaRPr b="1" i="0" sz="5400">
              <a:solidFill>
                <a:srgbClr val="0A0915"/>
              </a:solidFill>
              <a:latin typeface="Inter"/>
              <a:ea typeface="Inter"/>
              <a:cs typeface="Inter"/>
              <a:sym typeface="Inter"/>
            </a:endParaRPr>
          </a:p>
          <a:p>
            <a:pPr indent="0" lvl="0" marL="0" rtl="0" algn="ctr">
              <a:spcBef>
                <a:spcPts val="0"/>
              </a:spcBef>
              <a:spcAft>
                <a:spcPts val="0"/>
              </a:spcAft>
              <a:buNone/>
            </a:pPr>
            <a:r>
              <a:rPr b="0" i="0" lang="en-US" sz="3200">
                <a:solidFill>
                  <a:srgbClr val="888888"/>
                </a:solidFill>
                <a:latin typeface="Inter"/>
                <a:ea typeface="Inter"/>
                <a:cs typeface="Inter"/>
                <a:sym typeface="Inter"/>
              </a:rPr>
              <a:t>y no después</a:t>
            </a:r>
            <a:endParaRPr b="0" i="0" sz="3200">
              <a:solidFill>
                <a:srgbClr val="888888"/>
              </a:solidFill>
              <a:latin typeface="Inter"/>
              <a:ea typeface="Inter"/>
              <a:cs typeface="Inter"/>
              <a:sym typeface="Inter"/>
            </a:endParaRPr>
          </a:p>
        </p:txBody>
      </p:sp>
      <p:sp>
        <p:nvSpPr>
          <p:cNvPr id="119" name="Google Shape;119;p16"/>
          <p:cNvSpPr/>
          <p:nvPr/>
        </p:nvSpPr>
        <p:spPr>
          <a:xfrm>
            <a:off x="1524000" y="3429000"/>
            <a:ext cx="7239000" cy="4953000"/>
          </a:xfrm>
          <a:prstGeom prst="roundRect">
            <a:avLst>
              <a:gd fmla="val 7692" name="adj"/>
            </a:avLst>
          </a:prstGeom>
          <a:solidFill>
            <a:srgbClr val="F8F9FA"/>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1905000" y="3810000"/>
            <a:ext cx="6477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2400">
                <a:solidFill>
                  <a:srgbClr val="888888"/>
                </a:solidFill>
                <a:latin typeface="Inter"/>
                <a:ea typeface="Inter"/>
                <a:cs typeface="Inter"/>
                <a:sym typeface="Inter"/>
              </a:rPr>
              <a:t>SaaS</a:t>
            </a:r>
            <a:endParaRPr b="1" i="0" sz="2400">
              <a:solidFill>
                <a:srgbClr val="888888"/>
              </a:solidFill>
              <a:latin typeface="Inter"/>
              <a:ea typeface="Inter"/>
              <a:cs typeface="Inter"/>
              <a:sym typeface="Inter"/>
            </a:endParaRPr>
          </a:p>
        </p:txBody>
      </p:sp>
      <p:sp>
        <p:nvSpPr>
          <p:cNvPr id="121" name="Google Shape;121;p16"/>
          <p:cNvSpPr txBox="1"/>
          <p:nvPr/>
        </p:nvSpPr>
        <p:spPr>
          <a:xfrm>
            <a:off x="1905000" y="4572000"/>
            <a:ext cx="6477000" cy="1108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1500"/>
              </a:spcAft>
              <a:buNone/>
            </a:pPr>
            <a:r>
              <a:rPr b="1" i="0" lang="en-US" sz="3600">
                <a:solidFill>
                  <a:srgbClr val="0A0915"/>
                </a:solidFill>
                <a:latin typeface="Inter"/>
                <a:ea typeface="Inter"/>
                <a:cs typeface="Inter"/>
                <a:sym typeface="Inter"/>
              </a:rPr>
              <a:t>Define toda la arquitectura del proyecto.</a:t>
            </a:r>
            <a:endParaRPr b="1" i="0" sz="3600">
              <a:solidFill>
                <a:srgbClr val="0A0915"/>
              </a:solidFill>
              <a:latin typeface="Inter"/>
              <a:ea typeface="Inter"/>
              <a:cs typeface="Inter"/>
              <a:sym typeface="Inter"/>
            </a:endParaRPr>
          </a:p>
        </p:txBody>
      </p:sp>
      <p:sp>
        <p:nvSpPr>
          <p:cNvPr id="122" name="Google Shape;122;p16"/>
          <p:cNvSpPr/>
          <p:nvPr/>
        </p:nvSpPr>
        <p:spPr>
          <a:xfrm>
            <a:off x="9525000" y="3429000"/>
            <a:ext cx="7239000" cy="4953000"/>
          </a:xfrm>
          <a:prstGeom prst="roundRect">
            <a:avLst>
              <a:gd fmla="val 7692" name="adj"/>
            </a:avLst>
          </a:prstGeom>
          <a:solidFill>
            <a:srgbClr val="0077CC"/>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txBox="1"/>
          <p:nvPr/>
        </p:nvSpPr>
        <p:spPr>
          <a:xfrm>
            <a:off x="9906000" y="3810000"/>
            <a:ext cx="6477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2400">
                <a:solidFill>
                  <a:srgbClr val="E0E0E0"/>
                </a:solidFill>
                <a:latin typeface="Inter"/>
                <a:ea typeface="Inter"/>
                <a:cs typeface="Inter"/>
                <a:sym typeface="Inter"/>
              </a:rPr>
              <a:t>Instalación propia</a:t>
            </a:r>
            <a:endParaRPr b="1" i="0" sz="2400">
              <a:solidFill>
                <a:srgbClr val="E0E0E0"/>
              </a:solidFill>
              <a:latin typeface="Inter"/>
              <a:ea typeface="Inter"/>
              <a:cs typeface="Inter"/>
              <a:sym typeface="Inter"/>
            </a:endParaRPr>
          </a:p>
        </p:txBody>
      </p:sp>
      <p:sp>
        <p:nvSpPr>
          <p:cNvPr id="124" name="Google Shape;124;p16"/>
          <p:cNvSpPr txBox="1"/>
          <p:nvPr/>
        </p:nvSpPr>
        <p:spPr>
          <a:xfrm>
            <a:off x="9906000" y="4572000"/>
            <a:ext cx="6477000" cy="1916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3600">
                <a:solidFill>
                  <a:srgbClr val="FFFFFF"/>
                </a:solidFill>
                <a:latin typeface="Inter"/>
                <a:ea typeface="Inter"/>
                <a:cs typeface="Inter"/>
                <a:sym typeface="Inter"/>
              </a:rPr>
              <a:t>Define toda la arquitectura del proyecto.</a:t>
            </a:r>
            <a:endParaRPr b="1" i="0" sz="3600">
              <a:solidFill>
                <a:srgbClr val="FFFFFF"/>
              </a:solidFill>
              <a:latin typeface="Inter"/>
              <a:ea typeface="Inter"/>
              <a:cs typeface="Inter"/>
              <a:sym typeface="Inter"/>
            </a:endParaRPr>
          </a:p>
          <a:p>
            <a:pPr indent="0" lvl="0" marL="0" rtl="0" algn="l">
              <a:spcBef>
                <a:spcPts val="1500"/>
              </a:spcBef>
              <a:spcAft>
                <a:spcPts val="0"/>
              </a:spcAft>
              <a:buNone/>
            </a:pPr>
            <a:r>
              <a:rPr b="0" i="0" lang="en-US" sz="2000">
                <a:solidFill>
                  <a:srgbClr val="E0E0E0"/>
                </a:solidFill>
                <a:latin typeface="Inter"/>
                <a:ea typeface="Inter"/>
                <a:cs typeface="Inter"/>
                <a:sym typeface="Inter"/>
              </a:rPr>
              <a:t>Si sales con esto ambiguo, te chocas con la ambigüedad en </a:t>
            </a:r>
            <a:r>
              <a:rPr b="1" i="0" lang="en-US" sz="2000">
                <a:solidFill>
                  <a:srgbClr val="FFFFFF"/>
                </a:solidFill>
                <a:latin typeface="Inter"/>
                <a:ea typeface="Inter"/>
                <a:cs typeface="Inter"/>
                <a:sym typeface="Inter"/>
              </a:rPr>
              <a:t>Fase C</a:t>
            </a:r>
            <a:r>
              <a:rPr b="0" i="0" lang="en-US" sz="2000">
                <a:solidFill>
                  <a:srgbClr val="E0E0E0"/>
                </a:solidFill>
                <a:latin typeface="Inter"/>
                <a:ea typeface="Inter"/>
                <a:cs typeface="Inter"/>
                <a:sym typeface="Inter"/>
              </a:rPr>
              <a:t>, cuando ya sea muy tarde.</a:t>
            </a:r>
            <a:endParaRPr b="0" i="0" sz="2000">
              <a:solidFill>
                <a:srgbClr val="E0E0E0"/>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7"/>
          <p:cNvSpPr/>
          <p:nvPr/>
        </p:nvSpPr>
        <p:spPr>
          <a:xfrm>
            <a:off x="1371600" y="2667000"/>
            <a:ext cx="15544800" cy="5715000"/>
          </a:xfrm>
          <a:prstGeom prst="roundRect">
            <a:avLst>
              <a:gd fmla="val 6666"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7"/>
          <p:cNvSpPr txBox="1"/>
          <p:nvPr/>
        </p:nvSpPr>
        <p:spPr>
          <a:xfrm>
            <a:off x="1371600" y="1905000"/>
            <a:ext cx="155448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2000">
                <a:solidFill>
                  <a:srgbClr val="0077CC"/>
                </a:solidFill>
                <a:latin typeface="Inter"/>
                <a:ea typeface="Inter"/>
                <a:cs typeface="Inter"/>
                <a:sym typeface="Inter"/>
              </a:rPr>
              <a:t>Después del alcance</a:t>
            </a:r>
            <a:endParaRPr b="1" i="0" sz="2000">
              <a:solidFill>
                <a:srgbClr val="0077CC"/>
              </a:solidFill>
              <a:latin typeface="Inter"/>
              <a:ea typeface="Inter"/>
              <a:cs typeface="Inter"/>
              <a:sym typeface="Inter"/>
            </a:endParaRPr>
          </a:p>
        </p:txBody>
      </p:sp>
      <p:sp>
        <p:nvSpPr>
          <p:cNvPr id="133" name="Google Shape;133;p17"/>
          <p:cNvSpPr txBox="1"/>
          <p:nvPr/>
        </p:nvSpPr>
        <p:spPr>
          <a:xfrm>
            <a:off x="2324100" y="3238500"/>
            <a:ext cx="13639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4800">
                <a:solidFill>
                  <a:srgbClr val="0A0915"/>
                </a:solidFill>
                <a:latin typeface="Inter"/>
                <a:ea typeface="Inter"/>
                <a:cs typeface="Inter"/>
                <a:sym typeface="Inter"/>
              </a:rPr>
              <a:t>Una matriz simple de responsabilidades</a:t>
            </a:r>
            <a:endParaRPr b="1" i="0" sz="4800">
              <a:solidFill>
                <a:srgbClr val="0A0915"/>
              </a:solidFill>
              <a:latin typeface="Inter"/>
              <a:ea typeface="Inter"/>
              <a:cs typeface="Inter"/>
              <a:sym typeface="Inter"/>
            </a:endParaRPr>
          </a:p>
        </p:txBody>
      </p:sp>
      <p:grpSp>
        <p:nvGrpSpPr>
          <p:cNvPr id="134" name="Google Shape;134;p17"/>
          <p:cNvGrpSpPr/>
          <p:nvPr/>
        </p:nvGrpSpPr>
        <p:grpSpPr>
          <a:xfrm>
            <a:off x="8667750" y="4572000"/>
            <a:ext cx="952500" cy="1040130"/>
            <a:chOff x="8667750" y="4572000"/>
            <a:chExt cx="952500" cy="1040130"/>
          </a:xfrm>
        </p:grpSpPr>
        <p:sp>
          <p:nvSpPr>
            <p:cNvPr id="135" name="Google Shape;135;p17"/>
            <p:cNvSpPr/>
            <p:nvPr/>
          </p:nvSpPr>
          <p:spPr>
            <a:xfrm>
              <a:off x="8667750" y="4572000"/>
              <a:ext cx="952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7"/>
            <p:cNvSpPr txBox="1"/>
            <p:nvPr/>
          </p:nvSpPr>
          <p:spPr>
            <a:xfrm>
              <a:off x="8667750" y="4659630"/>
              <a:ext cx="952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6000">
                  <a:solidFill>
                    <a:srgbClr val="0077CC"/>
                  </a:solidFill>
                  <a:latin typeface="Material Icons"/>
                  <a:ea typeface="Material Icons"/>
                  <a:cs typeface="Material Icons"/>
                  <a:sym typeface="Material Icons"/>
                </a:rPr>
                <a:t></a:t>
              </a:r>
              <a:endParaRPr sz="6000">
                <a:solidFill>
                  <a:srgbClr val="0077CC"/>
                </a:solidFill>
                <a:latin typeface="Material Icons"/>
                <a:ea typeface="Material Icons"/>
                <a:cs typeface="Material Icons"/>
                <a:sym typeface="Material Icons"/>
              </a:endParaRPr>
            </a:p>
          </p:txBody>
        </p:sp>
      </p:grpSp>
      <p:sp>
        <p:nvSpPr>
          <p:cNvPr id="137" name="Google Shape;137;p17"/>
          <p:cNvSpPr txBox="1"/>
          <p:nvPr/>
        </p:nvSpPr>
        <p:spPr>
          <a:xfrm>
            <a:off x="3429000" y="5905500"/>
            <a:ext cx="11430000" cy="1331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i="0" lang="en-US" sz="2600">
                <a:solidFill>
                  <a:srgbClr val="0A0915"/>
                </a:solidFill>
                <a:latin typeface="Inter"/>
                <a:ea typeface="Inter"/>
                <a:cs typeface="Inter"/>
                <a:sym typeface="Inter"/>
              </a:rPr>
              <a:t>No necesariamente un RACI completo, sino un documento explícito que defina </a:t>
            </a:r>
            <a:r>
              <a:rPr b="1" i="0" lang="en-US" sz="2600">
                <a:solidFill>
                  <a:srgbClr val="0077CC"/>
                </a:solidFill>
                <a:latin typeface="Inter"/>
                <a:ea typeface="Inter"/>
                <a:cs typeface="Inter"/>
                <a:sym typeface="Inter"/>
              </a:rPr>
              <a:t>quién hace qué</a:t>
            </a:r>
            <a:r>
              <a:rPr b="0" i="0" lang="en-US" sz="2600">
                <a:solidFill>
                  <a:srgbClr val="0A0915"/>
                </a:solidFill>
                <a:latin typeface="Inter"/>
                <a:ea typeface="Inter"/>
                <a:cs typeface="Inter"/>
                <a:sym typeface="Inter"/>
              </a:rPr>
              <a:t>.</a:t>
            </a:r>
            <a:endParaRPr b="0" i="0" sz="2600">
              <a:solidFill>
                <a:srgbClr val="0A0915"/>
              </a:solidFill>
              <a:latin typeface="Inter"/>
              <a:ea typeface="Inter"/>
              <a:cs typeface="Inter"/>
              <a:sym typeface="Inter"/>
            </a:endParaRPr>
          </a:p>
          <a:p>
            <a:pPr indent="0" lvl="0" marL="0" rtl="0" algn="ctr">
              <a:spcBef>
                <a:spcPts val="1500"/>
              </a:spcBef>
              <a:spcAft>
                <a:spcPts val="0"/>
              </a:spcAft>
              <a:buNone/>
            </a:pPr>
            <a:r>
              <a:rPr b="0" i="0" lang="en-US" sz="2200">
                <a:solidFill>
                  <a:srgbClr val="666666"/>
                </a:solidFill>
                <a:latin typeface="Inter"/>
                <a:ea typeface="Inter"/>
                <a:cs typeface="Inter"/>
                <a:sym typeface="Inter"/>
              </a:rPr>
              <a:t>No basta con un acuerdo verbal; la claridad es compromiso.</a:t>
            </a:r>
            <a:endParaRPr b="0" i="0" sz="2200">
              <a:solidFill>
                <a:srgbClr val="666666"/>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8"/>
          <p:cNvSpPr txBox="1"/>
          <p:nvPr/>
        </p:nvSpPr>
        <p:spPr>
          <a:xfrm>
            <a:off x="1371600" y="762000"/>
            <a:ext cx="15544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800">
                <a:solidFill>
                  <a:srgbClr val="0A0915"/>
                </a:solidFill>
                <a:latin typeface="Inter"/>
                <a:ea typeface="Inter"/>
                <a:cs typeface="Inter"/>
                <a:sym typeface="Inter"/>
              </a:rPr>
              <a:t>Y los canales de comunicación</a:t>
            </a:r>
            <a:endParaRPr b="1" sz="4800">
              <a:solidFill>
                <a:srgbClr val="0A0915"/>
              </a:solidFill>
              <a:latin typeface="Inter"/>
              <a:ea typeface="Inter"/>
              <a:cs typeface="Inter"/>
              <a:sym typeface="Inter"/>
            </a:endParaRPr>
          </a:p>
        </p:txBody>
      </p:sp>
      <p:grpSp>
        <p:nvGrpSpPr>
          <p:cNvPr id="145" name="Google Shape;145;p18"/>
          <p:cNvGrpSpPr/>
          <p:nvPr/>
        </p:nvGrpSpPr>
        <p:grpSpPr>
          <a:xfrm>
            <a:off x="1371600" y="2286000"/>
            <a:ext cx="15544800" cy="6477000"/>
            <a:chOff x="1371600" y="2286000"/>
            <a:chExt cx="15544800" cy="6477000"/>
          </a:xfrm>
        </p:grpSpPr>
        <p:sp>
          <p:nvSpPr>
            <p:cNvPr id="146" name="Google Shape;146;p18"/>
            <p:cNvSpPr/>
            <p:nvPr/>
          </p:nvSpPr>
          <p:spPr>
            <a:xfrm>
              <a:off x="1371600" y="2286000"/>
              <a:ext cx="15544800" cy="6477000"/>
            </a:xfrm>
            <a:prstGeom prst="roundRect">
              <a:avLst>
                <a:gd fmla="val 5882" name="adj"/>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7" name="Google Shape;147;p18"/>
            <p:cNvGrpSpPr/>
            <p:nvPr/>
          </p:nvGrpSpPr>
          <p:grpSpPr>
            <a:xfrm>
              <a:off x="2095500" y="3048000"/>
              <a:ext cx="13144500" cy="762000"/>
              <a:chOff x="2095500" y="3048000"/>
              <a:chExt cx="13144500" cy="762000"/>
            </a:xfrm>
          </p:grpSpPr>
          <p:sp>
            <p:nvSpPr>
              <p:cNvPr id="148" name="Google Shape;148;p18"/>
              <p:cNvSpPr txBox="1"/>
              <p:nvPr/>
            </p:nvSpPr>
            <p:spPr>
              <a:xfrm>
                <a:off x="2095500" y="31064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0077CC"/>
                    </a:solidFill>
                    <a:latin typeface="Material Icons"/>
                    <a:ea typeface="Material Icons"/>
                    <a:cs typeface="Material Icons"/>
                    <a:sym typeface="Material Icons"/>
                  </a:rPr>
                  <a:t></a:t>
                </a:r>
                <a:endParaRPr sz="3700">
                  <a:solidFill>
                    <a:srgbClr val="0077CC"/>
                  </a:solidFill>
                  <a:latin typeface="Material Icons"/>
                  <a:ea typeface="Material Icons"/>
                  <a:cs typeface="Material Icons"/>
                  <a:sym typeface="Material Icons"/>
                </a:endParaRPr>
              </a:p>
            </p:txBody>
          </p:sp>
          <p:sp>
            <p:nvSpPr>
              <p:cNvPr id="149" name="Google Shape;149;p18"/>
              <p:cNvSpPr txBox="1"/>
              <p:nvPr/>
            </p:nvSpPr>
            <p:spPr>
              <a:xfrm>
                <a:off x="2857500" y="3048000"/>
                <a:ext cx="1238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Temas y Canales</a:t>
                </a:r>
                <a:endParaRPr b="1" sz="2400">
                  <a:solidFill>
                    <a:srgbClr val="0A0915"/>
                  </a:solidFill>
                  <a:latin typeface="Inter"/>
                  <a:ea typeface="Inter"/>
                  <a:cs typeface="Inter"/>
                  <a:sym typeface="Inter"/>
                </a:endParaRPr>
              </a:p>
              <a:p>
                <a:pPr indent="0" lvl="0" marL="0" rtl="0" algn="l">
                  <a:spcBef>
                    <a:spcPts val="0"/>
                  </a:spcBef>
                  <a:spcAft>
                    <a:spcPts val="0"/>
                  </a:spcAft>
                  <a:buNone/>
                </a:pPr>
                <a:r>
                  <a:rPr b="0" lang="en-US" sz="1800">
                    <a:solidFill>
                      <a:srgbClr val="666666"/>
                    </a:solidFill>
                    <a:latin typeface="Inter"/>
                    <a:ea typeface="Inter"/>
                    <a:cs typeface="Inter"/>
                    <a:sym typeface="Inter"/>
                  </a:rPr>
                  <a:t>Definir qué canal específico se utiliza para cada tipo de tema.</a:t>
                </a:r>
                <a:endParaRPr b="0" sz="1800">
                  <a:solidFill>
                    <a:srgbClr val="666666"/>
                  </a:solidFill>
                  <a:latin typeface="Inter"/>
                  <a:ea typeface="Inter"/>
                  <a:cs typeface="Inter"/>
                  <a:sym typeface="Inter"/>
                </a:endParaRPr>
              </a:p>
            </p:txBody>
          </p:sp>
        </p:grpSp>
        <p:grpSp>
          <p:nvGrpSpPr>
            <p:cNvPr id="150" name="Google Shape;150;p18"/>
            <p:cNvGrpSpPr/>
            <p:nvPr/>
          </p:nvGrpSpPr>
          <p:grpSpPr>
            <a:xfrm>
              <a:off x="2095500" y="4191000"/>
              <a:ext cx="13144500" cy="762000"/>
              <a:chOff x="2095500" y="4191000"/>
              <a:chExt cx="13144500" cy="762000"/>
            </a:xfrm>
          </p:grpSpPr>
          <p:sp>
            <p:nvSpPr>
              <p:cNvPr id="151" name="Google Shape;151;p18"/>
              <p:cNvSpPr txBox="1"/>
              <p:nvPr/>
            </p:nvSpPr>
            <p:spPr>
              <a:xfrm>
                <a:off x="2095500" y="42494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0077CC"/>
                    </a:solidFill>
                    <a:latin typeface="Material Icons"/>
                    <a:ea typeface="Material Icons"/>
                    <a:cs typeface="Material Icons"/>
                    <a:sym typeface="Material Icons"/>
                  </a:rPr>
                  <a:t></a:t>
                </a:r>
                <a:endParaRPr sz="3700">
                  <a:solidFill>
                    <a:srgbClr val="0077CC"/>
                  </a:solidFill>
                  <a:latin typeface="Material Icons"/>
                  <a:ea typeface="Material Icons"/>
                  <a:cs typeface="Material Icons"/>
                  <a:sym typeface="Material Icons"/>
                </a:endParaRPr>
              </a:p>
            </p:txBody>
          </p:sp>
          <p:sp>
            <p:nvSpPr>
              <p:cNvPr id="152" name="Google Shape;152;p18"/>
              <p:cNvSpPr txBox="1"/>
              <p:nvPr/>
            </p:nvSpPr>
            <p:spPr>
              <a:xfrm>
                <a:off x="2857500" y="4191000"/>
                <a:ext cx="1238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Urgencia Esperada</a:t>
                </a:r>
                <a:endParaRPr b="1" sz="2400">
                  <a:solidFill>
                    <a:srgbClr val="0A0915"/>
                  </a:solidFill>
                  <a:latin typeface="Inter"/>
                  <a:ea typeface="Inter"/>
                  <a:cs typeface="Inter"/>
                  <a:sym typeface="Inter"/>
                </a:endParaRPr>
              </a:p>
              <a:p>
                <a:pPr indent="0" lvl="0" marL="0" rtl="0" algn="l">
                  <a:spcBef>
                    <a:spcPts val="0"/>
                  </a:spcBef>
                  <a:spcAft>
                    <a:spcPts val="0"/>
                  </a:spcAft>
                  <a:buNone/>
                </a:pPr>
                <a:r>
                  <a:rPr b="0" lang="en-US" sz="1800">
                    <a:solidFill>
                      <a:srgbClr val="666666"/>
                    </a:solidFill>
                    <a:latin typeface="Inter"/>
                    <a:ea typeface="Inter"/>
                    <a:cs typeface="Inter"/>
                    <a:sym typeface="Inter"/>
                  </a:rPr>
                  <a:t>Establecer los tiempos de respuesta y niveles de prioridad para cada uno.</a:t>
                </a:r>
                <a:endParaRPr b="0" sz="1800">
                  <a:solidFill>
                    <a:srgbClr val="666666"/>
                  </a:solidFill>
                  <a:latin typeface="Inter"/>
                  <a:ea typeface="Inter"/>
                  <a:cs typeface="Inter"/>
                  <a:sym typeface="Inter"/>
                </a:endParaRPr>
              </a:p>
            </p:txBody>
          </p:sp>
        </p:grpSp>
        <p:grpSp>
          <p:nvGrpSpPr>
            <p:cNvPr id="153" name="Google Shape;153;p18"/>
            <p:cNvGrpSpPr/>
            <p:nvPr/>
          </p:nvGrpSpPr>
          <p:grpSpPr>
            <a:xfrm>
              <a:off x="2095500" y="5334000"/>
              <a:ext cx="13144500" cy="762000"/>
              <a:chOff x="2095500" y="5334000"/>
              <a:chExt cx="13144500" cy="762000"/>
            </a:xfrm>
          </p:grpSpPr>
          <p:sp>
            <p:nvSpPr>
              <p:cNvPr id="154" name="Google Shape;154;p18"/>
              <p:cNvSpPr txBox="1"/>
              <p:nvPr/>
            </p:nvSpPr>
            <p:spPr>
              <a:xfrm>
                <a:off x="2095500" y="53924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0077CC"/>
                    </a:solidFill>
                    <a:latin typeface="Material Icons"/>
                    <a:ea typeface="Material Icons"/>
                    <a:cs typeface="Material Icons"/>
                    <a:sym typeface="Material Icons"/>
                  </a:rPr>
                  <a:t></a:t>
                </a:r>
                <a:endParaRPr sz="3700">
                  <a:solidFill>
                    <a:srgbClr val="0077CC"/>
                  </a:solidFill>
                  <a:latin typeface="Material Icons"/>
                  <a:ea typeface="Material Icons"/>
                  <a:cs typeface="Material Icons"/>
                  <a:sym typeface="Material Icons"/>
                </a:endParaRPr>
              </a:p>
            </p:txBody>
          </p:sp>
          <p:sp>
            <p:nvSpPr>
              <p:cNvPr id="155" name="Google Shape;155;p18"/>
              <p:cNvSpPr txBox="1"/>
              <p:nvPr/>
            </p:nvSpPr>
            <p:spPr>
              <a:xfrm>
                <a:off x="2857500" y="5334000"/>
                <a:ext cx="1238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Disponibilidad Horaria</a:t>
                </a:r>
                <a:endParaRPr b="1" sz="2400">
                  <a:solidFill>
                    <a:srgbClr val="0A0915"/>
                  </a:solidFill>
                  <a:latin typeface="Inter"/>
                  <a:ea typeface="Inter"/>
                  <a:cs typeface="Inter"/>
                  <a:sym typeface="Inter"/>
                </a:endParaRPr>
              </a:p>
              <a:p>
                <a:pPr indent="0" lvl="0" marL="0" rtl="0" algn="l">
                  <a:spcBef>
                    <a:spcPts val="0"/>
                  </a:spcBef>
                  <a:spcAft>
                    <a:spcPts val="0"/>
                  </a:spcAft>
                  <a:buNone/>
                </a:pPr>
                <a:r>
                  <a:rPr b="0" lang="en-US" sz="1800">
                    <a:solidFill>
                      <a:srgbClr val="666666"/>
                    </a:solidFill>
                    <a:latin typeface="Inter"/>
                    <a:ea typeface="Inter"/>
                    <a:cs typeface="Inter"/>
                    <a:sym typeface="Inter"/>
                  </a:rPr>
                  <a:t>Alinear los horarios en los que cada canal estará operativo.</a:t>
                </a:r>
                <a:endParaRPr b="0" sz="1800">
                  <a:solidFill>
                    <a:srgbClr val="666666"/>
                  </a:solidFill>
                  <a:latin typeface="Inter"/>
                  <a:ea typeface="Inter"/>
                  <a:cs typeface="Inter"/>
                  <a:sym typeface="Inter"/>
                </a:endParaRPr>
              </a:p>
            </p:txBody>
          </p:sp>
        </p:grpSp>
        <p:sp>
          <p:nvSpPr>
            <p:cNvPr id="156" name="Google Shape;156;p18"/>
            <p:cNvSpPr txBox="1"/>
            <p:nvPr/>
          </p:nvSpPr>
          <p:spPr>
            <a:xfrm>
              <a:off x="2095500" y="6667500"/>
              <a:ext cx="14097000" cy="11430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b="1" lang="en-US" sz="1850">
                  <a:solidFill>
                    <a:srgbClr val="0077CC"/>
                  </a:solidFill>
                  <a:highlight>
                    <a:srgbClr val="E6F2FA"/>
                  </a:highlight>
                  <a:latin typeface="Inter"/>
                  <a:ea typeface="Inter"/>
                  <a:cs typeface="Inter"/>
                  <a:sym typeface="Inter"/>
                </a:rPr>
                <a:t>Nota Crítica: </a:t>
              </a:r>
              <a:r>
                <a:rPr b="0" lang="en-US" sz="1850">
                  <a:solidFill>
                    <a:srgbClr val="0A0915"/>
                  </a:solidFill>
                  <a:highlight>
                    <a:srgbClr val="E6F2FA"/>
                  </a:highlight>
                  <a:latin typeface="Inter"/>
                  <a:ea typeface="Inter"/>
                  <a:cs typeface="Inter"/>
                  <a:sym typeface="Inter"/>
                </a:rPr>
                <a:t>Si comunicación solo lee correos por la mañana, hay que saberlo ahora para evitar cuellos de botella.</a:t>
              </a:r>
              <a:endParaRPr b="1" sz="1850">
                <a:solidFill>
                  <a:srgbClr val="0077CC"/>
                </a:solidFill>
                <a:highlight>
                  <a:srgbClr val="E6F2FA"/>
                </a:highlight>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p:nvPr/>
        </p:nvSpPr>
        <p:spPr>
          <a:xfrm>
            <a:off x="0" y="0"/>
            <a:ext cx="18288000" cy="102870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9"/>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El kickoff no se mide</a:t>
            </a:r>
            <a:endParaRPr/>
          </a:p>
        </p:txBody>
      </p:sp>
      <p:sp>
        <p:nvSpPr>
          <p:cNvPr id="164" name="Google Shape;164;p19"/>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por las slides que mostraste</a:t>
            </a:r>
            <a:endParaRPr/>
          </a:p>
        </p:txBody>
      </p:sp>
      <p:sp>
        <p:nvSpPr>
          <p:cNvPr id="165" name="Google Shape;165;p19"/>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Se mide por las preguntas que quedaron respondidas.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