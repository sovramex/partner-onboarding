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9.6s · 24 palabras]</a:t>
            </a:r>
          </a:p>
          <a:p/>
          <a:p>
            <a:r>
              <a:t>La segunda reunión es el kickoff formal. Dura una hora y media a dos horas. Es la reunión más importante de la Fase 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17.2s · 43 palabras]</a:t>
            </a:r>
          </a:p>
          <a:p/>
          <a:p>
            <a:r>
              <a:t>El objetivo del kickoff no es presentar la plataforma. Es lograr que todos en la sala entiendan exactamente qué se va a hacer, qué NO se va a hacer, y quién es responsable de qué. Es un acuerdo de trabajo, no una presentación.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30.8s · 77 palabras]</a:t>
            </a:r>
          </a:p>
          <a:p/>
          <a:p>
            <a:r>
              <a:t>Antes de la reunión, tu tarea es leer el contrato completo y preparar un resumen del alcance en lenguaje simple. Lenguaje simple significa que el dueño del proyecto, que probablemente no leyó el contrato a fondo, lo entienda en cinco minutos. Qué módulos entran. Qué integraciones aplican. Qué queda explícitamente afuera. En la reunión, recorres ese resumen y lo confirmas con ambas partes. Es preferible que quede firmado, pero como mínimo tiene que quedar confirmado por escrito.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17.2s · 43 palabras]</a:t>
            </a:r>
          </a:p>
          <a:p/>
          <a:p>
            <a:r>
              <a:t>Hay una decisión que se toma acá y no después: SaaS o instalación propia. Esto define toda la arquitectura del proyecto. Si sales del kickoff con esto ambiguo, te vas a chocar con esa ambigüedad en Fase C, cuando ya sea muy tarde.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11.6s · 29 palabras]</a:t>
            </a:r>
          </a:p>
          <a:p/>
          <a:p>
            <a:r>
              <a:t>Después del alcance vienen las responsabilidades. Una matriz simple, no necesariamente un RACI completo, pero un documento explícito que diga quién hace qué. No basta con un acuerdo verbal.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18.8s · 47 palabras]</a:t>
            </a:r>
          </a:p>
          <a:p/>
          <a:p>
            <a:r>
              <a:t>Y por último, los canales de comunicación. Qué canal se usa para qué tema. Cuál es la urgencia esperada de cada uno. Qué horarios aplican. Si la persona de comunicación del gobierno solo lee correos por la mañana, hay que saberlo ahora, no en la semana ocho.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7.2s · 18 palabras]</a:t>
            </a:r>
          </a:p>
          <a:p/>
          <a:p>
            <a:r>
              <a:t>El kickoff no se mide por las slides que mostraste. Se mide por las preguntas que quedaron respondidas.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077CC"/>
                </a:solidFill>
                <a:latin typeface="Figtree"/>
              </a:rPr>
              <a:t>FASE A</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Alcance y canales</a:t>
            </a:r>
          </a:p>
          <a:p>
            <a:pPr algn="l">
              <a:lnSpc>
                <a:spcPct val="110000"/>
              </a:lnSpc>
            </a:pPr>
            <a:r>
              <a:rPr sz="8000" b="1" i="0">
                <a:solidFill>
                  <a:srgbClr val="0A0915"/>
                </a:solidFill>
                <a:latin typeface="Plus Jakarta Sans"/>
              </a:rPr>
              <a:t>en el kickoff formal.</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Una hora y media a dos horas. La reunión más importante de la Fase A.</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El objetivo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No es presentar la plataforma.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Es lograr que todos en la sala entiendan exactamente qué se va a hacer, qué NO se va a hacer, y quién es responsable de qué. Es un acuerdo de trabajo, no una presentación.</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Antes de la reunión</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Leer el contrato</a:t>
            </a:r>
          </a:p>
          <a:p>
            <a:pPr algn="ctr">
              <a:lnSpc>
                <a:spcPct val="115000"/>
              </a:lnSpc>
            </a:pPr>
            <a:r>
              <a:rPr sz="5600" b="1" i="0">
                <a:solidFill>
                  <a:srgbClr val="0A0915"/>
                </a:solidFill>
                <a:latin typeface="Plus Jakarta Sans"/>
              </a:rPr>
              <a:t>y preparar un resumen en lenguaje simple.</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Que el dueño del proyecto lo entienda en cinco minutos. Qué módulos entran. Qué integraciones aplican. Qué queda explícitamente afuera.</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Una decisión que se toma acá</a:t>
            </a:r>
          </a:p>
          <a:p>
            <a:pPr algn="ctr">
              <a:lnSpc>
                <a:spcPct val="115000"/>
              </a:lnSpc>
            </a:pPr>
            <a:r>
              <a:rPr sz="4400" b="1" i="0">
                <a:solidFill>
                  <a:srgbClr val="0A0915"/>
                </a:solidFill>
                <a:latin typeface="Plus Jakarta Sans"/>
              </a:rPr>
              <a:t>y no después.</a:t>
            </a:r>
          </a:p>
        </p:txBody>
      </p:sp>
      <p:sp>
        <p:nvSpPr>
          <p:cNvPr id="3" name="Rounded Rectangle 2"/>
          <p:cNvSpPr/>
          <p:nvPr/>
        </p:nvSpPr>
        <p:spPr>
          <a:xfrm>
            <a:off x="1828800" y="4572000"/>
            <a:ext cx="6400800" cy="411480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029200"/>
            <a:ext cx="5486400" cy="731520"/>
          </a:xfrm>
          <a:prstGeom prst="rect">
            <a:avLst/>
          </a:prstGeom>
          <a:noFill/>
        </p:spPr>
        <p:txBody>
          <a:bodyPr wrap="square" anchor="t" lIns="0" rIns="0" tIns="0" bIns="0">
            <a:spAutoFit/>
          </a:bodyPr>
          <a:lstStyle/>
          <a:p>
            <a:pPr algn="l">
              <a:lnSpc>
                <a:spcPct val="115000"/>
              </a:lnSpc>
            </a:pPr>
            <a:r>
              <a:rPr sz="1800" b="1" i="0">
                <a:solidFill>
                  <a:srgbClr val="888888"/>
                </a:solidFill>
                <a:latin typeface="Figtree"/>
              </a:rPr>
              <a:t>SaaS</a:t>
            </a:r>
          </a:p>
        </p:txBody>
      </p:sp>
      <p:sp>
        <p:nvSpPr>
          <p:cNvPr id="5" name="TextBox 4"/>
          <p:cNvSpPr txBox="1"/>
          <p:nvPr/>
        </p:nvSpPr>
        <p:spPr>
          <a:xfrm>
            <a:off x="2286000" y="6035040"/>
            <a:ext cx="5486400" cy="2286000"/>
          </a:xfrm>
          <a:prstGeom prst="rect">
            <a:avLst/>
          </a:prstGeom>
          <a:noFill/>
        </p:spPr>
        <p:txBody>
          <a:bodyPr wrap="square" anchor="t" lIns="0" rIns="0" tIns="0" bIns="0">
            <a:spAutoFit/>
          </a:bodyPr>
          <a:lstStyle/>
          <a:p>
            <a:pPr algn="l">
              <a:lnSpc>
                <a:spcPct val="130000"/>
              </a:lnSpc>
            </a:pPr>
            <a:r>
              <a:rPr sz="2800" b="0" i="0">
                <a:solidFill>
                  <a:srgbClr val="0A0915"/>
                </a:solidFill>
                <a:latin typeface="Plus Jakarta Sans"/>
              </a:rPr>
              <a:t>Define toda la arquitectura del proyecto.</a:t>
            </a:r>
          </a:p>
        </p:txBody>
      </p:sp>
      <p:sp>
        <p:nvSpPr>
          <p:cNvPr id="6" name="Rounded Rectangle 5"/>
          <p:cNvSpPr/>
          <p:nvPr/>
        </p:nvSpPr>
        <p:spPr>
          <a:xfrm>
            <a:off x="10058400" y="4572000"/>
            <a:ext cx="6400800" cy="41148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5029200"/>
            <a:ext cx="5486400" cy="731520"/>
          </a:xfrm>
          <a:prstGeom prst="rect">
            <a:avLst/>
          </a:prstGeom>
          <a:noFill/>
        </p:spPr>
        <p:txBody>
          <a:bodyPr wrap="square" anchor="t" lIns="0" rIns="0" tIns="0" bIns="0">
            <a:spAutoFit/>
          </a:bodyPr>
          <a:lstStyle/>
          <a:p>
            <a:pPr algn="l">
              <a:lnSpc>
                <a:spcPct val="115000"/>
              </a:lnSpc>
            </a:pPr>
            <a:r>
              <a:rPr sz="1800" b="1" i="0">
                <a:solidFill>
                  <a:srgbClr val="FFFFFF"/>
                </a:solidFill>
                <a:latin typeface="Figtree"/>
              </a:rPr>
              <a:t>Instalación propia</a:t>
            </a:r>
          </a:p>
        </p:txBody>
      </p:sp>
      <p:sp>
        <p:nvSpPr>
          <p:cNvPr id="8" name="TextBox 7"/>
          <p:cNvSpPr txBox="1"/>
          <p:nvPr/>
        </p:nvSpPr>
        <p:spPr>
          <a:xfrm>
            <a:off x="10515600" y="6035040"/>
            <a:ext cx="5486400" cy="2286000"/>
          </a:xfrm>
          <a:prstGeom prst="rect">
            <a:avLst/>
          </a:prstGeom>
          <a:noFill/>
        </p:spPr>
        <p:txBody>
          <a:bodyPr wrap="square" anchor="t" lIns="0" rIns="0" tIns="0" bIns="0">
            <a:spAutoFit/>
          </a:bodyPr>
          <a:lstStyle/>
          <a:p>
            <a:pPr algn="l">
              <a:lnSpc>
                <a:spcPct val="130000"/>
              </a:lnSpc>
            </a:pPr>
            <a:r>
              <a:rPr sz="2800" b="0" i="0">
                <a:solidFill>
                  <a:srgbClr val="FFFFFF"/>
                </a:solidFill>
                <a:latin typeface="Plus Jakarta Sans"/>
              </a:rPr>
              <a:t>Define toda la arquitectura del proyecto.</a:t>
            </a:r>
          </a:p>
          <a:p>
            <a:pPr algn="l">
              <a:lnSpc>
                <a:spcPct val="130000"/>
              </a:lnSpc>
            </a:pPr>
            <a:r>
              <a:rPr sz="2800" b="0" i="0">
                <a:solidFill>
                  <a:srgbClr val="FFFFFF"/>
                </a:solidFill>
                <a:latin typeface="Plus Jakarta Sans"/>
              </a:rPr>
              <a:t>Si sales con esto ambiguo, te chocas con la ambigüedad en Fase C, cuando ya sea muy tarde.</a:t>
            </a:r>
          </a:p>
        </p:txBody>
      </p:sp>
      <p:sp>
        <p:nvSpPr>
          <p:cNvPr id="9" name="TextBox 8"/>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077CC"/>
                </a:solidFill>
                <a:latin typeface="Figtree"/>
              </a:rPr>
              <a:t>Después del alcance</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Una matriz simple de responsabilidades.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No necesariamente un RACI completo, pero un documento explícito que diga quién hace qué. No basta con un acuerdo verbal.</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Y los canales de comunicación.</a:t>
            </a:r>
          </a:p>
        </p:txBody>
      </p:sp>
      <p:sp>
        <p:nvSpPr>
          <p:cNvPr id="3" name="Rounded Rectangle 2"/>
          <p:cNvSpPr/>
          <p:nvPr/>
        </p:nvSpPr>
        <p:spPr>
          <a:xfrm>
            <a:off x="1371600" y="388620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Qué canal se usa para qué tema.</a:t>
            </a:r>
          </a:p>
        </p:txBody>
      </p:sp>
      <p:sp>
        <p:nvSpPr>
          <p:cNvPr id="5" name="Rounded Rectangle 4"/>
          <p:cNvSpPr/>
          <p:nvPr/>
        </p:nvSpPr>
        <p:spPr>
          <a:xfrm>
            <a:off x="1371600" y="470916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Cuál es la urgencia esperada de cada uno.</a:t>
            </a:r>
          </a:p>
        </p:txBody>
      </p:sp>
      <p:sp>
        <p:nvSpPr>
          <p:cNvPr id="7" name="Rounded Rectangle 6"/>
          <p:cNvSpPr/>
          <p:nvPr/>
        </p:nvSpPr>
        <p:spPr>
          <a:xfrm>
            <a:off x="1371600" y="553212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Qué horarios aplican.</a:t>
            </a:r>
          </a:p>
        </p:txBody>
      </p:sp>
      <p:sp>
        <p:nvSpPr>
          <p:cNvPr id="9" name="Rounded Rectangle 8"/>
          <p:cNvSpPr/>
          <p:nvPr/>
        </p:nvSpPr>
        <p:spPr>
          <a:xfrm>
            <a:off x="1371600" y="6355080"/>
            <a:ext cx="228600" cy="228600"/>
          </a:xfrm>
          <a:prstGeom prst="round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Si comunicación solo lee correos por la mañana, hay que saberlo ahora.</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El kickoff no se mide</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por las slides que mostraste.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Se mide por las preguntas que quedaron respondidas.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