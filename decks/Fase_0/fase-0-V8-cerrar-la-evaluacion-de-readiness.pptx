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</p:sldIdLst>
  <p:sldSz cx="18288000" cy="10287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[Duración estimada: 14.0s · 35 palabras]</a:t>
            </a:r>
          </a:p>
          <a:p/>
          <a:p>
            <a:r>
              <a:t>Para cerrar Fase Pre-A tienes que formalizar la decisión. No alcanza con tener una intuición de que el gobierno está listo. Lo escribes y lo firmas. Es lo que se llama la Declaración de Readiness.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[Duración estimada: 32.4s · 81 palabras]</a:t>
            </a:r>
          </a:p>
          <a:p/>
          <a:p>
            <a:r>
              <a:t>La declaración tiene cuatro puntos que vas a marcar como verdes o como pendientes. Uno: dueño político confirmado y disponible. El secretario o director asistirá al kickoff y asigna equipo. Dos: IDP operativo. El gobierno tiene proveedor de identidad propio o está dispuesto a usar el de Sovra. Tres: equipo core completo nominado. Los cinco roles del gobierno con nombre y apellido y dedicación negociada. Cuatro: cinco trámites candidatos identificados. Una lista preliminar con volumen estimado, no necesita estar priorizada todavía.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[Duración estimada: 14.8s · 37 palabras]</a:t>
            </a:r>
          </a:p>
          <a:p/>
          <a:p>
            <a:r>
              <a:t>La regla de decisión es directa. Menos de tres señales verdes significa que no comprometes timeline. Ofreces pre-discovery de dos a cuatro semanas y arrancas cuando estén las condiciones. Es mejor retrasar el arranque que arrancar mal.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[Duración estimada: 31.2s · 78 palabras]</a:t>
            </a:r>
          </a:p>
          <a:p/>
          <a:p>
            <a:r>
              <a:t>Antes de cerrar la fase también revisas tu checklist propio. Cuatro puntos básicos. Readiness evaluado con las cuatro señales del gobierno revisadas, y si hay dos o más rojas, ofreces pre-discovery antes de comprometer timeline. Tu equipo tiene los tres roles asignados: líder, técnico y soporte. Conoces el modelo de soporte de tres niveles y los SLAs. Y tienes acceso al Kit de materiales y a la Guía de Implementación. Si no recibiste el kit, contactas a partners@sovra.io.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[Duración estimada: 7.2s · 18 palabras]</a:t>
            </a:r>
          </a:p>
          <a:p/>
          <a:p>
            <a:r>
              <a:t>Readiness no se intuye, se firma. Si no puedes firmarla con tranquilidad, todavía no es momento de arrancar.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228600"/>
          </a:xfrm>
          <a:prstGeom prst="rect">
            <a:avLst/>
          </a:prstGeom>
          <a:solidFill>
            <a:srgbClr val="0077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0" y="3200400"/>
            <a:ext cx="15544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0077CC"/>
                </a:solidFill>
                <a:latin typeface="Figtree"/>
              </a:rPr>
              <a:t>FASE 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3840480"/>
            <a:ext cx="15544800" cy="365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8000" b="1" i="0">
                <a:solidFill>
                  <a:srgbClr val="0A0915"/>
                </a:solidFill>
                <a:latin typeface="Plus Jakarta Sans"/>
              </a:rPr>
              <a:t>Cerrar Pre-A:</a:t>
            </a:r>
          </a:p>
          <a:p>
            <a:pPr algn="l">
              <a:lnSpc>
                <a:spcPct val="110000"/>
              </a:lnSpc>
            </a:pPr>
            <a:r>
              <a:rPr sz="8000" b="1" i="0">
                <a:solidFill>
                  <a:srgbClr val="0A0915"/>
                </a:solidFill>
                <a:latin typeface="Plus Jakarta Sans"/>
              </a:rPr>
              <a:t>la Declaración de Readiness.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7772400"/>
            <a:ext cx="155448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200" b="0" i="0">
                <a:solidFill>
                  <a:srgbClr val="888888"/>
                </a:solidFill>
                <a:latin typeface="Figtree"/>
              </a:rPr>
              <a:t>No alcanza con tener una intuición. Lo escribes y lo firmas.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0" y="9829800"/>
            <a:ext cx="43891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888888"/>
                </a:solidFill>
                <a:latin typeface="Figtree"/>
              </a:rPr>
              <a:t>Sovra Partners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1371600"/>
            <a:ext cx="1554480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200" b="1" i="0">
                <a:solidFill>
                  <a:srgbClr val="0A0915"/>
                </a:solidFill>
                <a:latin typeface="Plus Jakarta Sans"/>
              </a:rPr>
              <a:t>Cuatro puntos — verde o pendiente.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371600" y="3886200"/>
            <a:ext cx="228600" cy="228600"/>
          </a:xfrm>
          <a:prstGeom prst="roundRect">
            <a:avLst/>
          </a:prstGeom>
          <a:solidFill>
            <a:srgbClr val="0077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828800" y="3657600"/>
            <a:ext cx="150876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200" b="0" i="0">
                <a:solidFill>
                  <a:srgbClr val="0A0915"/>
                </a:solidFill>
                <a:latin typeface="Figtree"/>
              </a:rPr>
              <a:t>Dueño político confirmado y disponible. Asistirá al kickoff y asigna equipo.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71600" y="4709160"/>
            <a:ext cx="228600" cy="228600"/>
          </a:xfrm>
          <a:prstGeom prst="roundRect">
            <a:avLst/>
          </a:prstGeom>
          <a:solidFill>
            <a:srgbClr val="0077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828800" y="4480560"/>
            <a:ext cx="150876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200" b="0" i="0">
                <a:solidFill>
                  <a:srgbClr val="0A0915"/>
                </a:solidFill>
                <a:latin typeface="Figtree"/>
              </a:rPr>
              <a:t>IDP operativo. Proveedor propio o disposición a usar el de Sovra.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371600" y="5532120"/>
            <a:ext cx="228600" cy="228600"/>
          </a:xfrm>
          <a:prstGeom prst="roundRect">
            <a:avLst/>
          </a:prstGeom>
          <a:solidFill>
            <a:srgbClr val="0077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28800" y="5303520"/>
            <a:ext cx="150876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200" b="0" i="0">
                <a:solidFill>
                  <a:srgbClr val="0A0915"/>
                </a:solidFill>
                <a:latin typeface="Figtree"/>
              </a:rPr>
              <a:t>Equipo core completo nominado. Los cinco roles con nombre y apellido.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371600" y="6355080"/>
            <a:ext cx="228600" cy="228600"/>
          </a:xfrm>
          <a:prstGeom prst="roundRect">
            <a:avLst/>
          </a:prstGeom>
          <a:solidFill>
            <a:srgbClr val="0077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828800" y="6126480"/>
            <a:ext cx="150876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200" b="0" i="0">
                <a:solidFill>
                  <a:srgbClr val="0A0915"/>
                </a:solidFill>
                <a:latin typeface="Figtree"/>
              </a:rPr>
              <a:t>Cinco trámites candidatos identificados. Lista preliminar con volumen estimado.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716000" y="9829800"/>
            <a:ext cx="43891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888888"/>
                </a:solidFill>
                <a:latin typeface="Figtree"/>
              </a:rPr>
              <a:t>Sovra Partners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2286000"/>
            <a:ext cx="15544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1" i="0">
                <a:solidFill>
                  <a:srgbClr val="0077CC"/>
                </a:solidFill>
                <a:latin typeface="Figtree"/>
              </a:rPr>
              <a:t>Regla de decisión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3200400"/>
            <a:ext cx="15544800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5600" b="1" i="0">
                <a:solidFill>
                  <a:srgbClr val="0A0915"/>
                </a:solidFill>
                <a:latin typeface="Plus Jakarta Sans"/>
              </a:rPr>
              <a:t>Menos de tres verdes = no arrancas.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828800" y="6858000"/>
            <a:ext cx="14630400" cy="228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40000"/>
              </a:lnSpc>
            </a:pPr>
            <a:r>
              <a:rPr sz="2400" b="0" i="0">
                <a:solidFill>
                  <a:srgbClr val="0A0915"/>
                </a:solidFill>
                <a:latin typeface="Figtree"/>
              </a:rPr>
              <a:t>Ofreces pre-discovery de 2 a 4 semanas y arrancas cuando estén las condiciones. Es mejor retrasar el arranque que arrancar mal.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0" y="9829800"/>
            <a:ext cx="43891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888888"/>
                </a:solidFill>
                <a:latin typeface="Figtree"/>
              </a:rPr>
              <a:t>Sovra Partners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1371600"/>
            <a:ext cx="1554480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200" b="1" i="0">
                <a:solidFill>
                  <a:srgbClr val="0A0915"/>
                </a:solidFill>
                <a:latin typeface="Plus Jakarta Sans"/>
              </a:rPr>
              <a:t>Tu checklist propio antes de cerrar.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371600" y="3886200"/>
            <a:ext cx="228600" cy="228600"/>
          </a:xfrm>
          <a:prstGeom prst="roundRect">
            <a:avLst/>
          </a:prstGeom>
          <a:solidFill>
            <a:srgbClr val="0077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828800" y="3657600"/>
            <a:ext cx="150876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200" b="0" i="0">
                <a:solidFill>
                  <a:srgbClr val="0A0915"/>
                </a:solidFill>
                <a:latin typeface="Figtree"/>
              </a:rPr>
              <a:t>Readiness evaluado con las cuatro señales. Dos o más rojas = pre-discovery.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71600" y="4709160"/>
            <a:ext cx="228600" cy="228600"/>
          </a:xfrm>
          <a:prstGeom prst="roundRect">
            <a:avLst/>
          </a:prstGeom>
          <a:solidFill>
            <a:srgbClr val="0077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828800" y="4480560"/>
            <a:ext cx="150876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200" b="0" i="0">
                <a:solidFill>
                  <a:srgbClr val="0A0915"/>
                </a:solidFill>
                <a:latin typeface="Figtree"/>
              </a:rPr>
              <a:t>Tu equipo tiene los tres roles asignados: líder, técnico, soporte.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371600" y="5532120"/>
            <a:ext cx="228600" cy="228600"/>
          </a:xfrm>
          <a:prstGeom prst="roundRect">
            <a:avLst/>
          </a:prstGeom>
          <a:solidFill>
            <a:srgbClr val="0077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28800" y="5303520"/>
            <a:ext cx="150876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200" b="0" i="0">
                <a:solidFill>
                  <a:srgbClr val="0A0915"/>
                </a:solidFill>
                <a:latin typeface="Figtree"/>
              </a:rPr>
              <a:t>Conoces el modelo de soporte y los SLAs.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371600" y="6355080"/>
            <a:ext cx="228600" cy="228600"/>
          </a:xfrm>
          <a:prstGeom prst="roundRect">
            <a:avLst/>
          </a:prstGeom>
          <a:solidFill>
            <a:srgbClr val="0077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828800" y="6126480"/>
            <a:ext cx="150876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200" b="0" i="0">
                <a:solidFill>
                  <a:srgbClr val="0A0915"/>
                </a:solidFill>
                <a:latin typeface="Figtree"/>
              </a:rPr>
              <a:t>Tienes acceso al Kit y a la Guía. Si falta, contactas partners@sovra.io.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716000" y="9829800"/>
            <a:ext cx="43891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888888"/>
                </a:solidFill>
                <a:latin typeface="Figtree"/>
              </a:rPr>
              <a:t>Sovra Partners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0077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0" y="3200400"/>
            <a:ext cx="155448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4200" b="0" i="0">
                <a:solidFill>
                  <a:srgbClr val="FFFFFF"/>
                </a:solidFill>
                <a:latin typeface="Plus Jakarta Sans"/>
              </a:rPr>
              <a:t>Readiness no se intuye,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4754880"/>
            <a:ext cx="15544800" cy="228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7800" b="1" i="0">
                <a:solidFill>
                  <a:srgbClr val="FFFFFF"/>
                </a:solidFill>
                <a:latin typeface="Plus Jakarta Sans"/>
              </a:rPr>
              <a:t>se firma.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7315200"/>
            <a:ext cx="155448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3000" b="0" i="0">
                <a:solidFill>
                  <a:srgbClr val="FFFFFF"/>
                </a:solidFill>
                <a:latin typeface="Plus Jakarta Sans"/>
              </a:rPr>
              <a:t>Si no puedes firmarla con tranquilidad, no es momento.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0" y="9829800"/>
            <a:ext cx="43891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CCE5FF"/>
                </a:solidFill>
                <a:latin typeface="Figtree"/>
              </a:rPr>
              <a:t>Sovra Partners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