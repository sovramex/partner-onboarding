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10287000" cx="18288000"/>
  <p:notesSz cx="6858000" cy="9144000"/>
  <p:embeddedFontLst>
    <p:embeddedFont>
      <p:font typeface="Inter SemiBold"/>
      <p:regular r:id="rId11"/>
      <p:bold r:id="rId12"/>
      <p:italic r:id="rId13"/>
      <p:boldItalic r:id="rId14"/>
    </p:embeddedFont>
    <p:embeddedFont>
      <p:font typeface="Inter"/>
      <p:regular r:id="rId15"/>
      <p:bold r:id="rId16"/>
      <p:italic r:id="rId17"/>
      <p:boldItalic r:id="rId18"/>
    </p:embeddedFont>
    <p:embeddedFont>
      <p:font typeface="Inter ExtraBold"/>
      <p:bold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ExtraBold-boldItalic.fntdata"/><Relationship Id="rId11" Type="http://schemas.openxmlformats.org/officeDocument/2006/relationships/font" Target="fonts/InterSemiBold-regular.fntdata"/><Relationship Id="rId10" Type="http://schemas.openxmlformats.org/officeDocument/2006/relationships/slide" Target="slides/slide5.xml"/><Relationship Id="rId13" Type="http://schemas.openxmlformats.org/officeDocument/2006/relationships/font" Target="fonts/InterSemiBold-italic.fntdata"/><Relationship Id="rId12" Type="http://schemas.openxmlformats.org/officeDocument/2006/relationships/font" Target="fonts/InterSemi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regular.fntdata"/><Relationship Id="rId14" Type="http://schemas.openxmlformats.org/officeDocument/2006/relationships/font" Target="fonts/InterSemiBold-boldItalic.fntdata"/><Relationship Id="rId17" Type="http://schemas.openxmlformats.org/officeDocument/2006/relationships/font" Target="fonts/Inter-italic.fntdata"/><Relationship Id="rId16" Type="http://schemas.openxmlformats.org/officeDocument/2006/relationships/font" Target="fonts/Inter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InterExtraBold-bold.fntdata"/><Relationship Id="rId6" Type="http://schemas.openxmlformats.org/officeDocument/2006/relationships/slide" Target="slides/slide1.xml"/><Relationship Id="rId18" Type="http://schemas.openxmlformats.org/officeDocument/2006/relationships/font" Target="fonts/Int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[Duración estimada: 14.0s · 35 palabras]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Para cerrar Fase Pre-A tienes que formalizar la decisión. No alcanza con tener una intuición de que el gobierno está listo. Lo escribes y lo firmas. Es lo que se llama la Declaración de Readiness.</a:t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[Duración estimada: 32.4s · 81 palabras]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 declaración tiene cuatro puntos que vas a marcar como verdes o como pendientes. Uno: dueño político confirmado y disponible. El secretario o director asistirá al kickoff y asigna equipo. Dos: IDP operativo. El gobierno tiene proveedor de identidad propio o está dispuesto a usar el de Sovra. Tres: equipo core completo nominado. Los cinco roles del gobierno con nombre y apellido y dedicación negociada. Cuatro: cinco trámites candidatos identificados. Una lista preliminar con volumen estimado, no necesita estar priorizada todavía.</a:t>
            </a:r>
            <a:endParaRPr/>
          </a:p>
        </p:txBody>
      </p:sp>
      <p:sp>
        <p:nvSpPr>
          <p:cNvPr id="92" name="Google Shape;9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[Duración estimada: 14.8s · 37 palabras]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 regla de decisión es directa. Menos de tres señales verdes significa que no comprometes timeline. Ofreces pre-discovery de dos a cuatro semanas y arrancas cuando estén las condiciones. Es mejor retrasar el arranque que arrancar mal.</a:t>
            </a:r>
            <a:endParaRPr/>
          </a:p>
        </p:txBody>
      </p:sp>
      <p:sp>
        <p:nvSpPr>
          <p:cNvPr id="118" name="Google Shape;118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[Duración estimada: 31.2s · 78 palabras]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Antes de cerrar la fase también revisas tu checklist propio. Cuatro puntos básicos. Readiness evaluado con las cuatro señales del gobierno revisadas, y si hay dos o más rojas, ofreces pre-discovery antes de comprometer timeline. Tu equipo tiene los tres roles asignados: líder, técnico y soporte. Conoces el modelo de soporte de tres niveles y los SLAs. Y tienes acceso al Kit de materiales y a la Guía de Implementación. Si no recibiste el kit, contactas a partners@sovra.io.</a:t>
            </a:r>
            <a:endParaRPr/>
          </a:p>
        </p:txBody>
      </p:sp>
      <p:sp>
        <p:nvSpPr>
          <p:cNvPr id="131" name="Google Shape;131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[Duración estimada: 7.2s · 18 palabras]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Readiness no se intuye, se firma. Si no puedes firmarla con tranquilidad, todavía no es momento de arrancar.</a:t>
            </a:r>
            <a:endParaRPr/>
          </a:p>
        </p:txBody>
      </p:sp>
      <p:sp>
        <p:nvSpPr>
          <p:cNvPr id="150" name="Google Shape;150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0077C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371600" y="3200400"/>
            <a:ext cx="1554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77CC"/>
                </a:solidFill>
                <a:latin typeface="Inter"/>
                <a:ea typeface="Inter"/>
                <a:cs typeface="Inter"/>
                <a:sym typeface="Inter"/>
              </a:rPr>
              <a:t>FASE 0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371600" y="3840480"/>
            <a:ext cx="155448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rPr>
              <a:t>Cerrar Pre-A: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rPr>
              <a:t>la Declaración de Readiness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371600" y="6517900"/>
            <a:ext cx="15544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rPr>
              <a:t>No alcanza con tener una intuición. Lo escribes y lo firmas.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1371600" y="762000"/>
            <a:ext cx="15544800" cy="73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rPr>
              <a:t>Cuatro señales de Readiness</a:t>
            </a:r>
            <a:endParaRPr b="1" sz="4800">
              <a:solidFill>
                <a:srgbClr val="0A091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96" name="Google Shape;96;p14"/>
          <p:cNvGrpSpPr/>
          <p:nvPr/>
        </p:nvGrpSpPr>
        <p:grpSpPr>
          <a:xfrm>
            <a:off x="1371600" y="2286000"/>
            <a:ext cx="7239000" cy="2857500"/>
            <a:chOff x="1371600" y="2286000"/>
            <a:chExt cx="7239000" cy="2857500"/>
          </a:xfrm>
        </p:grpSpPr>
        <p:sp>
          <p:nvSpPr>
            <p:cNvPr id="97" name="Google Shape;97;p14"/>
            <p:cNvSpPr/>
            <p:nvPr/>
          </p:nvSpPr>
          <p:spPr>
            <a:xfrm>
              <a:off x="1371600" y="2286000"/>
              <a:ext cx="7239000" cy="2857500"/>
            </a:xfrm>
            <a:prstGeom prst="roundRect">
              <a:avLst>
                <a:gd fmla="val 6666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4"/>
            <p:cNvSpPr txBox="1"/>
            <p:nvPr/>
          </p:nvSpPr>
          <p:spPr>
            <a:xfrm>
              <a:off x="1714500" y="2624328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0077C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</a:t>
              </a:r>
              <a:endParaRPr sz="3600">
                <a:solidFill>
                  <a:srgbClr val="0077C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99" name="Google Shape;99;p14"/>
            <p:cNvSpPr txBox="1"/>
            <p:nvPr/>
          </p:nvSpPr>
          <p:spPr>
            <a:xfrm>
              <a:off x="1714500" y="3238500"/>
              <a:ext cx="64770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Dueño Político</a:t>
              </a:r>
              <a:endParaRPr b="1" sz="20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Confirmado, disponible y asigna equipo. Asiste al kickoff como compromiso clave.</a:t>
              </a:r>
              <a:endParaRPr b="0" sz="14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0" name="Google Shape;100;p14"/>
          <p:cNvGrpSpPr/>
          <p:nvPr/>
        </p:nvGrpSpPr>
        <p:grpSpPr>
          <a:xfrm>
            <a:off x="9677400" y="2286000"/>
            <a:ext cx="7239000" cy="2857500"/>
            <a:chOff x="9677400" y="2286000"/>
            <a:chExt cx="7239000" cy="2857500"/>
          </a:xfrm>
        </p:grpSpPr>
        <p:sp>
          <p:nvSpPr>
            <p:cNvPr id="101" name="Google Shape;101;p14"/>
            <p:cNvSpPr/>
            <p:nvPr/>
          </p:nvSpPr>
          <p:spPr>
            <a:xfrm>
              <a:off x="9677400" y="2286000"/>
              <a:ext cx="7239000" cy="2857500"/>
            </a:xfrm>
            <a:prstGeom prst="roundRect">
              <a:avLst>
                <a:gd fmla="val 6666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4"/>
            <p:cNvSpPr txBox="1"/>
            <p:nvPr/>
          </p:nvSpPr>
          <p:spPr>
            <a:xfrm>
              <a:off x="10020300" y="2624328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0077C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</a:t>
              </a:r>
              <a:endParaRPr sz="3600">
                <a:solidFill>
                  <a:srgbClr val="0077C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03" name="Google Shape;103;p14"/>
            <p:cNvSpPr txBox="1"/>
            <p:nvPr/>
          </p:nvSpPr>
          <p:spPr>
            <a:xfrm>
              <a:off x="10020300" y="3238500"/>
              <a:ext cx="64770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IDP Operativo</a:t>
              </a:r>
              <a:endParaRPr b="1" sz="20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Proveedor propio o disposición total a utilizar la infraestructura de Sovra.</a:t>
              </a:r>
              <a:endParaRPr b="0" sz="14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4" name="Google Shape;104;p14"/>
          <p:cNvGrpSpPr/>
          <p:nvPr/>
        </p:nvGrpSpPr>
        <p:grpSpPr>
          <a:xfrm>
            <a:off x="1371600" y="5524500"/>
            <a:ext cx="7239000" cy="2857500"/>
            <a:chOff x="1371600" y="5524500"/>
            <a:chExt cx="7239000" cy="2857500"/>
          </a:xfrm>
        </p:grpSpPr>
        <p:sp>
          <p:nvSpPr>
            <p:cNvPr id="105" name="Google Shape;105;p14"/>
            <p:cNvSpPr/>
            <p:nvPr/>
          </p:nvSpPr>
          <p:spPr>
            <a:xfrm>
              <a:off x="1371600" y="5524500"/>
              <a:ext cx="7239000" cy="2857500"/>
            </a:xfrm>
            <a:prstGeom prst="roundRect">
              <a:avLst>
                <a:gd fmla="val 6666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4"/>
            <p:cNvSpPr txBox="1"/>
            <p:nvPr/>
          </p:nvSpPr>
          <p:spPr>
            <a:xfrm>
              <a:off x="1714500" y="5862828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0077C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</a:t>
              </a:r>
              <a:endParaRPr sz="3600">
                <a:solidFill>
                  <a:srgbClr val="0077C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07" name="Google Shape;107;p14"/>
            <p:cNvSpPr txBox="1"/>
            <p:nvPr/>
          </p:nvSpPr>
          <p:spPr>
            <a:xfrm>
              <a:off x="1714500" y="6477000"/>
              <a:ext cx="64770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Equipo Core Nominado</a:t>
              </a:r>
              <a:endParaRPr b="1" sz="20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Los cinco roles fundamentales identificados con nombre y apellido real.</a:t>
              </a:r>
              <a:endParaRPr b="0" sz="14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8" name="Google Shape;108;p14"/>
          <p:cNvGrpSpPr/>
          <p:nvPr/>
        </p:nvGrpSpPr>
        <p:grpSpPr>
          <a:xfrm>
            <a:off x="9677400" y="5524500"/>
            <a:ext cx="7239000" cy="2857500"/>
            <a:chOff x="9677400" y="5524500"/>
            <a:chExt cx="7239000" cy="2857500"/>
          </a:xfrm>
        </p:grpSpPr>
        <p:sp>
          <p:nvSpPr>
            <p:cNvPr id="109" name="Google Shape;109;p14"/>
            <p:cNvSpPr/>
            <p:nvPr/>
          </p:nvSpPr>
          <p:spPr>
            <a:xfrm>
              <a:off x="9677400" y="5524500"/>
              <a:ext cx="7239000" cy="2857500"/>
            </a:xfrm>
            <a:prstGeom prst="roundRect">
              <a:avLst>
                <a:gd fmla="val 6666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4"/>
            <p:cNvSpPr txBox="1"/>
            <p:nvPr/>
          </p:nvSpPr>
          <p:spPr>
            <a:xfrm>
              <a:off x="10020300" y="5862828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0077C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</a:t>
              </a:r>
              <a:endParaRPr sz="3600">
                <a:solidFill>
                  <a:srgbClr val="0077C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11" name="Google Shape;111;p14"/>
            <p:cNvSpPr txBox="1"/>
            <p:nvPr/>
          </p:nvSpPr>
          <p:spPr>
            <a:xfrm>
              <a:off x="10020300" y="6477000"/>
              <a:ext cx="64770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Trámites Candidatos</a:t>
              </a:r>
              <a:endParaRPr b="1" sz="20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Cinco procesos identificados en una lista preliminar con volumen estimado.</a:t>
              </a:r>
              <a:endParaRPr b="0" sz="14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2" name="Google Shape;112;p14"/>
          <p:cNvGrpSpPr/>
          <p:nvPr/>
        </p:nvGrpSpPr>
        <p:grpSpPr>
          <a:xfrm>
            <a:off x="1371600" y="8953500"/>
            <a:ext cx="15544800" cy="571500"/>
            <a:chOff x="1371600" y="8953500"/>
            <a:chExt cx="15544800" cy="571500"/>
          </a:xfrm>
        </p:grpSpPr>
        <p:sp>
          <p:nvSpPr>
            <p:cNvPr id="113" name="Google Shape;113;p14"/>
            <p:cNvSpPr/>
            <p:nvPr/>
          </p:nvSpPr>
          <p:spPr>
            <a:xfrm>
              <a:off x="1371600" y="8953500"/>
              <a:ext cx="15544800" cy="571500"/>
            </a:xfrm>
            <a:prstGeom prst="roundRect">
              <a:avLst>
                <a:gd fmla="val 13333" name="adj"/>
              </a:avLst>
            </a:prstGeom>
            <a:solidFill>
              <a:srgbClr val="EEF2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4"/>
            <p:cNvSpPr txBox="1"/>
            <p:nvPr/>
          </p:nvSpPr>
          <p:spPr>
            <a:xfrm>
              <a:off x="1371600" y="8953500"/>
              <a:ext cx="155448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4338C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Estatus: </a:t>
              </a:r>
              <a:r>
                <a:rPr b="1" lang="en-US" sz="1400">
                  <a:solidFill>
                    <a:srgbClr val="16A34A"/>
                  </a:solidFill>
                  <a:latin typeface="Inter"/>
                  <a:ea typeface="Inter"/>
                  <a:cs typeface="Inter"/>
                  <a:sym typeface="Inter"/>
                </a:rPr>
                <a:t>VERDE</a:t>
              </a:r>
              <a:r>
                <a:rPr b="0" lang="en-US" sz="1400">
                  <a:solidFill>
                    <a:srgbClr val="4338C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 (Cumplido) o </a:t>
              </a:r>
              <a:r>
                <a:rPr b="1" lang="en-US" sz="1400">
                  <a:solidFill>
                    <a:srgbClr val="EA580C"/>
                  </a:solidFill>
                  <a:latin typeface="Inter"/>
                  <a:ea typeface="Inter"/>
                  <a:cs typeface="Inter"/>
                  <a:sym typeface="Inter"/>
                </a:rPr>
                <a:t>PENDIENTE</a:t>
              </a:r>
              <a:r>
                <a:rPr b="0" lang="en-US" sz="1400">
                  <a:solidFill>
                    <a:srgbClr val="4338C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 (Acción requerida)</a:t>
              </a:r>
              <a:endParaRPr b="0" sz="1400">
                <a:solidFill>
                  <a:srgbClr val="4338C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5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1371600" y="952500"/>
            <a:ext cx="155448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0077CC"/>
                </a:solidFill>
                <a:latin typeface="Inter"/>
                <a:ea typeface="Inter"/>
                <a:cs typeface="Inter"/>
                <a:sym typeface="Inter"/>
              </a:rPr>
              <a:t>REGLA DE DECISIÓN</a:t>
            </a:r>
            <a:endParaRPr b="1" i="0" sz="1800">
              <a:solidFill>
                <a:srgbClr val="0077C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1371600" y="1524000"/>
            <a:ext cx="15544800" cy="138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>
                <a:solidFill>
                  <a:srgbClr val="0A0915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Menos de tres verdes</a:t>
            </a:r>
            <a:endParaRPr b="0" i="0" sz="4500">
              <a:solidFill>
                <a:srgbClr val="0A0915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>
                <a:solidFill>
                  <a:srgbClr val="EA580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= no arrancas</a:t>
            </a:r>
            <a:endParaRPr b="0" i="0" sz="4500">
              <a:solidFill>
                <a:srgbClr val="EA580C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123" name="Google Shape;123;p15"/>
          <p:cNvGrpSpPr/>
          <p:nvPr/>
        </p:nvGrpSpPr>
        <p:grpSpPr>
          <a:xfrm>
            <a:off x="1371600" y="4000500"/>
            <a:ext cx="15544800" cy="4000500"/>
            <a:chOff x="1371600" y="4000500"/>
            <a:chExt cx="15544800" cy="4000500"/>
          </a:xfrm>
        </p:grpSpPr>
        <p:sp>
          <p:nvSpPr>
            <p:cNvPr id="124" name="Google Shape;124;p15"/>
            <p:cNvSpPr/>
            <p:nvPr/>
          </p:nvSpPr>
          <p:spPr>
            <a:xfrm>
              <a:off x="1371600" y="4000500"/>
              <a:ext cx="7239000" cy="4000500"/>
            </a:xfrm>
            <a:prstGeom prst="roundRect">
              <a:avLst>
                <a:gd fmla="val 4761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5"/>
            <p:cNvSpPr txBox="1"/>
            <p:nvPr/>
          </p:nvSpPr>
          <p:spPr>
            <a:xfrm>
              <a:off x="1752600" y="4381500"/>
              <a:ext cx="64770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0">
                  <a:solidFill>
                    <a:srgbClr val="EA580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</a:t>
              </a:r>
              <a:endParaRPr sz="6000">
                <a:solidFill>
                  <a:srgbClr val="EA580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Disciplina de Ejecución</a:t>
              </a:r>
              <a:endParaRPr b="1" sz="24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Es mejor retrasar el arranque que arrancar mal. La calidad del inicio define el éxito del proyecto.</a:t>
              </a:r>
              <a:endParaRPr b="0" sz="16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6" name="Google Shape;126;p15"/>
            <p:cNvSpPr/>
            <p:nvPr/>
          </p:nvSpPr>
          <p:spPr>
            <a:xfrm>
              <a:off x="9677400" y="4000500"/>
              <a:ext cx="7239000" cy="4000500"/>
            </a:xfrm>
            <a:prstGeom prst="roundRect">
              <a:avLst>
                <a:gd fmla="val 4761" name="adj"/>
              </a:avLst>
            </a:prstGeom>
            <a:solidFill>
              <a:srgbClr val="EEF2FF"/>
            </a:solidFill>
            <a:ln cap="flat" cmpd="sng" w="19050">
              <a:solidFill>
                <a:srgbClr val="C7D2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5"/>
            <p:cNvSpPr txBox="1"/>
            <p:nvPr/>
          </p:nvSpPr>
          <p:spPr>
            <a:xfrm>
              <a:off x="10058400" y="4381500"/>
              <a:ext cx="64770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0">
                  <a:solidFill>
                    <a:srgbClr val="0077C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</a:t>
              </a:r>
              <a:endParaRPr sz="6000">
                <a:solidFill>
                  <a:srgbClr val="0077C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Solución: Pre-discovery</a:t>
              </a:r>
              <a:endParaRPr b="1" sz="24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Ofreces un periodo de 2 a 4 semanas para establecer las condiciones necesarias antes de comenzar formalmente.</a:t>
              </a:r>
              <a:endParaRPr b="0" sz="16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6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1371600" y="762000"/>
            <a:ext cx="15544800" cy="73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rPr>
              <a:t>Tu checklist antes de cerrar</a:t>
            </a:r>
            <a:endParaRPr b="1" sz="4800">
              <a:solidFill>
                <a:srgbClr val="0A091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35" name="Google Shape;135;p16"/>
          <p:cNvGrpSpPr/>
          <p:nvPr/>
        </p:nvGrpSpPr>
        <p:grpSpPr>
          <a:xfrm>
            <a:off x="1371600" y="2286000"/>
            <a:ext cx="7429500" cy="2667000"/>
            <a:chOff x="1371600" y="2286000"/>
            <a:chExt cx="7429500" cy="2667000"/>
          </a:xfrm>
        </p:grpSpPr>
        <p:sp>
          <p:nvSpPr>
            <p:cNvPr id="136" name="Google Shape;136;p16"/>
            <p:cNvSpPr/>
            <p:nvPr/>
          </p:nvSpPr>
          <p:spPr>
            <a:xfrm>
              <a:off x="1371600" y="2286000"/>
              <a:ext cx="7429500" cy="2667000"/>
            </a:xfrm>
            <a:prstGeom prst="roundRect">
              <a:avLst>
                <a:gd fmla="val 7142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6"/>
            <p:cNvSpPr txBox="1"/>
            <p:nvPr/>
          </p:nvSpPr>
          <p:spPr>
            <a:xfrm>
              <a:off x="1752600" y="2571750"/>
              <a:ext cx="66675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0077C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</a:t>
              </a:r>
              <a:endParaRPr sz="3600">
                <a:solidFill>
                  <a:srgbClr val="0077C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Evaluación de Readiness</a:t>
              </a:r>
              <a:endParaRPr b="1" sz="20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Validado con las cuatro señales. Recuerda: dos o más rojas activan automáticamente el pre-discovery.</a:t>
              </a:r>
              <a:endParaRPr b="0" sz="16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8" name="Google Shape;138;p16"/>
          <p:cNvGrpSpPr/>
          <p:nvPr/>
        </p:nvGrpSpPr>
        <p:grpSpPr>
          <a:xfrm>
            <a:off x="9486900" y="2286000"/>
            <a:ext cx="7429500" cy="2667000"/>
            <a:chOff x="9486900" y="2286000"/>
            <a:chExt cx="7429500" cy="2667000"/>
          </a:xfrm>
        </p:grpSpPr>
        <p:sp>
          <p:nvSpPr>
            <p:cNvPr id="139" name="Google Shape;139;p16"/>
            <p:cNvSpPr/>
            <p:nvPr/>
          </p:nvSpPr>
          <p:spPr>
            <a:xfrm>
              <a:off x="9486900" y="2286000"/>
              <a:ext cx="7429500" cy="2667000"/>
            </a:xfrm>
            <a:prstGeom prst="roundRect">
              <a:avLst>
                <a:gd fmla="val 7142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6"/>
            <p:cNvSpPr txBox="1"/>
            <p:nvPr/>
          </p:nvSpPr>
          <p:spPr>
            <a:xfrm>
              <a:off x="9867900" y="2571750"/>
              <a:ext cx="66675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0077C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</a:t>
              </a:r>
              <a:endParaRPr sz="3600">
                <a:solidFill>
                  <a:srgbClr val="0077C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Roles Asignados</a:t>
              </a:r>
              <a:endParaRPr b="1" sz="20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El equipo debe contar con sus tres figuras clave: Líder de proyecto, Responsable Técnico y Soporte.</a:t>
              </a:r>
              <a:endParaRPr b="0" sz="16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1" name="Google Shape;141;p16"/>
          <p:cNvGrpSpPr/>
          <p:nvPr/>
        </p:nvGrpSpPr>
        <p:grpSpPr>
          <a:xfrm>
            <a:off x="1371600" y="5334000"/>
            <a:ext cx="7429500" cy="2667000"/>
            <a:chOff x="1371600" y="5334000"/>
            <a:chExt cx="7429500" cy="2667000"/>
          </a:xfrm>
        </p:grpSpPr>
        <p:sp>
          <p:nvSpPr>
            <p:cNvPr id="142" name="Google Shape;142;p16"/>
            <p:cNvSpPr/>
            <p:nvPr/>
          </p:nvSpPr>
          <p:spPr>
            <a:xfrm>
              <a:off x="1371600" y="5334000"/>
              <a:ext cx="7429500" cy="2667000"/>
            </a:xfrm>
            <a:prstGeom prst="roundRect">
              <a:avLst>
                <a:gd fmla="val 7142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6"/>
            <p:cNvSpPr txBox="1"/>
            <p:nvPr/>
          </p:nvSpPr>
          <p:spPr>
            <a:xfrm>
              <a:off x="1752600" y="5619750"/>
              <a:ext cx="66675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0077C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</a:t>
              </a:r>
              <a:endParaRPr sz="3600">
                <a:solidFill>
                  <a:srgbClr val="0077C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Soporte y SLAs</a:t>
              </a:r>
              <a:endParaRPr b="1" sz="20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Comprensión total del modelo de atención y los tiempos de respuesta (SLAs) comprometidos.</a:t>
              </a:r>
              <a:endParaRPr b="0" sz="16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4" name="Google Shape;144;p16"/>
          <p:cNvGrpSpPr/>
          <p:nvPr/>
        </p:nvGrpSpPr>
        <p:grpSpPr>
          <a:xfrm>
            <a:off x="9486900" y="5334000"/>
            <a:ext cx="7429500" cy="2667000"/>
            <a:chOff x="9486900" y="5334000"/>
            <a:chExt cx="7429500" cy="2667000"/>
          </a:xfrm>
        </p:grpSpPr>
        <p:sp>
          <p:nvSpPr>
            <p:cNvPr id="145" name="Google Shape;145;p16"/>
            <p:cNvSpPr/>
            <p:nvPr/>
          </p:nvSpPr>
          <p:spPr>
            <a:xfrm>
              <a:off x="9486900" y="5334000"/>
              <a:ext cx="7429500" cy="2667000"/>
            </a:xfrm>
            <a:prstGeom prst="roundRect">
              <a:avLst>
                <a:gd fmla="val 7142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6"/>
            <p:cNvSpPr txBox="1"/>
            <p:nvPr/>
          </p:nvSpPr>
          <p:spPr>
            <a:xfrm>
              <a:off x="9867900" y="5619750"/>
              <a:ext cx="66675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0077C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</a:t>
              </a:r>
              <a:endParaRPr sz="3600">
                <a:solidFill>
                  <a:srgbClr val="0077C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Acceso a Recursos</a:t>
              </a:r>
              <a:endParaRPr b="1" sz="20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Acceso verificado al Kit y la Guía. Ante cualquier falta, contactar a partners@sovra.io.</a:t>
              </a:r>
              <a:endParaRPr b="0" sz="16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77C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1371600" y="3200400"/>
            <a:ext cx="15544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Readiness no se intuye,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1371600" y="4754880"/>
            <a:ext cx="15544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 firma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1371600" y="7315200"/>
            <a:ext cx="15544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 no puedes firmarla con tranquilidad, no es momento.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