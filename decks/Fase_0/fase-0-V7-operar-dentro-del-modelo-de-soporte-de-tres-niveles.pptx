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16.0s · 40 palabras]</a:t>
            </a:r>
          </a:p>
          <a:p/>
          <a:p>
            <a:r>
              <a:t>Antes de arrancar Fase A tienes que tener clarísimo cómo funciona el soporte. No es un detalle de Fase E. Es la arquitectura que define cómo te vas a relacionar con el gobierno y con Sovra durante todo el proyecto.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46.0s · 115 palabras]</a:t>
            </a:r>
          </a:p>
          <a:p/>
          <a:p>
            <a:r>
              <a:t>El Nivel 1 es el gobierno. El equipo core del gobierno responde dudas de operadores y de ciudadanos. Accesos, contraseñas, dudas de uso, estado de un trámite. El requisito mínimo es que haya al menos dos personas capacitadas. Si hay una sola, eso es single point of failure y se rompe el día que esa persona se enferma o se va de vacaciones. El Nivel 2 eres tú, el partner. Resuelves lo que Nivel 1 no puede: configuraciones, ajustes funcionales, bugs no críticos, capacitación adicional, diagnóstico de integraciones. El Nivel 3 es Sovra. Bugs de plataforma core, infraestructura, integraciones core, incidentes de seguridad. Tú escalas a Sovra. El gobierno no contacta a Sovra directamente, nunca.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16.0s · 40 palabras]</a:t>
            </a:r>
          </a:p>
          <a:p/>
          <a:p>
            <a:r>
              <a:t>Los SLAs son crítica una hora, alta cuatro horas, media ocho horas, baja veinticuatro horas. Eso es tiempo de respuesta en horario laboral. Los SLAs de Sovra son crítica treinta minutos, alta dos horas, media ocho horas, baja veinticuatro horas.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28.4s · 71 palabras]</a:t>
            </a:r>
          </a:p>
          <a:p/>
          <a:p>
            <a:r>
              <a:t>Y acá viene la regla de oro del soporte, que es la que te recomiendo que dejes pegada en algún lugar visible. El gobierno siempre habla con el partner. El partner siempre habla con Sovra. Nunca se salta un nivel. Esta regla no es burocracia, es protección. Si el gobierno empieza a contactar a Sovra directamente, tu relación con el gobierno se debilita y tu posición como socio estratégico se pierde.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7.2s · 18 palabras]</a:t>
            </a:r>
          </a:p>
          <a:p/>
          <a:p>
            <a:r>
              <a:t>El gobierno habla contigo. Tú hablas con Sovra. Saltar niveles destruye la relación del partner con su gobierno.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228600"/>
          </a:xfrm>
          <a:prstGeom prst="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548640"/>
          </a:xfrm>
          <a:prstGeom prst="rect">
            <a:avLst/>
          </a:prstGeom>
          <a:noFill/>
        </p:spPr>
        <p:txBody>
          <a:bodyPr wrap="square" anchor="t" lIns="0" rIns="0" tIns="0" bIns="0">
            <a:spAutoFit/>
          </a:bodyPr>
          <a:lstStyle/>
          <a:p>
            <a:pPr algn="l">
              <a:lnSpc>
                <a:spcPct val="115000"/>
              </a:lnSpc>
            </a:pPr>
            <a:r>
              <a:rPr sz="1800" b="1" i="0">
                <a:solidFill>
                  <a:srgbClr val="0077CC"/>
                </a:solidFill>
                <a:latin typeface="Figtree"/>
              </a:rPr>
              <a:t>FASE 0</a:t>
            </a:r>
          </a:p>
        </p:txBody>
      </p:sp>
      <p:sp>
        <p:nvSpPr>
          <p:cNvPr id="4" name="TextBox 3"/>
          <p:cNvSpPr txBox="1"/>
          <p:nvPr/>
        </p:nvSpPr>
        <p:spPr>
          <a:xfrm>
            <a:off x="1371600" y="3840480"/>
            <a:ext cx="15544800" cy="3657600"/>
          </a:xfrm>
          <a:prstGeom prst="rect">
            <a:avLst/>
          </a:prstGeom>
          <a:noFill/>
        </p:spPr>
        <p:txBody>
          <a:bodyPr wrap="square" anchor="t" lIns="0" rIns="0" tIns="0" bIns="0">
            <a:spAutoFit/>
          </a:bodyPr>
          <a:lstStyle/>
          <a:p>
            <a:pPr algn="l">
              <a:lnSpc>
                <a:spcPct val="110000"/>
              </a:lnSpc>
            </a:pPr>
            <a:r>
              <a:rPr sz="8000" b="1" i="0">
                <a:solidFill>
                  <a:srgbClr val="0A0915"/>
                </a:solidFill>
                <a:latin typeface="Plus Jakarta Sans"/>
              </a:rPr>
              <a:t>El modelo de soporte</a:t>
            </a:r>
          </a:p>
          <a:p>
            <a:pPr algn="l">
              <a:lnSpc>
                <a:spcPct val="110000"/>
              </a:lnSpc>
            </a:pPr>
            <a:r>
              <a:rPr sz="8000" b="1" i="0">
                <a:solidFill>
                  <a:srgbClr val="0A0915"/>
                </a:solidFill>
                <a:latin typeface="Plus Jakarta Sans"/>
              </a:rPr>
              <a:t>de tres niveles.</a:t>
            </a:r>
          </a:p>
        </p:txBody>
      </p:sp>
      <p:sp>
        <p:nvSpPr>
          <p:cNvPr id="5" name="TextBox 4"/>
          <p:cNvSpPr txBox="1"/>
          <p:nvPr/>
        </p:nvSpPr>
        <p:spPr>
          <a:xfrm>
            <a:off x="1371600" y="7772400"/>
            <a:ext cx="15544800" cy="1371600"/>
          </a:xfrm>
          <a:prstGeom prst="rect">
            <a:avLst/>
          </a:prstGeom>
          <a:noFill/>
        </p:spPr>
        <p:txBody>
          <a:bodyPr wrap="square" anchor="t" lIns="0" rIns="0" tIns="0" bIns="0">
            <a:spAutoFit/>
          </a:bodyPr>
          <a:lstStyle/>
          <a:p>
            <a:pPr algn="l">
              <a:lnSpc>
                <a:spcPct val="130000"/>
              </a:lnSpc>
            </a:pPr>
            <a:r>
              <a:rPr sz="2200" b="0" i="0">
                <a:solidFill>
                  <a:srgbClr val="888888"/>
                </a:solidFill>
                <a:latin typeface="Figtree"/>
              </a:rPr>
              <a:t>No es un detalle de Fase E. Es la arquitectura de los 90 días.</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097280"/>
            <a:ext cx="15544800" cy="1371600"/>
          </a:xfrm>
          <a:prstGeom prst="rect">
            <a:avLst/>
          </a:prstGeom>
          <a:noFill/>
        </p:spPr>
        <p:txBody>
          <a:bodyPr wrap="square" anchor="t" lIns="0" rIns="0" tIns="0" bIns="0">
            <a:spAutoFit/>
          </a:bodyPr>
          <a:lstStyle/>
          <a:p>
            <a:pPr algn="ctr">
              <a:lnSpc>
                <a:spcPct val="115000"/>
              </a:lnSpc>
            </a:pPr>
            <a:r>
              <a:rPr sz="4400" b="1" i="0">
                <a:solidFill>
                  <a:srgbClr val="0A0915"/>
                </a:solidFill>
                <a:latin typeface="Plus Jakarta Sans"/>
              </a:rPr>
              <a:t>Tres niveles.</a:t>
            </a:r>
          </a:p>
          <a:p>
            <a:pPr algn="ctr">
              <a:lnSpc>
                <a:spcPct val="115000"/>
              </a:lnSpc>
            </a:pPr>
            <a:r>
              <a:rPr sz="4400" b="1" i="0">
                <a:solidFill>
                  <a:srgbClr val="0A0915"/>
                </a:solidFill>
                <a:latin typeface="Plus Jakarta Sans"/>
              </a:rPr>
              <a:t>Una regla de oro.</a:t>
            </a:r>
          </a:p>
        </p:txBody>
      </p:sp>
      <p:sp>
        <p:nvSpPr>
          <p:cNvPr id="3" name="Rounded Rectangle 2"/>
          <p:cNvSpPr/>
          <p:nvPr/>
        </p:nvSpPr>
        <p:spPr>
          <a:xfrm>
            <a:off x="1143000" y="4572000"/>
            <a:ext cx="5029200" cy="4572000"/>
          </a:xfrm>
          <a:prstGeom prst="roundRect">
            <a:avLst/>
          </a:prstGeom>
          <a:solidFill>
            <a:srgbClr val="FFFFFF"/>
          </a:solidFill>
          <a:ln w="190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3000" y="4572000"/>
            <a:ext cx="5029200" cy="137160"/>
          </a:xfrm>
          <a:prstGeom prst="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5120640"/>
            <a:ext cx="4297680" cy="1097280"/>
          </a:xfrm>
          <a:prstGeom prst="rect">
            <a:avLst/>
          </a:prstGeom>
          <a:noFill/>
        </p:spPr>
        <p:txBody>
          <a:bodyPr wrap="square" anchor="t" lIns="0" rIns="0" tIns="0" bIns="0">
            <a:spAutoFit/>
          </a:bodyPr>
          <a:lstStyle/>
          <a:p>
            <a:pPr algn="l">
              <a:lnSpc>
                <a:spcPct val="115000"/>
              </a:lnSpc>
            </a:pPr>
            <a:r>
              <a:rPr sz="3000" b="1" i="0">
                <a:solidFill>
                  <a:srgbClr val="0077CC"/>
                </a:solidFill>
                <a:latin typeface="Plus Jakarta Sans"/>
              </a:rPr>
              <a:t>Nivel 1 — Gobierno</a:t>
            </a:r>
          </a:p>
        </p:txBody>
      </p:sp>
      <p:sp>
        <p:nvSpPr>
          <p:cNvPr id="6" name="TextBox 5"/>
          <p:cNvSpPr txBox="1"/>
          <p:nvPr/>
        </p:nvSpPr>
        <p:spPr>
          <a:xfrm>
            <a:off x="1508760" y="6309360"/>
            <a:ext cx="4297680" cy="2743200"/>
          </a:xfrm>
          <a:prstGeom prst="rect">
            <a:avLst/>
          </a:prstGeom>
          <a:noFill/>
        </p:spPr>
        <p:txBody>
          <a:bodyPr wrap="square" anchor="t" lIns="0" rIns="0" tIns="0" bIns="0">
            <a:spAutoFit/>
          </a:bodyPr>
          <a:lstStyle/>
          <a:p>
            <a:pPr algn="l">
              <a:lnSpc>
                <a:spcPct val="140000"/>
              </a:lnSpc>
            </a:pPr>
            <a:r>
              <a:rPr sz="1800" b="0" i="0">
                <a:solidFill>
                  <a:srgbClr val="0A0915"/>
                </a:solidFill>
                <a:latin typeface="Figtree"/>
              </a:rPr>
              <a:t>Equipo core responde dudas de operadores y ciudadanos. Mínimo dos personas capacitadas.</a:t>
            </a:r>
          </a:p>
        </p:txBody>
      </p:sp>
      <p:sp>
        <p:nvSpPr>
          <p:cNvPr id="7" name="Rounded Rectangle 6"/>
          <p:cNvSpPr/>
          <p:nvPr/>
        </p:nvSpPr>
        <p:spPr>
          <a:xfrm>
            <a:off x="6629400" y="4572000"/>
            <a:ext cx="5029200" cy="4572000"/>
          </a:xfrm>
          <a:prstGeom prst="roundRect">
            <a:avLst/>
          </a:prstGeom>
          <a:solidFill>
            <a:srgbClr val="FFFFFF"/>
          </a:solidFill>
          <a:ln w="190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629400" y="4572000"/>
            <a:ext cx="5029200" cy="137160"/>
          </a:xfrm>
          <a:prstGeom prst="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95160" y="5120640"/>
            <a:ext cx="4297680" cy="1097280"/>
          </a:xfrm>
          <a:prstGeom prst="rect">
            <a:avLst/>
          </a:prstGeom>
          <a:noFill/>
        </p:spPr>
        <p:txBody>
          <a:bodyPr wrap="square" anchor="t" lIns="0" rIns="0" tIns="0" bIns="0">
            <a:spAutoFit/>
          </a:bodyPr>
          <a:lstStyle/>
          <a:p>
            <a:pPr algn="l">
              <a:lnSpc>
                <a:spcPct val="115000"/>
              </a:lnSpc>
            </a:pPr>
            <a:r>
              <a:rPr sz="3000" b="1" i="0">
                <a:solidFill>
                  <a:srgbClr val="0077CC"/>
                </a:solidFill>
                <a:latin typeface="Plus Jakarta Sans"/>
              </a:rPr>
              <a:t>Nivel 2 — Partner (tú)</a:t>
            </a:r>
          </a:p>
        </p:txBody>
      </p:sp>
      <p:sp>
        <p:nvSpPr>
          <p:cNvPr id="10" name="TextBox 9"/>
          <p:cNvSpPr txBox="1"/>
          <p:nvPr/>
        </p:nvSpPr>
        <p:spPr>
          <a:xfrm>
            <a:off x="6995160" y="6309360"/>
            <a:ext cx="4297680" cy="2743200"/>
          </a:xfrm>
          <a:prstGeom prst="rect">
            <a:avLst/>
          </a:prstGeom>
          <a:noFill/>
        </p:spPr>
        <p:txBody>
          <a:bodyPr wrap="square" anchor="t" lIns="0" rIns="0" tIns="0" bIns="0">
            <a:spAutoFit/>
          </a:bodyPr>
          <a:lstStyle/>
          <a:p>
            <a:pPr algn="l">
              <a:lnSpc>
                <a:spcPct val="140000"/>
              </a:lnSpc>
            </a:pPr>
            <a:r>
              <a:rPr sz="1800" b="0" i="0">
                <a:solidFill>
                  <a:srgbClr val="0A0915"/>
                </a:solidFill>
                <a:latin typeface="Figtree"/>
              </a:rPr>
              <a:t>Configuraciones, bugs no críticos, capacitación adicional, diagnóstico de integraciones.</a:t>
            </a:r>
          </a:p>
        </p:txBody>
      </p:sp>
      <p:sp>
        <p:nvSpPr>
          <p:cNvPr id="11" name="Rounded Rectangle 10"/>
          <p:cNvSpPr/>
          <p:nvPr/>
        </p:nvSpPr>
        <p:spPr>
          <a:xfrm>
            <a:off x="12115800" y="4572000"/>
            <a:ext cx="5029200" cy="4572000"/>
          </a:xfrm>
          <a:prstGeom prst="roundRect">
            <a:avLst/>
          </a:prstGeom>
          <a:solidFill>
            <a:srgbClr val="FFFFFF"/>
          </a:solidFill>
          <a:ln w="190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2115800" y="4572000"/>
            <a:ext cx="5029200" cy="137160"/>
          </a:xfrm>
          <a:prstGeom prst="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81560" y="5120640"/>
            <a:ext cx="4297680" cy="1097280"/>
          </a:xfrm>
          <a:prstGeom prst="rect">
            <a:avLst/>
          </a:prstGeom>
          <a:noFill/>
        </p:spPr>
        <p:txBody>
          <a:bodyPr wrap="square" anchor="t" lIns="0" rIns="0" tIns="0" bIns="0">
            <a:spAutoFit/>
          </a:bodyPr>
          <a:lstStyle/>
          <a:p>
            <a:pPr algn="l">
              <a:lnSpc>
                <a:spcPct val="115000"/>
              </a:lnSpc>
            </a:pPr>
            <a:r>
              <a:rPr sz="3000" b="1" i="0">
                <a:solidFill>
                  <a:srgbClr val="0077CC"/>
                </a:solidFill>
                <a:latin typeface="Plus Jakarta Sans"/>
              </a:rPr>
              <a:t>Nivel 3 — Sovra</a:t>
            </a:r>
          </a:p>
        </p:txBody>
      </p:sp>
      <p:sp>
        <p:nvSpPr>
          <p:cNvPr id="14" name="TextBox 13"/>
          <p:cNvSpPr txBox="1"/>
          <p:nvPr/>
        </p:nvSpPr>
        <p:spPr>
          <a:xfrm>
            <a:off x="12481560" y="6309360"/>
            <a:ext cx="4297680" cy="2743200"/>
          </a:xfrm>
          <a:prstGeom prst="rect">
            <a:avLst/>
          </a:prstGeom>
          <a:noFill/>
        </p:spPr>
        <p:txBody>
          <a:bodyPr wrap="square" anchor="t" lIns="0" rIns="0" tIns="0" bIns="0">
            <a:spAutoFit/>
          </a:bodyPr>
          <a:lstStyle/>
          <a:p>
            <a:pPr algn="l">
              <a:lnSpc>
                <a:spcPct val="140000"/>
              </a:lnSpc>
            </a:pPr>
            <a:r>
              <a:rPr sz="1800" b="0" i="0">
                <a:solidFill>
                  <a:srgbClr val="0A0915"/>
                </a:solidFill>
                <a:latin typeface="Figtree"/>
              </a:rPr>
              <a:t>Bugs de plataforma core, infraestructura, integraciones core, incidentes de seguridad.</a:t>
            </a:r>
          </a:p>
        </p:txBody>
      </p:sp>
      <p:sp>
        <p:nvSpPr>
          <p:cNvPr id="15" name="TextBox 1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1828800"/>
          </a:xfrm>
          <a:prstGeom prst="rect">
            <a:avLst/>
          </a:prstGeom>
          <a:noFill/>
        </p:spPr>
        <p:txBody>
          <a:bodyPr wrap="square" anchor="t" lIns="0" rIns="0" tIns="0" bIns="0">
            <a:spAutoFit/>
          </a:bodyPr>
          <a:lstStyle/>
          <a:p>
            <a:pPr algn="l">
              <a:lnSpc>
                <a:spcPct val="115000"/>
              </a:lnSpc>
            </a:pPr>
            <a:r>
              <a:rPr sz="4200" b="1" i="0">
                <a:solidFill>
                  <a:srgbClr val="0A0915"/>
                </a:solidFill>
                <a:latin typeface="Plus Jakarta Sans"/>
              </a:rPr>
              <a:t>SLAs por nivel.</a:t>
            </a:r>
          </a:p>
        </p:txBody>
      </p:sp>
      <p:sp>
        <p:nvSpPr>
          <p:cNvPr id="3" name="Rounded Rectangle 2"/>
          <p:cNvSpPr/>
          <p:nvPr/>
        </p:nvSpPr>
        <p:spPr>
          <a:xfrm>
            <a:off x="1371600" y="3886200"/>
            <a:ext cx="228600" cy="228600"/>
          </a:xfrm>
          <a:prstGeom prst="round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365760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Partner (N2): crítica 1h · alta 4h · media 8h · baja 24h.</a:t>
            </a:r>
          </a:p>
        </p:txBody>
      </p:sp>
      <p:sp>
        <p:nvSpPr>
          <p:cNvPr id="5" name="Rounded Rectangle 4"/>
          <p:cNvSpPr/>
          <p:nvPr/>
        </p:nvSpPr>
        <p:spPr>
          <a:xfrm>
            <a:off x="1371600" y="4709160"/>
            <a:ext cx="228600" cy="228600"/>
          </a:xfrm>
          <a:prstGeom prst="round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448056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Sovra (N3): crítica 30min · alta 2h · media 8h · baja 24h.</a:t>
            </a:r>
          </a:p>
        </p:txBody>
      </p:sp>
      <p:sp>
        <p:nvSpPr>
          <p:cNvPr id="7" name="Rounded Rectangle 6"/>
          <p:cNvSpPr/>
          <p:nvPr/>
        </p:nvSpPr>
        <p:spPr>
          <a:xfrm>
            <a:off x="1371600" y="5532120"/>
            <a:ext cx="228600" cy="228600"/>
          </a:xfrm>
          <a:prstGeom prst="round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30352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Horario laboral. Crítica reservada para bloqueos reales.</a:t>
            </a:r>
          </a:p>
        </p:txBody>
      </p:sp>
      <p:sp>
        <p:nvSpPr>
          <p:cNvPr id="9" name="TextBox 8"/>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0" y="1371600"/>
            <a:ext cx="2743200" cy="2743200"/>
          </a:xfrm>
          <a:prstGeom prst="rect">
            <a:avLst/>
          </a:prstGeom>
          <a:noFill/>
        </p:spPr>
        <p:txBody>
          <a:bodyPr wrap="square" anchor="t" lIns="0" rIns="0" tIns="0" bIns="0">
            <a:spAutoFit/>
          </a:bodyPr>
          <a:lstStyle/>
          <a:p>
            <a:pPr algn="ctr">
              <a:lnSpc>
                <a:spcPct val="115000"/>
              </a:lnSpc>
            </a:pPr>
            <a:r>
              <a:rPr sz="18000" b="1" i="0">
                <a:solidFill>
                  <a:srgbClr val="0077CC"/>
                </a:solidFill>
                <a:latin typeface="Plus Jakarta Sans"/>
              </a:rPr>
              <a:t>“</a:t>
            </a:r>
          </a:p>
        </p:txBody>
      </p:sp>
      <p:sp>
        <p:nvSpPr>
          <p:cNvPr id="3" name="TextBox 2"/>
          <p:cNvSpPr txBox="1"/>
          <p:nvPr/>
        </p:nvSpPr>
        <p:spPr>
          <a:xfrm>
            <a:off x="1371600" y="4114800"/>
            <a:ext cx="15544800" cy="3657600"/>
          </a:xfrm>
          <a:prstGeom prst="rect">
            <a:avLst/>
          </a:prstGeom>
          <a:noFill/>
        </p:spPr>
        <p:txBody>
          <a:bodyPr wrap="square" anchor="t" lIns="0" rIns="0" tIns="0" bIns="0">
            <a:spAutoFit/>
          </a:bodyPr>
          <a:lstStyle/>
          <a:p>
            <a:pPr algn="ctr">
              <a:lnSpc>
                <a:spcPct val="130000"/>
              </a:lnSpc>
            </a:pPr>
            <a:r>
              <a:rPr sz="4400" b="1" i="0">
                <a:solidFill>
                  <a:srgbClr val="0A0915"/>
                </a:solidFill>
                <a:latin typeface="Plus Jakarta Sans"/>
              </a:rPr>
              <a:t>El gobierno siempre habla con el partner.</a:t>
            </a:r>
          </a:p>
          <a:p>
            <a:pPr algn="ctr">
              <a:lnSpc>
                <a:spcPct val="130000"/>
              </a:lnSpc>
            </a:pPr>
            <a:r>
              <a:rPr sz="4400" b="1" i="0">
                <a:solidFill>
                  <a:srgbClr val="0A0915"/>
                </a:solidFill>
                <a:latin typeface="Plus Jakarta Sans"/>
              </a:rPr>
              <a:t>El partner siempre habla con Sovra.</a:t>
            </a:r>
          </a:p>
          <a:p>
            <a:pPr algn="ctr">
              <a:lnSpc>
                <a:spcPct val="130000"/>
              </a:lnSpc>
            </a:pPr>
            <a:r>
              <a:rPr sz="4400" b="1" i="0">
                <a:solidFill>
                  <a:srgbClr val="0A0915"/>
                </a:solidFill>
                <a:latin typeface="Plus Jakarta Sans"/>
              </a:rPr>
              <a:t>Nunca se salta un nivel.</a:t>
            </a:r>
          </a:p>
        </p:txBody>
      </p:sp>
      <p:sp>
        <p:nvSpPr>
          <p:cNvPr id="4" name="TextBox 3"/>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1371600"/>
          </a:xfrm>
          <a:prstGeom prst="rect">
            <a:avLst/>
          </a:prstGeom>
          <a:noFill/>
        </p:spPr>
        <p:txBody>
          <a:bodyPr wrap="square" anchor="t" lIns="0" rIns="0" tIns="0" bIns="0">
            <a:spAutoFit/>
          </a:bodyPr>
          <a:lstStyle/>
          <a:p>
            <a:pPr algn="ctr">
              <a:lnSpc>
                <a:spcPct val="115000"/>
              </a:lnSpc>
            </a:pPr>
            <a:r>
              <a:rPr sz="4200" b="0" i="0">
                <a:solidFill>
                  <a:srgbClr val="FFFFFF"/>
                </a:solidFill>
                <a:latin typeface="Plus Jakarta Sans"/>
              </a:rPr>
              <a:t>El gobierno habla contigo.</a:t>
            </a:r>
          </a:p>
        </p:txBody>
      </p:sp>
      <p:sp>
        <p:nvSpPr>
          <p:cNvPr id="4" name="TextBox 3"/>
          <p:cNvSpPr txBox="1"/>
          <p:nvPr/>
        </p:nvSpPr>
        <p:spPr>
          <a:xfrm>
            <a:off x="1371600" y="4754880"/>
            <a:ext cx="15544800" cy="2286000"/>
          </a:xfrm>
          <a:prstGeom prst="rect">
            <a:avLst/>
          </a:prstGeom>
          <a:noFill/>
        </p:spPr>
        <p:txBody>
          <a:bodyPr wrap="square" anchor="t" lIns="0" rIns="0" tIns="0" bIns="0">
            <a:spAutoFit/>
          </a:bodyPr>
          <a:lstStyle/>
          <a:p>
            <a:pPr algn="ctr">
              <a:lnSpc>
                <a:spcPct val="110000"/>
              </a:lnSpc>
            </a:pPr>
            <a:r>
              <a:rPr sz="7800" b="1" i="0">
                <a:solidFill>
                  <a:srgbClr val="FFFFFF"/>
                </a:solidFill>
                <a:latin typeface="Plus Jakarta Sans"/>
              </a:rPr>
              <a:t>Tú hablas con Sovra.</a:t>
            </a:r>
          </a:p>
        </p:txBody>
      </p:sp>
      <p:sp>
        <p:nvSpPr>
          <p:cNvPr id="5" name="TextBox 4"/>
          <p:cNvSpPr txBox="1"/>
          <p:nvPr/>
        </p:nvSpPr>
        <p:spPr>
          <a:xfrm>
            <a:off x="1371600" y="7315200"/>
            <a:ext cx="15544800" cy="1097280"/>
          </a:xfrm>
          <a:prstGeom prst="rect">
            <a:avLst/>
          </a:prstGeom>
          <a:noFill/>
        </p:spPr>
        <p:txBody>
          <a:bodyPr wrap="square" anchor="t" lIns="0" rIns="0" tIns="0" bIns="0">
            <a:spAutoFit/>
          </a:bodyPr>
          <a:lstStyle/>
          <a:p>
            <a:pPr algn="ctr">
              <a:lnSpc>
                <a:spcPct val="115000"/>
              </a:lnSpc>
            </a:pPr>
            <a:r>
              <a:rPr sz="3000" b="0" i="0">
                <a:solidFill>
                  <a:srgbClr val="FFFFFF"/>
                </a:solidFill>
                <a:latin typeface="Plus Jakarta Sans"/>
              </a:rPr>
              <a:t>Saltar niveles destruye la relación.</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CCE5FF"/>
                </a:solidFill>
                <a:latin typeface="Figtree"/>
              </a:rPr>
              <a:t>Sovra Partners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