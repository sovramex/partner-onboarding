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Inter SemiBold"/>
      <p:regular r:id="rId11"/>
      <p:bold r:id="rId12"/>
      <p:italic r:id="rId13"/>
      <p:boldItalic r:id="rId14"/>
    </p:embeddedFont>
    <p:embeddedFont>
      <p:font typeface="Inter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InterSemiBold-regular.fntdata"/><Relationship Id="rId10" Type="http://schemas.openxmlformats.org/officeDocument/2006/relationships/slide" Target="slides/slide5.xml"/><Relationship Id="rId13" Type="http://schemas.openxmlformats.org/officeDocument/2006/relationships/font" Target="fonts/InterSemiBold-italic.fntdata"/><Relationship Id="rId12" Type="http://schemas.openxmlformats.org/officeDocument/2006/relationships/font" Target="fonts/InterSemiBold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regular.fntdata"/><Relationship Id="rId14" Type="http://schemas.openxmlformats.org/officeDocument/2006/relationships/font" Target="fonts/InterSemiBold-boldItalic.fntdata"/><Relationship Id="rId17" Type="http://schemas.openxmlformats.org/officeDocument/2006/relationships/font" Target="fonts/Inter-italic.fntdata"/><Relationship Id="rId16" Type="http://schemas.openxmlformats.org/officeDocument/2006/relationships/font" Target="fonts/Inter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Inter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22.4s · 56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Los roles no se pierden el día uno. Se pierden en la semana cuatro, en la siete, en la diez. Y cuando te das cuenta, el coordinador dejó de venir a las reuniones, el técnico no tiene tiempo, y tu equipo está resolviendo cosas que el gobierno debería estar resolviendo. La autonomía se perdió en silencio.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30.0s · 75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Hay tres razones por las que esto pasa. La primera es que la urgencia reemplaza al proceso: en vez de que lo resuelva quien debe, se vuelve que lo resuelva quien pueda. La segunda es que los roles se definen una vez y nadie los revisita después del kickoff. La tercera es que las personas competentes absorben más trabajo del que les corresponde y terminan haciendo tres roles a la vez hasta que se queman.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31.2s · 78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 que tienes que hacer es un role checkpoint en cada transición de fase. Cuando pasas de Fase A a Fase B, cuando pasas de B a C, cuando entras en pre-lanzamiento. Revisas la tabla de roles y te haces tres preguntas: ¿Siguen los mismos? ¿Alguien cambió? ¿Alguien desapareció? Y preguntas directamente al coordinador: ¿Quién está haciendo trabajo que no le corresponde? Si la respuesta tarda más de cinco segundos, los roles se perdieron y hay que recalibrar.</a:t>
            </a:r>
            <a:endParaRPr/>
          </a:p>
        </p:txBody>
      </p:sp>
      <p:sp>
        <p:nvSpPr>
          <p:cNvPr id="113" name="Google Shape;113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29.2s · 73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Hay cuatro señales de alarma que tienes que mirar siempre. Un solo nombre en más de dos roles, eso es un single point of failure. El coordinador dejó de asistir a las reuniones, eso es pérdida de seguimiento. El técnico no tiene tiempo, eso quiere decir que ya no está asignado en la práctica. Y tu equipo resuelve lo que el gobierno debería resolver, eso quiere decir que la autonomía ya no existe.</a:t>
            </a:r>
            <a:endParaRPr/>
          </a:p>
        </p:txBody>
      </p:sp>
      <p:sp>
        <p:nvSpPr>
          <p:cNvPr id="156" name="Google Shape;156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8.8s · 22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Si no puedes responder ¿quién es responsable de X? en menos de cinco segundos, los roles se perdieron. Te detienes y recalibras.</a:t>
            </a:r>
            <a:endParaRPr/>
          </a:p>
        </p:txBody>
      </p:sp>
      <p:sp>
        <p:nvSpPr>
          <p:cNvPr id="179" name="Google Shape;179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0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Sostener los roles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durante 90 días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Los roles no se pierden el día uno. Se pierden en silencio.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1371600" y="762000"/>
            <a:ext cx="15544800" cy="73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Tres razones por las que se pierden</a:t>
            </a:r>
            <a:endParaRPr b="1" i="0" sz="4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762000" y="2286000"/>
            <a:ext cx="5143500" cy="6096000"/>
          </a:xfrm>
          <a:prstGeom prst="roundRect">
            <a:avLst>
              <a:gd fmla="val 4444" name="adj"/>
            </a:avLst>
          </a:prstGeom>
          <a:solidFill>
            <a:srgbClr val="F9FAFB"/>
          </a:solidFill>
          <a:ln cap="flat" cmpd="sng" w="9525">
            <a:solidFill>
              <a:srgbClr val="F3F4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/>
          <p:nvPr/>
        </p:nvSpPr>
        <p:spPr>
          <a:xfrm>
            <a:off x="762000" y="2286000"/>
            <a:ext cx="5143500" cy="1143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238250" y="2725420"/>
            <a:ext cx="57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</a:t>
            </a:r>
            <a:endParaRPr sz="3700">
              <a:solidFill>
                <a:srgbClr val="0077CC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1238250" y="3429000"/>
            <a:ext cx="4191000" cy="86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Urgencia reemplaza al proceso</a:t>
            </a:r>
            <a:endParaRPr b="1" sz="2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1238250" y="4953000"/>
            <a:ext cx="41910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 </a:t>
            </a:r>
            <a:r>
              <a:rPr b="1" lang="en-US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"que lo resuelva quien debe"</a:t>
            </a:r>
            <a:r>
              <a:rPr b="0" lang="en-US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 a </a:t>
            </a:r>
            <a:r>
              <a:rPr b="1" lang="en-US" sz="1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"que lo resuelva quien pueda"</a:t>
            </a:r>
            <a:r>
              <a:rPr b="0" lang="en-US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sz="18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572250" y="2286000"/>
            <a:ext cx="5143500" cy="6096000"/>
          </a:xfrm>
          <a:prstGeom prst="roundRect">
            <a:avLst>
              <a:gd fmla="val 4444" name="adj"/>
            </a:avLst>
          </a:prstGeom>
          <a:solidFill>
            <a:srgbClr val="F9FAFB"/>
          </a:solidFill>
          <a:ln cap="flat" cmpd="sng" w="9525">
            <a:solidFill>
              <a:srgbClr val="F3F4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6572250" y="2286000"/>
            <a:ext cx="5143500" cy="1143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7048500" y="2725420"/>
            <a:ext cx="57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</a:t>
            </a:r>
            <a:endParaRPr sz="3700">
              <a:solidFill>
                <a:srgbClr val="0077CC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048500" y="3429000"/>
            <a:ext cx="4191000" cy="86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Definidos una vez, nunca revisados</a:t>
            </a:r>
            <a:endParaRPr b="1" sz="2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7048500" y="4953000"/>
            <a:ext cx="41910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Después del kickoff </a:t>
            </a:r>
            <a:r>
              <a:rPr b="1" lang="en-US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nadie vuelve</a:t>
            </a:r>
            <a:r>
              <a:rPr b="0" lang="en-US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 a la tabla de roles.</a:t>
            </a:r>
            <a:endParaRPr b="0" sz="18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12382500" y="2286000"/>
            <a:ext cx="5143500" cy="6096000"/>
          </a:xfrm>
          <a:prstGeom prst="roundRect">
            <a:avLst>
              <a:gd fmla="val 4444" name="adj"/>
            </a:avLst>
          </a:prstGeom>
          <a:solidFill>
            <a:srgbClr val="F9FAFB"/>
          </a:solidFill>
          <a:ln cap="flat" cmpd="sng" w="9525">
            <a:solidFill>
              <a:srgbClr val="F3F4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12382500" y="2286000"/>
            <a:ext cx="5143500" cy="1143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2858750" y="2725420"/>
            <a:ext cx="57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</a:t>
            </a:r>
            <a:endParaRPr sz="3700">
              <a:solidFill>
                <a:srgbClr val="0077CC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2858750" y="3429000"/>
            <a:ext cx="41910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Quemarse callado</a:t>
            </a:r>
            <a:endParaRPr b="1" sz="2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12858750" y="4953000"/>
            <a:ext cx="41910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Las personas competentes </a:t>
            </a:r>
            <a:r>
              <a:rPr b="1" lang="en-US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absorben trabajo</a:t>
            </a:r>
            <a:r>
              <a:rPr b="0" lang="en-US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 de tres roles hasta que se queman.</a:t>
            </a:r>
            <a:endParaRPr b="0" sz="18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6" name="Google Shape;116;p15"/>
          <p:cNvGrpSpPr/>
          <p:nvPr/>
        </p:nvGrpSpPr>
        <p:grpSpPr>
          <a:xfrm>
            <a:off x="1371600" y="762000"/>
            <a:ext cx="15544800" cy="1714500"/>
            <a:chOff x="1371600" y="762000"/>
            <a:chExt cx="15544800" cy="1714500"/>
          </a:xfrm>
        </p:grpSpPr>
        <p:sp>
          <p:nvSpPr>
            <p:cNvPr id="117" name="Google Shape;117;p15"/>
            <p:cNvSpPr txBox="1"/>
            <p:nvPr/>
          </p:nvSpPr>
          <p:spPr>
            <a:xfrm>
              <a:off x="1371600" y="762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Lo que tienes que hacer</a:t>
              </a:r>
              <a:endParaRPr b="1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1371600" y="1333500"/>
              <a:ext cx="1554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Role checkpoint en cada transición de fase</a:t>
              </a:r>
              <a:endParaRPr b="1" sz="5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9" name="Google Shape;119;p15"/>
          <p:cNvGrpSpPr/>
          <p:nvPr/>
        </p:nvGrpSpPr>
        <p:grpSpPr>
          <a:xfrm>
            <a:off x="1809750" y="3048000"/>
            <a:ext cx="14668500" cy="1333650"/>
            <a:chOff x="1809750" y="3048000"/>
            <a:chExt cx="14668500" cy="1333650"/>
          </a:xfrm>
        </p:grpSpPr>
        <p:pic>
          <p:nvPicPr>
            <p:cNvPr id="120" name="Google Shape;120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286000" y="3790950"/>
              <a:ext cx="6781800" cy="38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1" name="Google Shape;121;p15"/>
            <p:cNvSpPr/>
            <p:nvPr/>
          </p:nvSpPr>
          <p:spPr>
            <a:xfrm>
              <a:off x="2133600" y="3657600"/>
              <a:ext cx="304800" cy="304800"/>
            </a:xfrm>
            <a:prstGeom prst="ellipse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5"/>
            <p:cNvSpPr txBox="1"/>
            <p:nvPr/>
          </p:nvSpPr>
          <p:spPr>
            <a:xfrm>
              <a:off x="1809750" y="3048000"/>
              <a:ext cx="95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A</a:t>
              </a:r>
              <a:endParaRPr b="1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4381500" y="3619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5"/>
            <p:cNvSpPr txBox="1"/>
            <p:nvPr/>
          </p:nvSpPr>
          <p:spPr>
            <a:xfrm>
              <a:off x="4381500" y="3648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</a:t>
              </a:r>
              <a:endParaRPr sz="2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5" name="Google Shape;125;p15"/>
            <p:cNvSpPr txBox="1"/>
            <p:nvPr/>
          </p:nvSpPr>
          <p:spPr>
            <a:xfrm>
              <a:off x="3619500" y="40957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0077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 A A B</a:t>
              </a:r>
              <a:endParaRPr b="0" sz="1400">
                <a:solidFill>
                  <a:srgbClr val="0077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26" name="Google Shape;126;p15"/>
            <p:cNvSpPr/>
            <p:nvPr/>
          </p:nvSpPr>
          <p:spPr>
            <a:xfrm>
              <a:off x="6705600" y="3657600"/>
              <a:ext cx="304800" cy="304800"/>
            </a:xfrm>
            <a:prstGeom prst="ellipse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15"/>
            <p:cNvSpPr txBox="1"/>
            <p:nvPr/>
          </p:nvSpPr>
          <p:spPr>
            <a:xfrm>
              <a:off x="6381750" y="3048000"/>
              <a:ext cx="95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B</a:t>
              </a:r>
              <a:endParaRPr b="1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8953500" y="3619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5"/>
            <p:cNvSpPr txBox="1"/>
            <p:nvPr/>
          </p:nvSpPr>
          <p:spPr>
            <a:xfrm>
              <a:off x="8953500" y="3648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</a:t>
              </a:r>
              <a:endParaRPr sz="2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0" name="Google Shape;130;p15"/>
            <p:cNvSpPr txBox="1"/>
            <p:nvPr/>
          </p:nvSpPr>
          <p:spPr>
            <a:xfrm>
              <a:off x="8191500" y="40957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0077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 B A C</a:t>
              </a:r>
              <a:endParaRPr b="0" sz="1400">
                <a:solidFill>
                  <a:srgbClr val="0077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31" name="Google Shape;131;p15"/>
            <p:cNvSpPr/>
            <p:nvPr/>
          </p:nvSpPr>
          <p:spPr>
            <a:xfrm>
              <a:off x="11277600" y="3657600"/>
              <a:ext cx="304800" cy="304800"/>
            </a:xfrm>
            <a:prstGeom prst="ellipse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15"/>
            <p:cNvSpPr txBox="1"/>
            <p:nvPr/>
          </p:nvSpPr>
          <p:spPr>
            <a:xfrm>
              <a:off x="10953750" y="3048000"/>
              <a:ext cx="95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C</a:t>
              </a:r>
              <a:endParaRPr b="1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3" name="Google Shape;133;p15"/>
            <p:cNvSpPr/>
            <p:nvPr/>
          </p:nvSpPr>
          <p:spPr>
            <a:xfrm>
              <a:off x="13525500" y="3619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5"/>
            <p:cNvSpPr txBox="1"/>
            <p:nvPr/>
          </p:nvSpPr>
          <p:spPr>
            <a:xfrm>
              <a:off x="13525500" y="3648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</a:t>
              </a:r>
              <a:endParaRPr sz="2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5" name="Google Shape;135;p15"/>
            <p:cNvSpPr txBox="1"/>
            <p:nvPr/>
          </p:nvSpPr>
          <p:spPr>
            <a:xfrm>
              <a:off x="12763500" y="40957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0077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PRE-LANZAMIENTO</a:t>
              </a:r>
              <a:endParaRPr b="0" sz="1400">
                <a:solidFill>
                  <a:srgbClr val="0077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36" name="Google Shape;136;p15"/>
            <p:cNvSpPr/>
            <p:nvPr/>
          </p:nvSpPr>
          <p:spPr>
            <a:xfrm>
              <a:off x="15811500" y="3619500"/>
              <a:ext cx="381000" cy="3810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5"/>
            <p:cNvSpPr txBox="1"/>
            <p:nvPr/>
          </p:nvSpPr>
          <p:spPr>
            <a:xfrm>
              <a:off x="15525750" y="3048000"/>
              <a:ext cx="95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9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LANZAMIENTO</a:t>
              </a:r>
              <a:endParaRPr b="1" sz="99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8" name="Google Shape;138;p15"/>
          <p:cNvGrpSpPr/>
          <p:nvPr/>
        </p:nvGrpSpPr>
        <p:grpSpPr>
          <a:xfrm>
            <a:off x="1371600" y="5524500"/>
            <a:ext cx="15544800" cy="3429000"/>
            <a:chOff x="1371600" y="5524500"/>
            <a:chExt cx="15544800" cy="3429000"/>
          </a:xfrm>
        </p:grpSpPr>
        <p:sp>
          <p:nvSpPr>
            <p:cNvPr id="139" name="Google Shape;139;p15"/>
            <p:cNvSpPr/>
            <p:nvPr/>
          </p:nvSpPr>
          <p:spPr>
            <a:xfrm>
              <a:off x="1371600" y="5524500"/>
              <a:ext cx="15544800" cy="3429000"/>
            </a:xfrm>
            <a:prstGeom prst="roundRect">
              <a:avLst>
                <a:gd fmla="val 6666" name="adj"/>
              </a:avLst>
            </a:prstGeom>
            <a:solidFill>
              <a:srgbClr val="F9FAFB"/>
            </a:solidFill>
            <a:ln cap="flat" cmpd="sng" w="19050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5"/>
            <p:cNvSpPr txBox="1"/>
            <p:nvPr/>
          </p:nvSpPr>
          <p:spPr>
            <a:xfrm>
              <a:off x="1371600" y="59055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Tres preguntas críticas</a:t>
              </a:r>
              <a:endParaRPr b="1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41" name="Google Shape;141;p15"/>
            <p:cNvGrpSpPr/>
            <p:nvPr/>
          </p:nvGrpSpPr>
          <p:grpSpPr>
            <a:xfrm>
              <a:off x="1847850" y="6858000"/>
              <a:ext cx="4572000" cy="808736"/>
              <a:chOff x="0" y="0"/>
              <a:chExt cx="4572000" cy="808736"/>
            </a:xfrm>
          </p:grpSpPr>
          <p:sp>
            <p:nvSpPr>
              <p:cNvPr id="142" name="Google Shape;142;p15"/>
              <p:cNvSpPr/>
              <p:nvPr/>
            </p:nvSpPr>
            <p:spPr>
              <a:xfrm>
                <a:off x="0" y="0"/>
                <a:ext cx="762000" cy="762000"/>
              </a:xfrm>
              <a:prstGeom prst="ellipse">
                <a:avLst/>
              </a:prstGeom>
              <a:solidFill>
                <a:srgbClr val="EBF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" name="Google Shape;143;p15"/>
              <p:cNvSpPr txBox="1"/>
              <p:nvPr/>
            </p:nvSpPr>
            <p:spPr>
              <a:xfrm>
                <a:off x="0" y="46736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</a:t>
                </a:r>
                <a:endParaRPr sz="32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44" name="Google Shape;144;p15"/>
              <p:cNvSpPr txBox="1"/>
              <p:nvPr/>
            </p:nvSpPr>
            <p:spPr>
              <a:xfrm>
                <a:off x="952500" y="0"/>
                <a:ext cx="36195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200">
                    <a:solidFill>
                      <a:srgbClr val="0077CC"/>
                    </a:solidFill>
                    <a:latin typeface="Inter"/>
                    <a:ea typeface="Inter"/>
                    <a:cs typeface="Inter"/>
                    <a:sym typeface="Inter"/>
                  </a:rPr>
                  <a:t>¿Siguen los mismos?</a:t>
                </a:r>
                <a:endParaRPr b="1" sz="22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" name="Google Shape;145;p15"/>
            <p:cNvGrpSpPr/>
            <p:nvPr/>
          </p:nvGrpSpPr>
          <p:grpSpPr>
            <a:xfrm>
              <a:off x="6800850" y="6858000"/>
              <a:ext cx="4572000" cy="808736"/>
              <a:chOff x="0" y="0"/>
              <a:chExt cx="4572000" cy="808736"/>
            </a:xfrm>
          </p:grpSpPr>
          <p:sp>
            <p:nvSpPr>
              <p:cNvPr id="146" name="Google Shape;146;p15"/>
              <p:cNvSpPr/>
              <p:nvPr/>
            </p:nvSpPr>
            <p:spPr>
              <a:xfrm>
                <a:off x="0" y="0"/>
                <a:ext cx="762000" cy="762000"/>
              </a:xfrm>
              <a:prstGeom prst="ellipse">
                <a:avLst/>
              </a:prstGeom>
              <a:solidFill>
                <a:srgbClr val="EBF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5"/>
              <p:cNvSpPr txBox="1"/>
              <p:nvPr/>
            </p:nvSpPr>
            <p:spPr>
              <a:xfrm>
                <a:off x="0" y="46736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</a:t>
                </a:r>
                <a:endParaRPr sz="32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48" name="Google Shape;148;p15"/>
              <p:cNvSpPr txBox="1"/>
              <p:nvPr/>
            </p:nvSpPr>
            <p:spPr>
              <a:xfrm>
                <a:off x="952500" y="0"/>
                <a:ext cx="36195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200">
                    <a:solidFill>
                      <a:srgbClr val="0077CC"/>
                    </a:solidFill>
                    <a:latin typeface="Inter"/>
                    <a:ea typeface="Inter"/>
                    <a:cs typeface="Inter"/>
                    <a:sym typeface="Inter"/>
                  </a:rPr>
                  <a:t>¿Alguien cambió?</a:t>
                </a:r>
                <a:endParaRPr b="1" sz="22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9" name="Google Shape;149;p15"/>
            <p:cNvGrpSpPr/>
            <p:nvPr/>
          </p:nvGrpSpPr>
          <p:grpSpPr>
            <a:xfrm>
              <a:off x="11753850" y="6858000"/>
              <a:ext cx="4572000" cy="808736"/>
              <a:chOff x="0" y="0"/>
              <a:chExt cx="4572000" cy="808736"/>
            </a:xfrm>
          </p:grpSpPr>
          <p:sp>
            <p:nvSpPr>
              <p:cNvPr id="150" name="Google Shape;150;p15"/>
              <p:cNvSpPr/>
              <p:nvPr/>
            </p:nvSpPr>
            <p:spPr>
              <a:xfrm>
                <a:off x="0" y="0"/>
                <a:ext cx="762000" cy="762000"/>
              </a:xfrm>
              <a:prstGeom prst="ellipse">
                <a:avLst/>
              </a:prstGeom>
              <a:solidFill>
                <a:srgbClr val="EBF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5"/>
              <p:cNvSpPr txBox="1"/>
              <p:nvPr/>
            </p:nvSpPr>
            <p:spPr>
              <a:xfrm>
                <a:off x="0" y="46736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</a:t>
                </a:r>
                <a:endParaRPr sz="32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52" name="Google Shape;152;p15"/>
              <p:cNvSpPr txBox="1"/>
              <p:nvPr/>
            </p:nvSpPr>
            <p:spPr>
              <a:xfrm>
                <a:off x="952500" y="0"/>
                <a:ext cx="36195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200">
                    <a:solidFill>
                      <a:srgbClr val="0077CC"/>
                    </a:solidFill>
                    <a:latin typeface="Inter"/>
                    <a:ea typeface="Inter"/>
                    <a:cs typeface="Inter"/>
                    <a:sym typeface="Inter"/>
                  </a:rPr>
                  <a:t>¿Alguien desapareció?</a:t>
                </a:r>
                <a:endParaRPr b="1" sz="22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1371600" y="762000"/>
            <a:ext cx="15544800" cy="62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8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Cuatro señales de alarma</a:t>
            </a:r>
            <a:endParaRPr b="1" i="0" sz="408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60" name="Google Shape;160;p16"/>
          <p:cNvGrpSpPr/>
          <p:nvPr/>
        </p:nvGrpSpPr>
        <p:grpSpPr>
          <a:xfrm>
            <a:off x="762000" y="2286000"/>
            <a:ext cx="3619500" cy="6096000"/>
            <a:chOff x="762000" y="2286000"/>
            <a:chExt cx="3619500" cy="6096000"/>
          </a:xfrm>
        </p:grpSpPr>
        <p:sp>
          <p:nvSpPr>
            <p:cNvPr id="161" name="Google Shape;161;p16"/>
            <p:cNvSpPr/>
            <p:nvPr/>
          </p:nvSpPr>
          <p:spPr>
            <a:xfrm>
              <a:off x="762000" y="2286000"/>
              <a:ext cx="3619500" cy="6096000"/>
            </a:xfrm>
            <a:prstGeom prst="roundRect">
              <a:avLst>
                <a:gd fmla="val 6315" name="adj"/>
              </a:avLst>
            </a:prstGeom>
            <a:solidFill>
              <a:srgbClr val="F9FAFB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6"/>
            <p:cNvSpPr/>
            <p:nvPr/>
          </p:nvSpPr>
          <p:spPr>
            <a:xfrm>
              <a:off x="762000" y="2286000"/>
              <a:ext cx="3619500" cy="114300"/>
            </a:xfrm>
            <a:prstGeom prst="rect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6"/>
            <p:cNvSpPr txBox="1"/>
            <p:nvPr/>
          </p:nvSpPr>
          <p:spPr>
            <a:xfrm>
              <a:off x="1047750" y="2667000"/>
              <a:ext cx="3048000" cy="533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</a:t>
              </a:r>
              <a:endParaRPr sz="4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Single point of failure</a:t>
              </a:r>
              <a:endParaRPr b="1" sz="2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Un solo nombre en más de dos roles.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4" name="Google Shape;164;p16"/>
          <p:cNvGrpSpPr/>
          <p:nvPr/>
        </p:nvGrpSpPr>
        <p:grpSpPr>
          <a:xfrm>
            <a:off x="5048250" y="2286000"/>
            <a:ext cx="3619500" cy="6096000"/>
            <a:chOff x="5048250" y="2286000"/>
            <a:chExt cx="3619500" cy="6096000"/>
          </a:xfrm>
        </p:grpSpPr>
        <p:sp>
          <p:nvSpPr>
            <p:cNvPr id="165" name="Google Shape;165;p16"/>
            <p:cNvSpPr/>
            <p:nvPr/>
          </p:nvSpPr>
          <p:spPr>
            <a:xfrm>
              <a:off x="5048250" y="2286000"/>
              <a:ext cx="3619500" cy="6096000"/>
            </a:xfrm>
            <a:prstGeom prst="roundRect">
              <a:avLst>
                <a:gd fmla="val 6315" name="adj"/>
              </a:avLst>
            </a:prstGeom>
            <a:solidFill>
              <a:srgbClr val="F9FAFB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16"/>
            <p:cNvSpPr/>
            <p:nvPr/>
          </p:nvSpPr>
          <p:spPr>
            <a:xfrm>
              <a:off x="5048250" y="2286000"/>
              <a:ext cx="3619500" cy="114300"/>
            </a:xfrm>
            <a:prstGeom prst="rect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16"/>
            <p:cNvSpPr txBox="1"/>
            <p:nvPr/>
          </p:nvSpPr>
          <p:spPr>
            <a:xfrm>
              <a:off x="5334000" y="2667000"/>
              <a:ext cx="3048000" cy="533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</a:t>
              </a:r>
              <a:endParaRPr sz="4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Pérdida de seguimiento</a:t>
              </a:r>
              <a:endParaRPr b="1" sz="2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El coordinador dejó de asistir a las reuniones.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8" name="Google Shape;168;p16"/>
          <p:cNvGrpSpPr/>
          <p:nvPr/>
        </p:nvGrpSpPr>
        <p:grpSpPr>
          <a:xfrm>
            <a:off x="9334500" y="2286000"/>
            <a:ext cx="3619500" cy="6096000"/>
            <a:chOff x="9334500" y="2286000"/>
            <a:chExt cx="3619500" cy="6096000"/>
          </a:xfrm>
        </p:grpSpPr>
        <p:sp>
          <p:nvSpPr>
            <p:cNvPr id="169" name="Google Shape;169;p16"/>
            <p:cNvSpPr/>
            <p:nvPr/>
          </p:nvSpPr>
          <p:spPr>
            <a:xfrm>
              <a:off x="9334500" y="2286000"/>
              <a:ext cx="3619500" cy="6096000"/>
            </a:xfrm>
            <a:prstGeom prst="roundRect">
              <a:avLst>
                <a:gd fmla="val 6315" name="adj"/>
              </a:avLst>
            </a:prstGeom>
            <a:solidFill>
              <a:srgbClr val="F9FAFB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6"/>
            <p:cNvSpPr/>
            <p:nvPr/>
          </p:nvSpPr>
          <p:spPr>
            <a:xfrm>
              <a:off x="9334500" y="2286000"/>
              <a:ext cx="3619500" cy="114300"/>
            </a:xfrm>
            <a:prstGeom prst="rect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6"/>
            <p:cNvSpPr txBox="1"/>
            <p:nvPr/>
          </p:nvSpPr>
          <p:spPr>
            <a:xfrm>
              <a:off x="9620250" y="2667000"/>
              <a:ext cx="3048000" cy="533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</a:t>
              </a:r>
              <a:endParaRPr sz="4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Desconexión práctica</a:t>
              </a:r>
              <a:endParaRPr b="1" sz="2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El técnico "no tiene tiempo" — ya no está asignado en la práctica.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2" name="Google Shape;172;p16"/>
          <p:cNvGrpSpPr/>
          <p:nvPr/>
        </p:nvGrpSpPr>
        <p:grpSpPr>
          <a:xfrm>
            <a:off x="13620750" y="2286000"/>
            <a:ext cx="3619500" cy="6096000"/>
            <a:chOff x="13620750" y="2286000"/>
            <a:chExt cx="3619500" cy="6096000"/>
          </a:xfrm>
        </p:grpSpPr>
        <p:sp>
          <p:nvSpPr>
            <p:cNvPr id="173" name="Google Shape;173;p16"/>
            <p:cNvSpPr/>
            <p:nvPr/>
          </p:nvSpPr>
          <p:spPr>
            <a:xfrm>
              <a:off x="13620750" y="2286000"/>
              <a:ext cx="3619500" cy="6096000"/>
            </a:xfrm>
            <a:prstGeom prst="roundRect">
              <a:avLst>
                <a:gd fmla="val 6315" name="adj"/>
              </a:avLst>
            </a:prstGeom>
            <a:solidFill>
              <a:srgbClr val="F9FAFB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16"/>
            <p:cNvSpPr/>
            <p:nvPr/>
          </p:nvSpPr>
          <p:spPr>
            <a:xfrm>
              <a:off x="13620750" y="2286000"/>
              <a:ext cx="3619500" cy="114300"/>
            </a:xfrm>
            <a:prstGeom prst="rect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6"/>
            <p:cNvSpPr txBox="1"/>
            <p:nvPr/>
          </p:nvSpPr>
          <p:spPr>
            <a:xfrm>
              <a:off x="13906500" y="2667000"/>
              <a:ext cx="3048000" cy="533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</a:t>
              </a:r>
              <a:endParaRPr sz="4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Autonomía perdida</a:t>
              </a:r>
              <a:endParaRPr b="1" sz="2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Tu equipo resuelve lo que el gobierno debería resolver.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 no puedes responder "¿quién es responsable de X?"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en menos de 5 segundos,</a:t>
            </a:r>
            <a:endParaRPr/>
          </a:p>
        </p:txBody>
      </p:sp>
      <p:sp>
        <p:nvSpPr>
          <p:cNvPr id="184" name="Google Shape;184;p17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los roles se perdieron.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