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10287000" cx="18288000"/>
  <p:notesSz cx="6858000" cy="9144000"/>
  <p:embeddedFontLst>
    <p:embeddedFont>
      <p:font typeface="Inter"/>
      <p:regular r:id="rId10"/>
      <p:bold r:id="rId11"/>
      <p:italic r:id="rId12"/>
      <p:boldItalic r:id="rId13"/>
    </p:embeddedFont>
    <p:embeddedFont>
      <p:font typeface="Inter Medium"/>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bold.fntdata"/><Relationship Id="rId10" Type="http://schemas.openxmlformats.org/officeDocument/2006/relationships/font" Target="fonts/Inter-regular.fntdata"/><Relationship Id="rId13" Type="http://schemas.openxmlformats.org/officeDocument/2006/relationships/font" Target="fonts/Inter-boldItalic.fntdata"/><Relationship Id="rId12" Type="http://schemas.openxmlformats.org/officeDocument/2006/relationships/font" Target="fonts/Int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Medium-bold.fntdata"/><Relationship Id="rId14" Type="http://schemas.openxmlformats.org/officeDocument/2006/relationships/font" Target="fonts/InterMedium-regular.fntdata"/><Relationship Id="rId17" Type="http://schemas.openxmlformats.org/officeDocument/2006/relationships/font" Target="fonts/InterMedium-boldItalic.fntdata"/><Relationship Id="rId16" Type="http://schemas.openxmlformats.org/officeDocument/2006/relationships/font" Target="fonts/Inter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18.0s · 45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noventa días puede pasar muchas cosas. Una de las más difíciles es que el dueño político se vaya antes de terminar. Cambio de gabinete, renuncia, reasignación. Cuando pasa, el reflejo natural es pausar el proyecto y esperar. Eso es exactamente lo que no haces.</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71.2s · 178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un protocolo de cinco pasos para esto, y lo aplicas el mismo día que te enteras del cambio. Paso uno: el coordinador general asume ownership temporal del proyecto y te notifica como partner el mismo día. Paso dos: agendas una reunión de emergencia en máximo cuarenta y ocho horas con el coordinador y, si ya hay un sucesor designado, con esa persona también. Paso tres: documentación mínima. Estado actual del proyecto, fase en que está, porcentaje de avance, entregables ya cerrados, decisiones pendientes, compromisos políticos previos como fecha de lanzamiento o comunicación pública, y riesgos abiertos. Esta documentación no es para Sovra, es para el sucesor. Tiene que poder leerla y entender el proyecto en una hora. Paso cuatro: si hay sucesor identificado, reunión de contexto en la primera semana. El sucesor confirma o ajusta alcance, prioridades y fecha. Se continúa con el timeline vigente. Paso cinco: si no hay sucesor o el equipo quedó roto, esto ya no es una pausa. Es un nuevo Readiness Assessment completo. Vuelves a aplicar las cuatro señales que viste antes.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28.0s · 70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te quedan menos de tres en verde, entras en período de re-preparación. Y acá está lo importante: el reloj de los noventa días no se pausa ni se reinicia. La salida del dueño político no es excusa para pausar. Es un trigger para evaluar si el proyecto sigue siendo viable. Si detectas que ya no hay respaldo político suficiente, escalas a Sovra inmediatamente. No esperas a la siguiente reunión.</a:t>
            </a:r>
            <a:endParaRPr/>
          </a:p>
        </p:txBody>
      </p:sp>
      <p:sp>
        <p:nvSpPr>
          <p:cNvPr id="129" name="Google Shape;12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6.8s · 17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 cambio político no detiene el reloj. Te obliga a decidir si el proyecto sigue siendo viable.</a:t>
            </a:r>
            <a:endParaRPr/>
          </a:p>
        </p:txBody>
      </p:sp>
      <p:sp>
        <p:nvSpPr>
          <p:cNvPr id="142" name="Google Shape;14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077CC"/>
                </a:solidFill>
                <a:latin typeface="Inter"/>
                <a:ea typeface="Inter"/>
                <a:cs typeface="Inter"/>
                <a:sym typeface="Inter"/>
              </a:rPr>
              <a:t>FASE 0</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Transición</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de dueño político</a:t>
            </a:r>
            <a:endParaRPr/>
          </a:p>
        </p:txBody>
      </p:sp>
      <p:sp>
        <p:nvSpPr>
          <p:cNvPr id="88" name="Google Shape;88;p13"/>
          <p:cNvSpPr txBox="1"/>
          <p:nvPr/>
        </p:nvSpPr>
        <p:spPr>
          <a:xfrm>
            <a:off x="1274775"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El reflejo natural es pausar. Eso es exactamente lo que NO haces.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955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3720">
                <a:solidFill>
                  <a:srgbClr val="0A0915"/>
                </a:solidFill>
                <a:latin typeface="Inter"/>
                <a:ea typeface="Inter"/>
                <a:cs typeface="Inter"/>
                <a:sym typeface="Inter"/>
              </a:rPr>
              <a:t>Protocolo de cinco pasos</a:t>
            </a:r>
            <a:endParaRPr b="1" sz="3720">
              <a:solidFill>
                <a:srgbClr val="0A0915"/>
              </a:solidFill>
              <a:latin typeface="Inter"/>
              <a:ea typeface="Inter"/>
              <a:cs typeface="Inter"/>
              <a:sym typeface="Inter"/>
            </a:endParaRPr>
          </a:p>
          <a:p>
            <a:pPr indent="0" lvl="0" marL="0" rtl="0" algn="l">
              <a:spcBef>
                <a:spcPts val="750"/>
              </a:spcBef>
              <a:spcAft>
                <a:spcPts val="0"/>
              </a:spcAft>
              <a:buNone/>
            </a:pPr>
            <a:r>
              <a:rPr b="0" lang="en-US" sz="1860">
                <a:solidFill>
                  <a:srgbClr val="0077CC"/>
                </a:solidFill>
                <a:latin typeface="Inter"/>
                <a:ea typeface="Inter"/>
                <a:cs typeface="Inter"/>
                <a:sym typeface="Inter"/>
              </a:rPr>
              <a:t>Acción inmediata el mismo día que recibes la noticia</a:t>
            </a:r>
            <a:endParaRPr b="0" sz="1860">
              <a:solidFill>
                <a:srgbClr val="0077CC"/>
              </a:solidFill>
              <a:latin typeface="Inter"/>
              <a:ea typeface="Inter"/>
              <a:cs typeface="Inter"/>
              <a:sym typeface="Inter"/>
            </a:endParaRPr>
          </a:p>
        </p:txBody>
      </p:sp>
      <p:grpSp>
        <p:nvGrpSpPr>
          <p:cNvPr id="96" name="Google Shape;96;p14"/>
          <p:cNvGrpSpPr/>
          <p:nvPr/>
        </p:nvGrpSpPr>
        <p:grpSpPr>
          <a:xfrm>
            <a:off x="1371600" y="2095500"/>
            <a:ext cx="15544800" cy="1143000"/>
            <a:chOff x="1371600" y="2095500"/>
            <a:chExt cx="15544800" cy="1143000"/>
          </a:xfrm>
        </p:grpSpPr>
        <p:sp>
          <p:nvSpPr>
            <p:cNvPr id="97" name="Google Shape;97;p14"/>
            <p:cNvSpPr/>
            <p:nvPr/>
          </p:nvSpPr>
          <p:spPr>
            <a:xfrm>
              <a:off x="1371600" y="2095500"/>
              <a:ext cx="15544800" cy="1143000"/>
            </a:xfrm>
            <a:prstGeom prst="roundRect">
              <a:avLst>
                <a:gd fmla="val 125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4"/>
            <p:cNvSpPr/>
            <p:nvPr/>
          </p:nvSpPr>
          <p:spPr>
            <a:xfrm>
              <a:off x="1371600" y="2095500"/>
              <a:ext cx="762000" cy="1143000"/>
            </a:xfrm>
            <a:prstGeom prst="roundRect">
              <a:avLst>
                <a:gd fmla="val 18750"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4"/>
            <p:cNvSpPr/>
            <p:nvPr/>
          </p:nvSpPr>
          <p:spPr>
            <a:xfrm>
              <a:off x="1752600" y="2095500"/>
              <a:ext cx="381000" cy="11430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4"/>
            <p:cNvSpPr txBox="1"/>
            <p:nvPr/>
          </p:nvSpPr>
          <p:spPr>
            <a:xfrm>
              <a:off x="1371600" y="2095500"/>
              <a:ext cx="762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Inter"/>
                  <a:ea typeface="Inter"/>
                  <a:cs typeface="Inter"/>
                  <a:sym typeface="Inter"/>
                </a:rPr>
                <a:t>01</a:t>
              </a:r>
              <a:endParaRPr b="1" sz="3200">
                <a:solidFill>
                  <a:srgbClr val="FFFFFF"/>
                </a:solidFill>
                <a:latin typeface="Inter"/>
                <a:ea typeface="Inter"/>
                <a:cs typeface="Inter"/>
                <a:sym typeface="Inter"/>
              </a:endParaRPr>
            </a:p>
          </p:txBody>
        </p:sp>
        <p:sp>
          <p:nvSpPr>
            <p:cNvPr id="101" name="Google Shape;101;p14"/>
            <p:cNvSpPr txBox="1"/>
            <p:nvPr/>
          </p:nvSpPr>
          <p:spPr>
            <a:xfrm>
              <a:off x="2381250" y="2095500"/>
              <a:ext cx="14287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77CC"/>
                  </a:solidFill>
                  <a:latin typeface="Inter"/>
                  <a:ea typeface="Inter"/>
                  <a:cs typeface="Inter"/>
                  <a:sym typeface="Inter"/>
                </a:rPr>
                <a:t>Asunción de ownership:</a:t>
              </a:r>
              <a:r>
                <a:rPr lang="en-US" sz="2200">
                  <a:solidFill>
                    <a:srgbClr val="0A0915"/>
                  </a:solidFill>
                  <a:latin typeface="Inter"/>
                  <a:ea typeface="Inter"/>
                  <a:cs typeface="Inter"/>
                  <a:sym typeface="Inter"/>
                </a:rPr>
                <a:t> El coordinador asume responsabilidad temporal y te notifica de inmediato.</a:t>
              </a:r>
              <a:endParaRPr sz="2200">
                <a:solidFill>
                  <a:srgbClr val="0A0915"/>
                </a:solidFill>
                <a:latin typeface="Inter"/>
                <a:ea typeface="Inter"/>
                <a:cs typeface="Inter"/>
                <a:sym typeface="Inter"/>
              </a:endParaRPr>
            </a:p>
          </p:txBody>
        </p:sp>
      </p:grpSp>
      <p:grpSp>
        <p:nvGrpSpPr>
          <p:cNvPr id="102" name="Google Shape;102;p14"/>
          <p:cNvGrpSpPr/>
          <p:nvPr/>
        </p:nvGrpSpPr>
        <p:grpSpPr>
          <a:xfrm>
            <a:off x="1371600" y="3429000"/>
            <a:ext cx="15544800" cy="1143000"/>
            <a:chOff x="1371600" y="3429000"/>
            <a:chExt cx="15544800" cy="1143000"/>
          </a:xfrm>
        </p:grpSpPr>
        <p:sp>
          <p:nvSpPr>
            <p:cNvPr id="103" name="Google Shape;103;p14"/>
            <p:cNvSpPr/>
            <p:nvPr/>
          </p:nvSpPr>
          <p:spPr>
            <a:xfrm>
              <a:off x="1371600" y="3429000"/>
              <a:ext cx="15544800" cy="1143000"/>
            </a:xfrm>
            <a:prstGeom prst="roundRect">
              <a:avLst>
                <a:gd fmla="val 12500" name="adj"/>
              </a:avLst>
            </a:prstGeom>
            <a:solidFill>
              <a:srgbClr val="F1F5F9"/>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4"/>
            <p:cNvSpPr/>
            <p:nvPr/>
          </p:nvSpPr>
          <p:spPr>
            <a:xfrm>
              <a:off x="1371600" y="3429000"/>
              <a:ext cx="762000" cy="1143000"/>
            </a:xfrm>
            <a:prstGeom prst="roundRect">
              <a:avLst>
                <a:gd fmla="val 18750"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4"/>
            <p:cNvSpPr/>
            <p:nvPr/>
          </p:nvSpPr>
          <p:spPr>
            <a:xfrm>
              <a:off x="1752600" y="3429000"/>
              <a:ext cx="381000" cy="11430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4"/>
            <p:cNvSpPr txBox="1"/>
            <p:nvPr/>
          </p:nvSpPr>
          <p:spPr>
            <a:xfrm>
              <a:off x="1371600" y="3429000"/>
              <a:ext cx="762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Inter"/>
                  <a:ea typeface="Inter"/>
                  <a:cs typeface="Inter"/>
                  <a:sym typeface="Inter"/>
                </a:rPr>
                <a:t>02</a:t>
              </a:r>
              <a:endParaRPr b="1" sz="3200">
                <a:solidFill>
                  <a:srgbClr val="FFFFFF"/>
                </a:solidFill>
                <a:latin typeface="Inter"/>
                <a:ea typeface="Inter"/>
                <a:cs typeface="Inter"/>
                <a:sym typeface="Inter"/>
              </a:endParaRPr>
            </a:p>
          </p:txBody>
        </p:sp>
        <p:sp>
          <p:nvSpPr>
            <p:cNvPr id="107" name="Google Shape;107;p14"/>
            <p:cNvSpPr txBox="1"/>
            <p:nvPr/>
          </p:nvSpPr>
          <p:spPr>
            <a:xfrm>
              <a:off x="2381250" y="3429000"/>
              <a:ext cx="14287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77CC"/>
                  </a:solidFill>
                  <a:latin typeface="Inter"/>
                  <a:ea typeface="Inter"/>
                  <a:cs typeface="Inter"/>
                  <a:sym typeface="Inter"/>
                </a:rPr>
                <a:t>Reunión de emergencia:</a:t>
              </a:r>
              <a:r>
                <a:rPr lang="en-US" sz="2200">
                  <a:solidFill>
                    <a:srgbClr val="0A0915"/>
                  </a:solidFill>
                  <a:latin typeface="Inter"/>
                  <a:ea typeface="Inter"/>
                  <a:cs typeface="Inter"/>
                  <a:sym typeface="Inter"/>
                </a:rPr>
                <a:t> Máximo en 48 horas con el coordinador y el sucesor (si existe).</a:t>
              </a:r>
              <a:endParaRPr sz="2200">
                <a:solidFill>
                  <a:srgbClr val="0A0915"/>
                </a:solidFill>
                <a:latin typeface="Inter"/>
                <a:ea typeface="Inter"/>
                <a:cs typeface="Inter"/>
                <a:sym typeface="Inter"/>
              </a:endParaRPr>
            </a:p>
          </p:txBody>
        </p:sp>
      </p:grpSp>
      <p:grpSp>
        <p:nvGrpSpPr>
          <p:cNvPr id="108" name="Google Shape;108;p14"/>
          <p:cNvGrpSpPr/>
          <p:nvPr/>
        </p:nvGrpSpPr>
        <p:grpSpPr>
          <a:xfrm>
            <a:off x="1371600" y="4762500"/>
            <a:ext cx="15544800" cy="1143000"/>
            <a:chOff x="1371600" y="4762500"/>
            <a:chExt cx="15544800" cy="1143000"/>
          </a:xfrm>
        </p:grpSpPr>
        <p:sp>
          <p:nvSpPr>
            <p:cNvPr id="109" name="Google Shape;109;p14"/>
            <p:cNvSpPr/>
            <p:nvPr/>
          </p:nvSpPr>
          <p:spPr>
            <a:xfrm>
              <a:off x="1371600" y="4762500"/>
              <a:ext cx="15544800" cy="1143000"/>
            </a:xfrm>
            <a:prstGeom prst="roundRect">
              <a:avLst>
                <a:gd fmla="val 125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4"/>
            <p:cNvSpPr/>
            <p:nvPr/>
          </p:nvSpPr>
          <p:spPr>
            <a:xfrm>
              <a:off x="1371600" y="4762500"/>
              <a:ext cx="762000" cy="1143000"/>
            </a:xfrm>
            <a:prstGeom prst="roundRect">
              <a:avLst>
                <a:gd fmla="val 18750"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4"/>
            <p:cNvSpPr/>
            <p:nvPr/>
          </p:nvSpPr>
          <p:spPr>
            <a:xfrm>
              <a:off x="1752600" y="4762500"/>
              <a:ext cx="381000" cy="11430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4"/>
            <p:cNvSpPr txBox="1"/>
            <p:nvPr/>
          </p:nvSpPr>
          <p:spPr>
            <a:xfrm>
              <a:off x="1371600" y="4762500"/>
              <a:ext cx="762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Inter"/>
                  <a:ea typeface="Inter"/>
                  <a:cs typeface="Inter"/>
                  <a:sym typeface="Inter"/>
                </a:rPr>
                <a:t>03</a:t>
              </a:r>
              <a:endParaRPr b="1" sz="3200">
                <a:solidFill>
                  <a:srgbClr val="FFFFFF"/>
                </a:solidFill>
                <a:latin typeface="Inter"/>
                <a:ea typeface="Inter"/>
                <a:cs typeface="Inter"/>
                <a:sym typeface="Inter"/>
              </a:endParaRPr>
            </a:p>
          </p:txBody>
        </p:sp>
        <p:sp>
          <p:nvSpPr>
            <p:cNvPr id="113" name="Google Shape;113;p14"/>
            <p:cNvSpPr txBox="1"/>
            <p:nvPr/>
          </p:nvSpPr>
          <p:spPr>
            <a:xfrm>
              <a:off x="2381250" y="4762500"/>
              <a:ext cx="14287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77CC"/>
                  </a:solidFill>
                  <a:latin typeface="Inter"/>
                  <a:ea typeface="Inter"/>
                  <a:cs typeface="Inter"/>
                  <a:sym typeface="Inter"/>
                </a:rPr>
                <a:t>Documentación crítica:</a:t>
              </a:r>
              <a:r>
                <a:rPr lang="en-US" sz="2200">
                  <a:solidFill>
                    <a:srgbClr val="0A0915"/>
                  </a:solidFill>
                  <a:latin typeface="Inter"/>
                  <a:ea typeface="Inter"/>
                  <a:cs typeface="Inter"/>
                  <a:sym typeface="Inter"/>
                </a:rPr>
                <a:t> Estado, fase, % de avance, compromisos políticos y riesgos.</a:t>
              </a:r>
              <a:endParaRPr sz="2200">
                <a:solidFill>
                  <a:srgbClr val="0A0915"/>
                </a:solidFill>
                <a:latin typeface="Inter"/>
                <a:ea typeface="Inter"/>
                <a:cs typeface="Inter"/>
                <a:sym typeface="Inter"/>
              </a:endParaRPr>
            </a:p>
          </p:txBody>
        </p:sp>
      </p:grpSp>
      <p:grpSp>
        <p:nvGrpSpPr>
          <p:cNvPr id="114" name="Google Shape;114;p14"/>
          <p:cNvGrpSpPr/>
          <p:nvPr/>
        </p:nvGrpSpPr>
        <p:grpSpPr>
          <a:xfrm>
            <a:off x="1371600" y="6096000"/>
            <a:ext cx="15544800" cy="1143000"/>
            <a:chOff x="1371600" y="6096000"/>
            <a:chExt cx="15544800" cy="1143000"/>
          </a:xfrm>
        </p:grpSpPr>
        <p:sp>
          <p:nvSpPr>
            <p:cNvPr id="115" name="Google Shape;115;p14"/>
            <p:cNvSpPr/>
            <p:nvPr/>
          </p:nvSpPr>
          <p:spPr>
            <a:xfrm>
              <a:off x="1371600" y="6096000"/>
              <a:ext cx="15544800" cy="1143000"/>
            </a:xfrm>
            <a:prstGeom prst="roundRect">
              <a:avLst>
                <a:gd fmla="val 12500" name="adj"/>
              </a:avLst>
            </a:prstGeom>
            <a:solidFill>
              <a:srgbClr val="F1F5F9"/>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4"/>
            <p:cNvSpPr/>
            <p:nvPr/>
          </p:nvSpPr>
          <p:spPr>
            <a:xfrm>
              <a:off x="1371600" y="6096000"/>
              <a:ext cx="762000" cy="1143000"/>
            </a:xfrm>
            <a:prstGeom prst="roundRect">
              <a:avLst>
                <a:gd fmla="val 18750"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4"/>
            <p:cNvSpPr/>
            <p:nvPr/>
          </p:nvSpPr>
          <p:spPr>
            <a:xfrm>
              <a:off x="1752600" y="6096000"/>
              <a:ext cx="381000" cy="11430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4"/>
            <p:cNvSpPr txBox="1"/>
            <p:nvPr/>
          </p:nvSpPr>
          <p:spPr>
            <a:xfrm>
              <a:off x="1371600" y="6096000"/>
              <a:ext cx="762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Inter"/>
                  <a:ea typeface="Inter"/>
                  <a:cs typeface="Inter"/>
                  <a:sym typeface="Inter"/>
                </a:rPr>
                <a:t>04</a:t>
              </a:r>
              <a:endParaRPr b="1" sz="3200">
                <a:solidFill>
                  <a:srgbClr val="FFFFFF"/>
                </a:solidFill>
                <a:latin typeface="Inter"/>
                <a:ea typeface="Inter"/>
                <a:cs typeface="Inter"/>
                <a:sym typeface="Inter"/>
              </a:endParaRPr>
            </a:p>
          </p:txBody>
        </p:sp>
        <p:sp>
          <p:nvSpPr>
            <p:cNvPr id="119" name="Google Shape;119;p14"/>
            <p:cNvSpPr txBox="1"/>
            <p:nvPr/>
          </p:nvSpPr>
          <p:spPr>
            <a:xfrm>
              <a:off x="2381250" y="6096000"/>
              <a:ext cx="14287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77CC"/>
                  </a:solidFill>
                  <a:latin typeface="Inter"/>
                  <a:ea typeface="Inter"/>
                  <a:cs typeface="Inter"/>
                  <a:sym typeface="Inter"/>
                </a:rPr>
                <a:t>Contexto del sucesor:</a:t>
              </a:r>
              <a:r>
                <a:rPr lang="en-US" sz="2200">
                  <a:solidFill>
                    <a:srgbClr val="0A0915"/>
                  </a:solidFill>
                  <a:latin typeface="Inter"/>
                  <a:ea typeface="Inter"/>
                  <a:cs typeface="Inter"/>
                  <a:sym typeface="Inter"/>
                </a:rPr>
                <a:t> Reunión en la primera semana para asegurar la continuidad del timeline.</a:t>
              </a:r>
              <a:endParaRPr sz="2200">
                <a:solidFill>
                  <a:srgbClr val="0A0915"/>
                </a:solidFill>
                <a:latin typeface="Inter"/>
                <a:ea typeface="Inter"/>
                <a:cs typeface="Inter"/>
                <a:sym typeface="Inter"/>
              </a:endParaRPr>
            </a:p>
          </p:txBody>
        </p:sp>
      </p:grpSp>
      <p:grpSp>
        <p:nvGrpSpPr>
          <p:cNvPr id="120" name="Google Shape;120;p14"/>
          <p:cNvGrpSpPr/>
          <p:nvPr/>
        </p:nvGrpSpPr>
        <p:grpSpPr>
          <a:xfrm>
            <a:off x="1371600" y="7429500"/>
            <a:ext cx="15544800" cy="1143000"/>
            <a:chOff x="1371600" y="7429500"/>
            <a:chExt cx="15544800" cy="1143000"/>
          </a:xfrm>
        </p:grpSpPr>
        <p:sp>
          <p:nvSpPr>
            <p:cNvPr id="121" name="Google Shape;121;p14"/>
            <p:cNvSpPr/>
            <p:nvPr/>
          </p:nvSpPr>
          <p:spPr>
            <a:xfrm>
              <a:off x="1371600" y="7429500"/>
              <a:ext cx="15544800" cy="1143000"/>
            </a:xfrm>
            <a:prstGeom prst="roundRect">
              <a:avLst>
                <a:gd fmla="val 125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4"/>
            <p:cNvSpPr/>
            <p:nvPr/>
          </p:nvSpPr>
          <p:spPr>
            <a:xfrm>
              <a:off x="1371600" y="7429500"/>
              <a:ext cx="762000" cy="1143000"/>
            </a:xfrm>
            <a:prstGeom prst="roundRect">
              <a:avLst>
                <a:gd fmla="val 18750"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4"/>
            <p:cNvSpPr/>
            <p:nvPr/>
          </p:nvSpPr>
          <p:spPr>
            <a:xfrm>
              <a:off x="1752600" y="7429500"/>
              <a:ext cx="381000" cy="11430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4"/>
            <p:cNvSpPr txBox="1"/>
            <p:nvPr/>
          </p:nvSpPr>
          <p:spPr>
            <a:xfrm>
              <a:off x="1371600" y="7429500"/>
              <a:ext cx="762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FFFFFF"/>
                  </a:solidFill>
                  <a:latin typeface="Inter"/>
                  <a:ea typeface="Inter"/>
                  <a:cs typeface="Inter"/>
                  <a:sym typeface="Inter"/>
                </a:rPr>
                <a:t>05</a:t>
              </a:r>
              <a:endParaRPr b="1" sz="3200">
                <a:solidFill>
                  <a:srgbClr val="FFFFFF"/>
                </a:solidFill>
                <a:latin typeface="Inter"/>
                <a:ea typeface="Inter"/>
                <a:cs typeface="Inter"/>
                <a:sym typeface="Inter"/>
              </a:endParaRPr>
            </a:p>
          </p:txBody>
        </p:sp>
        <p:sp>
          <p:nvSpPr>
            <p:cNvPr id="125" name="Google Shape;125;p14"/>
            <p:cNvSpPr txBox="1"/>
            <p:nvPr/>
          </p:nvSpPr>
          <p:spPr>
            <a:xfrm>
              <a:off x="2381250" y="7429500"/>
              <a:ext cx="14287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77CC"/>
                  </a:solidFill>
                  <a:latin typeface="Inter"/>
                  <a:ea typeface="Inter"/>
                  <a:cs typeface="Inter"/>
                  <a:sym typeface="Inter"/>
                </a:rPr>
                <a:t>Plan de contingencia:</a:t>
              </a:r>
              <a:r>
                <a:rPr lang="en-US" sz="2200">
                  <a:solidFill>
                    <a:srgbClr val="0A0915"/>
                  </a:solidFill>
                  <a:latin typeface="Inter"/>
                  <a:ea typeface="Inter"/>
                  <a:cs typeface="Inter"/>
                  <a:sym typeface="Inter"/>
                </a:rPr>
                <a:t> Si no hay sucesor, realizar un nuevo Readiness Assessment completo.</a:t>
              </a:r>
              <a:endParaRPr sz="2200">
                <a:solidFill>
                  <a:srgbClr val="0A0915"/>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15"/>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2" name="Google Shape;132;p15"/>
          <p:cNvGrpSpPr/>
          <p:nvPr/>
        </p:nvGrpSpPr>
        <p:grpSpPr>
          <a:xfrm>
            <a:off x="1371600" y="2286000"/>
            <a:ext cx="15544800" cy="4000500"/>
            <a:chOff x="1371600" y="2286000"/>
            <a:chExt cx="15544800" cy="4000500"/>
          </a:xfrm>
        </p:grpSpPr>
        <p:sp>
          <p:nvSpPr>
            <p:cNvPr id="133" name="Google Shape;133;p15"/>
            <p:cNvSpPr/>
            <p:nvPr/>
          </p:nvSpPr>
          <p:spPr>
            <a:xfrm>
              <a:off x="1371600" y="2286000"/>
              <a:ext cx="15544800" cy="4000500"/>
            </a:xfrm>
            <a:prstGeom prst="roundRect">
              <a:avLst>
                <a:gd fmla="val 476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5"/>
            <p:cNvSpPr txBox="1"/>
            <p:nvPr/>
          </p:nvSpPr>
          <p:spPr>
            <a:xfrm>
              <a:off x="1371600" y="2667000"/>
              <a:ext cx="155448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0077CC"/>
                  </a:solidFill>
                  <a:latin typeface="Inter"/>
                  <a:ea typeface="Inter"/>
                  <a:cs typeface="Inter"/>
                  <a:sym typeface="Inter"/>
                </a:rPr>
                <a:t>Lo más importante</a:t>
              </a:r>
              <a:endParaRPr b="1" sz="2200">
                <a:solidFill>
                  <a:srgbClr val="0077CC"/>
                </a:solidFill>
                <a:latin typeface="Inter"/>
                <a:ea typeface="Inter"/>
                <a:cs typeface="Inter"/>
                <a:sym typeface="Inter"/>
              </a:endParaRPr>
            </a:p>
          </p:txBody>
        </p:sp>
        <p:sp>
          <p:nvSpPr>
            <p:cNvPr id="135" name="Google Shape;135;p15"/>
            <p:cNvSpPr txBox="1"/>
            <p:nvPr/>
          </p:nvSpPr>
          <p:spPr>
            <a:xfrm>
              <a:off x="1371600" y="3333750"/>
              <a:ext cx="15544800" cy="1905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6120">
                  <a:solidFill>
                    <a:srgbClr val="0A0915"/>
                  </a:solidFill>
                  <a:latin typeface="Inter"/>
                  <a:ea typeface="Inter"/>
                  <a:cs typeface="Inter"/>
                  <a:sym typeface="Inter"/>
                </a:rPr>
                <a:t>El reloj de los 90 días</a:t>
              </a:r>
              <a:endParaRPr b="1" sz="6120">
                <a:solidFill>
                  <a:srgbClr val="0A0915"/>
                </a:solidFill>
                <a:latin typeface="Inter"/>
                <a:ea typeface="Inter"/>
                <a:cs typeface="Inter"/>
                <a:sym typeface="Inter"/>
              </a:endParaRPr>
            </a:p>
            <a:p>
              <a:pPr indent="0" lvl="0" marL="0" rtl="0" algn="ctr">
                <a:spcBef>
                  <a:spcPts val="0"/>
                </a:spcBef>
                <a:spcAft>
                  <a:spcPts val="0"/>
                </a:spcAft>
                <a:buNone/>
              </a:pPr>
              <a:r>
                <a:rPr b="1" lang="en-US" sz="6120">
                  <a:solidFill>
                    <a:srgbClr val="E11D48"/>
                  </a:solidFill>
                  <a:latin typeface="Inter"/>
                  <a:ea typeface="Inter"/>
                  <a:cs typeface="Inter"/>
                  <a:sym typeface="Inter"/>
                </a:rPr>
                <a:t>no se pausa ni se reinicia</a:t>
              </a:r>
              <a:endParaRPr b="1" sz="6120">
                <a:solidFill>
                  <a:srgbClr val="E11D48"/>
                </a:solidFill>
                <a:latin typeface="Inter"/>
                <a:ea typeface="Inter"/>
                <a:cs typeface="Inter"/>
                <a:sym typeface="Inter"/>
              </a:endParaRPr>
            </a:p>
          </p:txBody>
        </p:sp>
      </p:grpSp>
      <p:grpSp>
        <p:nvGrpSpPr>
          <p:cNvPr id="136" name="Google Shape;136;p15"/>
          <p:cNvGrpSpPr/>
          <p:nvPr/>
        </p:nvGrpSpPr>
        <p:grpSpPr>
          <a:xfrm>
            <a:off x="2476500" y="6858000"/>
            <a:ext cx="13335000" cy="1714500"/>
            <a:chOff x="2476500" y="6858000"/>
            <a:chExt cx="13335000" cy="1714500"/>
          </a:xfrm>
        </p:grpSpPr>
        <p:sp>
          <p:nvSpPr>
            <p:cNvPr id="137" name="Google Shape;137;p15"/>
            <p:cNvSpPr/>
            <p:nvPr/>
          </p:nvSpPr>
          <p:spPr>
            <a:xfrm>
              <a:off x="2476500" y="6858000"/>
              <a:ext cx="13335000" cy="1714500"/>
            </a:xfrm>
            <a:prstGeom prst="roundRect">
              <a:avLst>
                <a:gd fmla="val 8333"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5"/>
            <p:cNvSpPr txBox="1"/>
            <p:nvPr/>
          </p:nvSpPr>
          <p:spPr>
            <a:xfrm>
              <a:off x="2857500" y="6858000"/>
              <a:ext cx="12573000" cy="17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800">
                  <a:solidFill>
                    <a:srgbClr val="FFFFFF"/>
                  </a:solidFill>
                  <a:latin typeface="Inter Medium"/>
                  <a:ea typeface="Inter Medium"/>
                  <a:cs typeface="Inter Medium"/>
                  <a:sym typeface="Inter Medium"/>
                </a:rPr>
                <a:t>Si detectas que ya no hay respaldo político suficiente, </a:t>
              </a:r>
              <a:r>
                <a:rPr b="1" lang="en-US" sz="2800">
                  <a:solidFill>
                    <a:srgbClr val="FFFFFF"/>
                  </a:solidFill>
                  <a:latin typeface="Inter"/>
                  <a:ea typeface="Inter"/>
                  <a:cs typeface="Inter"/>
                  <a:sym typeface="Inter"/>
                </a:rPr>
                <a:t>escalas a Sovra inmediatamente</a:t>
              </a:r>
              <a:r>
                <a:rPr b="0" lang="en-US" sz="2800">
                  <a:solidFill>
                    <a:srgbClr val="FFFFFF"/>
                  </a:solidFill>
                  <a:latin typeface="Inter Medium"/>
                  <a:ea typeface="Inter Medium"/>
                  <a:cs typeface="Inter Medium"/>
                  <a:sym typeface="Inter Medium"/>
                </a:rPr>
                <a:t>. No esperas a la siguiente reunión.</a:t>
              </a:r>
              <a:endParaRPr b="0" sz="2800">
                <a:solidFill>
                  <a:srgbClr val="FFFFFF"/>
                </a:solidFill>
                <a:latin typeface="Inter Medium"/>
                <a:ea typeface="Inter Medium"/>
                <a:cs typeface="Inter Medium"/>
                <a:sym typeface="Inter Medium"/>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p:nvPr/>
        </p:nvSpPr>
        <p:spPr>
          <a:xfrm>
            <a:off x="0" y="0"/>
            <a:ext cx="18288000" cy="102870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Un cambio político</a:t>
            </a:r>
            <a:endParaRPr/>
          </a:p>
        </p:txBody>
      </p:sp>
      <p:sp>
        <p:nvSpPr>
          <p:cNvPr id="146" name="Google Shape;146;p16"/>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no detiene el reloj</a:t>
            </a:r>
            <a:endParaRPr/>
          </a:p>
        </p:txBody>
      </p:sp>
      <p:sp>
        <p:nvSpPr>
          <p:cNvPr id="147" name="Google Shape;147;p16"/>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Te obliga a decidir si el proyecto sigue siendo viable.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