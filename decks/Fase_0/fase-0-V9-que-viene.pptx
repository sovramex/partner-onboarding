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embeddedFontLst>
    <p:embeddedFont>
      <p:font typeface="Inter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regular.fntdata"/><Relationship Id="rId10" Type="http://schemas.openxmlformats.org/officeDocument/2006/relationships/slide" Target="slides/slide5.xml"/><Relationship Id="rId13" Type="http://schemas.openxmlformats.org/officeDocument/2006/relationships/font" Target="fonts/Inter-italic.fntdata"/><Relationship Id="rId12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2.4s · 6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Hasta acá cerraste la Fase Pre-A.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18.8s · 47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Evaluaste readiness, armaste tu equipo, confirmaste los roles del gobierno, entendiste cómo se sostienen esos roles durante noventa días, conoces el protocolo si el dueño político cambia, y tienes claro el modelo de soporte de tres niveles. Firmaste la Declaración de Readiness y la decisión es arrancar.</a:t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22.0s · 55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 que sigue es Fase A: Inicio. En Fase A se ejecuta el kickoff formal con el gobierno, se cierran las definiciones de alcance, se confirma el equipo en una primera reunión con todos sentados en la misma mesa, y se acuerdan los canales de comunicación y la frecuencia de reuniones para los noventa días.</a:t>
            </a:r>
            <a:endParaRPr/>
          </a:p>
        </p:txBody>
      </p:sp>
      <p:sp>
        <p:nvSpPr>
          <p:cNvPr id="112" name="Google Shape;11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20.8s · 52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 Fase A vas a tener cuatro reuniones clave, incluida una sesión cero que se hace antes del kickoff oficial y que te posiciona frente al gobierno como socio estratégico, no como proveedor. Vamos a ver por qué esa sesión cero es probablemente el mejor retorno de inversión de toda la implementación.</a:t>
            </a:r>
            <a:endParaRPr/>
          </a:p>
        </p:txBody>
      </p:sp>
      <p:sp>
        <p:nvSpPr>
          <p:cNvPr id="143" name="Google Shape;14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8.0s · 20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Pre-A terminó. Lo que sigue es traducir la preparación en acuerdos concretos con el gobierno. Te veo en Fase A.</a:t>
            </a:r>
            <a:endParaRPr/>
          </a:p>
        </p:txBody>
      </p:sp>
      <p:sp>
        <p:nvSpPr>
          <p:cNvPr id="150" name="Google Shape;15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077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371600" y="3200400"/>
            <a:ext cx="1554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7CC"/>
                </a:solidFill>
                <a:latin typeface="Inter"/>
                <a:ea typeface="Inter"/>
                <a:cs typeface="Inter"/>
                <a:sym typeface="Inter"/>
              </a:rPr>
              <a:t>FASE 0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71600" y="3840480"/>
            <a:ext cx="15544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Qué viene: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Fase A — Inicio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274775" y="6517900"/>
            <a:ext cx="1554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Pre-A terminó. La preparación se traduce en acuerdos concretos.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" name="Google Shape;95;p14"/>
          <p:cNvGrpSpPr/>
          <p:nvPr/>
        </p:nvGrpSpPr>
        <p:grpSpPr>
          <a:xfrm>
            <a:off x="1371600" y="3238500"/>
            <a:ext cx="15544800" cy="5715000"/>
            <a:chOff x="1371600" y="3238500"/>
            <a:chExt cx="15544800" cy="5715000"/>
          </a:xfrm>
        </p:grpSpPr>
        <p:sp>
          <p:nvSpPr>
            <p:cNvPr id="96" name="Google Shape;96;p14"/>
            <p:cNvSpPr/>
            <p:nvPr/>
          </p:nvSpPr>
          <p:spPr>
            <a:xfrm>
              <a:off x="1371600" y="3238500"/>
              <a:ext cx="7429500" cy="17145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1657350" y="3381375"/>
              <a:ext cx="6858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077CC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b="0" lang="en-US" sz="22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 Evaluaste readiness con las cuatro señales del gobierno.</a:t>
              </a:r>
              <a:endParaRPr b="0" sz="22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9486900" y="3238500"/>
              <a:ext cx="7429500" cy="17145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9772650" y="3381375"/>
              <a:ext cx="6858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077CC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b="0" lang="en-US" sz="22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 Armaste tu equipo del lado partner.</a:t>
              </a:r>
              <a:endParaRPr b="0" sz="22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1371600" y="5238750"/>
              <a:ext cx="7429500" cy="17145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1657350" y="5381625"/>
              <a:ext cx="6858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077CC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b="0" lang="en-US" sz="22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 Confirmaste los cinco roles del gobierno.</a:t>
              </a:r>
              <a:endParaRPr b="0" sz="22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9486900" y="5238750"/>
              <a:ext cx="7429500" cy="17145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9772650" y="5381625"/>
              <a:ext cx="6858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077CC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b="0" lang="en-US" sz="22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 Entiendes cómo se sostienen esos roles durante 90 días.</a:t>
              </a:r>
              <a:endParaRPr b="0" sz="22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1371600" y="7239000"/>
              <a:ext cx="7429500" cy="17145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1657350" y="7381875"/>
              <a:ext cx="6858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077CC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b="0" lang="en-US" sz="22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 Conoces el protocolo si el dueño político cambia.</a:t>
              </a:r>
              <a:endParaRPr b="0" sz="22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9486900" y="7239000"/>
              <a:ext cx="7429500" cy="17145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9772650" y="7381875"/>
              <a:ext cx="6858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077CC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b="0" lang="en-US" sz="22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 Tienes claro el modelo de soporte de tres niveles.</a:t>
              </a:r>
              <a:endParaRPr b="0" sz="22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08" name="Google Shape;108;p14"/>
          <p:cNvSpPr txBox="1"/>
          <p:nvPr/>
        </p:nvSpPr>
        <p:spPr>
          <a:xfrm>
            <a:off x="1371600" y="1371600"/>
            <a:ext cx="15544800" cy="83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Lo que cerraste en </a:t>
            </a:r>
            <a:r>
              <a:rPr b="1" lang="en-US" sz="5400">
                <a:solidFill>
                  <a:srgbClr val="0077CC"/>
                </a:solidFill>
                <a:latin typeface="Inter"/>
                <a:ea typeface="Inter"/>
                <a:cs typeface="Inter"/>
                <a:sym typeface="Inter"/>
              </a:rPr>
              <a:t>Pre-A</a:t>
            </a:r>
            <a:endParaRPr b="1" sz="540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/>
        </p:nvSpPr>
        <p:spPr>
          <a:xfrm>
            <a:off x="1371600" y="1097280"/>
            <a:ext cx="1554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Lo que sigue: Fase A — Inicio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371600" y="2560320"/>
            <a:ext cx="1554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Pre-A terminó. Arrancás el ciclo de 90 días.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1394460" y="4114800"/>
            <a:ext cx="2468880" cy="411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0077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1394460" y="4389120"/>
            <a:ext cx="2468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0077CC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577340" y="566928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Pre-A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577340" y="70408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Readiness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4000500" y="4114800"/>
            <a:ext cx="2468880" cy="4114800"/>
          </a:xfrm>
          <a:prstGeom prst="roundRect">
            <a:avLst>
              <a:gd fmla="val 16667" name="adj"/>
            </a:avLst>
          </a:prstGeom>
          <a:solidFill>
            <a:srgbClr val="0077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4000500" y="4389120"/>
            <a:ext cx="2468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183380" y="566928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Inicio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183380" y="70408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Semana 1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6606540" y="4114800"/>
            <a:ext cx="2468880" cy="411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606540" y="4389120"/>
            <a:ext cx="2468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789420" y="566928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Preparación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789420" y="70408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Semanas 2-5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9212580" y="4114800"/>
            <a:ext cx="2468880" cy="411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9212580" y="4389120"/>
            <a:ext cx="2468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395460" y="566928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Carga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9395460" y="70408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Semanas 6-8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11818620" y="4114800"/>
            <a:ext cx="2468880" cy="411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11818620" y="4389120"/>
            <a:ext cx="2468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12001500" y="566928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Pre-lanzamiento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12001500" y="70408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Semanas 9-10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14424660" y="4114800"/>
            <a:ext cx="2468880" cy="411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CA8A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14424660" y="4389120"/>
            <a:ext cx="2468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CA8A04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14607540" y="566928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Post-lanzamiento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4607540" y="70408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Semanas 11-12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/>
        </p:nvSpPr>
        <p:spPr>
          <a:xfrm>
            <a:off x="7772400" y="1371600"/>
            <a:ext cx="2743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0" u="none" cap="none" strike="noStrike">
                <a:solidFill>
                  <a:srgbClr val="0077CC"/>
                </a:solidFill>
                <a:latin typeface="Inter"/>
                <a:ea typeface="Inter"/>
                <a:cs typeface="Inter"/>
                <a:sym typeface="Inter"/>
              </a:rPr>
              <a:t>“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371600" y="4114800"/>
            <a:ext cx="15544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En Fase A vas a tener cuatro reuniones clave —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incluida una sesión cero antes del kickoff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que probablemente es el mejor retorno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de toda la implementación.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77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1371600" y="3200400"/>
            <a:ext cx="1554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Pre-A termin</a:t>
            </a:r>
            <a:r>
              <a:rPr lang="en-US" sz="4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ó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371600" y="4000505"/>
            <a:ext cx="15544800" cy="2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 que sigue es traducir la preparación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371600" y="6675300"/>
            <a:ext cx="1554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 acuerdos concretos. Te veo en Fase 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