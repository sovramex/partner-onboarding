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[Duración estimada: 15.6s · 39 palabras]</a:t>
            </a:r>
          </a:p>
          <a:p/>
          <a:p>
            <a:r>
              <a:t>Antes de comprometer un timeline de noventa días, evalúas cuatro señales del gobierno. Cada una tiene una versión verde y una versión roja, y vas a aprender a distinguirlas rápido porque casi nunca se presentan en blanco y negro.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[Duración estimada: 25.6s · 64 palabras]</a:t>
            </a:r>
          </a:p>
          <a:p/>
          <a:p>
            <a:r>
              <a:t>La primera señal es voluntad política. La pregunta concreta es si hay un tomador de decisiones que va a empujar el proyecto cuando se atore. Verde se ve cuando el secretario o director asiste al kickoff y asigna equipo con nombre y apellido. Rojo suena a estamos explorando opciones o depende del presupuesto. Sin respaldo político real, el proyecto se atasca al primer obstáculo.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[Duración estimada: 22.4s · 56 palabras]</a:t>
            </a:r>
          </a:p>
          <a:p/>
          <a:p>
            <a:r>
              <a:t>La segunda señal es equipo asignable. ¿Pueden nombrar los cinco roles del lado gobierno con dedicación real? Verde es nombres en la primera semana, con dedicación negociada. Rojo es vamos a ver quién puede. La reasignación constante mata el momentum y vas a estar capacitando personas nuevas en la semana ocho cuando deberías estar en testing.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[Duración estimada: 24.4s · 61 palabras]</a:t>
            </a:r>
          </a:p>
          <a:p/>
          <a:p>
            <a:r>
              <a:t>La tercera señal es infraestructura mínima. ¿Tienen dominio, DNS, y un área de TI que responda en menos de una semana? Verde es TI propia que contesta rápido. Rojo es no tener área de TI o depender de un proveedor externo sin contrato vigente. El dominio parece trivial y se puede atrasar semanas si nadie del gobierno está habilitado para pedirlo.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[Duración estimada: 18.8s · 47 palabras]</a:t>
            </a:r>
          </a:p>
          <a:p/>
          <a:p>
            <a:r>
              <a:t>La cuarta señal es procesos identificados. ¿Saben qué trámites quieren digitalizar primero? Verde es una lista de cinco a diez trámites con volumen estimado. Rojo es queremos digitalizar todo. La ambición sin foco se traduce en veinte trámites a medias y ninguno en producción al día noventa.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[Duración estimada: 21.2s · 53 palabras]</a:t>
            </a:r>
          </a:p>
          <a:p/>
          <a:p>
            <a:r>
              <a:t>La regla es simple. Si dos o más señales son rojas, no comprometas timeline. Ofrece una sesión de pre-discovery de dos a cuatro semanas para que el gobierno se prepare. Es mejor retrasar el arranque que arrancar mal. Si tienes dudas sobre cómo leer un caso ambiguo, escalas a Sovra. Para eso estamos.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[Duración estimada: 4.0s · 10 palabras]</a:t>
            </a:r>
          </a:p>
          <a:p/>
          <a:p>
            <a:r>
              <a:t>Dos señales rojas no son una advertencia. Son un stop.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228600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1554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077CC"/>
                </a:solidFill>
                <a:latin typeface="Figtree"/>
              </a:rPr>
              <a:t>FASE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155448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000" b="1" i="0">
                <a:solidFill>
                  <a:srgbClr val="0A0915"/>
                </a:solidFill>
                <a:latin typeface="Plus Jakarta Sans"/>
              </a:rPr>
              <a:t>Las cuatro señales</a:t>
            </a:r>
          </a:p>
          <a:p>
            <a:pPr algn="l">
              <a:lnSpc>
                <a:spcPct val="110000"/>
              </a:lnSpc>
            </a:pPr>
            <a:r>
              <a:rPr sz="8000" b="1" i="0">
                <a:solidFill>
                  <a:srgbClr val="0A0915"/>
                </a:solidFill>
                <a:latin typeface="Plus Jakarta Sans"/>
              </a:rPr>
              <a:t>de readiness del gobierno.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7772400"/>
            <a:ext cx="15544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888888"/>
                </a:solidFill>
                <a:latin typeface="Figtree"/>
              </a:rPr>
              <a:t>Cada señal tiene verde y rojo. Casi nunca se presentan en blanco y negro.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0" y="982980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88888"/>
                </a:solidFill>
                <a:latin typeface="Figtree"/>
              </a:rPr>
              <a:t>Sovra Partners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155448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 i="0">
                <a:solidFill>
                  <a:srgbClr val="0A0915"/>
                </a:solidFill>
                <a:latin typeface="Plus Jakarta Sans"/>
              </a:rPr>
              <a:t>1. Voluntad política.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0" y="4572000"/>
            <a:ext cx="6400800" cy="411480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0" y="5029200"/>
            <a:ext cx="5486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888888"/>
                </a:solidFill>
                <a:latin typeface="Figtree"/>
              </a:rPr>
              <a:t>Verde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6035040"/>
            <a:ext cx="54864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0" i="0">
                <a:solidFill>
                  <a:srgbClr val="0A0915"/>
                </a:solidFill>
                <a:latin typeface="Plus Jakarta Sans"/>
              </a:rPr>
              <a:t>El secretario o director asiste al kickoff y asigna equipo con nombre y apellido.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4572000"/>
            <a:ext cx="6400800" cy="4114800"/>
          </a:xfrm>
          <a:prstGeom prst="round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5029200"/>
            <a:ext cx="5486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Figtree"/>
              </a:rPr>
              <a:t>Rojo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035040"/>
            <a:ext cx="54864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0" i="0">
                <a:solidFill>
                  <a:srgbClr val="FFFFFF"/>
                </a:solidFill>
                <a:latin typeface="Plus Jakarta Sans"/>
              </a:rPr>
              <a:t>"Estamos explorando opciones."</a:t>
            </a:r>
          </a:p>
          <a:p>
            <a:pPr algn="l">
              <a:lnSpc>
                <a:spcPct val="130000"/>
              </a:lnSpc>
            </a:pPr>
            <a:r>
              <a:rPr sz="2800" b="0" i="0">
                <a:solidFill>
                  <a:srgbClr val="FFFFFF"/>
                </a:solidFill>
                <a:latin typeface="Plus Jakarta Sans"/>
              </a:rPr>
              <a:t>"Depende del presupuesto."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0" y="982980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88888"/>
                </a:solidFill>
                <a:latin typeface="Figtree"/>
              </a:rPr>
              <a:t>Sovra Partners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155448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 i="0">
                <a:solidFill>
                  <a:srgbClr val="0A0915"/>
                </a:solidFill>
                <a:latin typeface="Plus Jakarta Sans"/>
              </a:rPr>
              <a:t>2. Equipo asignable.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0" y="4572000"/>
            <a:ext cx="6400800" cy="411480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0" y="5029200"/>
            <a:ext cx="5486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888888"/>
                </a:solidFill>
                <a:latin typeface="Figtree"/>
              </a:rPr>
              <a:t>Verde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6035040"/>
            <a:ext cx="54864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0" i="0">
                <a:solidFill>
                  <a:srgbClr val="0A0915"/>
                </a:solidFill>
                <a:latin typeface="Plus Jakarta Sans"/>
              </a:rPr>
              <a:t>Nombres en la primera semana, con dedicación negociada.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4572000"/>
            <a:ext cx="6400800" cy="4114800"/>
          </a:xfrm>
          <a:prstGeom prst="round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5029200"/>
            <a:ext cx="5486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Figtree"/>
              </a:rPr>
              <a:t>Rojo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035040"/>
            <a:ext cx="54864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0" i="0">
                <a:solidFill>
                  <a:srgbClr val="FFFFFF"/>
                </a:solidFill>
                <a:latin typeface="Plus Jakarta Sans"/>
              </a:rPr>
              <a:t>"Vamos a ver quién puede."</a:t>
            </a:r>
          </a:p>
          <a:p>
            <a:pPr algn="l">
              <a:lnSpc>
                <a:spcPct val="130000"/>
              </a:lnSpc>
            </a:pPr>
            <a:r>
              <a:rPr sz="2800" b="0" i="0">
                <a:solidFill>
                  <a:srgbClr val="FFFFFF"/>
                </a:solidFill>
                <a:latin typeface="Plus Jakarta Sans"/>
              </a:rPr>
              <a:t>Reasignación constante.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0" y="982980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88888"/>
                </a:solidFill>
                <a:latin typeface="Figtree"/>
              </a:rPr>
              <a:t>Sovra Partners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155448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 i="0">
                <a:solidFill>
                  <a:srgbClr val="0A0915"/>
                </a:solidFill>
                <a:latin typeface="Plus Jakarta Sans"/>
              </a:rPr>
              <a:t>3. Infraestructura mínima.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0" y="4572000"/>
            <a:ext cx="6400800" cy="411480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0" y="5029200"/>
            <a:ext cx="5486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888888"/>
                </a:solidFill>
                <a:latin typeface="Figtree"/>
              </a:rPr>
              <a:t>Verde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6035040"/>
            <a:ext cx="54864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0" i="0">
                <a:solidFill>
                  <a:srgbClr val="0A0915"/>
                </a:solidFill>
                <a:latin typeface="Plus Jakarta Sans"/>
              </a:rPr>
              <a:t>TI propia que contesta en menos de una semana.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4572000"/>
            <a:ext cx="6400800" cy="4114800"/>
          </a:xfrm>
          <a:prstGeom prst="round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5029200"/>
            <a:ext cx="5486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Figtree"/>
              </a:rPr>
              <a:t>Rojo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035040"/>
            <a:ext cx="54864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0" i="0">
                <a:solidFill>
                  <a:srgbClr val="FFFFFF"/>
                </a:solidFill>
                <a:latin typeface="Plus Jakarta Sans"/>
              </a:rPr>
              <a:t>Sin área de TI o proveedor externo sin contrato vigente.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0" y="982980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88888"/>
                </a:solidFill>
                <a:latin typeface="Figtree"/>
              </a:rPr>
              <a:t>Sovra Partners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155448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 i="0">
                <a:solidFill>
                  <a:srgbClr val="0A0915"/>
                </a:solidFill>
                <a:latin typeface="Plus Jakarta Sans"/>
              </a:rPr>
              <a:t>4. Procesos identificados.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0" y="4572000"/>
            <a:ext cx="6400800" cy="411480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0" y="5029200"/>
            <a:ext cx="5486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888888"/>
                </a:solidFill>
                <a:latin typeface="Figtree"/>
              </a:rPr>
              <a:t>Verde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6035040"/>
            <a:ext cx="54864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0" i="0">
                <a:solidFill>
                  <a:srgbClr val="0A0915"/>
                </a:solidFill>
                <a:latin typeface="Plus Jakarta Sans"/>
              </a:rPr>
              <a:t>Lista de 5 a 10 trámites con volumen estimado.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4572000"/>
            <a:ext cx="6400800" cy="4114800"/>
          </a:xfrm>
          <a:prstGeom prst="round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5029200"/>
            <a:ext cx="5486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Figtree"/>
              </a:rPr>
              <a:t>Rojo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035040"/>
            <a:ext cx="54864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0" i="0">
                <a:solidFill>
                  <a:srgbClr val="FFFFFF"/>
                </a:solidFill>
                <a:latin typeface="Plus Jakarta Sans"/>
              </a:rPr>
              <a:t>"Queremos digitalizar todo."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0" y="982980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88888"/>
                </a:solidFill>
                <a:latin typeface="Figtree"/>
              </a:rPr>
              <a:t>Sovra Partners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15544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0077CC"/>
                </a:solidFill>
                <a:latin typeface="Figtree"/>
              </a:rPr>
              <a:t>La regla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155448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5600" b="1" i="0">
                <a:solidFill>
                  <a:srgbClr val="0A0915"/>
                </a:solidFill>
                <a:latin typeface="Plus Jakarta Sans"/>
              </a:rPr>
              <a:t>Dos o más señales rojas = stop.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6858000"/>
            <a:ext cx="146304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2400" b="0" i="0">
                <a:solidFill>
                  <a:srgbClr val="0A0915"/>
                </a:solidFill>
                <a:latin typeface="Figtree"/>
              </a:rPr>
              <a:t>No comprometes timeline. Ofreces pre-discovery de 2 a 4 semanas. Si tienes dudas sobre un caso ambiguo, escalas a Sovra. Para eso estamos.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0" y="982980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88888"/>
                </a:solidFill>
                <a:latin typeface="Figtree"/>
              </a:rPr>
              <a:t>Sovra Partners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15544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200" b="0" i="0">
                <a:solidFill>
                  <a:srgbClr val="FFFFFF"/>
                </a:solidFill>
                <a:latin typeface="Plus Jakarta Sans"/>
              </a:rPr>
              <a:t>Dos señales rojas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754880"/>
            <a:ext cx="155448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7800" b="1" i="0">
                <a:solidFill>
                  <a:srgbClr val="FFFFFF"/>
                </a:solidFill>
                <a:latin typeface="Plus Jakarta Sans"/>
              </a:rPr>
              <a:t>no son una advertencia.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7315200"/>
            <a:ext cx="15544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0" i="0">
                <a:solidFill>
                  <a:srgbClr val="FFFFFF"/>
                </a:solidFill>
                <a:latin typeface="Plus Jakarta Sans"/>
              </a:rPr>
              <a:t>Son un stop.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0" y="982980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CCE5FF"/>
                </a:solidFill>
                <a:latin typeface="Figtree"/>
              </a:rPr>
              <a:t>Sovra Partners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