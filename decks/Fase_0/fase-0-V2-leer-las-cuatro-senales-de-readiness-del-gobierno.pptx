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10287000" cx="18288000"/>
  <p:notesSz cx="6858000" cy="9144000"/>
  <p:embeddedFontLst>
    <p:embeddedFont>
      <p:font typeface="Inter SemiBold"/>
      <p:regular r:id="rId13"/>
      <p:bold r:id="rId14"/>
      <p:italic r:id="rId15"/>
      <p:boldItalic r:id="rId16"/>
    </p:embeddedFont>
    <p:embeddedFont>
      <p:font typeface="Inter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terSemiBold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SemiBold-italic.fntdata"/><Relationship Id="rId14" Type="http://schemas.openxmlformats.org/officeDocument/2006/relationships/font" Target="fonts/InterSemiBold-bold.fntdata"/><Relationship Id="rId17" Type="http://schemas.openxmlformats.org/officeDocument/2006/relationships/font" Target="fonts/Inter-regular.fntdata"/><Relationship Id="rId16" Type="http://schemas.openxmlformats.org/officeDocument/2006/relationships/font" Target="fonts/InterSemiBold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Inter-italic.fntdata"/><Relationship Id="rId6" Type="http://schemas.openxmlformats.org/officeDocument/2006/relationships/slide" Target="slides/slide1.xml"/><Relationship Id="rId18" Type="http://schemas.openxmlformats.org/officeDocument/2006/relationships/font" Target="fonts/Inter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15.6s · 39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Antes de comprometer un timeline de noventa días, evalúas cuatro señales del gobierno. Cada una tiene una versión verde y una versión roja, y vas a aprender a distinguirlas rápido porque casi nunca se presentan en blanco y negro.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25.6s · 64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primera señal es voluntad política. La pregunta concreta es si hay un tomador de decisiones que va a empujar el proyecto cuando se atore. Verde se ve cuando el secretario o director asiste al kickoff y asigna equipo con nombre y apellido. Rojo suena a estamos explorando opciones o depende del presupuesto. Sin respaldo político real, el proyecto se atasca al primer obstáculo.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22.4s · 56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segunda señal es equipo asignable. ¿Pueden nombrar los cinco roles del lado gobierno con dedicación real? Verde es nombres en la primera semana, con dedicación negociada. Rojo es vamos a ver quién puede. La reasignación constante mata el momentum y vas a estar capacitando personas nuevas en la semana ocho cuando deberías estar en testing.</a:t>
            </a:r>
            <a:endParaRPr/>
          </a:p>
        </p:txBody>
      </p:sp>
      <p:sp>
        <p:nvSpPr>
          <p:cNvPr id="108" name="Google Shape;10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3" name="Google Shape;13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24.4s · 61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tercera señal es infraestructura mínima. ¿Tienen dominio, DNS, y un área de TI que responda en menos de una semana? Verde es TI propia que contesta rápido. Rojo es no tener área de TI o depender de un proveedor externo sin contrato vigente. El dominio parece trivial y se puede atrasar semanas si nadie del gobierno está habilitado para pedirlo.</a:t>
            </a:r>
            <a:endParaRPr/>
          </a:p>
        </p:txBody>
      </p:sp>
      <p:sp>
        <p:nvSpPr>
          <p:cNvPr id="134" name="Google Shape;13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18.8s · 47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cuarta señal es procesos identificados. ¿Saben qué trámites quieren digitalizar primero? Verde es una lista de cinco a diez trámites con volumen estimado. Rojo es queremos digitalizar todo. La ambición sin foco se traduce en veinte trámites a medias y ninguno en producción al día noventa.</a:t>
            </a:r>
            <a:endParaRPr/>
          </a:p>
        </p:txBody>
      </p:sp>
      <p:sp>
        <p:nvSpPr>
          <p:cNvPr id="150" name="Google Shape;150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9" name="Google Shape;16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21.2s · 53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regla es simple. Si dos o más señales son rojas, no comprometas timeline. Ofrece una sesión de pre-discovery de dos a cuatro semanas para que el gobierno se prepare. Es mejor retrasar el arranque que arrancar mal. Si tienes dudas sobre cómo leer un caso ambiguo, escalas a Sovra. Para eso estamos.</a:t>
            </a:r>
            <a:endParaRPr/>
          </a:p>
        </p:txBody>
      </p:sp>
      <p:sp>
        <p:nvSpPr>
          <p:cNvPr id="170" name="Google Shape;17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2" name="Google Shape;18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4.0s · 10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Dos señales rojas no son una advertencia. Son un stop.</a:t>
            </a:r>
            <a:endParaRPr/>
          </a:p>
        </p:txBody>
      </p:sp>
      <p:sp>
        <p:nvSpPr>
          <p:cNvPr id="183" name="Google Shape;18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FASE 0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Las cuatro señales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de readiness del gobierno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72085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Cada señal tiene verde y rojo. Casi nunca se presentan en blanco y negro.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371600" y="762000"/>
            <a:ext cx="1905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FASE 0</a:t>
            </a:r>
            <a:endParaRPr b="1" sz="14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1371600" y="1143000"/>
            <a:ext cx="155448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1. Voluntad política</a:t>
            </a:r>
            <a:endParaRPr b="1" sz="54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1371600" y="2857500"/>
            <a:ext cx="7429500" cy="4762500"/>
          </a:xfrm>
          <a:prstGeom prst="roundRect">
            <a:avLst>
              <a:gd fmla="val 4800" name="adj"/>
            </a:avLst>
          </a:prstGeom>
          <a:solidFill>
            <a:srgbClr val="F0FDF4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1828800" y="3314700"/>
            <a:ext cx="1143000" cy="2463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VERDE</a:t>
            </a:r>
            <a:endParaRPr b="1" sz="1600">
              <a:solidFill>
                <a:srgbClr val="16653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1828800" y="427863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5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</a:t>
            </a:r>
            <a:endParaRPr sz="4650">
              <a:solidFill>
                <a:srgbClr val="10B981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1828800" y="5143500"/>
            <a:ext cx="5715000" cy="147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>
                <a:solidFill>
                  <a:srgbClr val="14532D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El secretario o director asiste al kickoff y asigna equipo con nombre y apellido.</a:t>
            </a:r>
            <a:endParaRPr b="0" sz="3200">
              <a:solidFill>
                <a:srgbClr val="14532D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9486900" y="2857500"/>
            <a:ext cx="7429500" cy="4762500"/>
          </a:xfrm>
          <a:prstGeom prst="roundRect">
            <a:avLst>
              <a:gd fmla="val 4800" name="adj"/>
            </a:avLst>
          </a:prstGeom>
          <a:solidFill>
            <a:srgbClr val="FEF2F2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9944100" y="3314700"/>
            <a:ext cx="1143000" cy="24630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ROJO</a:t>
            </a:r>
            <a:endParaRPr b="1" sz="1600">
              <a:solidFill>
                <a:srgbClr val="991B1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9944100" y="427863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50">
                <a:solidFill>
                  <a:srgbClr val="EF4444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</a:t>
            </a:r>
            <a:endParaRPr sz="4650">
              <a:solidFill>
                <a:srgbClr val="EF4444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9944100" y="5143500"/>
            <a:ext cx="5715000" cy="105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800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"Estamos explorando opciones."</a:t>
            </a:r>
            <a:endParaRPr b="0" i="1" sz="2800">
              <a:solidFill>
                <a:srgbClr val="7F1D1D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i="1" lang="en-US" sz="2800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"Depende del presupuesto."</a:t>
            </a:r>
            <a:endParaRPr b="0" i="1" sz="2800">
              <a:solidFill>
                <a:srgbClr val="7F1D1D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5"/>
          <p:cNvGrpSpPr/>
          <p:nvPr/>
        </p:nvGrpSpPr>
        <p:grpSpPr>
          <a:xfrm>
            <a:off x="1371600" y="762000"/>
            <a:ext cx="1905000" cy="381000"/>
            <a:chOff x="1371600" y="762000"/>
            <a:chExt cx="1905000" cy="381000"/>
          </a:xfrm>
        </p:grpSpPr>
        <p:sp>
          <p:nvSpPr>
            <p:cNvPr id="112" name="Google Shape;112;p15"/>
            <p:cNvSpPr/>
            <p:nvPr/>
          </p:nvSpPr>
          <p:spPr>
            <a:xfrm>
              <a:off x="1371600" y="762000"/>
              <a:ext cx="1905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5"/>
            <p:cNvSpPr txBox="1"/>
            <p:nvPr/>
          </p:nvSpPr>
          <p:spPr>
            <a:xfrm>
              <a:off x="1371600" y="762000"/>
              <a:ext cx="1905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FASE 0</a:t>
              </a:r>
              <a:endParaRPr b="1" sz="1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14" name="Google Shape;114;p15"/>
          <p:cNvSpPr txBox="1"/>
          <p:nvPr/>
        </p:nvSpPr>
        <p:spPr>
          <a:xfrm>
            <a:off x="1371600" y="1143000"/>
            <a:ext cx="155448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2. Equipo asignable</a:t>
            </a:r>
            <a:endParaRPr b="1" sz="54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1371600" y="2857500"/>
            <a:ext cx="7429500" cy="4762500"/>
          </a:xfrm>
          <a:prstGeom prst="roundRect">
            <a:avLst>
              <a:gd fmla="val 4800" name="adj"/>
            </a:avLst>
          </a:prstGeom>
          <a:solidFill>
            <a:srgbClr val="F0FDF4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6" name="Google Shape;116;p15"/>
          <p:cNvGrpSpPr/>
          <p:nvPr/>
        </p:nvGrpSpPr>
        <p:grpSpPr>
          <a:xfrm>
            <a:off x="1828800" y="3314700"/>
            <a:ext cx="1143000" cy="246300"/>
            <a:chOff x="1828800" y="3314700"/>
            <a:chExt cx="1143000" cy="246300"/>
          </a:xfrm>
        </p:grpSpPr>
        <p:sp>
          <p:nvSpPr>
            <p:cNvPr id="117" name="Google Shape;117;p15"/>
            <p:cNvSpPr/>
            <p:nvPr/>
          </p:nvSpPr>
          <p:spPr>
            <a:xfrm>
              <a:off x="1828800" y="3314700"/>
              <a:ext cx="1143000" cy="246300"/>
            </a:xfrm>
            <a:prstGeom prst="rect">
              <a:avLst/>
            </a:prstGeom>
            <a:solidFill>
              <a:srgbClr val="DCFC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5"/>
            <p:cNvSpPr txBox="1"/>
            <p:nvPr/>
          </p:nvSpPr>
          <p:spPr>
            <a:xfrm>
              <a:off x="1828800" y="3314700"/>
              <a:ext cx="11430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VERDE</a:t>
              </a:r>
              <a:endParaRPr b="1" sz="16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9" name="Google Shape;119;p15"/>
          <p:cNvGrpSpPr/>
          <p:nvPr/>
        </p:nvGrpSpPr>
        <p:grpSpPr>
          <a:xfrm>
            <a:off x="1828800" y="4278630"/>
            <a:ext cx="762000" cy="829913"/>
            <a:chOff x="1828800" y="4278630"/>
            <a:chExt cx="762000" cy="829913"/>
          </a:xfrm>
        </p:grpSpPr>
        <p:sp>
          <p:nvSpPr>
            <p:cNvPr id="120" name="Google Shape;120;p15"/>
            <p:cNvSpPr/>
            <p:nvPr/>
          </p:nvSpPr>
          <p:spPr>
            <a:xfrm>
              <a:off x="1828800" y="4278630"/>
              <a:ext cx="7620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5"/>
            <p:cNvSpPr txBox="1"/>
            <p:nvPr/>
          </p:nvSpPr>
          <p:spPr>
            <a:xfrm>
              <a:off x="1828800" y="4346543"/>
              <a:ext cx="76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465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</a:t>
              </a:r>
              <a:endParaRPr b="0" sz="465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sp>
        <p:nvSpPr>
          <p:cNvPr id="122" name="Google Shape;122;p15"/>
          <p:cNvSpPr txBox="1"/>
          <p:nvPr/>
        </p:nvSpPr>
        <p:spPr>
          <a:xfrm>
            <a:off x="1828800" y="5143500"/>
            <a:ext cx="6515100" cy="985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>
                <a:solidFill>
                  <a:srgbClr val="14532D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Nombres en la primera semana, con dedicación negociada.</a:t>
            </a:r>
            <a:endParaRPr b="0" sz="3200">
              <a:solidFill>
                <a:srgbClr val="14532D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9486900" y="2857500"/>
            <a:ext cx="7429500" cy="4762500"/>
          </a:xfrm>
          <a:prstGeom prst="roundRect">
            <a:avLst>
              <a:gd fmla="val 4800" name="adj"/>
            </a:avLst>
          </a:prstGeom>
          <a:solidFill>
            <a:srgbClr val="FEF2F2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4" name="Google Shape;124;p15"/>
          <p:cNvGrpSpPr/>
          <p:nvPr/>
        </p:nvGrpSpPr>
        <p:grpSpPr>
          <a:xfrm>
            <a:off x="9944100" y="3314700"/>
            <a:ext cx="1143000" cy="246300"/>
            <a:chOff x="9944100" y="3314700"/>
            <a:chExt cx="1143000" cy="246300"/>
          </a:xfrm>
        </p:grpSpPr>
        <p:sp>
          <p:nvSpPr>
            <p:cNvPr id="125" name="Google Shape;125;p15"/>
            <p:cNvSpPr/>
            <p:nvPr/>
          </p:nvSpPr>
          <p:spPr>
            <a:xfrm>
              <a:off x="9944100" y="3314700"/>
              <a:ext cx="1143000" cy="246300"/>
            </a:xfrm>
            <a:prstGeom prst="rect">
              <a:avLst/>
            </a:prstGeom>
            <a:solidFill>
              <a:srgbClr val="FEE2E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15"/>
            <p:cNvSpPr txBox="1"/>
            <p:nvPr/>
          </p:nvSpPr>
          <p:spPr>
            <a:xfrm>
              <a:off x="9944100" y="3314700"/>
              <a:ext cx="11430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991B1B"/>
                  </a:solidFill>
                  <a:latin typeface="Inter"/>
                  <a:ea typeface="Inter"/>
                  <a:cs typeface="Inter"/>
                  <a:sym typeface="Inter"/>
                </a:rPr>
                <a:t>ROJO</a:t>
              </a:r>
              <a:endParaRPr b="1" sz="1600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7" name="Google Shape;127;p15"/>
          <p:cNvGrpSpPr/>
          <p:nvPr/>
        </p:nvGrpSpPr>
        <p:grpSpPr>
          <a:xfrm>
            <a:off x="9944100" y="4278630"/>
            <a:ext cx="762000" cy="829913"/>
            <a:chOff x="9944100" y="4278630"/>
            <a:chExt cx="762000" cy="829913"/>
          </a:xfrm>
        </p:grpSpPr>
        <p:sp>
          <p:nvSpPr>
            <p:cNvPr id="128" name="Google Shape;128;p15"/>
            <p:cNvSpPr/>
            <p:nvPr/>
          </p:nvSpPr>
          <p:spPr>
            <a:xfrm>
              <a:off x="9944100" y="4278630"/>
              <a:ext cx="7620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5"/>
            <p:cNvSpPr txBox="1"/>
            <p:nvPr/>
          </p:nvSpPr>
          <p:spPr>
            <a:xfrm>
              <a:off x="9944100" y="4346543"/>
              <a:ext cx="76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4650">
                  <a:solidFill>
                    <a:srgbClr val="EF444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</a:t>
              </a:r>
              <a:endParaRPr b="0" sz="4650">
                <a:solidFill>
                  <a:srgbClr val="EF444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sp>
        <p:nvSpPr>
          <p:cNvPr id="130" name="Google Shape;130;p15"/>
          <p:cNvSpPr txBox="1"/>
          <p:nvPr/>
        </p:nvSpPr>
        <p:spPr>
          <a:xfrm>
            <a:off x="9944100" y="5143500"/>
            <a:ext cx="6515100" cy="105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800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"Vamos a ver quién puede."</a:t>
            </a:r>
            <a:endParaRPr b="0" i="1" sz="2800">
              <a:solidFill>
                <a:srgbClr val="7F1D1D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-US" sz="2800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Reasignación constante.</a:t>
            </a:r>
            <a:endParaRPr b="0" sz="2800">
              <a:solidFill>
                <a:srgbClr val="7F1D1D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1371600" y="762000"/>
            <a:ext cx="1905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FASE 0</a:t>
            </a:r>
            <a:endParaRPr b="1" sz="14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1371600" y="1143000"/>
            <a:ext cx="155448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3. Infraestructura mínima</a:t>
            </a:r>
            <a:endParaRPr b="1" i="0" sz="54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1371600" y="2857500"/>
            <a:ext cx="7429500" cy="4762500"/>
          </a:xfrm>
          <a:prstGeom prst="roundRect">
            <a:avLst>
              <a:gd fmla="val 4800" name="adj"/>
            </a:avLst>
          </a:prstGeom>
          <a:solidFill>
            <a:srgbClr val="F0FDF4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1828800" y="3314700"/>
            <a:ext cx="1143000" cy="2463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VERDE</a:t>
            </a:r>
            <a:endParaRPr b="1" sz="1600">
              <a:solidFill>
                <a:srgbClr val="16653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1828800" y="4346543"/>
            <a:ext cx="762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5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</a:t>
            </a:r>
            <a:endParaRPr sz="4650">
              <a:solidFill>
                <a:srgbClr val="10B981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1828800" y="5143500"/>
            <a:ext cx="6515100" cy="985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>
                <a:solidFill>
                  <a:srgbClr val="14532D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TI propia que contesta en menos de una semana.</a:t>
            </a:r>
            <a:endParaRPr b="0" i="0" sz="3200">
              <a:solidFill>
                <a:srgbClr val="14532D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9486900" y="2857500"/>
            <a:ext cx="7429500" cy="4762500"/>
          </a:xfrm>
          <a:prstGeom prst="roundRect">
            <a:avLst>
              <a:gd fmla="val 4800" name="adj"/>
            </a:avLst>
          </a:prstGeom>
          <a:solidFill>
            <a:srgbClr val="FEF2F2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944100" y="3314700"/>
            <a:ext cx="1143000" cy="24630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ROJO</a:t>
            </a:r>
            <a:endParaRPr b="1" sz="1600">
              <a:solidFill>
                <a:srgbClr val="991B1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9944100" y="4346543"/>
            <a:ext cx="762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50">
                <a:solidFill>
                  <a:srgbClr val="EF4444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</a:t>
            </a:r>
            <a:endParaRPr sz="4650">
              <a:solidFill>
                <a:srgbClr val="EF4444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46" name="Google Shape;146;p16"/>
          <p:cNvSpPr txBox="1"/>
          <p:nvPr/>
        </p:nvSpPr>
        <p:spPr>
          <a:xfrm>
            <a:off x="9944100" y="5143500"/>
            <a:ext cx="6515100" cy="86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800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Sin área de TI o proveedor externo sin contrato vigente.</a:t>
            </a:r>
            <a:endParaRPr b="0" i="1" sz="2800">
              <a:solidFill>
                <a:srgbClr val="7F1D1D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1371600" y="762000"/>
            <a:ext cx="1905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FASE 0</a:t>
            </a:r>
            <a:endParaRPr b="1" sz="14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1371600" y="1143000"/>
            <a:ext cx="155448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4. Procesos identificados</a:t>
            </a:r>
            <a:endParaRPr b="1" sz="54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1371600" y="2857500"/>
            <a:ext cx="7429500" cy="4762500"/>
          </a:xfrm>
          <a:prstGeom prst="roundRect">
            <a:avLst>
              <a:gd fmla="val 4800" name="adj"/>
            </a:avLst>
          </a:prstGeom>
          <a:solidFill>
            <a:srgbClr val="F0FDF4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6" name="Google Shape;156;p17"/>
          <p:cNvGrpSpPr/>
          <p:nvPr/>
        </p:nvGrpSpPr>
        <p:grpSpPr>
          <a:xfrm>
            <a:off x="1828800" y="3314700"/>
            <a:ext cx="1143000" cy="246300"/>
            <a:chOff x="1828800" y="3314700"/>
            <a:chExt cx="1143000" cy="246300"/>
          </a:xfrm>
        </p:grpSpPr>
        <p:sp>
          <p:nvSpPr>
            <p:cNvPr id="157" name="Google Shape;157;p17"/>
            <p:cNvSpPr/>
            <p:nvPr/>
          </p:nvSpPr>
          <p:spPr>
            <a:xfrm>
              <a:off x="1828800" y="3314700"/>
              <a:ext cx="1143000" cy="246300"/>
            </a:xfrm>
            <a:prstGeom prst="rect">
              <a:avLst/>
            </a:prstGeom>
            <a:solidFill>
              <a:srgbClr val="DCFC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1828800" y="3314700"/>
              <a:ext cx="1143000" cy="24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VERDE</a:t>
              </a:r>
              <a:endParaRPr b="1" sz="16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59" name="Google Shape;159;p17"/>
          <p:cNvSpPr txBox="1"/>
          <p:nvPr/>
        </p:nvSpPr>
        <p:spPr>
          <a:xfrm>
            <a:off x="1828800" y="4414457"/>
            <a:ext cx="762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5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</a:t>
            </a:r>
            <a:endParaRPr sz="4650">
              <a:solidFill>
                <a:srgbClr val="10B981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1828800" y="5143500"/>
            <a:ext cx="6515100" cy="985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>
                <a:solidFill>
                  <a:srgbClr val="14532D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Lista de 5 a 10 trámites con volumen estimado.</a:t>
            </a:r>
            <a:endParaRPr b="0" sz="3200">
              <a:solidFill>
                <a:srgbClr val="14532D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9486900" y="2857500"/>
            <a:ext cx="7429500" cy="4762500"/>
          </a:xfrm>
          <a:prstGeom prst="roundRect">
            <a:avLst>
              <a:gd fmla="val 4800" name="adj"/>
            </a:avLst>
          </a:prstGeom>
          <a:solidFill>
            <a:srgbClr val="FEF2F2"/>
          </a:solidFill>
          <a:ln cap="flat" cmpd="sng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2" name="Google Shape;162;p17"/>
          <p:cNvGrpSpPr/>
          <p:nvPr/>
        </p:nvGrpSpPr>
        <p:grpSpPr>
          <a:xfrm>
            <a:off x="9944100" y="3314700"/>
            <a:ext cx="1143000" cy="246300"/>
            <a:chOff x="9944100" y="3314700"/>
            <a:chExt cx="1143000" cy="246300"/>
          </a:xfrm>
        </p:grpSpPr>
        <p:sp>
          <p:nvSpPr>
            <p:cNvPr id="163" name="Google Shape;163;p17"/>
            <p:cNvSpPr/>
            <p:nvPr/>
          </p:nvSpPr>
          <p:spPr>
            <a:xfrm>
              <a:off x="9944100" y="3314700"/>
              <a:ext cx="1143000" cy="246300"/>
            </a:xfrm>
            <a:prstGeom prst="rect">
              <a:avLst/>
            </a:prstGeom>
            <a:solidFill>
              <a:srgbClr val="FEE2E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7"/>
            <p:cNvSpPr txBox="1"/>
            <p:nvPr/>
          </p:nvSpPr>
          <p:spPr>
            <a:xfrm>
              <a:off x="9944100" y="3314700"/>
              <a:ext cx="1143000" cy="24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991B1B"/>
                  </a:solidFill>
                  <a:latin typeface="Inter"/>
                  <a:ea typeface="Inter"/>
                  <a:cs typeface="Inter"/>
                  <a:sym typeface="Inter"/>
                </a:rPr>
                <a:t>ROJO</a:t>
              </a:r>
              <a:endParaRPr b="1" sz="1600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65" name="Google Shape;165;p17"/>
          <p:cNvSpPr txBox="1"/>
          <p:nvPr/>
        </p:nvSpPr>
        <p:spPr>
          <a:xfrm>
            <a:off x="9944100" y="4414457"/>
            <a:ext cx="762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50">
                <a:solidFill>
                  <a:srgbClr val="EF4444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</a:t>
            </a:r>
            <a:endParaRPr sz="4650">
              <a:solidFill>
                <a:srgbClr val="EF4444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9944100" y="5143500"/>
            <a:ext cx="65151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3200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"Queremos digitalizar todo."</a:t>
            </a:r>
            <a:endParaRPr b="0" i="1" sz="3200">
              <a:solidFill>
                <a:srgbClr val="7F1D1D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8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1371600" y="762000"/>
            <a:ext cx="19050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LA REGLA</a:t>
            </a:r>
            <a:endParaRPr b="1" sz="14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1371600" y="1333500"/>
            <a:ext cx="155448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Dos o más señales rojas = stop</a:t>
            </a:r>
            <a:endParaRPr b="1" sz="54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75" name="Google Shape;175;p18"/>
          <p:cNvGrpSpPr/>
          <p:nvPr/>
        </p:nvGrpSpPr>
        <p:grpSpPr>
          <a:xfrm>
            <a:off x="1371600" y="3048000"/>
            <a:ext cx="15544800" cy="2667000"/>
            <a:chOff x="1371600" y="3048000"/>
            <a:chExt cx="15544800" cy="2667000"/>
          </a:xfrm>
        </p:grpSpPr>
        <p:sp>
          <p:nvSpPr>
            <p:cNvPr id="176" name="Google Shape;176;p18"/>
            <p:cNvSpPr/>
            <p:nvPr/>
          </p:nvSpPr>
          <p:spPr>
            <a:xfrm>
              <a:off x="1371600" y="3048000"/>
              <a:ext cx="15544800" cy="2667000"/>
            </a:xfrm>
            <a:prstGeom prst="roundRect">
              <a:avLst>
                <a:gd fmla="val 8571" name="adj"/>
              </a:avLst>
            </a:prstGeom>
            <a:solidFill>
              <a:srgbClr val="FEF2F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18"/>
            <p:cNvSpPr txBox="1"/>
            <p:nvPr/>
          </p:nvSpPr>
          <p:spPr>
            <a:xfrm>
              <a:off x="1828800" y="3699510"/>
              <a:ext cx="1714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100">
                  <a:solidFill>
                    <a:srgbClr val="EF444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</a:t>
              </a:r>
              <a:endParaRPr sz="11100">
                <a:solidFill>
                  <a:srgbClr val="EF444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78" name="Google Shape;178;p18"/>
            <p:cNvSpPr txBox="1"/>
            <p:nvPr/>
          </p:nvSpPr>
          <p:spPr>
            <a:xfrm>
              <a:off x="4000500" y="3048000"/>
              <a:ext cx="123825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200">
                  <a:solidFill>
                    <a:srgbClr val="991B1B"/>
                  </a:solidFill>
                  <a:latin typeface="Inter"/>
                  <a:ea typeface="Inter"/>
                  <a:cs typeface="Inter"/>
                  <a:sym typeface="Inter"/>
                </a:rPr>
                <a:t>No comprometes el timeline.</a:t>
              </a:r>
              <a:endParaRPr b="1" sz="4200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7F1D1D"/>
                  </a:solidFill>
                  <a:latin typeface="Inter"/>
                  <a:ea typeface="Inter"/>
                  <a:cs typeface="Inter"/>
                  <a:sym typeface="Inter"/>
                </a:rPr>
                <a:t>Prioriza la calidad y la viabilidad técnica antes de avanzar.</a:t>
              </a:r>
              <a:endParaRPr b="0" sz="2400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79" name="Google Shape;179;p18"/>
          <p:cNvSpPr txBox="1"/>
          <p:nvPr/>
        </p:nvSpPr>
        <p:spPr>
          <a:xfrm>
            <a:off x="1371600" y="6096000"/>
            <a:ext cx="15544800" cy="205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Acciones inmediatas:</a:t>
            </a:r>
            <a:endParaRPr b="1" sz="24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750"/>
              </a:spcBef>
              <a:spcAft>
                <a:spcPts val="0"/>
              </a:spcAft>
              <a:buClr>
                <a:srgbClr val="475569"/>
              </a:buClr>
              <a:buSzPts val="2400"/>
              <a:buFont typeface="Inter"/>
              <a:buChar char="●"/>
            </a:pPr>
            <a:r>
              <a:rPr b="0" lang="en-US" sz="24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Ofreces un </a:t>
            </a:r>
            <a:r>
              <a:rPr b="1" lang="en-US" sz="2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pre-discovery de 2 a 4 semanas</a:t>
            </a:r>
            <a:r>
              <a:rPr b="0" lang="en-US" sz="24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para alinear expectativas.</a:t>
            </a:r>
            <a:endParaRPr b="0" sz="24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1500"/>
              </a:spcBef>
              <a:spcAft>
                <a:spcPts val="0"/>
              </a:spcAft>
              <a:buClr>
                <a:srgbClr val="475569"/>
              </a:buClr>
              <a:buSzPts val="2400"/>
              <a:buFont typeface="Inter"/>
              <a:buChar char="●"/>
            </a:pPr>
            <a:r>
              <a:rPr b="0" lang="en-US" sz="24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Si detectas ambigüedad o dudas, </a:t>
            </a:r>
            <a:r>
              <a:rPr b="1" lang="en-US" sz="24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escalas a Sovra</a:t>
            </a:r>
            <a:r>
              <a:rPr b="0" lang="en-US" sz="24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de inmediato.</a:t>
            </a:r>
            <a:endParaRPr b="0" sz="24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250"/>
              </a:spcBef>
              <a:spcAft>
                <a:spcPts val="0"/>
              </a:spcAft>
              <a:buNone/>
            </a:pPr>
            <a:r>
              <a:rPr b="0" i="1" lang="en-US" sz="24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Recuerda: No estás solo. Para eso estamos.</a:t>
            </a:r>
            <a:endParaRPr b="0" i="1" sz="24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9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9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Dos señales rojas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1371600" y="4754880"/>
            <a:ext cx="155448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no son una advertencia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Son un stop.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