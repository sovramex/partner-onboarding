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Inter"/>
      <p:regular r:id="rId13"/>
      <p:bold r:id="rId14"/>
      <p:italic r:id="rId15"/>
      <p:boldItalic r:id="rId16"/>
    </p:embeddedFont>
    <p:embeddedFont>
      <p:font typeface="Inter ExtraBold"/>
      <p:bold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italic.fntdata"/><Relationship Id="rId14" Type="http://schemas.openxmlformats.org/officeDocument/2006/relationships/font" Target="fonts/Inter-bold.fntdata"/><Relationship Id="rId17" Type="http://schemas.openxmlformats.org/officeDocument/2006/relationships/font" Target="fonts/InterExtraBold-bold.fntdata"/><Relationship Id="rId16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InterExtraBold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14.8s · 37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Del lado del gobierno necesitas cinco roles confirmados con nombre y apellido antes de avanzar. No cuatro. No tres porque ya veremos. Cinco. Si el gobierno no puede nombrarlos, esa es una señal roja por sí sola.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27.2s · 68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primer rol es el dueño del proyecto. Suele ser un secretario o director de modernización, innovación o equivalente. No necesita ser técnico. Necesita tener autoridad para mover cosas cuando el proyecto se atore. Su presencia es obligatoria en tres momentos: el kickoff, el cierre de Fase B, y el lanzamiento. Si delega todo sin involucrarse en el kickoff, el proyecto pierde respaldo político. Insistes en su presencia.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32.4s · 81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segundo rol es el coordinador general. Tu contacto directo. La persona que coordina a todos los actores del lado gobierno y reporta internamente. Todo pasa por esta persona. Dedicación mínima del cincuenta por ciento durante los noventa días. Este es, sin discusión, el rol que más determina el éxito o el fracaso de la implementación. Si tiene tres proyectos más y el tuyo es el cuarto en prioridad, los tiempos de respuesta se duplican. Negocias dedicación mínima en Fase A.</a:t>
            </a:r>
            <a:endParaRPr/>
          </a:p>
        </p:txBody>
      </p:sp>
      <p:sp>
        <p:nvSpPr>
          <p:cNvPr id="103" name="Google Shape;10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21.6s · 54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tercer rol es el especialista funcional. Una o dos personas, tiempo completo durante Fases B y C. Conoce procesos de trámites, transformación digital o mejora regulatoria. Aprende la plataforma a profundidad y es quien realmente digitaliza los trámites. Es el músculo de la implementación. Sin esta dedicación, los trámites no salen a tiempo.</a:t>
            </a:r>
            <a:endParaRPr/>
          </a:p>
        </p:txBody>
      </p:sp>
      <p:sp>
        <p:nvSpPr>
          <p:cNvPr id="114" name="Google Shape;11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23.6s · 59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cuarto rol es el técnico del gobierno. Genera dominio, entiende APIs y bases de datos, ejecuta integraciones del lado gobierno. Intensivo en Fase B para arquitectura y en Fase C para integraciones. El dominio parece trivial pero se atrasa semanas si no lo pides desde el día uno. Lo pones como entregable de la semana uno, sin excepción.</a:t>
            </a:r>
            <a:endParaRPr/>
          </a:p>
        </p:txBody>
      </p:sp>
      <p:sp>
        <p:nvSpPr>
          <p:cNvPr id="125" name="Google Shape;12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18.0s · 45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quinto rol es comunicación. Entiende la plataforma desde la perspectiva del ciudadano. Prepara materiales de lanzamiento y estrategia de comunicación. Se incorpora formalmente en Fase D, pero idealmente está informado desde Fase B para que prepare materiales con conocimiento real, no con descripciones genéricas.</a:t>
            </a:r>
            <a:endParaRPr/>
          </a:p>
        </p:txBody>
      </p:sp>
      <p:sp>
        <p:nvSpPr>
          <p:cNvPr id="137" name="Google Shape;13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4.8s · 12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Sin los cinco roles con nombre y apellido, no arrancas Fase A.</a:t>
            </a:r>
            <a:endParaRPr/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0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Los cinco roles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obligatorios del gobierno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No cuatro. No tres porque "ya veremos". Cinco, con nombre y apellido.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762000"/>
            <a:ext cx="38100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Rol 1</a:t>
            </a:r>
            <a:endParaRPr b="1" i="0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1333500"/>
            <a:ext cx="15544800" cy="985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Dueño del proyecto</a:t>
            </a:r>
            <a:endParaRPr b="0" i="0" sz="640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97" name="Google Shape;97;p14"/>
          <p:cNvGrpSpPr/>
          <p:nvPr/>
        </p:nvGrpSpPr>
        <p:grpSpPr>
          <a:xfrm>
            <a:off x="1371600" y="3048000"/>
            <a:ext cx="15544800" cy="5715000"/>
            <a:chOff x="1371600" y="3048000"/>
            <a:chExt cx="15544800" cy="5715000"/>
          </a:xfrm>
        </p:grpSpPr>
        <p:sp>
          <p:nvSpPr>
            <p:cNvPr id="98" name="Google Shape;98;p14"/>
            <p:cNvSpPr/>
            <p:nvPr/>
          </p:nvSpPr>
          <p:spPr>
            <a:xfrm>
              <a:off x="1371600" y="3048000"/>
              <a:ext cx="15544800" cy="5715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4"/>
            <p:cNvSpPr txBox="1"/>
            <p:nvPr/>
          </p:nvSpPr>
          <p:spPr>
            <a:xfrm>
              <a:off x="1828800" y="3524250"/>
              <a:ext cx="14630400" cy="476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Secretario o director</a:t>
              </a:r>
              <a:endParaRPr b="1" i="0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i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No necesita ser técnico, necesita </a:t>
              </a:r>
              <a:r>
                <a:rPr b="1" i="0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autoridad</a:t>
              </a:r>
              <a:r>
                <a:rPr b="0" i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para mover cosas cuando se atore. Su presencia es obligatoria en tres momentos clave:</a:t>
              </a:r>
              <a:endParaRPr b="0" i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0"/>
                </a:spcBef>
                <a:spcAft>
                  <a:spcPts val="0"/>
                </a:spcAft>
                <a:buNone/>
              </a:pPr>
              <a:r>
                <a:rPr b="0" i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i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Kickoff inicial</a:t>
              </a:r>
              <a:endParaRPr b="0" i="0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0" i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i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Cierre de Fase B</a:t>
              </a:r>
              <a:endParaRPr b="0" i="0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0" i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i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Lanzamiento</a:t>
              </a:r>
              <a:endParaRPr b="0" i="0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0"/>
                </a:spcBef>
                <a:spcAft>
                  <a:spcPts val="0"/>
                </a:spcAft>
                <a:buNone/>
              </a:pPr>
              <a:r>
                <a:rPr b="0" i="1" lang="en-US" sz="22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Si delega todo, el proyecto pierde respaldo político. </a:t>
              </a:r>
              <a:r>
                <a:rPr b="1" i="1" lang="en-US" sz="22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Insistes.</a:t>
              </a:r>
              <a:endParaRPr b="0" i="1" sz="22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1371600" y="762000"/>
            <a:ext cx="38100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Rol 2</a:t>
            </a:r>
            <a:endParaRPr b="1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1371600" y="1333500"/>
            <a:ext cx="15544800" cy="985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40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Coordinador general</a:t>
            </a:r>
            <a:endParaRPr b="0" sz="640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08" name="Google Shape;108;p15"/>
          <p:cNvGrpSpPr/>
          <p:nvPr/>
        </p:nvGrpSpPr>
        <p:grpSpPr>
          <a:xfrm>
            <a:off x="1371600" y="3048000"/>
            <a:ext cx="15544800" cy="5715000"/>
            <a:chOff x="1371600" y="3048000"/>
            <a:chExt cx="15544800" cy="5715000"/>
          </a:xfrm>
        </p:grpSpPr>
        <p:sp>
          <p:nvSpPr>
            <p:cNvPr id="109" name="Google Shape;109;p15"/>
            <p:cNvSpPr/>
            <p:nvPr/>
          </p:nvSpPr>
          <p:spPr>
            <a:xfrm>
              <a:off x="1371600" y="3048000"/>
              <a:ext cx="15544800" cy="5715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1828800" y="3524250"/>
              <a:ext cx="14630400" cy="476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Tu contacto directo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Coordina a todos del lado gobierno y reporta internamente. Es el rol que </a:t>
              </a:r>
              <a:r>
                <a:rPr b="1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más determina el éxito o el fracaso</a:t>
              </a: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406400" lvl="0" marL="457200" rtl="0" algn="l">
                <a:spcBef>
                  <a:spcPts val="2250"/>
                </a:spcBef>
                <a:spcAft>
                  <a:spcPts val="0"/>
                </a:spcAft>
                <a:buClr>
                  <a:srgbClr val="1E293B"/>
                </a:buClr>
                <a:buSzPts val="2800"/>
                <a:buFont typeface="Inter"/>
                <a:buChar char="●"/>
              </a:pPr>
              <a:r>
                <a:rPr b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Dedicación mínima: </a:t>
              </a:r>
              <a:r>
                <a:rPr b="1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50% durante los 90 días</a:t>
              </a:r>
              <a:r>
                <a:rPr b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406400" lvl="0" marL="457200" rtl="0" algn="l">
                <a:spcBef>
                  <a:spcPts val="2250"/>
                </a:spcBef>
                <a:spcAft>
                  <a:spcPts val="0"/>
                </a:spcAft>
                <a:buClr>
                  <a:srgbClr val="1E293B"/>
                </a:buClr>
                <a:buSzPts val="2800"/>
                <a:buFont typeface="Inter"/>
                <a:buChar char="●"/>
              </a:pPr>
              <a:r>
                <a:rPr b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lang="en-US" sz="28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Foco crítico: Evitar la saturación de proyectos paralelos.</a:t>
              </a:r>
              <a:endParaRPr b="0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i="1" lang="en-US" sz="22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Si tiene tres proyectos más y el tuyo es el cuarto, los tiempos de respuesta se duplican.</a:t>
              </a:r>
              <a:endParaRPr b="1" i="1" sz="22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1371600" y="762000"/>
            <a:ext cx="381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Rol 3</a:t>
            </a:r>
            <a:endParaRPr b="1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1371600" y="1333500"/>
            <a:ext cx="15544800" cy="990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40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Especialista funcional</a:t>
            </a:r>
            <a:endParaRPr b="0" sz="640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19" name="Google Shape;119;p16"/>
          <p:cNvGrpSpPr/>
          <p:nvPr/>
        </p:nvGrpSpPr>
        <p:grpSpPr>
          <a:xfrm>
            <a:off x="1371600" y="3048000"/>
            <a:ext cx="15544800" cy="5715000"/>
            <a:chOff x="1371600" y="3048000"/>
            <a:chExt cx="15544800" cy="5715000"/>
          </a:xfrm>
        </p:grpSpPr>
        <p:sp>
          <p:nvSpPr>
            <p:cNvPr id="120" name="Google Shape;120;p16"/>
            <p:cNvSpPr/>
            <p:nvPr/>
          </p:nvSpPr>
          <p:spPr>
            <a:xfrm>
              <a:off x="1371600" y="3048000"/>
              <a:ext cx="15544800" cy="5715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6"/>
            <p:cNvSpPr txBox="1"/>
            <p:nvPr/>
          </p:nvSpPr>
          <p:spPr>
            <a:xfrm>
              <a:off x="1828800" y="3524250"/>
              <a:ext cx="14630400" cy="476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músculo de la implementación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Una o dos personas con dedicación de </a:t>
              </a:r>
              <a:r>
                <a:rPr b="1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tiempo completo durante las Fases B y C</a:t>
              </a: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 Es quien realmente digitaliza los trámites.</a:t>
              </a:r>
              <a:endParaRPr b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Experto en procesos de trámites y transformación digital.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Lidera la mejora regulatoria y la digitalización efectiva.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1" i="1" lang="en-US" sz="22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Sin esta dedicación, los trámites no salen a tiempo.</a:t>
              </a:r>
              <a:endParaRPr b="1" i="1" sz="22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" name="Google Shape;128;p17"/>
          <p:cNvGrpSpPr/>
          <p:nvPr/>
        </p:nvGrpSpPr>
        <p:grpSpPr>
          <a:xfrm>
            <a:off x="1371600" y="762000"/>
            <a:ext cx="15544800" cy="1562100"/>
            <a:chOff x="1371600" y="762000"/>
            <a:chExt cx="15544800" cy="1562100"/>
          </a:xfrm>
        </p:grpSpPr>
        <p:sp>
          <p:nvSpPr>
            <p:cNvPr id="129" name="Google Shape;129;p17"/>
            <p:cNvSpPr txBox="1"/>
            <p:nvPr/>
          </p:nvSpPr>
          <p:spPr>
            <a:xfrm>
              <a:off x="1371600" y="762000"/>
              <a:ext cx="3810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Rol 4</a:t>
              </a:r>
              <a:endParaRPr b="1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0" name="Google Shape;130;p17"/>
            <p:cNvSpPr txBox="1"/>
            <p:nvPr/>
          </p:nvSpPr>
          <p:spPr>
            <a:xfrm>
              <a:off x="1371600" y="1333500"/>
              <a:ext cx="15544800" cy="990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6400">
                  <a:solidFill>
                    <a:srgbClr val="0A0915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Técnico del gobierno</a:t>
              </a:r>
              <a:endParaRPr b="0" sz="640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131" name="Google Shape;131;p17"/>
          <p:cNvGrpSpPr/>
          <p:nvPr/>
        </p:nvGrpSpPr>
        <p:grpSpPr>
          <a:xfrm>
            <a:off x="1371600" y="3048000"/>
            <a:ext cx="15544800" cy="5715000"/>
            <a:chOff x="1371600" y="3048000"/>
            <a:chExt cx="15544800" cy="5715000"/>
          </a:xfrm>
        </p:grpSpPr>
        <p:sp>
          <p:nvSpPr>
            <p:cNvPr id="132" name="Google Shape;132;p17"/>
            <p:cNvSpPr/>
            <p:nvPr/>
          </p:nvSpPr>
          <p:spPr>
            <a:xfrm>
              <a:off x="1371600" y="3048000"/>
              <a:ext cx="15544800" cy="5715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7"/>
            <p:cNvSpPr txBox="1"/>
            <p:nvPr/>
          </p:nvSpPr>
          <p:spPr>
            <a:xfrm>
              <a:off x="1828800" y="3524250"/>
              <a:ext cx="14630400" cy="476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Infraestructura e Integraciones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Genera dominio, entiende APIs y bases de datos, ejecuta integraciones del lado gobierno. Intensivo en </a:t>
              </a:r>
              <a:r>
                <a:rPr b="1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B</a:t>
              </a: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para arquitectura y </a:t>
              </a:r>
              <a:r>
                <a:rPr b="1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C</a:t>
              </a: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para integraciones.</a:t>
              </a:r>
              <a:endParaRPr b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Riesgo crítico: El dominio parece trivial pero se atrasa semanas.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i="1" lang="en-US" sz="24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Lo pides como entregable de la semana uno, sin excepción.</a:t>
              </a:r>
              <a:endParaRPr b="1" i="1" sz="24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8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 txBox="1"/>
          <p:nvPr/>
        </p:nvSpPr>
        <p:spPr>
          <a:xfrm>
            <a:off x="1371600" y="762000"/>
            <a:ext cx="381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Rol 5</a:t>
            </a:r>
            <a:endParaRPr b="1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18"/>
          <p:cNvSpPr txBox="1"/>
          <p:nvPr/>
        </p:nvSpPr>
        <p:spPr>
          <a:xfrm>
            <a:off x="1371600" y="1333500"/>
            <a:ext cx="15544800" cy="990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40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Comunicación</a:t>
            </a:r>
            <a:endParaRPr b="0" sz="640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371600" y="3048000"/>
            <a:ext cx="15544800" cy="5715000"/>
            <a:chOff x="1371600" y="3048000"/>
            <a:chExt cx="15544800" cy="5715000"/>
          </a:xfrm>
        </p:grpSpPr>
        <p:sp>
          <p:nvSpPr>
            <p:cNvPr id="143" name="Google Shape;143;p18"/>
            <p:cNvSpPr/>
            <p:nvPr/>
          </p:nvSpPr>
          <p:spPr>
            <a:xfrm>
              <a:off x="1371600" y="3048000"/>
              <a:ext cx="15544800" cy="5715000"/>
            </a:xfrm>
            <a:prstGeom prst="roundRect">
              <a:avLst>
                <a:gd fmla="val 3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8"/>
            <p:cNvSpPr txBox="1"/>
            <p:nvPr/>
          </p:nvSpPr>
          <p:spPr>
            <a:xfrm>
              <a:off x="1828800" y="3524250"/>
              <a:ext cx="14630400" cy="476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La voz del proyecto hacia afuera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Entiende la plataforma desde la </a:t>
              </a:r>
              <a:r>
                <a:rPr b="1" lang="en-US" sz="28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perspectiva del ciudadano</a:t>
              </a: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 Prepara los materiales de lanzamiento y define la estrategia de adopción.</a:t>
              </a:r>
              <a:endParaRPr b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93700" lvl="0" marL="457200" rtl="0" algn="l">
                <a:spcBef>
                  <a:spcPts val="2250"/>
                </a:spcBef>
                <a:spcAft>
                  <a:spcPts val="0"/>
                </a:spcAft>
                <a:buClr>
                  <a:srgbClr val="1E293B"/>
                </a:buClr>
                <a:buSzPts val="2600"/>
                <a:buFont typeface="Inter"/>
                <a:buChar char="●"/>
              </a:pPr>
              <a:r>
                <a:rPr b="0" lang="en-US" sz="26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Se incorpora formalmente en </a:t>
              </a:r>
              <a:r>
                <a:rPr b="1" lang="en-US" sz="26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D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6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93700" lvl="0" marL="457200" rtl="0" algn="l">
                <a:spcBef>
                  <a:spcPts val="2250"/>
                </a:spcBef>
                <a:spcAft>
                  <a:spcPts val="0"/>
                </a:spcAft>
                <a:buClr>
                  <a:srgbClr val="1E293B"/>
                </a:buClr>
                <a:buSzPts val="2600"/>
                <a:buFont typeface="Inter"/>
                <a:buChar char="●"/>
              </a:pPr>
              <a:r>
                <a:rPr b="0" lang="en-US" sz="2600">
                  <a:solidFill>
                    <a:srgbClr val="0077C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•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Debe estar informada desde </a:t>
              </a:r>
              <a:r>
                <a:rPr b="1" lang="en-US" sz="26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Fase B</a:t>
              </a:r>
              <a:r>
                <a:rPr b="0" lang="en-US" sz="2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para generar conocimiento real.</a:t>
              </a:r>
              <a:endParaRPr b="0" sz="26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i="1" lang="en-US" sz="22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Sin materiales de calidad, la adopción ciudadana será lenta o nula.</a:t>
              </a:r>
              <a:endParaRPr b="1" i="1" sz="22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9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Sin los cinco roles</a:t>
            </a: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 nombre y apellido,</a:t>
            </a: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 arrancas Fase A.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