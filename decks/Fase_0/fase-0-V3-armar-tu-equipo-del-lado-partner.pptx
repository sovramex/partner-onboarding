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Lst>
  <p:sldSz cy="10287000" cx="18288000"/>
  <p:notesSz cx="6858000" cy="9144000"/>
  <p:embeddedFontLst>
    <p:embeddedFont>
      <p:font typeface="Inter SemiBold"/>
      <p:regular r:id="rId10"/>
      <p:bold r:id="rId11"/>
      <p:italic r:id="rId12"/>
      <p:boldItalic r:id="rId13"/>
    </p:embeddedFont>
    <p:embeddedFont>
      <p:font typeface="Inter"/>
      <p:regular r:id="rId14"/>
      <p:bold r:id="rId15"/>
      <p:italic r:id="rId16"/>
      <p:boldItalic r:id="rId17"/>
    </p:embeddedFont>
    <p:embeddedFont>
      <p:font typeface="Inter Medium"/>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InterMedium-italic.fntdata"/><Relationship Id="rId11" Type="http://schemas.openxmlformats.org/officeDocument/2006/relationships/font" Target="fonts/InterSemiBold-bold.fntdata"/><Relationship Id="rId10" Type="http://schemas.openxmlformats.org/officeDocument/2006/relationships/font" Target="fonts/InterSemiBold-regular.fntdata"/><Relationship Id="rId21" Type="http://schemas.openxmlformats.org/officeDocument/2006/relationships/font" Target="fonts/InterMedium-boldItalic.fntdata"/><Relationship Id="rId13" Type="http://schemas.openxmlformats.org/officeDocument/2006/relationships/font" Target="fonts/InterSemiBold-boldItalic.fntdata"/><Relationship Id="rId12" Type="http://schemas.openxmlformats.org/officeDocument/2006/relationships/font" Target="fonts/InterSemiBold-italic.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Inter-bold.fntdata"/><Relationship Id="rId14" Type="http://schemas.openxmlformats.org/officeDocument/2006/relationships/font" Target="fonts/Inter-regular.fntdata"/><Relationship Id="rId17" Type="http://schemas.openxmlformats.org/officeDocument/2006/relationships/font" Target="fonts/Inter-boldItalic.fntdata"/><Relationship Id="rId16" Type="http://schemas.openxmlformats.org/officeDocument/2006/relationships/font" Target="fonts/Inter-italic.fntdata"/><Relationship Id="rId5" Type="http://schemas.openxmlformats.org/officeDocument/2006/relationships/notesMaster" Target="notesMasters/notesMaster1.xml"/><Relationship Id="rId19" Type="http://schemas.openxmlformats.org/officeDocument/2006/relationships/font" Target="fonts/InterMedium-bold.fntdata"/><Relationship Id="rId6" Type="http://schemas.openxmlformats.org/officeDocument/2006/relationships/slide" Target="slides/slide1.xml"/><Relationship Id="rId18" Type="http://schemas.openxmlformats.org/officeDocument/2006/relationships/font" Target="fonts/InterMedium-regular.fntdata"/><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17.2s · 43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Del lado del partner tienes que cubrir tres roles antes de arrancar Fase A. Pueden ser tres personas distintas o pueden combinarse si tu equipo es chico, pero los tres roles existen y los tres tienen trabajo que hacer durante los noventa días.</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65.2s · 163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El primer rol es el líder de implementación. Es la cara del proyecto frente al gobierno. Coordina, decide, escala. Conoce la metodología y la plataforma a profundidad. Toma decisiones operativas sin escalar todo a Sovra. Lidera reuniones, presenta avances y gestiona expectativas. Está activo en todas las fases, de la A a la E. Es el hilo conductor. El segundo rol es el especialista técnico. Configura la instancia de SovraGov para el gobierno, ejecuta las integraciones, coordina con el técnico del gobierno para resolver arquitectura. Es intenso en Fase B cuando se define la arquitectura, en Fase C cuando se hacen las integraciones, y en Fase D cuando todo entra en producción. El tercer rol es soporte y capacitación. Capacita al equipo core del gobierno en Fase B, capacita operadores antes del lanzamiento en Fase D, y opera como Nivel 2 de soporte después del lanzamiento en Fase E. Es la persona que el gobierno va a llamar cuando algo no le cierre.</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24.0s · 60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Una advertencia honesta. Si tu equipo es pequeño y la misma persona hace de líder y de técnico, los días de calls con el gobierno van a competir con los días de configuración. Cuando puedas, separas los roles. Y si soporte y técnico son la misma persona, cuidas que no se queme cuando lleguen los tickets reales en Fase E.</a:t>
            </a:r>
            <a:endParaRPr/>
          </a:p>
        </p:txBody>
      </p:sp>
      <p:sp>
        <p:nvSpPr>
          <p:cNvPr id="118" name="Google Shape;11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5" name="Google Shape;135;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[Duración estimada: 7.6s · 19 palabras]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Si no puedes nombrar a quién hace cada rol antes de Fase A, todavía no estás listo para arrancar.</a:t>
            </a:r>
            <a:endParaRPr/>
          </a:p>
        </p:txBody>
      </p:sp>
      <p:sp>
        <p:nvSpPr>
          <p:cNvPr id="136" name="Google Shape;136;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3"/>
          <p:cNvSpPr/>
          <p:nvPr/>
        </p:nvSpPr>
        <p:spPr>
          <a:xfrm>
            <a:off x="0" y="0"/>
            <a:ext cx="18288000" cy="2286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3"/>
          <p:cNvSpPr txBox="1"/>
          <p:nvPr/>
        </p:nvSpPr>
        <p:spPr>
          <a:xfrm>
            <a:off x="1371600" y="3200400"/>
            <a:ext cx="15544800"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1800" u="none" cap="none" strike="noStrike">
                <a:solidFill>
                  <a:srgbClr val="0077CC"/>
                </a:solidFill>
                <a:latin typeface="Inter"/>
                <a:ea typeface="Inter"/>
                <a:cs typeface="Inter"/>
                <a:sym typeface="Inter"/>
              </a:rPr>
              <a:t>FASE 0</a:t>
            </a:r>
            <a:endParaRPr/>
          </a:p>
        </p:txBody>
      </p:sp>
      <p:sp>
        <p:nvSpPr>
          <p:cNvPr id="87" name="Google Shape;87;p13"/>
          <p:cNvSpPr txBox="1"/>
          <p:nvPr/>
        </p:nvSpPr>
        <p:spPr>
          <a:xfrm>
            <a:off x="1371600" y="3840480"/>
            <a:ext cx="15544800" cy="2586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Armar tu equipo</a:t>
            </a:r>
            <a:endParaRPr/>
          </a:p>
          <a:p>
            <a:pPr indent="0" lvl="0" marL="0" marR="0" rtl="0" algn="l">
              <a:lnSpc>
                <a:spcPct val="110000"/>
              </a:lnSpc>
              <a:spcBef>
                <a:spcPts val="0"/>
              </a:spcBef>
              <a:spcAft>
                <a:spcPts val="0"/>
              </a:spcAft>
              <a:buNone/>
            </a:pPr>
            <a:r>
              <a:rPr b="1" i="0" lang="en-US" sz="8000" u="none" cap="none" strike="noStrike">
                <a:solidFill>
                  <a:srgbClr val="0A0915"/>
                </a:solidFill>
                <a:latin typeface="Inter"/>
                <a:ea typeface="Inter"/>
                <a:cs typeface="Inter"/>
                <a:sym typeface="Inter"/>
              </a:rPr>
              <a:t>del lado partner</a:t>
            </a:r>
            <a:endParaRPr/>
          </a:p>
        </p:txBody>
      </p:sp>
      <p:sp>
        <p:nvSpPr>
          <p:cNvPr id="88" name="Google Shape;88;p13"/>
          <p:cNvSpPr txBox="1"/>
          <p:nvPr/>
        </p:nvSpPr>
        <p:spPr>
          <a:xfrm>
            <a:off x="1371600" y="6517900"/>
            <a:ext cx="15544800" cy="3387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2200" u="none" cap="none" strike="noStrike">
                <a:solidFill>
                  <a:srgbClr val="888888"/>
                </a:solidFill>
                <a:latin typeface="Inter"/>
                <a:ea typeface="Inter"/>
                <a:cs typeface="Inter"/>
                <a:sym typeface="Inter"/>
              </a:rPr>
              <a:t>Tres roles que tienen que existir antes de arrancar Fase 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3" name="Shape 93"/>
        <p:cNvGrpSpPr/>
        <p:nvPr/>
      </p:nvGrpSpPr>
      <p:grpSpPr>
        <a:xfrm>
          <a:off x="0" y="0"/>
          <a:ext cx="0" cy="0"/>
          <a:chOff x="0" y="0"/>
          <a:chExt cx="0" cy="0"/>
        </a:xfrm>
      </p:grpSpPr>
      <p:sp>
        <p:nvSpPr>
          <p:cNvPr id="94" name="Google Shape;94;p14"/>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4"/>
          <p:cNvSpPr txBox="1"/>
          <p:nvPr/>
        </p:nvSpPr>
        <p:spPr>
          <a:xfrm>
            <a:off x="1371600" y="762000"/>
            <a:ext cx="15544800" cy="7389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4800">
                <a:solidFill>
                  <a:srgbClr val="0A0915"/>
                </a:solidFill>
                <a:latin typeface="Inter"/>
                <a:ea typeface="Inter"/>
                <a:cs typeface="Inter"/>
                <a:sym typeface="Inter"/>
              </a:rPr>
              <a:t>Los tres roles del partner</a:t>
            </a:r>
            <a:endParaRPr b="1" sz="4800">
              <a:solidFill>
                <a:srgbClr val="0A0915"/>
              </a:solidFill>
              <a:latin typeface="Inter"/>
              <a:ea typeface="Inter"/>
              <a:cs typeface="Inter"/>
              <a:sym typeface="Inter"/>
            </a:endParaRPr>
          </a:p>
        </p:txBody>
      </p:sp>
      <p:sp>
        <p:nvSpPr>
          <p:cNvPr id="96" name="Google Shape;96;p14"/>
          <p:cNvSpPr txBox="1"/>
          <p:nvPr/>
        </p:nvSpPr>
        <p:spPr>
          <a:xfrm>
            <a:off x="1371600" y="1809750"/>
            <a:ext cx="15544800" cy="3387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0" lang="en-US" sz="2200">
                <a:solidFill>
                  <a:srgbClr val="888888"/>
                </a:solidFill>
                <a:latin typeface="Inter"/>
                <a:ea typeface="Inter"/>
                <a:cs typeface="Inter"/>
                <a:sym typeface="Inter"/>
              </a:rPr>
              <a:t>Pueden ser tres personas o combinarse si tu equipo es chico.</a:t>
            </a:r>
            <a:endParaRPr b="0" sz="2200">
              <a:solidFill>
                <a:srgbClr val="888888"/>
              </a:solidFill>
              <a:latin typeface="Inter"/>
              <a:ea typeface="Inter"/>
              <a:cs typeface="Inter"/>
              <a:sym typeface="Inter"/>
            </a:endParaRPr>
          </a:p>
        </p:txBody>
      </p:sp>
      <p:grpSp>
        <p:nvGrpSpPr>
          <p:cNvPr id="97" name="Google Shape;97;p14"/>
          <p:cNvGrpSpPr/>
          <p:nvPr/>
        </p:nvGrpSpPr>
        <p:grpSpPr>
          <a:xfrm>
            <a:off x="1371600" y="3048000"/>
            <a:ext cx="4876800" cy="5715000"/>
            <a:chOff x="1371600" y="3048000"/>
            <a:chExt cx="4876800" cy="5715000"/>
          </a:xfrm>
        </p:grpSpPr>
        <p:sp>
          <p:nvSpPr>
            <p:cNvPr id="98" name="Google Shape;98;p14"/>
            <p:cNvSpPr/>
            <p:nvPr/>
          </p:nvSpPr>
          <p:spPr>
            <a:xfrm>
              <a:off x="1371600" y="3048000"/>
              <a:ext cx="4876800" cy="5715000"/>
            </a:xfrm>
            <a:prstGeom prst="roundRect">
              <a:avLst>
                <a:gd fmla="val 3906"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9" name="Google Shape;99;p14"/>
            <p:cNvSpPr/>
            <p:nvPr/>
          </p:nvSpPr>
          <p:spPr>
            <a:xfrm>
              <a:off x="3238500" y="3429000"/>
              <a:ext cx="1143000" cy="1143000"/>
            </a:xfrm>
            <a:prstGeom prst="ellipse">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0" name="Google Shape;100;p14"/>
            <p:cNvSpPr txBox="1"/>
            <p:nvPr/>
          </p:nvSpPr>
          <p:spPr>
            <a:xfrm>
              <a:off x="1371600" y="3619500"/>
              <a:ext cx="4876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000">
                  <a:solidFill>
                    <a:srgbClr val="FFFFFF"/>
                  </a:solidFill>
                  <a:latin typeface="Inter"/>
                  <a:ea typeface="Inter"/>
                  <a:cs typeface="Inter"/>
                  <a:sym typeface="Inter"/>
                </a:rPr>
                <a:t>1</a:t>
              </a:r>
              <a:endParaRPr b="1" sz="4000">
                <a:solidFill>
                  <a:srgbClr val="FFFFFF"/>
                </a:solidFill>
                <a:latin typeface="Inter"/>
                <a:ea typeface="Inter"/>
                <a:cs typeface="Inter"/>
                <a:sym typeface="Inter"/>
              </a:endParaRPr>
            </a:p>
          </p:txBody>
        </p:sp>
        <p:sp>
          <p:nvSpPr>
            <p:cNvPr id="101" name="Google Shape;101;p14"/>
            <p:cNvSpPr txBox="1"/>
            <p:nvPr/>
          </p:nvSpPr>
          <p:spPr>
            <a:xfrm>
              <a:off x="1752600" y="4953000"/>
              <a:ext cx="4114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Líder de implementación</a:t>
              </a:r>
              <a:endParaRPr b="1" sz="2400">
                <a:solidFill>
                  <a:srgbClr val="0A0915"/>
                </a:solidFill>
                <a:latin typeface="Inter"/>
                <a:ea typeface="Inter"/>
                <a:cs typeface="Inter"/>
                <a:sym typeface="Inter"/>
              </a:endParaRPr>
            </a:p>
          </p:txBody>
        </p:sp>
        <p:sp>
          <p:nvSpPr>
            <p:cNvPr id="102" name="Google Shape;102;p14"/>
            <p:cNvSpPr txBox="1"/>
            <p:nvPr/>
          </p:nvSpPr>
          <p:spPr>
            <a:xfrm>
              <a:off x="1752600" y="5905500"/>
              <a:ext cx="4114800" cy="2476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600">
                  <a:solidFill>
                    <a:srgbClr val="64748B"/>
                  </a:solidFill>
                  <a:latin typeface="Inter"/>
                  <a:ea typeface="Inter"/>
                  <a:cs typeface="Inter"/>
                  <a:sym typeface="Inter"/>
                </a:rPr>
                <a:t>Cara del proyecto frente al gobierno. Coordina, decide, escala.</a:t>
              </a:r>
              <a:endParaRPr b="0" sz="1600">
                <a:solidFill>
                  <a:srgbClr val="64748B"/>
                </a:solidFill>
                <a:latin typeface="Inter"/>
                <a:ea typeface="Inter"/>
                <a:cs typeface="Inter"/>
                <a:sym typeface="Inter"/>
              </a:endParaRPr>
            </a:p>
            <a:p>
              <a:pPr indent="0" lvl="0" marL="0" rtl="0" algn="ctr">
                <a:spcBef>
                  <a:spcPts val="1500"/>
                </a:spcBef>
                <a:spcAft>
                  <a:spcPts val="0"/>
                </a:spcAft>
                <a:buNone/>
              </a:pPr>
              <a:r>
                <a:rPr b="1" lang="en-US" sz="1600">
                  <a:solidFill>
                    <a:srgbClr val="0077CC"/>
                  </a:solidFill>
                  <a:latin typeface="Inter"/>
                  <a:ea typeface="Inter"/>
                  <a:cs typeface="Inter"/>
                  <a:sym typeface="Inter"/>
                </a:rPr>
                <a:t>Activo Fases A a E.</a:t>
              </a:r>
              <a:endParaRPr b="1" sz="1600">
                <a:solidFill>
                  <a:srgbClr val="0077CC"/>
                </a:solidFill>
                <a:latin typeface="Inter"/>
                <a:ea typeface="Inter"/>
                <a:cs typeface="Inter"/>
                <a:sym typeface="Inter"/>
              </a:endParaRPr>
            </a:p>
          </p:txBody>
        </p:sp>
      </p:grpSp>
      <p:grpSp>
        <p:nvGrpSpPr>
          <p:cNvPr id="103" name="Google Shape;103;p14"/>
          <p:cNvGrpSpPr/>
          <p:nvPr/>
        </p:nvGrpSpPr>
        <p:grpSpPr>
          <a:xfrm>
            <a:off x="6705600" y="3048000"/>
            <a:ext cx="4876800" cy="5715000"/>
            <a:chOff x="6705600" y="3048000"/>
            <a:chExt cx="4876800" cy="5715000"/>
          </a:xfrm>
        </p:grpSpPr>
        <p:sp>
          <p:nvSpPr>
            <p:cNvPr id="104" name="Google Shape;104;p14"/>
            <p:cNvSpPr/>
            <p:nvPr/>
          </p:nvSpPr>
          <p:spPr>
            <a:xfrm>
              <a:off x="6705600" y="3048000"/>
              <a:ext cx="4876800" cy="5715000"/>
            </a:xfrm>
            <a:prstGeom prst="roundRect">
              <a:avLst>
                <a:gd fmla="val 3906"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5" name="Google Shape;105;p14"/>
            <p:cNvSpPr/>
            <p:nvPr/>
          </p:nvSpPr>
          <p:spPr>
            <a:xfrm>
              <a:off x="8572500" y="3429000"/>
              <a:ext cx="1143000" cy="1143000"/>
            </a:xfrm>
            <a:prstGeom prst="ellipse">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6" name="Google Shape;106;p14"/>
            <p:cNvSpPr txBox="1"/>
            <p:nvPr/>
          </p:nvSpPr>
          <p:spPr>
            <a:xfrm>
              <a:off x="6705600" y="3619500"/>
              <a:ext cx="4876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000">
                  <a:solidFill>
                    <a:srgbClr val="FFFFFF"/>
                  </a:solidFill>
                  <a:latin typeface="Inter"/>
                  <a:ea typeface="Inter"/>
                  <a:cs typeface="Inter"/>
                  <a:sym typeface="Inter"/>
                </a:rPr>
                <a:t>2</a:t>
              </a:r>
              <a:endParaRPr b="1" sz="4000">
                <a:solidFill>
                  <a:srgbClr val="FFFFFF"/>
                </a:solidFill>
                <a:latin typeface="Inter"/>
                <a:ea typeface="Inter"/>
                <a:cs typeface="Inter"/>
                <a:sym typeface="Inter"/>
              </a:endParaRPr>
            </a:p>
          </p:txBody>
        </p:sp>
        <p:sp>
          <p:nvSpPr>
            <p:cNvPr id="107" name="Google Shape;107;p14"/>
            <p:cNvSpPr txBox="1"/>
            <p:nvPr/>
          </p:nvSpPr>
          <p:spPr>
            <a:xfrm>
              <a:off x="7086600" y="4953000"/>
              <a:ext cx="4114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Especialista técnico</a:t>
              </a:r>
              <a:endParaRPr b="1" sz="2400">
                <a:solidFill>
                  <a:srgbClr val="0A0915"/>
                </a:solidFill>
                <a:latin typeface="Inter"/>
                <a:ea typeface="Inter"/>
                <a:cs typeface="Inter"/>
                <a:sym typeface="Inter"/>
              </a:endParaRPr>
            </a:p>
          </p:txBody>
        </p:sp>
        <p:sp>
          <p:nvSpPr>
            <p:cNvPr id="108" name="Google Shape;108;p14"/>
            <p:cNvSpPr txBox="1"/>
            <p:nvPr/>
          </p:nvSpPr>
          <p:spPr>
            <a:xfrm>
              <a:off x="7086600" y="5905500"/>
              <a:ext cx="4114800" cy="2476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600">
                  <a:solidFill>
                    <a:srgbClr val="64748B"/>
                  </a:solidFill>
                  <a:latin typeface="Inter"/>
                  <a:ea typeface="Inter"/>
                  <a:cs typeface="Inter"/>
                  <a:sym typeface="Inter"/>
                </a:rPr>
                <a:t>Configura la instancia, ejecuta integraciones, coordina con TI del gobierno.</a:t>
              </a:r>
              <a:endParaRPr b="0" sz="1600">
                <a:solidFill>
                  <a:srgbClr val="64748B"/>
                </a:solidFill>
                <a:latin typeface="Inter"/>
                <a:ea typeface="Inter"/>
                <a:cs typeface="Inter"/>
                <a:sym typeface="Inter"/>
              </a:endParaRPr>
            </a:p>
            <a:p>
              <a:pPr indent="0" lvl="0" marL="0" rtl="0" algn="ctr">
                <a:spcBef>
                  <a:spcPts val="1500"/>
                </a:spcBef>
                <a:spcAft>
                  <a:spcPts val="0"/>
                </a:spcAft>
                <a:buNone/>
              </a:pPr>
              <a:r>
                <a:rPr b="1" lang="en-US" sz="1600">
                  <a:solidFill>
                    <a:srgbClr val="0077CC"/>
                  </a:solidFill>
                  <a:latin typeface="Inter"/>
                  <a:ea typeface="Inter"/>
                  <a:cs typeface="Inter"/>
                  <a:sym typeface="Inter"/>
                </a:rPr>
                <a:t>Intenso B, C y D.</a:t>
              </a:r>
              <a:endParaRPr b="1" sz="1600">
                <a:solidFill>
                  <a:srgbClr val="0077CC"/>
                </a:solidFill>
                <a:latin typeface="Inter"/>
                <a:ea typeface="Inter"/>
                <a:cs typeface="Inter"/>
                <a:sym typeface="Inter"/>
              </a:endParaRPr>
            </a:p>
          </p:txBody>
        </p:sp>
      </p:grpSp>
      <p:grpSp>
        <p:nvGrpSpPr>
          <p:cNvPr id="109" name="Google Shape;109;p14"/>
          <p:cNvGrpSpPr/>
          <p:nvPr/>
        </p:nvGrpSpPr>
        <p:grpSpPr>
          <a:xfrm>
            <a:off x="12039600" y="3048000"/>
            <a:ext cx="4876800" cy="5715000"/>
            <a:chOff x="12039600" y="3048000"/>
            <a:chExt cx="4876800" cy="5715000"/>
          </a:xfrm>
        </p:grpSpPr>
        <p:sp>
          <p:nvSpPr>
            <p:cNvPr id="110" name="Google Shape;110;p14"/>
            <p:cNvSpPr/>
            <p:nvPr/>
          </p:nvSpPr>
          <p:spPr>
            <a:xfrm>
              <a:off x="12039600" y="3048000"/>
              <a:ext cx="4876800" cy="5715000"/>
            </a:xfrm>
            <a:prstGeom prst="roundRect">
              <a:avLst>
                <a:gd fmla="val 3906"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1" name="Google Shape;111;p14"/>
            <p:cNvSpPr/>
            <p:nvPr/>
          </p:nvSpPr>
          <p:spPr>
            <a:xfrm>
              <a:off x="13906500" y="3429000"/>
              <a:ext cx="1143000" cy="1143000"/>
            </a:xfrm>
            <a:prstGeom prst="ellipse">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2" name="Google Shape;112;p14"/>
            <p:cNvSpPr txBox="1"/>
            <p:nvPr/>
          </p:nvSpPr>
          <p:spPr>
            <a:xfrm>
              <a:off x="12039600" y="3619500"/>
              <a:ext cx="4876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4000">
                  <a:solidFill>
                    <a:srgbClr val="FFFFFF"/>
                  </a:solidFill>
                  <a:latin typeface="Inter"/>
                  <a:ea typeface="Inter"/>
                  <a:cs typeface="Inter"/>
                  <a:sym typeface="Inter"/>
                </a:rPr>
                <a:t>3</a:t>
              </a:r>
              <a:endParaRPr b="1" sz="4000">
                <a:solidFill>
                  <a:srgbClr val="FFFFFF"/>
                </a:solidFill>
                <a:latin typeface="Inter"/>
                <a:ea typeface="Inter"/>
                <a:cs typeface="Inter"/>
                <a:sym typeface="Inter"/>
              </a:endParaRPr>
            </a:p>
          </p:txBody>
        </p:sp>
        <p:sp>
          <p:nvSpPr>
            <p:cNvPr id="113" name="Google Shape;113;p14"/>
            <p:cNvSpPr txBox="1"/>
            <p:nvPr/>
          </p:nvSpPr>
          <p:spPr>
            <a:xfrm>
              <a:off x="12420600" y="4953000"/>
              <a:ext cx="4114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Soporte y capacitación</a:t>
              </a:r>
              <a:endParaRPr b="1" sz="2400">
                <a:solidFill>
                  <a:srgbClr val="0A0915"/>
                </a:solidFill>
                <a:latin typeface="Inter"/>
                <a:ea typeface="Inter"/>
                <a:cs typeface="Inter"/>
                <a:sym typeface="Inter"/>
              </a:endParaRPr>
            </a:p>
          </p:txBody>
        </p:sp>
        <p:sp>
          <p:nvSpPr>
            <p:cNvPr id="114" name="Google Shape;114;p14"/>
            <p:cNvSpPr txBox="1"/>
            <p:nvPr/>
          </p:nvSpPr>
          <p:spPr>
            <a:xfrm>
              <a:off x="12420600" y="5905500"/>
              <a:ext cx="4114800" cy="2476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600">
                  <a:solidFill>
                    <a:srgbClr val="64748B"/>
                  </a:solidFill>
                  <a:latin typeface="Inter"/>
                  <a:ea typeface="Inter"/>
                  <a:cs typeface="Inter"/>
                  <a:sym typeface="Inter"/>
                </a:rPr>
                <a:t>Capacita en B y D. Opera Nivel 2 en E. Referente clave para el cliente.</a:t>
              </a:r>
              <a:endParaRPr b="0" sz="1600">
                <a:solidFill>
                  <a:srgbClr val="64748B"/>
                </a:solidFill>
                <a:latin typeface="Inter"/>
                <a:ea typeface="Inter"/>
                <a:cs typeface="Inter"/>
                <a:sym typeface="Inter"/>
              </a:endParaRPr>
            </a:p>
            <a:p>
              <a:pPr indent="0" lvl="0" marL="0" rtl="0" algn="ctr">
                <a:spcBef>
                  <a:spcPts val="1500"/>
                </a:spcBef>
                <a:spcAft>
                  <a:spcPts val="0"/>
                </a:spcAft>
                <a:buNone/>
              </a:pPr>
              <a:r>
                <a:rPr b="1" lang="en-US" sz="1600">
                  <a:solidFill>
                    <a:srgbClr val="0077CC"/>
                  </a:solidFill>
                  <a:latin typeface="Inter"/>
                  <a:ea typeface="Inter"/>
                  <a:cs typeface="Inter"/>
                  <a:sym typeface="Inter"/>
                </a:rPr>
                <a:t>Fases B, D y E.</a:t>
              </a:r>
              <a:endParaRPr b="1" sz="1600">
                <a:solidFill>
                  <a:srgbClr val="0077CC"/>
                </a:solidFill>
                <a:latin typeface="Inter"/>
                <a:ea typeface="Inter"/>
                <a:cs typeface="Inter"/>
                <a:sym typeface="Inter"/>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9" name="Shape 119"/>
        <p:cNvGrpSpPr/>
        <p:nvPr/>
      </p:nvGrpSpPr>
      <p:grpSpPr>
        <a:xfrm>
          <a:off x="0" y="0"/>
          <a:ext cx="0" cy="0"/>
          <a:chOff x="0" y="0"/>
          <a:chExt cx="0" cy="0"/>
        </a:xfrm>
      </p:grpSpPr>
      <p:sp>
        <p:nvSpPr>
          <p:cNvPr id="120" name="Google Shape;120;p15"/>
          <p:cNvSpPr/>
          <p:nvPr/>
        </p:nvSpPr>
        <p:spPr>
          <a:xfrm>
            <a:off x="0" y="0"/>
            <a:ext cx="18288000" cy="228600"/>
          </a:xfrm>
          <a:prstGeom prst="rect">
            <a:avLst/>
          </a:prstGeom>
          <a:solidFill>
            <a:srgbClr val="0077CC"/>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5"/>
          <p:cNvSpPr txBox="1"/>
          <p:nvPr/>
        </p:nvSpPr>
        <p:spPr>
          <a:xfrm>
            <a:off x="1371600" y="762000"/>
            <a:ext cx="15544800" cy="2772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1800">
                <a:solidFill>
                  <a:srgbClr val="0077CC"/>
                </a:solidFill>
                <a:latin typeface="Inter"/>
                <a:ea typeface="Inter"/>
                <a:cs typeface="Inter"/>
                <a:sym typeface="Inter"/>
              </a:rPr>
              <a:t>ADVERTENCIA HONESTA</a:t>
            </a:r>
            <a:endParaRPr b="1" sz="1800">
              <a:solidFill>
                <a:srgbClr val="0077CC"/>
              </a:solidFill>
              <a:latin typeface="Inter"/>
              <a:ea typeface="Inter"/>
              <a:cs typeface="Inter"/>
              <a:sym typeface="Inter"/>
            </a:endParaRPr>
          </a:p>
        </p:txBody>
      </p:sp>
      <p:sp>
        <p:nvSpPr>
          <p:cNvPr id="122" name="Google Shape;122;p15"/>
          <p:cNvSpPr txBox="1"/>
          <p:nvPr/>
        </p:nvSpPr>
        <p:spPr>
          <a:xfrm>
            <a:off x="1371600" y="1333500"/>
            <a:ext cx="15544800" cy="800400"/>
          </a:xfrm>
          <a:prstGeom prst="rect">
            <a:avLst/>
          </a:prstGeom>
          <a:solidFill>
            <a:srgbClr val="000000">
              <a:alpha val="0"/>
            </a:srgbClr>
          </a:solidFill>
          <a:ln>
            <a:noFill/>
          </a:ln>
        </p:spPr>
        <p:txBody>
          <a:bodyPr anchorCtr="0" anchor="ctr" bIns="0" lIns="0" spcFirstLastPara="1" rIns="0" wrap="square" tIns="0">
            <a:spAutoFit/>
          </a:bodyPr>
          <a:lstStyle/>
          <a:p>
            <a:pPr indent="0" lvl="0" marL="0" rtl="0" algn="ctr">
              <a:spcBef>
                <a:spcPts val="0"/>
              </a:spcBef>
              <a:spcAft>
                <a:spcPts val="0"/>
              </a:spcAft>
              <a:buNone/>
            </a:pPr>
            <a:r>
              <a:rPr b="1" lang="en-US" sz="5200">
                <a:solidFill>
                  <a:srgbClr val="0A0915"/>
                </a:solidFill>
                <a:latin typeface="Inter"/>
                <a:ea typeface="Inter"/>
                <a:cs typeface="Inter"/>
                <a:sym typeface="Inter"/>
              </a:rPr>
              <a:t>Si un rol se duplica, </a:t>
            </a:r>
            <a:r>
              <a:rPr b="1" lang="en-US" sz="5200">
                <a:solidFill>
                  <a:srgbClr val="0077CC"/>
                </a:solidFill>
                <a:latin typeface="Inter"/>
                <a:ea typeface="Inter"/>
                <a:cs typeface="Inter"/>
                <a:sym typeface="Inter"/>
              </a:rPr>
              <a:t>cuídalo</a:t>
            </a:r>
            <a:endParaRPr b="1" sz="5200">
              <a:solidFill>
                <a:srgbClr val="0A0915"/>
              </a:solidFill>
              <a:latin typeface="Inter"/>
              <a:ea typeface="Inter"/>
              <a:cs typeface="Inter"/>
              <a:sym typeface="Inter"/>
            </a:endParaRPr>
          </a:p>
        </p:txBody>
      </p:sp>
      <p:grpSp>
        <p:nvGrpSpPr>
          <p:cNvPr id="123" name="Google Shape;123;p15"/>
          <p:cNvGrpSpPr/>
          <p:nvPr/>
        </p:nvGrpSpPr>
        <p:grpSpPr>
          <a:xfrm>
            <a:off x="1371600" y="3048000"/>
            <a:ext cx="15544800" cy="5334000"/>
            <a:chOff x="1371600" y="3048000"/>
            <a:chExt cx="15544800" cy="5334000"/>
          </a:xfrm>
        </p:grpSpPr>
        <p:sp>
          <p:nvSpPr>
            <p:cNvPr id="124" name="Google Shape;124;p15"/>
            <p:cNvSpPr/>
            <p:nvPr/>
          </p:nvSpPr>
          <p:spPr>
            <a:xfrm>
              <a:off x="1371600" y="3048000"/>
              <a:ext cx="7543800" cy="5334000"/>
            </a:xfrm>
            <a:prstGeom prst="roundRect">
              <a:avLst>
                <a:gd fmla="val 3571"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5" name="Google Shape;125;p15"/>
            <p:cNvSpPr/>
            <p:nvPr/>
          </p:nvSpPr>
          <p:spPr>
            <a:xfrm>
              <a:off x="9372600" y="3048000"/>
              <a:ext cx="7543800" cy="5334000"/>
            </a:xfrm>
            <a:prstGeom prst="roundRect">
              <a:avLst>
                <a:gd fmla="val 3571" name="adj"/>
              </a:avLst>
            </a:prstGeom>
            <a:solidFill>
              <a:srgbClr val="F8FAFC"/>
            </a:solidFill>
            <a:ln cap="flat" cmpd="sng" w="19050">
              <a:solidFill>
                <a:srgbClr val="E2E8F0"/>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6" name="Google Shape;126;p15"/>
            <p:cNvSpPr txBox="1"/>
            <p:nvPr/>
          </p:nvSpPr>
          <p:spPr>
            <a:xfrm>
              <a:off x="1752600" y="3429000"/>
              <a:ext cx="6781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Líder + Técnico</a:t>
              </a:r>
              <a:endParaRPr b="1" sz="2400">
                <a:solidFill>
                  <a:srgbClr val="0A0915"/>
                </a:solidFill>
                <a:latin typeface="Inter"/>
                <a:ea typeface="Inter"/>
                <a:cs typeface="Inter"/>
                <a:sym typeface="Inter"/>
              </a:endParaRPr>
            </a:p>
          </p:txBody>
        </p:sp>
        <p:sp>
          <p:nvSpPr>
            <p:cNvPr id="127" name="Google Shape;127;p15"/>
            <p:cNvSpPr txBox="1"/>
            <p:nvPr/>
          </p:nvSpPr>
          <p:spPr>
            <a:xfrm>
              <a:off x="1752600" y="4381500"/>
              <a:ext cx="6781800" cy="3619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800">
                  <a:solidFill>
                    <a:srgbClr val="64748B"/>
                  </a:solidFill>
                  <a:latin typeface="Inter"/>
                  <a:ea typeface="Inter"/>
                  <a:cs typeface="Inter"/>
                  <a:sym typeface="Inter"/>
                </a:rPr>
                <a:t>Conflicto de agenda:</a:t>
              </a:r>
              <a:endParaRPr b="0" sz="1800">
                <a:solidFill>
                  <a:srgbClr val="64748B"/>
                </a:solidFill>
                <a:latin typeface="Inter"/>
                <a:ea typeface="Inter"/>
                <a:cs typeface="Inter"/>
                <a:sym typeface="Inter"/>
              </a:endParaRPr>
            </a:p>
            <a:p>
              <a:pPr indent="0" lvl="0" marL="0" rtl="0" algn="ctr">
                <a:spcBef>
                  <a:spcPts val="1500"/>
                </a:spcBef>
                <a:spcAft>
                  <a:spcPts val="0"/>
                </a:spcAft>
                <a:buNone/>
              </a:pPr>
              <a:r>
                <a:rPr b="0" lang="en-US" sz="1800">
                  <a:solidFill>
                    <a:srgbClr val="0A0915"/>
                  </a:solidFill>
                  <a:latin typeface="Inter SemiBold"/>
                  <a:ea typeface="Inter SemiBold"/>
                  <a:cs typeface="Inter SemiBold"/>
                  <a:sym typeface="Inter SemiBold"/>
                </a:rPr>
                <a:t>Los días de calls compiten directamente con los de configuración.</a:t>
              </a:r>
              <a:endParaRPr b="0" sz="1800">
                <a:solidFill>
                  <a:srgbClr val="0A0915"/>
                </a:solidFill>
                <a:latin typeface="Inter SemiBold"/>
                <a:ea typeface="Inter SemiBold"/>
                <a:cs typeface="Inter SemiBold"/>
                <a:sym typeface="Inter SemiBold"/>
              </a:endParaRPr>
            </a:p>
            <a:p>
              <a:pPr indent="0" lvl="0" marL="0" rtl="0" algn="ctr">
                <a:spcBef>
                  <a:spcPts val="2250"/>
                </a:spcBef>
                <a:spcAft>
                  <a:spcPts val="0"/>
                </a:spcAft>
                <a:buNone/>
              </a:pPr>
              <a:r>
                <a:rPr b="0" lang="en-US" sz="1600">
                  <a:solidFill>
                    <a:srgbClr val="64748B"/>
                  </a:solidFill>
                  <a:latin typeface="Inter"/>
                  <a:ea typeface="Inter"/>
                  <a:cs typeface="Inter"/>
                  <a:sym typeface="Inter"/>
                </a:rPr>
                <a:t>El líder necesita estar presente, pero el técnico necesita tiempo de foco.</a:t>
              </a:r>
              <a:endParaRPr b="0" sz="1600">
                <a:solidFill>
                  <a:srgbClr val="64748B"/>
                </a:solidFill>
                <a:latin typeface="Inter"/>
                <a:ea typeface="Inter"/>
                <a:cs typeface="Inter"/>
                <a:sym typeface="Inter"/>
              </a:endParaRPr>
            </a:p>
          </p:txBody>
        </p:sp>
        <p:sp>
          <p:nvSpPr>
            <p:cNvPr id="128" name="Google Shape;128;p15"/>
            <p:cNvSpPr txBox="1"/>
            <p:nvPr/>
          </p:nvSpPr>
          <p:spPr>
            <a:xfrm>
              <a:off x="9753600" y="3429000"/>
              <a:ext cx="6781800" cy="762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1" lang="en-US" sz="2400">
                  <a:solidFill>
                    <a:srgbClr val="0A0915"/>
                  </a:solidFill>
                  <a:latin typeface="Inter"/>
                  <a:ea typeface="Inter"/>
                  <a:cs typeface="Inter"/>
                  <a:sym typeface="Inter"/>
                </a:rPr>
                <a:t>Soporte + Técnico</a:t>
              </a:r>
              <a:endParaRPr b="1" sz="2400">
                <a:solidFill>
                  <a:srgbClr val="0A0915"/>
                </a:solidFill>
                <a:latin typeface="Inter"/>
                <a:ea typeface="Inter"/>
                <a:cs typeface="Inter"/>
                <a:sym typeface="Inter"/>
              </a:endParaRPr>
            </a:p>
          </p:txBody>
        </p:sp>
        <p:sp>
          <p:nvSpPr>
            <p:cNvPr id="129" name="Google Shape;129;p15"/>
            <p:cNvSpPr txBox="1"/>
            <p:nvPr/>
          </p:nvSpPr>
          <p:spPr>
            <a:xfrm>
              <a:off x="9753600" y="4381500"/>
              <a:ext cx="6781800" cy="3619500"/>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None/>
              </a:pPr>
              <a:r>
                <a:rPr b="0" lang="en-US" sz="1800">
                  <a:solidFill>
                    <a:srgbClr val="64748B"/>
                  </a:solidFill>
                  <a:latin typeface="Inter"/>
                  <a:ea typeface="Inter"/>
                  <a:cs typeface="Inter"/>
                  <a:sym typeface="Inter"/>
                </a:rPr>
                <a:t>Riesgo de agotamiento:</a:t>
              </a:r>
              <a:endParaRPr b="0" sz="1800">
                <a:solidFill>
                  <a:srgbClr val="64748B"/>
                </a:solidFill>
                <a:latin typeface="Inter"/>
                <a:ea typeface="Inter"/>
                <a:cs typeface="Inter"/>
                <a:sym typeface="Inter"/>
              </a:endParaRPr>
            </a:p>
            <a:p>
              <a:pPr indent="0" lvl="0" marL="0" rtl="0" algn="ctr">
                <a:spcBef>
                  <a:spcPts val="1500"/>
                </a:spcBef>
                <a:spcAft>
                  <a:spcPts val="0"/>
                </a:spcAft>
                <a:buNone/>
              </a:pPr>
              <a:r>
                <a:rPr b="0" lang="en-US" sz="1800">
                  <a:solidFill>
                    <a:srgbClr val="0A0915"/>
                  </a:solidFill>
                  <a:latin typeface="Inter SemiBold"/>
                  <a:ea typeface="Inter SemiBold"/>
                  <a:cs typeface="Inter SemiBold"/>
                  <a:sym typeface="Inter SemiBold"/>
                </a:rPr>
                <a:t>Cuidas que no se queme cuando lleguen los tickets reales en Fase E.</a:t>
              </a:r>
              <a:endParaRPr b="0" sz="1800">
                <a:solidFill>
                  <a:srgbClr val="0A0915"/>
                </a:solidFill>
                <a:latin typeface="Inter SemiBold"/>
                <a:ea typeface="Inter SemiBold"/>
                <a:cs typeface="Inter SemiBold"/>
                <a:sym typeface="Inter SemiBold"/>
              </a:endParaRPr>
            </a:p>
            <a:p>
              <a:pPr indent="0" lvl="0" marL="0" rtl="0" algn="ctr">
                <a:spcBef>
                  <a:spcPts val="2250"/>
                </a:spcBef>
                <a:spcAft>
                  <a:spcPts val="0"/>
                </a:spcAft>
                <a:buNone/>
              </a:pPr>
              <a:r>
                <a:rPr b="0" lang="en-US" sz="1600">
                  <a:solidFill>
                    <a:srgbClr val="64748B"/>
                  </a:solidFill>
                  <a:latin typeface="Inter"/>
                  <a:ea typeface="Inter"/>
                  <a:cs typeface="Inter"/>
                  <a:sym typeface="Inter"/>
                </a:rPr>
                <a:t>La carga operativa del soporte puede asfixiar el trabajo técnico crítico.</a:t>
              </a:r>
              <a:endParaRPr b="0" sz="1600">
                <a:solidFill>
                  <a:srgbClr val="64748B"/>
                </a:solidFill>
                <a:latin typeface="Inter"/>
                <a:ea typeface="Inter"/>
                <a:cs typeface="Inter"/>
                <a:sym typeface="Inter"/>
              </a:endParaRPr>
            </a:p>
          </p:txBody>
        </p:sp>
      </p:grpSp>
      <p:grpSp>
        <p:nvGrpSpPr>
          <p:cNvPr id="130" name="Google Shape;130;p15"/>
          <p:cNvGrpSpPr/>
          <p:nvPr/>
        </p:nvGrpSpPr>
        <p:grpSpPr>
          <a:xfrm>
            <a:off x="1371600" y="8953500"/>
            <a:ext cx="15544800" cy="571500"/>
            <a:chOff x="1371600" y="8953500"/>
            <a:chExt cx="15544800" cy="571500"/>
          </a:xfrm>
        </p:grpSpPr>
        <p:sp>
          <p:nvSpPr>
            <p:cNvPr id="131" name="Google Shape;131;p15"/>
            <p:cNvSpPr/>
            <p:nvPr/>
          </p:nvSpPr>
          <p:spPr>
            <a:xfrm>
              <a:off x="1371600" y="8953500"/>
              <a:ext cx="15544800" cy="571500"/>
            </a:xfrm>
            <a:prstGeom prst="roundRect">
              <a:avLst>
                <a:gd fmla="val 16666" name="adj"/>
              </a:avLst>
            </a:prstGeom>
            <a:solidFill>
              <a:srgbClr val="EBF8F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5"/>
            <p:cNvSpPr txBox="1"/>
            <p:nvPr/>
          </p:nvSpPr>
          <p:spPr>
            <a:xfrm>
              <a:off x="1371600" y="8953500"/>
              <a:ext cx="15544800" cy="571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US" sz="1600">
                  <a:solidFill>
                    <a:srgbClr val="0077CC"/>
                  </a:solidFill>
                  <a:latin typeface="Inter Medium"/>
                  <a:ea typeface="Inter Medium"/>
                  <a:cs typeface="Inter Medium"/>
                  <a:sym typeface="Inter Medium"/>
                </a:rPr>
                <a:t>La polifuncionalidad es válida en equipos chicos, pero requiere gestión de carga y prioridades.</a:t>
              </a:r>
              <a:endParaRPr b="0" sz="1600">
                <a:solidFill>
                  <a:srgbClr val="0077CC"/>
                </a:solidFill>
                <a:latin typeface="Inter Medium"/>
                <a:ea typeface="Inter Medium"/>
                <a:cs typeface="Inter Medium"/>
                <a:sym typeface="Inter Medium"/>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6"/>
          <p:cNvSpPr/>
          <p:nvPr/>
        </p:nvSpPr>
        <p:spPr>
          <a:xfrm>
            <a:off x="0" y="0"/>
            <a:ext cx="18288000" cy="10287000"/>
          </a:xfrm>
          <a:prstGeom prst="rect">
            <a:avLst/>
          </a:prstGeom>
          <a:solidFill>
            <a:srgbClr val="0077C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16"/>
          <p:cNvSpPr txBox="1"/>
          <p:nvPr/>
        </p:nvSpPr>
        <p:spPr>
          <a:xfrm>
            <a:off x="1371600" y="3200400"/>
            <a:ext cx="15544800" cy="137160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4200" u="none" cap="none" strike="noStrike">
                <a:solidFill>
                  <a:srgbClr val="FFFFFF"/>
                </a:solidFill>
                <a:latin typeface="Inter"/>
                <a:ea typeface="Inter"/>
                <a:cs typeface="Inter"/>
                <a:sym typeface="Inter"/>
              </a:rPr>
              <a:t>Si no puedes nombrar a quién hace cada rol</a:t>
            </a:r>
            <a:endParaRPr/>
          </a:p>
        </p:txBody>
      </p:sp>
      <p:sp>
        <p:nvSpPr>
          <p:cNvPr id="140" name="Google Shape;140;p16"/>
          <p:cNvSpPr txBox="1"/>
          <p:nvPr/>
        </p:nvSpPr>
        <p:spPr>
          <a:xfrm>
            <a:off x="1371600" y="4754880"/>
            <a:ext cx="15544800" cy="2286000"/>
          </a:xfrm>
          <a:prstGeom prst="rect">
            <a:avLst/>
          </a:prstGeom>
          <a:noFill/>
          <a:ln>
            <a:noFill/>
          </a:ln>
        </p:spPr>
        <p:txBody>
          <a:bodyPr anchorCtr="0" anchor="t" bIns="0" lIns="0" spcFirstLastPara="1" rIns="0" wrap="square" tIns="0">
            <a:spAutoFit/>
          </a:bodyPr>
          <a:lstStyle/>
          <a:p>
            <a:pPr indent="0" lvl="0" marL="0" marR="0" rtl="0" algn="ctr">
              <a:lnSpc>
                <a:spcPct val="110000"/>
              </a:lnSpc>
              <a:spcBef>
                <a:spcPts val="0"/>
              </a:spcBef>
              <a:spcAft>
                <a:spcPts val="0"/>
              </a:spcAft>
              <a:buNone/>
            </a:pPr>
            <a:r>
              <a:rPr b="1" i="0" lang="en-US" sz="7800" u="none" cap="none" strike="noStrike">
                <a:solidFill>
                  <a:srgbClr val="FFFFFF"/>
                </a:solidFill>
                <a:latin typeface="Inter"/>
                <a:ea typeface="Inter"/>
                <a:cs typeface="Inter"/>
                <a:sym typeface="Inter"/>
              </a:rPr>
              <a:t>antes de Fase A,</a:t>
            </a:r>
            <a:endParaRPr/>
          </a:p>
        </p:txBody>
      </p:sp>
      <p:sp>
        <p:nvSpPr>
          <p:cNvPr id="141" name="Google Shape;141;p16"/>
          <p:cNvSpPr txBox="1"/>
          <p:nvPr/>
        </p:nvSpPr>
        <p:spPr>
          <a:xfrm>
            <a:off x="1371600" y="7315200"/>
            <a:ext cx="15544800" cy="1097280"/>
          </a:xfrm>
          <a:prstGeom prst="rect">
            <a:avLst/>
          </a:prstGeom>
          <a:noFill/>
          <a:ln>
            <a:noFill/>
          </a:ln>
        </p:spPr>
        <p:txBody>
          <a:bodyPr anchorCtr="0" anchor="t" bIns="0" lIns="0" spcFirstLastPara="1" rIns="0" wrap="square" tIns="0">
            <a:spAutoFit/>
          </a:bodyPr>
          <a:lstStyle/>
          <a:p>
            <a:pPr indent="0" lvl="0" marL="0" marR="0" rtl="0" algn="ctr">
              <a:lnSpc>
                <a:spcPct val="115000"/>
              </a:lnSpc>
              <a:spcBef>
                <a:spcPts val="0"/>
              </a:spcBef>
              <a:spcAft>
                <a:spcPts val="0"/>
              </a:spcAft>
              <a:buNone/>
            </a:pPr>
            <a:r>
              <a:rPr b="0" i="0" lang="en-US" sz="3000" u="none" cap="none" strike="noStrike">
                <a:solidFill>
                  <a:srgbClr val="FFFFFF"/>
                </a:solidFill>
                <a:latin typeface="Inter"/>
                <a:ea typeface="Inter"/>
                <a:cs typeface="Inter"/>
                <a:sym typeface="Inter"/>
              </a:rPr>
              <a:t>todavía no estás listo.</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