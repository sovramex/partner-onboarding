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17.2s · 43 palabras]</a:t>
            </a:r>
          </a:p>
          <a:p/>
          <a:p>
            <a:r>
              <a:t>Del lado del partner tienes que cubrir tres roles antes de arrancar Fase A. Pueden ser tres personas distintas o pueden combinarse si tu equipo es chico, pero los tres roles existen y los tres tienen trabajo que hacer durante los noventa días.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65.2s · 163 palabras]</a:t>
            </a:r>
          </a:p>
          <a:p/>
          <a:p>
            <a:r>
              <a:t>El primer rol es el líder de implementación. Es la cara del proyecto frente al gobierno. Coordina, decide, escala. Conoce la metodología y la plataforma a profundidad. Toma decisiones operativas sin escalar todo a Sovra. Lidera reuniones, presenta avances y gestiona expectativas. Está activo en todas las fases, de la A a la E. Es el hilo conductor. El segundo rol es el especialista técnico. Configura la instancia de SovraGov para el gobierno, ejecuta las integraciones, coordina con el técnico del gobierno para resolver arquitectura. Es intenso en Fase B cuando se define la arquitectura, en Fase C cuando se hacen las integraciones, y en Fase D cuando todo entra en producción. El tercer rol es soporte y capacitación. Capacita al equipo core del gobierno en Fase B, capacita operadores antes del lanzamiento en Fase D, y opera como Nivel 2 de soporte después del lanzamiento en Fase E. Es la persona que el gobierno va a llamar cuando algo no le cierre.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24.0s · 60 palabras]</a:t>
            </a:r>
          </a:p>
          <a:p/>
          <a:p>
            <a:r>
              <a:t>Una advertencia honesta. Si tu equipo es pequeño y la misma persona hace de líder y de técnico, los días de calls con el gobierno van a competir con los días de configuración. Cuando puedas, separas los roles. Y si soporte y técnico son la misma persona, cuidas que no se queme cuando lleguen los tickets reales en Fase 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7.6s · 19 palabras]</a:t>
            </a:r>
          </a:p>
          <a:p/>
          <a:p>
            <a:r>
              <a:t>Si no puedes nombrar a quién hace cada rol antes de Fase A, todavía no estás listo para arrancar.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228600"/>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548640"/>
          </a:xfrm>
          <a:prstGeom prst="rect">
            <a:avLst/>
          </a:prstGeom>
          <a:noFill/>
        </p:spPr>
        <p:txBody>
          <a:bodyPr wrap="square" anchor="t" lIns="0" rIns="0" tIns="0" bIns="0">
            <a:spAutoFit/>
          </a:bodyPr>
          <a:lstStyle/>
          <a:p>
            <a:pPr algn="l">
              <a:lnSpc>
                <a:spcPct val="115000"/>
              </a:lnSpc>
            </a:pPr>
            <a:r>
              <a:rPr sz="1800" b="1" i="0">
                <a:solidFill>
                  <a:srgbClr val="0077CC"/>
                </a:solidFill>
                <a:latin typeface="Figtree"/>
              </a:rPr>
              <a:t>FASE 0</a:t>
            </a:r>
          </a:p>
        </p:txBody>
      </p:sp>
      <p:sp>
        <p:nvSpPr>
          <p:cNvPr id="4" name="TextBox 3"/>
          <p:cNvSpPr txBox="1"/>
          <p:nvPr/>
        </p:nvSpPr>
        <p:spPr>
          <a:xfrm>
            <a:off x="1371600" y="3840480"/>
            <a:ext cx="15544800" cy="3657600"/>
          </a:xfrm>
          <a:prstGeom prst="rect">
            <a:avLst/>
          </a:prstGeom>
          <a:noFill/>
        </p:spPr>
        <p:txBody>
          <a:bodyPr wrap="square" anchor="t" lIns="0" rIns="0" tIns="0" bIns="0">
            <a:spAutoFit/>
          </a:bodyPr>
          <a:lstStyle/>
          <a:p>
            <a:pPr algn="l">
              <a:lnSpc>
                <a:spcPct val="110000"/>
              </a:lnSpc>
            </a:pPr>
            <a:r>
              <a:rPr sz="8000" b="1" i="0">
                <a:solidFill>
                  <a:srgbClr val="0A0915"/>
                </a:solidFill>
                <a:latin typeface="Plus Jakarta Sans"/>
              </a:rPr>
              <a:t>Armar tu equipo</a:t>
            </a:r>
          </a:p>
          <a:p>
            <a:pPr algn="l">
              <a:lnSpc>
                <a:spcPct val="110000"/>
              </a:lnSpc>
            </a:pPr>
            <a:r>
              <a:rPr sz="8000" b="1" i="0">
                <a:solidFill>
                  <a:srgbClr val="0A0915"/>
                </a:solidFill>
                <a:latin typeface="Plus Jakarta Sans"/>
              </a:rPr>
              <a:t>del lado partner.</a:t>
            </a:r>
          </a:p>
        </p:txBody>
      </p:sp>
      <p:sp>
        <p:nvSpPr>
          <p:cNvPr id="5" name="TextBox 4"/>
          <p:cNvSpPr txBox="1"/>
          <p:nvPr/>
        </p:nvSpPr>
        <p:spPr>
          <a:xfrm>
            <a:off x="1371600" y="7772400"/>
            <a:ext cx="15544800" cy="1371600"/>
          </a:xfrm>
          <a:prstGeom prst="rect">
            <a:avLst/>
          </a:prstGeom>
          <a:noFill/>
        </p:spPr>
        <p:txBody>
          <a:bodyPr wrap="square" anchor="t" lIns="0" rIns="0" tIns="0" bIns="0">
            <a:spAutoFit/>
          </a:bodyPr>
          <a:lstStyle/>
          <a:p>
            <a:pPr algn="l">
              <a:lnSpc>
                <a:spcPct val="130000"/>
              </a:lnSpc>
            </a:pPr>
            <a:r>
              <a:rPr sz="2200" b="0" i="0">
                <a:solidFill>
                  <a:srgbClr val="888888"/>
                </a:solidFill>
                <a:latin typeface="Figtree"/>
              </a:rPr>
              <a:t>Tres roles que tienen que existir antes de arrancar Fase A.</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097280"/>
            <a:ext cx="15544800" cy="1371600"/>
          </a:xfrm>
          <a:prstGeom prst="rect">
            <a:avLst/>
          </a:prstGeom>
          <a:noFill/>
        </p:spPr>
        <p:txBody>
          <a:bodyPr wrap="square" anchor="t" lIns="0" rIns="0" tIns="0" bIns="0">
            <a:spAutoFit/>
          </a:bodyPr>
          <a:lstStyle/>
          <a:p>
            <a:pPr algn="ctr">
              <a:lnSpc>
                <a:spcPct val="115000"/>
              </a:lnSpc>
            </a:pPr>
            <a:r>
              <a:rPr sz="4400" b="1" i="0">
                <a:solidFill>
                  <a:srgbClr val="0A0915"/>
                </a:solidFill>
                <a:latin typeface="Plus Jakarta Sans"/>
              </a:rPr>
              <a:t>Los tres roles del partner.</a:t>
            </a:r>
          </a:p>
        </p:txBody>
      </p:sp>
      <p:sp>
        <p:nvSpPr>
          <p:cNvPr id="3" name="TextBox 2"/>
          <p:cNvSpPr txBox="1"/>
          <p:nvPr/>
        </p:nvSpPr>
        <p:spPr>
          <a:xfrm>
            <a:off x="1371600" y="2560320"/>
            <a:ext cx="15544800" cy="731520"/>
          </a:xfrm>
          <a:prstGeom prst="rect">
            <a:avLst/>
          </a:prstGeom>
          <a:noFill/>
        </p:spPr>
        <p:txBody>
          <a:bodyPr wrap="square" anchor="t" lIns="0" rIns="0" tIns="0" bIns="0">
            <a:spAutoFit/>
          </a:bodyPr>
          <a:lstStyle/>
          <a:p>
            <a:pPr algn="ctr">
              <a:lnSpc>
                <a:spcPct val="115000"/>
              </a:lnSpc>
            </a:pPr>
            <a:r>
              <a:rPr sz="2200" b="0" i="0">
                <a:solidFill>
                  <a:srgbClr val="888888"/>
                </a:solidFill>
                <a:latin typeface="Figtree"/>
              </a:rPr>
              <a:t>Pueden ser tres personas o combinarse si tu equipo es chico.</a:t>
            </a:r>
          </a:p>
        </p:txBody>
      </p:sp>
      <p:sp>
        <p:nvSpPr>
          <p:cNvPr id="4" name="Rounded Rectangle 3"/>
          <p:cNvSpPr/>
          <p:nvPr/>
        </p:nvSpPr>
        <p:spPr>
          <a:xfrm>
            <a:off x="11430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43000" y="4572000"/>
            <a:ext cx="5029200" cy="137160"/>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5120640"/>
            <a:ext cx="4297680" cy="1097280"/>
          </a:xfrm>
          <a:prstGeom prst="rect">
            <a:avLst/>
          </a:prstGeom>
          <a:noFill/>
        </p:spPr>
        <p:txBody>
          <a:bodyPr wrap="square" anchor="t" lIns="0" rIns="0" tIns="0" bIns="0">
            <a:spAutoFit/>
          </a:bodyPr>
          <a:lstStyle/>
          <a:p>
            <a:pPr algn="l">
              <a:lnSpc>
                <a:spcPct val="115000"/>
              </a:lnSpc>
            </a:pPr>
            <a:r>
              <a:rPr sz="3000" b="1" i="0">
                <a:solidFill>
                  <a:srgbClr val="0077CC"/>
                </a:solidFill>
                <a:latin typeface="Plus Jakarta Sans"/>
              </a:rPr>
              <a:t>Líder de implementación</a:t>
            </a:r>
          </a:p>
        </p:txBody>
      </p:sp>
      <p:sp>
        <p:nvSpPr>
          <p:cNvPr id="7" name="TextBox 6"/>
          <p:cNvSpPr txBox="1"/>
          <p:nvPr/>
        </p:nvSpPr>
        <p:spPr>
          <a:xfrm>
            <a:off x="15087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Cara del proyecto frente al gobierno. Coordina, decide, escala. Activo Fases A a E.</a:t>
            </a:r>
          </a:p>
        </p:txBody>
      </p:sp>
      <p:sp>
        <p:nvSpPr>
          <p:cNvPr id="8" name="Rounded Rectangle 7"/>
          <p:cNvSpPr/>
          <p:nvPr/>
        </p:nvSpPr>
        <p:spPr>
          <a:xfrm>
            <a:off x="66294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629400" y="4572000"/>
            <a:ext cx="5029200" cy="137160"/>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95160" y="5120640"/>
            <a:ext cx="4297680" cy="1097280"/>
          </a:xfrm>
          <a:prstGeom prst="rect">
            <a:avLst/>
          </a:prstGeom>
          <a:noFill/>
        </p:spPr>
        <p:txBody>
          <a:bodyPr wrap="square" anchor="t" lIns="0" rIns="0" tIns="0" bIns="0">
            <a:spAutoFit/>
          </a:bodyPr>
          <a:lstStyle/>
          <a:p>
            <a:pPr algn="l">
              <a:lnSpc>
                <a:spcPct val="115000"/>
              </a:lnSpc>
            </a:pPr>
            <a:r>
              <a:rPr sz="3000" b="1" i="0">
                <a:solidFill>
                  <a:srgbClr val="0077CC"/>
                </a:solidFill>
                <a:latin typeface="Plus Jakarta Sans"/>
              </a:rPr>
              <a:t>Especialista técnico</a:t>
            </a:r>
          </a:p>
        </p:txBody>
      </p:sp>
      <p:sp>
        <p:nvSpPr>
          <p:cNvPr id="11" name="TextBox 10"/>
          <p:cNvSpPr txBox="1"/>
          <p:nvPr/>
        </p:nvSpPr>
        <p:spPr>
          <a:xfrm>
            <a:off x="69951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Configura la instancia, ejecuta integraciones, coordina con TI del gobierno. Intenso B, C y D.</a:t>
            </a:r>
          </a:p>
        </p:txBody>
      </p:sp>
      <p:sp>
        <p:nvSpPr>
          <p:cNvPr id="12" name="Rounded Rectangle 11"/>
          <p:cNvSpPr/>
          <p:nvPr/>
        </p:nvSpPr>
        <p:spPr>
          <a:xfrm>
            <a:off x="12115800" y="4572000"/>
            <a:ext cx="5029200" cy="4572000"/>
          </a:xfrm>
          <a:prstGeom prst="roundRect">
            <a:avLst/>
          </a:prstGeom>
          <a:solidFill>
            <a:srgbClr val="FFFFFF"/>
          </a:solidFill>
          <a:ln w="1905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115800" y="4572000"/>
            <a:ext cx="5029200" cy="137160"/>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481560" y="5120640"/>
            <a:ext cx="4297680" cy="1097280"/>
          </a:xfrm>
          <a:prstGeom prst="rect">
            <a:avLst/>
          </a:prstGeom>
          <a:noFill/>
        </p:spPr>
        <p:txBody>
          <a:bodyPr wrap="square" anchor="t" lIns="0" rIns="0" tIns="0" bIns="0">
            <a:spAutoFit/>
          </a:bodyPr>
          <a:lstStyle/>
          <a:p>
            <a:pPr algn="l">
              <a:lnSpc>
                <a:spcPct val="115000"/>
              </a:lnSpc>
            </a:pPr>
            <a:r>
              <a:rPr sz="3000" b="1" i="0">
                <a:solidFill>
                  <a:srgbClr val="0077CC"/>
                </a:solidFill>
                <a:latin typeface="Plus Jakarta Sans"/>
              </a:rPr>
              <a:t>Soporte y capacitación</a:t>
            </a:r>
          </a:p>
        </p:txBody>
      </p:sp>
      <p:sp>
        <p:nvSpPr>
          <p:cNvPr id="15" name="TextBox 14"/>
          <p:cNvSpPr txBox="1"/>
          <p:nvPr/>
        </p:nvSpPr>
        <p:spPr>
          <a:xfrm>
            <a:off x="12481560" y="6309360"/>
            <a:ext cx="4297680" cy="2743200"/>
          </a:xfrm>
          <a:prstGeom prst="rect">
            <a:avLst/>
          </a:prstGeom>
          <a:noFill/>
        </p:spPr>
        <p:txBody>
          <a:bodyPr wrap="square" anchor="t" lIns="0" rIns="0" tIns="0" bIns="0">
            <a:spAutoFit/>
          </a:bodyPr>
          <a:lstStyle/>
          <a:p>
            <a:pPr algn="l">
              <a:lnSpc>
                <a:spcPct val="140000"/>
              </a:lnSpc>
            </a:pPr>
            <a:r>
              <a:rPr sz="1800" b="0" i="0">
                <a:solidFill>
                  <a:srgbClr val="0A0915"/>
                </a:solidFill>
                <a:latin typeface="Figtree"/>
              </a:rPr>
              <a:t>Capacita en B y D. Opera Nivel 2 en E. La persona a la que el gobierno llama cuando algo no le cierra.</a:t>
            </a:r>
          </a:p>
        </p:txBody>
      </p:sp>
      <p:sp>
        <p:nvSpPr>
          <p:cNvPr id="16" name="TextBox 15"/>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0077CC"/>
                </a:solidFill>
                <a:latin typeface="Figtree"/>
              </a:rPr>
              <a:t>Advertencia honesta</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Si un rol se duplica,</a:t>
            </a:r>
          </a:p>
          <a:p>
            <a:pPr algn="ctr">
              <a:lnSpc>
                <a:spcPct val="115000"/>
              </a:lnSpc>
            </a:pPr>
            <a:r>
              <a:rPr sz="5600" b="1" i="0">
                <a:solidFill>
                  <a:srgbClr val="0A0915"/>
                </a:solidFill>
                <a:latin typeface="Plus Jakarta Sans"/>
              </a:rPr>
              <a:t>cuídalo.</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Misma persona como líder y técnico: los días de calls compiten con los de configuración. Soporte y técnico fusionados: cuidas que no se queme cuando lleguen los tickets reales en Fase E.</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0077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1371600"/>
          </a:xfrm>
          <a:prstGeom prst="rect">
            <a:avLst/>
          </a:prstGeom>
          <a:noFill/>
        </p:spPr>
        <p:txBody>
          <a:bodyPr wrap="square" anchor="t" lIns="0" rIns="0" tIns="0" bIns="0">
            <a:spAutoFit/>
          </a:bodyPr>
          <a:lstStyle/>
          <a:p>
            <a:pPr algn="ctr">
              <a:lnSpc>
                <a:spcPct val="115000"/>
              </a:lnSpc>
            </a:pPr>
            <a:r>
              <a:rPr sz="4200" b="0" i="0">
                <a:solidFill>
                  <a:srgbClr val="FFFFFF"/>
                </a:solidFill>
                <a:latin typeface="Plus Jakarta Sans"/>
              </a:rPr>
              <a:t>Si no puedes nombrar a quién hace cada rol</a:t>
            </a:r>
          </a:p>
        </p:txBody>
      </p:sp>
      <p:sp>
        <p:nvSpPr>
          <p:cNvPr id="4" name="TextBox 3"/>
          <p:cNvSpPr txBox="1"/>
          <p:nvPr/>
        </p:nvSpPr>
        <p:spPr>
          <a:xfrm>
            <a:off x="1371600" y="4754880"/>
            <a:ext cx="15544800" cy="2286000"/>
          </a:xfrm>
          <a:prstGeom prst="rect">
            <a:avLst/>
          </a:prstGeom>
          <a:noFill/>
        </p:spPr>
        <p:txBody>
          <a:bodyPr wrap="square" anchor="t" lIns="0" rIns="0" tIns="0" bIns="0">
            <a:spAutoFit/>
          </a:bodyPr>
          <a:lstStyle/>
          <a:p>
            <a:pPr algn="ctr">
              <a:lnSpc>
                <a:spcPct val="110000"/>
              </a:lnSpc>
            </a:pPr>
            <a:r>
              <a:rPr sz="7800" b="1" i="0">
                <a:solidFill>
                  <a:srgbClr val="FFFFFF"/>
                </a:solidFill>
                <a:latin typeface="Plus Jakarta Sans"/>
              </a:rPr>
              <a:t>antes de Fase A,</a:t>
            </a:r>
          </a:p>
        </p:txBody>
      </p:sp>
      <p:sp>
        <p:nvSpPr>
          <p:cNvPr id="5" name="TextBox 4"/>
          <p:cNvSpPr txBox="1"/>
          <p:nvPr/>
        </p:nvSpPr>
        <p:spPr>
          <a:xfrm>
            <a:off x="1371600" y="7315200"/>
            <a:ext cx="15544800" cy="1097280"/>
          </a:xfrm>
          <a:prstGeom prst="rect">
            <a:avLst/>
          </a:prstGeom>
          <a:noFill/>
        </p:spPr>
        <p:txBody>
          <a:bodyPr wrap="square" anchor="t" lIns="0" rIns="0" tIns="0" bIns="0">
            <a:spAutoFit/>
          </a:bodyPr>
          <a:lstStyle/>
          <a:p>
            <a:pPr algn="ctr">
              <a:lnSpc>
                <a:spcPct val="115000"/>
              </a:lnSpc>
            </a:pPr>
            <a:r>
              <a:rPr sz="3000" b="0" i="0">
                <a:solidFill>
                  <a:srgbClr val="FFFFFF"/>
                </a:solidFill>
                <a:latin typeface="Plus Jakarta Sans"/>
              </a:rPr>
              <a:t>todavía no estás listo.</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CCE5FF"/>
                </a:solidFill>
                <a:latin typeface="Figtree"/>
              </a:rPr>
              <a:t>Sovra Partners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