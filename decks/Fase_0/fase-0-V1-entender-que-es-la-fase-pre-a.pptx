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24.8s · 62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Antes de arrancar una implementación de SovraGov, hay una fase que no aparece en el contrato pero que define si el proyecto va a llegar bien al día noventa o se va a atascar en la semana cuatro. Es la Fase Pre-A. Algunos partners la llaman Fase 0. El nombre es lo de menos. Lo que importa es lo que pasa acá.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8.4s · 21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esta fase no estás configurando nada todavía. No estás cargando trámites, no estás integrando IDP, no estás capacitando a nadie.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12.0s · 30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Estás haciendo algo más simple y más difícil: estás evaluando si el gobierno realmente está listo para arrancar, y estás dejando armado tu lado para sostener noventa días de implementación.</a:t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20.0s · 50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Pre-A son tres preguntas que vas a contestar antes de la primera reunión formal con el gobierno. ¿El gobierno tiene lo mínimo para empezar? ¿Tu equipo tiene a las personas indicadas? ¿Conoces el modelo de soporte que vas a operar y cómo se escala a Sovra cuando algo se complica?</a:t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22.8s · 57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las tres respuestas son sí, arrancas Fase A con la base firme. Si alguna respuesta es no, lo correcto no es empujar igual. Lo correcto es parar, ofrecer una sesión de pre-discovery, y arrancar cuando estén las condiciones. Esa decisión es tuya y es la decisión más importante que vas a tomar en todo el proyecto.</a:t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6.4s · 16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Fase Pre-A no es papeleo. Es la única oportunidad que tienes de no arrancar mal.</a:t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FASE 0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3840480"/>
            <a:ext cx="15544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Entender qué es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la Fase Pre-A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6720850"/>
            <a:ext cx="1554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La única oportunidad de no arrancar mal.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14"/>
          <p:cNvGrpSpPr/>
          <p:nvPr/>
        </p:nvGrpSpPr>
        <p:grpSpPr>
          <a:xfrm>
            <a:off x="1371600" y="952500"/>
            <a:ext cx="15544800" cy="2095650"/>
            <a:chOff x="1371600" y="952500"/>
            <a:chExt cx="15544800" cy="2095650"/>
          </a:xfrm>
        </p:grpSpPr>
        <p:sp>
          <p:nvSpPr>
            <p:cNvPr id="96" name="Google Shape;96;p14"/>
            <p:cNvSpPr txBox="1"/>
            <p:nvPr/>
          </p:nvSpPr>
          <p:spPr>
            <a:xfrm>
              <a:off x="1371600" y="952500"/>
              <a:ext cx="1554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77CC"/>
                  </a:solidFill>
                  <a:latin typeface="Inter"/>
                  <a:ea typeface="Inter"/>
                  <a:cs typeface="Inter"/>
                  <a:sym typeface="Inter"/>
                </a:rPr>
                <a:t>Lo que NO es</a:t>
              </a:r>
              <a:endParaRPr b="1" sz="2000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371600" y="1619250"/>
              <a:ext cx="15544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Pre-A no es configurar nada todavía.</a:t>
              </a:r>
              <a:endParaRPr b="1" sz="5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1371600" y="4191000"/>
            <a:ext cx="15544800" cy="4000500"/>
            <a:chOff x="1371600" y="4191000"/>
            <a:chExt cx="15544800" cy="4000500"/>
          </a:xfrm>
        </p:grpSpPr>
        <p:sp>
          <p:nvSpPr>
            <p:cNvPr id="99" name="Google Shape;99;p14"/>
            <p:cNvSpPr/>
            <p:nvPr/>
          </p:nvSpPr>
          <p:spPr>
            <a:xfrm>
              <a:off x="1371600" y="4191000"/>
              <a:ext cx="4953000" cy="4000500"/>
            </a:xfrm>
            <a:prstGeom prst="roundRect">
              <a:avLst>
                <a:gd fmla="val 9523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752600" y="4572000"/>
              <a:ext cx="4191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</a:t>
              </a:r>
              <a:endParaRPr sz="48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Sin trámites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No estás cargando trámites en el sistema aún.</a:t>
              </a:r>
              <a:endParaRPr b="0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6667500" y="4191000"/>
              <a:ext cx="4953000" cy="4000500"/>
            </a:xfrm>
            <a:prstGeom prst="roundRect">
              <a:avLst>
                <a:gd fmla="val 9523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7048500" y="4572000"/>
              <a:ext cx="4191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</a:t>
              </a:r>
              <a:endParaRPr sz="48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Sin integración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No estás integrando IDP en este momento.</a:t>
              </a:r>
              <a:endParaRPr b="0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11963400" y="4191000"/>
              <a:ext cx="4953000" cy="4000500"/>
            </a:xfrm>
            <a:prstGeom prst="roundRect">
              <a:avLst>
                <a:gd fmla="val 9523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2344400" y="4572000"/>
              <a:ext cx="4191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</a:t>
              </a:r>
              <a:endParaRPr sz="48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Sin capacitación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No estás capacitando a nadie todavía.</a:t>
              </a:r>
              <a:endParaRPr b="0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371600" y="1143000"/>
            <a:ext cx="15544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Lo que SÍ es</a:t>
            </a:r>
            <a:endParaRPr b="1" sz="2000">
              <a:solidFill>
                <a:srgbClr val="0077C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371600" y="1809750"/>
            <a:ext cx="155448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Algo más simple y más difícil</a:t>
            </a:r>
            <a:endParaRPr b="1" sz="56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3" name="Google Shape;113;p15"/>
          <p:cNvGrpSpPr/>
          <p:nvPr/>
        </p:nvGrpSpPr>
        <p:grpSpPr>
          <a:xfrm>
            <a:off x="1371600" y="4191000"/>
            <a:ext cx="15544800" cy="4000500"/>
            <a:chOff x="1371600" y="4191000"/>
            <a:chExt cx="15544800" cy="4000500"/>
          </a:xfrm>
        </p:grpSpPr>
        <p:sp>
          <p:nvSpPr>
            <p:cNvPr id="114" name="Google Shape;114;p15"/>
            <p:cNvSpPr/>
            <p:nvPr/>
          </p:nvSpPr>
          <p:spPr>
            <a:xfrm>
              <a:off x="1371600" y="4191000"/>
              <a:ext cx="7429500" cy="4000500"/>
            </a:xfrm>
            <a:prstGeom prst="roundRect">
              <a:avLst>
                <a:gd fmla="val 9523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1752600" y="4572000"/>
              <a:ext cx="666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</a:t>
              </a:r>
              <a:endParaRPr b="0" sz="48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Evaluación Crítica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Estás evaluando si el gobierno realmente está listo para el cambio.</a:t>
              </a:r>
              <a:endParaRPr b="0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9486900" y="4191000"/>
              <a:ext cx="7429500" cy="4000500"/>
            </a:xfrm>
            <a:prstGeom prst="roundRect">
              <a:avLst>
                <a:gd fmla="val 9523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9867900" y="4572000"/>
              <a:ext cx="666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08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shield_with_heart</a:t>
              </a:r>
              <a:endParaRPr b="0" sz="408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Resistencia Estratégica</a:t>
              </a:r>
              <a:endParaRPr b="1" sz="238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3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Estás dejando armado tu lado para sostener la operación durante 90 días.</a:t>
              </a:r>
              <a:endParaRPr b="0" sz="153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371600" y="952500"/>
            <a:ext cx="15544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Tres preguntas clave</a:t>
            </a:r>
            <a:endParaRPr b="1" sz="2000">
              <a:solidFill>
                <a:srgbClr val="0077C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Antes de la primera reunión formal</a:t>
            </a:r>
            <a:endParaRPr b="1" sz="52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5" name="Google Shape;125;p16"/>
          <p:cNvGrpSpPr/>
          <p:nvPr/>
        </p:nvGrpSpPr>
        <p:grpSpPr>
          <a:xfrm>
            <a:off x="1371600" y="3619500"/>
            <a:ext cx="4953000" cy="4572000"/>
            <a:chOff x="1371600" y="3619500"/>
            <a:chExt cx="4953000" cy="4572000"/>
          </a:xfrm>
        </p:grpSpPr>
        <p:sp>
          <p:nvSpPr>
            <p:cNvPr id="126" name="Google Shape;126;p16"/>
            <p:cNvSpPr/>
            <p:nvPr/>
          </p:nvSpPr>
          <p:spPr>
            <a:xfrm>
              <a:off x="1371600" y="3619500"/>
              <a:ext cx="4953000" cy="4572000"/>
            </a:xfrm>
            <a:prstGeom prst="roundRect">
              <a:avLst>
                <a:gd fmla="val 8333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1752600" y="4000500"/>
              <a:ext cx="41910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</a:t>
              </a:r>
              <a:endParaRPr sz="48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Gobierno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¿Tiene lo mínimo necesario para empezar el proceso?</a:t>
              </a:r>
              <a:endParaRPr b="0" sz="2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6667500" y="3619500"/>
            <a:ext cx="4953000" cy="4572000"/>
            <a:chOff x="6667500" y="3619500"/>
            <a:chExt cx="4953000" cy="4572000"/>
          </a:xfrm>
        </p:grpSpPr>
        <p:sp>
          <p:nvSpPr>
            <p:cNvPr id="129" name="Google Shape;129;p16"/>
            <p:cNvSpPr/>
            <p:nvPr/>
          </p:nvSpPr>
          <p:spPr>
            <a:xfrm>
              <a:off x="6667500" y="3619500"/>
              <a:ext cx="4953000" cy="4572000"/>
            </a:xfrm>
            <a:prstGeom prst="roundRect">
              <a:avLst>
                <a:gd fmla="val 8333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7048500" y="4000500"/>
              <a:ext cx="41910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</a:t>
              </a:r>
              <a:endParaRPr sz="48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Partner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¿Tu equipo cuenta con las personas indicadas para este desafío?</a:t>
              </a:r>
              <a:endParaRPr b="0" sz="2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11963400" y="3619500"/>
            <a:ext cx="4953000" cy="4572000"/>
            <a:chOff x="11963400" y="3619500"/>
            <a:chExt cx="4953000" cy="4572000"/>
          </a:xfrm>
        </p:grpSpPr>
        <p:sp>
          <p:nvSpPr>
            <p:cNvPr id="132" name="Google Shape;132;p16"/>
            <p:cNvSpPr/>
            <p:nvPr/>
          </p:nvSpPr>
          <p:spPr>
            <a:xfrm>
              <a:off x="11963400" y="3619500"/>
              <a:ext cx="4953000" cy="4572000"/>
            </a:xfrm>
            <a:prstGeom prst="roundRect">
              <a:avLst>
                <a:gd fmla="val 8333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12344400" y="4000500"/>
              <a:ext cx="41910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</a:t>
              </a:r>
              <a:endParaRPr sz="48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Soporte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¿Conoces el modelo y cómo se escala correctamente a Sovra?</a:t>
              </a:r>
              <a:endParaRPr b="0" sz="2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371600" y="952500"/>
            <a:ext cx="15544800" cy="148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1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Si alguna respuesta es </a:t>
            </a:r>
            <a:r>
              <a:rPr b="1" lang="en-US" sz="481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b="1" lang="en-US" sz="481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endParaRPr b="1" sz="481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1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no empujes igual</a:t>
            </a:r>
            <a:endParaRPr b="1" sz="481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371600" y="3619500"/>
            <a:ext cx="7429500" cy="4572000"/>
          </a:xfrm>
          <a:prstGeom prst="roundRect">
            <a:avLst>
              <a:gd fmla="val 8333" name="adj"/>
            </a:avLst>
          </a:prstGeom>
          <a:solidFill>
            <a:srgbClr val="FEF2F2"/>
          </a:solidFill>
          <a:ln cap="flat" cmpd="sng" w="1905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847850" y="4095750"/>
            <a:ext cx="914400" cy="98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  <a:endParaRPr b="1" sz="6400">
              <a:solidFill>
                <a:srgbClr val="DC26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1847850" y="5334000"/>
            <a:ext cx="647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Empujar igual</a:t>
            </a:r>
            <a:endParaRPr b="1" sz="32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1847850" y="6381750"/>
            <a:ext cx="6477000" cy="82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El proyecto se atasca en la semana 4.</a:t>
            </a:r>
            <a:endParaRPr b="0" sz="2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Las decisiones políticas vuelven a explotar.</a:t>
            </a:r>
            <a:endParaRPr b="0" sz="2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9486900" y="3619500"/>
            <a:ext cx="7429500" cy="4572000"/>
          </a:xfrm>
          <a:prstGeom prst="roundRect">
            <a:avLst>
              <a:gd fmla="val 8333" name="adj"/>
            </a:avLst>
          </a:prstGeom>
          <a:solidFill>
            <a:srgbClr val="ECFDF5"/>
          </a:solidFill>
          <a:ln cap="flat" cmpd="sng" w="1905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963150" y="4095750"/>
            <a:ext cx="914400" cy="98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1" sz="6400">
              <a:solidFill>
                <a:srgbClr val="10B98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9963150" y="5334000"/>
            <a:ext cx="6477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Parar y ofrecer pre-discovery</a:t>
            </a:r>
            <a:endParaRPr b="1" sz="32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9963150" y="6381750"/>
            <a:ext cx="6477000" cy="82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Arrancas cuando estén las condiciones.</a:t>
            </a:r>
            <a:endParaRPr b="0" sz="2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Esa decisión es tuya.</a:t>
            </a:r>
            <a:endParaRPr b="0" sz="2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7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1371600" y="3200400"/>
            <a:ext cx="1554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Fase Pre-A no es papeleo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371600" y="4000505"/>
            <a:ext cx="1554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 la única oportunidad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371600" y="5354700"/>
            <a:ext cx="155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no arrancar mal.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