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10287000" cx="18288000"/>
  <p:notesSz cx="6858000" cy="9144000"/>
  <p:embeddedFontLst>
    <p:embeddedFont>
      <p:font typeface="Inter"/>
      <p:regular r:id="rId12"/>
      <p:bold r:id="rId13"/>
      <p:italic r:id="rId14"/>
      <p:boldItalic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Inter-bold.fntdata"/><Relationship Id="rId12" Type="http://schemas.openxmlformats.org/officeDocument/2006/relationships/font" Target="fonts/Inter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-boldItalic.fntdata"/><Relationship Id="rId14" Type="http://schemas.openxmlformats.org/officeDocument/2006/relationships/font" Target="fonts/Inter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19.2s · 48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Antes de capacitar a nadie y antes de armar comunicación, tienes que cerrar el testing en producción. No el de Fase C, que era end-to-end técnico. El de Fase D, que es ejecutar el flujo completo en el ambiente real, con datos reales, como si fueras un ciudadano.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12.4s · 31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Son diez casos por trámite. Si tienes cinco trámites en producción, son cincuenta pasadas completas. Lo voy a decir derecho porque a veces se subestima: esto se hace, no se discute.</a:t>
            </a:r>
            <a:endParaRPr/>
          </a:p>
        </p:txBody>
      </p:sp>
      <p:sp>
        <p:nvSpPr>
          <p:cNvPr id="92" name="Google Shape;9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8" name="Google Shape;108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34.0s · 85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Los diez casos cubren el viaje completo del ciudadano y del operador. Que el ciudadano encuentre el trámite en la guía pública. Que se registre y se autentique sin fricción, incluyendo la integración con el sistema de identidad del gobierno si aplica. Que complete el formulario, adjunte documentos y los envíe. Que el operador reciba el expediente y pueda gestionar todas las etapas. Que el ciudadano reciba la notificación del resultado, sea aprobación o rechazo. Que el documento de salida se genere bien cuando corresponda.</a:t>
            </a:r>
            <a:endParaRPr/>
          </a:p>
        </p:txBody>
      </p:sp>
      <p:sp>
        <p:nvSpPr>
          <p:cNvPr id="109" name="Google Shape;109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3" name="Google Shape;133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19.2s · 48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Que las validaciones de campos obligatorios funcionen, tanto del lado ciudadano como del operador. Que el flujo completo se vea bien en celular, porque la mayoría va a entrar desde ahí. Y que un rechazo por documentación incompleta le llegue al ciudadano con instrucciones claras de qué corregir.</a:t>
            </a:r>
            <a:endParaRPr/>
          </a:p>
        </p:txBody>
      </p:sp>
      <p:sp>
        <p:nvSpPr>
          <p:cNvPr id="134" name="Google Shape;134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5" name="Google Shape;155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17.6s · 44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criterio para decir listo para lanzar es estricto: diez de diez casos pasados por trámite, cero bugs críticos abiertos, y al menos una persona externa al proyecto que haya completado el trámite sin ayuda. Si te falta uno, no lanzas. Negocias la fecha.</a:t>
            </a:r>
            <a:endParaRPr/>
          </a:p>
        </p:txBody>
      </p:sp>
      <p:sp>
        <p:nvSpPr>
          <p:cNvPr id="156" name="Google Shape;156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3" name="Google Shape;173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8.0s · 20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Diez de diez o no se lanza. Una persona externa que lo logre sola es el verdadero criterio de éxito.</a:t>
            </a:r>
            <a:endParaRPr/>
          </a:p>
        </p:txBody>
      </p:sp>
      <p:sp>
        <p:nvSpPr>
          <p:cNvPr id="174" name="Google Shape;174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FASE D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371600" y="3840480"/>
            <a:ext cx="155448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Pruebas en producción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antes de hablar de lanzamiento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371600" y="6517900"/>
            <a:ext cx="155448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rPr>
              <a:t>Diez casos por trámite. No se discute, se hace.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5" name="Google Shape;95;p14"/>
          <p:cNvGrpSpPr/>
          <p:nvPr/>
        </p:nvGrpSpPr>
        <p:grpSpPr>
          <a:xfrm>
            <a:off x="1371600" y="952500"/>
            <a:ext cx="15544800" cy="1714500"/>
            <a:chOff x="1371600" y="952500"/>
            <a:chExt cx="15544800" cy="1714500"/>
          </a:xfrm>
        </p:grpSpPr>
        <p:sp>
          <p:nvSpPr>
            <p:cNvPr id="96" name="Google Shape;96;p14"/>
            <p:cNvSpPr txBox="1"/>
            <p:nvPr/>
          </p:nvSpPr>
          <p:spPr>
            <a:xfrm>
              <a:off x="1371600" y="952500"/>
              <a:ext cx="155448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Qué es y qué no es</a:t>
              </a:r>
              <a:endParaRPr b="1" sz="18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97" name="Google Shape;97;p14"/>
            <p:cNvSpPr txBox="1"/>
            <p:nvPr/>
          </p:nvSpPr>
          <p:spPr>
            <a:xfrm>
              <a:off x="1371600" y="1524000"/>
              <a:ext cx="155448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56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No es el testing de Fase C</a:t>
              </a:r>
              <a:endParaRPr b="1" sz="56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98" name="Google Shape;98;p14"/>
          <p:cNvGrpSpPr/>
          <p:nvPr/>
        </p:nvGrpSpPr>
        <p:grpSpPr>
          <a:xfrm>
            <a:off x="1371600" y="3619500"/>
            <a:ext cx="15544800" cy="4572000"/>
            <a:chOff x="1371600" y="3619500"/>
            <a:chExt cx="15544800" cy="4572000"/>
          </a:xfrm>
        </p:grpSpPr>
        <p:sp>
          <p:nvSpPr>
            <p:cNvPr id="99" name="Google Shape;99;p14"/>
            <p:cNvSpPr/>
            <p:nvPr/>
          </p:nvSpPr>
          <p:spPr>
            <a:xfrm>
              <a:off x="1371600" y="3619500"/>
              <a:ext cx="7543800" cy="4572000"/>
            </a:xfrm>
            <a:prstGeom prst="roundRect">
              <a:avLst>
                <a:gd fmla="val 8333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4"/>
            <p:cNvSpPr txBox="1"/>
            <p:nvPr/>
          </p:nvSpPr>
          <p:spPr>
            <a:xfrm>
              <a:off x="1752600" y="4000500"/>
              <a:ext cx="6781800" cy="381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Fase C</a:t>
              </a:r>
              <a:endParaRPr b="1" sz="32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Enfoque</a:t>
              </a:r>
              <a:endParaRPr b="1" sz="20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End-to-end técnico.</a:t>
              </a:r>
              <a:endParaRPr b="0" sz="24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Orientado a la estabilidad de la infraestructura y conexiones entre sistemas.</a:t>
              </a:r>
              <a:endParaRPr b="0" sz="14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1" name="Google Shape;101;p14"/>
            <p:cNvSpPr/>
            <p:nvPr/>
          </p:nvSpPr>
          <p:spPr>
            <a:xfrm>
              <a:off x="9372600" y="3619500"/>
              <a:ext cx="7543800" cy="4572000"/>
            </a:xfrm>
            <a:prstGeom prst="roundRect">
              <a:avLst>
                <a:gd fmla="val 8333" name="adj"/>
              </a:avLst>
            </a:prstGeom>
            <a:solidFill>
              <a:srgbClr val="ECFDF5"/>
            </a:solidFill>
            <a:ln cap="flat" cmpd="sng" w="19050">
              <a:solidFill>
                <a:srgbClr val="A7F3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4"/>
            <p:cNvSpPr txBox="1"/>
            <p:nvPr/>
          </p:nvSpPr>
          <p:spPr>
            <a:xfrm>
              <a:off x="9753600" y="4000500"/>
              <a:ext cx="6781800" cy="381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Fase D</a:t>
              </a:r>
              <a:endParaRPr b="1" sz="32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10B981"/>
                  </a:solidFill>
                  <a:latin typeface="Inter"/>
                  <a:ea typeface="Inter"/>
                  <a:cs typeface="Inter"/>
                  <a:sym typeface="Inter"/>
                </a:rPr>
                <a:t>Realidad</a:t>
              </a:r>
              <a:endParaRPr b="1" sz="2000">
                <a:solidFill>
                  <a:srgbClr val="10B98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64E3B"/>
                  </a:solidFill>
                  <a:latin typeface="Inter"/>
                  <a:ea typeface="Inter"/>
                  <a:cs typeface="Inter"/>
                  <a:sym typeface="Inter"/>
                </a:rPr>
                <a:t>Flujo completo en ambiente real, con datos reales.</a:t>
              </a:r>
              <a:endParaRPr b="0" sz="2400">
                <a:solidFill>
                  <a:srgbClr val="064E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65F46"/>
                  </a:solidFill>
                  <a:highlight>
                    <a:srgbClr val="D1FAE5"/>
                  </a:highlight>
                  <a:latin typeface="Inter"/>
                  <a:ea typeface="Inter"/>
                  <a:cs typeface="Inter"/>
                  <a:sym typeface="Inter"/>
                </a:rPr>
                <a:t>Como si fueras un ciudadano.</a:t>
              </a:r>
              <a:endParaRPr b="1" sz="1600">
                <a:solidFill>
                  <a:srgbClr val="065F46"/>
                </a:solidFill>
                <a:highlight>
                  <a:srgbClr val="D1FAE5"/>
                </a:highlight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3" name="Google Shape;103;p14"/>
          <p:cNvGrpSpPr/>
          <p:nvPr/>
        </p:nvGrpSpPr>
        <p:grpSpPr>
          <a:xfrm>
            <a:off x="1371600" y="8763000"/>
            <a:ext cx="15544800" cy="762000"/>
            <a:chOff x="1371600" y="8763000"/>
            <a:chExt cx="15544800" cy="762000"/>
          </a:xfrm>
        </p:grpSpPr>
        <p:cxnSp>
          <p:nvCxnSpPr>
            <p:cNvPr id="104" name="Google Shape;104;p14"/>
            <p:cNvCxnSpPr/>
            <p:nvPr/>
          </p:nvCxnSpPr>
          <p:spPr>
            <a:xfrm>
              <a:off x="1371600" y="8763000"/>
              <a:ext cx="155448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05" name="Google Shape;105;p14"/>
            <p:cNvSpPr txBox="1"/>
            <p:nvPr/>
          </p:nvSpPr>
          <p:spPr>
            <a:xfrm>
              <a:off x="1371600" y="8953500"/>
              <a:ext cx="155448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Metodología de validación en producción para lanzamientos críticos.</a:t>
              </a:r>
              <a:endParaRPr b="0" sz="14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2" name="Google Shape;112;p15"/>
          <p:cNvGrpSpPr/>
          <p:nvPr/>
        </p:nvGrpSpPr>
        <p:grpSpPr>
          <a:xfrm>
            <a:off x="1371600" y="3619500"/>
            <a:ext cx="4572000" cy="2667000"/>
            <a:chOff x="1371600" y="3619500"/>
            <a:chExt cx="4572000" cy="2667000"/>
          </a:xfrm>
        </p:grpSpPr>
        <p:sp>
          <p:nvSpPr>
            <p:cNvPr id="113" name="Google Shape;113;p15"/>
            <p:cNvSpPr/>
            <p:nvPr/>
          </p:nvSpPr>
          <p:spPr>
            <a:xfrm>
              <a:off x="1371600" y="3619500"/>
              <a:ext cx="4572000" cy="2667000"/>
            </a:xfrm>
            <a:prstGeom prst="roundRect">
              <a:avLst>
                <a:gd fmla="val 7142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5"/>
            <p:cNvSpPr txBox="1"/>
            <p:nvPr/>
          </p:nvSpPr>
          <p:spPr>
            <a:xfrm>
              <a:off x="1562100" y="3810000"/>
              <a:ext cx="41910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PASO 01</a:t>
              </a:r>
              <a:endParaRPr b="1" sz="14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Descubrimiento</a:t>
              </a:r>
              <a:endParaRPr b="1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El ciudadano encuentra el trámite en la guía pública de forma intuitiva.</a:t>
              </a:r>
              <a:endParaRPr b="0" sz="14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5" name="Google Shape;115;p15"/>
          <p:cNvGrpSpPr/>
          <p:nvPr/>
        </p:nvGrpSpPr>
        <p:grpSpPr>
          <a:xfrm>
            <a:off x="6229350" y="3619500"/>
            <a:ext cx="4572000" cy="2667000"/>
            <a:chOff x="6229350" y="3619500"/>
            <a:chExt cx="4572000" cy="2667000"/>
          </a:xfrm>
        </p:grpSpPr>
        <p:sp>
          <p:nvSpPr>
            <p:cNvPr id="116" name="Google Shape;116;p15"/>
            <p:cNvSpPr/>
            <p:nvPr/>
          </p:nvSpPr>
          <p:spPr>
            <a:xfrm>
              <a:off x="6229350" y="3619500"/>
              <a:ext cx="4572000" cy="2667000"/>
            </a:xfrm>
            <a:prstGeom prst="roundRect">
              <a:avLst>
                <a:gd fmla="val 7142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5"/>
            <p:cNvSpPr txBox="1"/>
            <p:nvPr/>
          </p:nvSpPr>
          <p:spPr>
            <a:xfrm>
              <a:off x="6419850" y="3810000"/>
              <a:ext cx="41910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PASO 02</a:t>
              </a:r>
              <a:endParaRPr b="1" sz="14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Identidad</a:t>
              </a:r>
              <a:endParaRPr b="1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Registro y autenticación sin fricción, con integración de identidad incluida.</a:t>
              </a:r>
              <a:endParaRPr b="0" sz="14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8" name="Google Shape;118;p15"/>
          <p:cNvGrpSpPr/>
          <p:nvPr/>
        </p:nvGrpSpPr>
        <p:grpSpPr>
          <a:xfrm>
            <a:off x="11087100" y="3619500"/>
            <a:ext cx="4572000" cy="2667000"/>
            <a:chOff x="11087100" y="3619500"/>
            <a:chExt cx="4572000" cy="2667000"/>
          </a:xfrm>
        </p:grpSpPr>
        <p:sp>
          <p:nvSpPr>
            <p:cNvPr id="119" name="Google Shape;119;p15"/>
            <p:cNvSpPr/>
            <p:nvPr/>
          </p:nvSpPr>
          <p:spPr>
            <a:xfrm>
              <a:off x="11087100" y="3619500"/>
              <a:ext cx="4572000" cy="2667000"/>
            </a:xfrm>
            <a:prstGeom prst="roundRect">
              <a:avLst>
                <a:gd fmla="val 7142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5"/>
            <p:cNvSpPr txBox="1"/>
            <p:nvPr/>
          </p:nvSpPr>
          <p:spPr>
            <a:xfrm>
              <a:off x="11277600" y="3810000"/>
              <a:ext cx="41910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PASO 03</a:t>
              </a:r>
              <a:endParaRPr b="1" sz="14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Solicitud</a:t>
              </a:r>
              <a:endParaRPr b="1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Completa el formulario, adjunta los documentos necesarios y realiza el envío.</a:t>
              </a:r>
              <a:endParaRPr b="0" sz="14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1" name="Google Shape;121;p15"/>
          <p:cNvGrpSpPr/>
          <p:nvPr/>
        </p:nvGrpSpPr>
        <p:grpSpPr>
          <a:xfrm>
            <a:off x="1371600" y="6572250"/>
            <a:ext cx="4572000" cy="2667000"/>
            <a:chOff x="1371600" y="6572250"/>
            <a:chExt cx="4572000" cy="2667000"/>
          </a:xfrm>
        </p:grpSpPr>
        <p:sp>
          <p:nvSpPr>
            <p:cNvPr id="122" name="Google Shape;122;p15"/>
            <p:cNvSpPr/>
            <p:nvPr/>
          </p:nvSpPr>
          <p:spPr>
            <a:xfrm>
              <a:off x="1371600" y="6572250"/>
              <a:ext cx="4572000" cy="2667000"/>
            </a:xfrm>
            <a:prstGeom prst="roundRect">
              <a:avLst>
                <a:gd fmla="val 7142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5"/>
            <p:cNvSpPr txBox="1"/>
            <p:nvPr/>
          </p:nvSpPr>
          <p:spPr>
            <a:xfrm>
              <a:off x="1562100" y="6762750"/>
              <a:ext cx="41910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PASO 04</a:t>
              </a:r>
              <a:endParaRPr b="1" sz="14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Gestión</a:t>
              </a:r>
              <a:endParaRPr b="1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El operador recibe el expediente y gestiona eficientemente todas las etapas.</a:t>
              </a:r>
              <a:endParaRPr b="0" sz="14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4" name="Google Shape;124;p15"/>
          <p:cNvGrpSpPr/>
          <p:nvPr/>
        </p:nvGrpSpPr>
        <p:grpSpPr>
          <a:xfrm>
            <a:off x="6229350" y="6572250"/>
            <a:ext cx="4572000" cy="2667000"/>
            <a:chOff x="6229350" y="6572250"/>
            <a:chExt cx="4572000" cy="2667000"/>
          </a:xfrm>
        </p:grpSpPr>
        <p:sp>
          <p:nvSpPr>
            <p:cNvPr id="125" name="Google Shape;125;p15"/>
            <p:cNvSpPr/>
            <p:nvPr/>
          </p:nvSpPr>
          <p:spPr>
            <a:xfrm>
              <a:off x="6229350" y="6572250"/>
              <a:ext cx="4572000" cy="2667000"/>
            </a:xfrm>
            <a:prstGeom prst="roundRect">
              <a:avLst>
                <a:gd fmla="val 7142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" name="Google Shape;126;p15"/>
            <p:cNvSpPr txBox="1"/>
            <p:nvPr/>
          </p:nvSpPr>
          <p:spPr>
            <a:xfrm>
              <a:off x="6419850" y="6762750"/>
              <a:ext cx="41910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PASO 05</a:t>
              </a:r>
              <a:endParaRPr b="1" sz="14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Resolución</a:t>
              </a:r>
              <a:endParaRPr b="1" sz="20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Notificación clara del resultado final, sea aprobación o rechazo.</a:t>
              </a:r>
              <a:endParaRPr b="0" sz="14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7" name="Google Shape;127;p15"/>
          <p:cNvGrpSpPr/>
          <p:nvPr/>
        </p:nvGrpSpPr>
        <p:grpSpPr>
          <a:xfrm>
            <a:off x="11087100" y="6572250"/>
            <a:ext cx="4572000" cy="2667000"/>
            <a:chOff x="11087100" y="6572250"/>
            <a:chExt cx="4572000" cy="2667000"/>
          </a:xfrm>
        </p:grpSpPr>
        <p:sp>
          <p:nvSpPr>
            <p:cNvPr id="128" name="Google Shape;128;p15"/>
            <p:cNvSpPr/>
            <p:nvPr/>
          </p:nvSpPr>
          <p:spPr>
            <a:xfrm>
              <a:off x="11087100" y="6572250"/>
              <a:ext cx="4572000" cy="2667000"/>
            </a:xfrm>
            <a:prstGeom prst="roundRect">
              <a:avLst>
                <a:gd fmla="val 7142" name="adj"/>
              </a:avLst>
            </a:prstGeom>
            <a:solidFill>
              <a:srgbClr val="ECFDF5"/>
            </a:solidFill>
            <a:ln cap="flat" cmpd="sng" w="19050">
              <a:solidFill>
                <a:srgbClr val="A7F3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15"/>
            <p:cNvSpPr txBox="1"/>
            <p:nvPr/>
          </p:nvSpPr>
          <p:spPr>
            <a:xfrm>
              <a:off x="11277600" y="6762750"/>
              <a:ext cx="41910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PASO 06</a:t>
              </a:r>
              <a:endParaRPr b="1" sz="14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64E3B"/>
                  </a:solidFill>
                  <a:latin typeface="Inter"/>
                  <a:ea typeface="Inter"/>
                  <a:cs typeface="Inter"/>
                  <a:sym typeface="Inter"/>
                </a:rPr>
                <a:t>Cierre</a:t>
              </a:r>
              <a:endParaRPr b="1" sz="2000">
                <a:solidFill>
                  <a:srgbClr val="064E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065F46"/>
                  </a:solidFill>
                  <a:latin typeface="Inter"/>
                  <a:ea typeface="Inter"/>
                  <a:cs typeface="Inter"/>
                  <a:sym typeface="Inter"/>
                </a:rPr>
                <a:t>Generación correcta del documento de salida cuando corresponde.</a:t>
              </a:r>
              <a:endParaRPr b="0" sz="1400">
                <a:solidFill>
                  <a:srgbClr val="065F46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30" name="Google Shape;130;p15"/>
          <p:cNvSpPr txBox="1"/>
          <p:nvPr/>
        </p:nvSpPr>
        <p:spPr>
          <a:xfrm>
            <a:off x="1371600" y="952500"/>
            <a:ext cx="15544800" cy="147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Los diez casos</a:t>
            </a:r>
            <a:endParaRPr b="1" i="0" sz="48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cubren el viaje completo</a:t>
            </a:r>
            <a:endParaRPr b="1" i="0" sz="4800">
              <a:solidFill>
                <a:srgbClr val="05966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6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1371600" y="952500"/>
            <a:ext cx="15544800" cy="1336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34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Y los casos que</a:t>
            </a:r>
            <a:endParaRPr b="1" sz="434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34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se olvidan más</a:t>
            </a:r>
            <a:endParaRPr b="1" sz="4340">
              <a:solidFill>
                <a:srgbClr val="0596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38" name="Google Shape;138;p16"/>
          <p:cNvGrpSpPr/>
          <p:nvPr/>
        </p:nvGrpSpPr>
        <p:grpSpPr>
          <a:xfrm>
            <a:off x="1371600" y="3048000"/>
            <a:ext cx="7543800" cy="2667000"/>
            <a:chOff x="1371600" y="3048000"/>
            <a:chExt cx="7543800" cy="2667000"/>
          </a:xfrm>
        </p:grpSpPr>
        <p:sp>
          <p:nvSpPr>
            <p:cNvPr id="139" name="Google Shape;139;p16"/>
            <p:cNvSpPr/>
            <p:nvPr/>
          </p:nvSpPr>
          <p:spPr>
            <a:xfrm>
              <a:off x="1371600" y="3048000"/>
              <a:ext cx="7543800" cy="2667000"/>
            </a:xfrm>
            <a:prstGeom prst="roundRect">
              <a:avLst>
                <a:gd fmla="val 14285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16"/>
            <p:cNvSpPr txBox="1"/>
            <p:nvPr/>
          </p:nvSpPr>
          <p:spPr>
            <a:xfrm>
              <a:off x="1752600" y="3429000"/>
              <a:ext cx="67818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Validaciones</a:t>
              </a:r>
              <a:endParaRPr b="1" sz="24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De campos obligatorios tanto del lado ciudadano como del operador.</a:t>
              </a:r>
              <a:endParaRPr b="0" sz="18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1" name="Google Shape;141;p16"/>
          <p:cNvGrpSpPr/>
          <p:nvPr/>
        </p:nvGrpSpPr>
        <p:grpSpPr>
          <a:xfrm>
            <a:off x="9372600" y="3048000"/>
            <a:ext cx="7543800" cy="2667000"/>
            <a:chOff x="9372600" y="3048000"/>
            <a:chExt cx="7543800" cy="2667000"/>
          </a:xfrm>
        </p:grpSpPr>
        <p:sp>
          <p:nvSpPr>
            <p:cNvPr id="142" name="Google Shape;142;p16"/>
            <p:cNvSpPr/>
            <p:nvPr/>
          </p:nvSpPr>
          <p:spPr>
            <a:xfrm>
              <a:off x="9372600" y="3048000"/>
              <a:ext cx="7543800" cy="2667000"/>
            </a:xfrm>
            <a:prstGeom prst="roundRect">
              <a:avLst>
                <a:gd fmla="val 14285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16"/>
            <p:cNvSpPr txBox="1"/>
            <p:nvPr/>
          </p:nvSpPr>
          <p:spPr>
            <a:xfrm>
              <a:off x="9753600" y="3429000"/>
              <a:ext cx="67818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Experiencia Móvil</a:t>
              </a:r>
              <a:endParaRPr b="1" sz="24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El flujo completo debe ser impecable en celular; es la vía de entrada mayoritaria.</a:t>
              </a:r>
              <a:endParaRPr b="0" sz="18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4" name="Google Shape;144;p16"/>
          <p:cNvGrpSpPr/>
          <p:nvPr/>
        </p:nvGrpSpPr>
        <p:grpSpPr>
          <a:xfrm>
            <a:off x="1371600" y="6000750"/>
            <a:ext cx="7543800" cy="2667000"/>
            <a:chOff x="1371600" y="6000750"/>
            <a:chExt cx="7543800" cy="2667000"/>
          </a:xfrm>
        </p:grpSpPr>
        <p:sp>
          <p:nvSpPr>
            <p:cNvPr id="145" name="Google Shape;145;p16"/>
            <p:cNvSpPr/>
            <p:nvPr/>
          </p:nvSpPr>
          <p:spPr>
            <a:xfrm>
              <a:off x="1371600" y="6000750"/>
              <a:ext cx="7543800" cy="2667000"/>
            </a:xfrm>
            <a:prstGeom prst="roundRect">
              <a:avLst>
                <a:gd fmla="val 14285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" name="Google Shape;146;p16"/>
            <p:cNvSpPr txBox="1"/>
            <p:nvPr/>
          </p:nvSpPr>
          <p:spPr>
            <a:xfrm>
              <a:off x="1752600" y="6381750"/>
              <a:ext cx="67818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Feedback de Errores</a:t>
              </a:r>
              <a:endParaRPr b="1" sz="24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Cualquier rechazo por documentación incompleta debe llegar con instrucciones claras.</a:t>
              </a:r>
              <a:endParaRPr b="0" sz="18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7" name="Google Shape;147;p16"/>
          <p:cNvGrpSpPr/>
          <p:nvPr/>
        </p:nvGrpSpPr>
        <p:grpSpPr>
          <a:xfrm>
            <a:off x="9372600" y="6000750"/>
            <a:ext cx="7543800" cy="2667000"/>
            <a:chOff x="9372600" y="6000750"/>
            <a:chExt cx="7543800" cy="2667000"/>
          </a:xfrm>
        </p:grpSpPr>
        <p:sp>
          <p:nvSpPr>
            <p:cNvPr id="148" name="Google Shape;148;p16"/>
            <p:cNvSpPr/>
            <p:nvPr/>
          </p:nvSpPr>
          <p:spPr>
            <a:xfrm>
              <a:off x="9372600" y="6000750"/>
              <a:ext cx="7543800" cy="2667000"/>
            </a:xfrm>
            <a:prstGeom prst="roundRect">
              <a:avLst>
                <a:gd fmla="val 14285" name="adj"/>
              </a:avLst>
            </a:prstGeom>
            <a:solidFill>
              <a:srgbClr val="ECFDF5"/>
            </a:solidFill>
            <a:ln cap="flat" cmpd="sng" w="19050">
              <a:solidFill>
                <a:srgbClr val="A7F3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16"/>
            <p:cNvSpPr txBox="1"/>
            <p:nvPr/>
          </p:nvSpPr>
          <p:spPr>
            <a:xfrm>
              <a:off x="9753600" y="6381750"/>
              <a:ext cx="67818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064E3B"/>
                  </a:solidFill>
                  <a:latin typeface="Inter"/>
                  <a:ea typeface="Inter"/>
                  <a:cs typeface="Inter"/>
                  <a:sym typeface="Inter"/>
                </a:rPr>
                <a:t>Escalabilidad</a:t>
              </a:r>
              <a:endParaRPr b="1" sz="2400">
                <a:solidFill>
                  <a:srgbClr val="064E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065F46"/>
                  </a:solidFill>
                  <a:latin typeface="Inter"/>
                  <a:ea typeface="Inter"/>
                  <a:cs typeface="Inter"/>
                  <a:sym typeface="Inter"/>
                </a:rPr>
                <a:t>Diez casos por trámite. Cinco trámites equivalen a 50 pasadas completas.</a:t>
              </a:r>
              <a:endParaRPr b="0" sz="1800">
                <a:solidFill>
                  <a:srgbClr val="065F46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0" name="Google Shape;150;p16"/>
          <p:cNvGrpSpPr/>
          <p:nvPr/>
        </p:nvGrpSpPr>
        <p:grpSpPr>
          <a:xfrm>
            <a:off x="1371600" y="9144000"/>
            <a:ext cx="15544800" cy="762000"/>
            <a:chOff x="1371600" y="9144000"/>
            <a:chExt cx="15544800" cy="762000"/>
          </a:xfrm>
        </p:grpSpPr>
        <p:cxnSp>
          <p:nvCxnSpPr>
            <p:cNvPr id="151" name="Google Shape;151;p16"/>
            <p:cNvCxnSpPr/>
            <p:nvPr/>
          </p:nvCxnSpPr>
          <p:spPr>
            <a:xfrm>
              <a:off x="1371600" y="9144000"/>
              <a:ext cx="15544800" cy="0"/>
            </a:xfrm>
            <a:prstGeom prst="straightConnector1">
              <a:avLst/>
            </a:prstGeom>
            <a:solidFill>
              <a:srgbClr val="FFFFFF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52" name="Google Shape;152;p16"/>
            <p:cNvSpPr txBox="1"/>
            <p:nvPr/>
          </p:nvSpPr>
          <p:spPr>
            <a:xfrm>
              <a:off x="1371600" y="9334500"/>
              <a:ext cx="155448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Asegurando la calidad del lanzamiento mediante el rigor en las pruebas de producción.</a:t>
              </a:r>
              <a:endParaRPr b="0" sz="14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7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1371600" y="762000"/>
            <a:ext cx="15544800" cy="1480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81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El criterio para</a:t>
            </a:r>
            <a:endParaRPr b="1" sz="481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81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"listo para lanzar"</a:t>
            </a:r>
            <a:endParaRPr b="1" sz="4810">
              <a:solidFill>
                <a:srgbClr val="0596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" name="Google Shape;160;p17"/>
          <p:cNvSpPr/>
          <p:nvPr/>
        </p:nvSpPr>
        <p:spPr>
          <a:xfrm>
            <a:off x="1371600" y="3048000"/>
            <a:ext cx="7543800" cy="4762500"/>
          </a:xfrm>
          <a:prstGeom prst="roundRect">
            <a:avLst>
              <a:gd fmla="val 8000" name="adj"/>
            </a:avLst>
          </a:prstGeom>
          <a:solidFill>
            <a:srgbClr val="FEF2F2"/>
          </a:solidFill>
          <a:ln cap="flat" cmpd="sng" w="19050">
            <a:solidFill>
              <a:srgbClr val="FEE2E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1752600" y="3429000"/>
            <a:ext cx="762000" cy="738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800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rPr>
              <a:t>✗</a:t>
            </a:r>
            <a:endParaRPr b="1" sz="4800">
              <a:solidFill>
                <a:srgbClr val="DC262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2" name="Google Shape;162;p17"/>
          <p:cNvSpPr txBox="1"/>
          <p:nvPr/>
        </p:nvSpPr>
        <p:spPr>
          <a:xfrm>
            <a:off x="1752600" y="4381500"/>
            <a:ext cx="6781800" cy="554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rPr>
              <a:t>Casi listo</a:t>
            </a:r>
            <a:endParaRPr b="1" sz="3600">
              <a:solidFill>
                <a:srgbClr val="991B1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3" name="Google Shape;163;p17"/>
          <p:cNvSpPr txBox="1"/>
          <p:nvPr/>
        </p:nvSpPr>
        <p:spPr>
          <a:xfrm>
            <a:off x="1752600" y="5334000"/>
            <a:ext cx="6781800" cy="1304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• 9 de 10 casos pasados.</a:t>
            </a:r>
            <a:endParaRPr b="0" sz="2200">
              <a:solidFill>
                <a:srgbClr val="4B5563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125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• Un bug crítico abierto.</a:t>
            </a:r>
            <a:endParaRPr b="0" sz="2200">
              <a:solidFill>
                <a:srgbClr val="4B5563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125"/>
              </a:spcBef>
              <a:spcAft>
                <a:spcPts val="0"/>
              </a:spcAft>
              <a:buNone/>
            </a:pPr>
            <a:r>
              <a:rPr b="0" i="1" lang="en-US" sz="2200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rPr>
              <a:t>"Lo arreglamos después."</a:t>
            </a:r>
            <a:endParaRPr b="0" i="1" sz="2200">
              <a:solidFill>
                <a:srgbClr val="991B1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4" name="Google Shape;164;p17"/>
          <p:cNvSpPr/>
          <p:nvPr/>
        </p:nvSpPr>
        <p:spPr>
          <a:xfrm>
            <a:off x="9372600" y="3048000"/>
            <a:ext cx="7543800" cy="4762500"/>
          </a:xfrm>
          <a:prstGeom prst="roundRect">
            <a:avLst>
              <a:gd fmla="val 8000" name="adj"/>
            </a:avLst>
          </a:prstGeom>
          <a:solidFill>
            <a:srgbClr val="ECFDF5"/>
          </a:solidFill>
          <a:ln cap="flat" cmpd="sng" w="19050">
            <a:solidFill>
              <a:srgbClr val="A7F3D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9753600" y="3429000"/>
            <a:ext cx="762000" cy="738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800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rPr>
              <a:t>✓</a:t>
            </a:r>
            <a:endParaRPr b="1" sz="4800">
              <a:solidFill>
                <a:srgbClr val="0596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6" name="Google Shape;166;p17"/>
          <p:cNvSpPr txBox="1"/>
          <p:nvPr/>
        </p:nvSpPr>
        <p:spPr>
          <a:xfrm>
            <a:off x="9753600" y="4381500"/>
            <a:ext cx="6781800" cy="554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064E3B"/>
                </a:solidFill>
                <a:latin typeface="Inter"/>
                <a:ea typeface="Inter"/>
                <a:cs typeface="Inter"/>
                <a:sym typeface="Inter"/>
              </a:rPr>
              <a:t>Listo de verdad</a:t>
            </a:r>
            <a:endParaRPr b="1" sz="3600">
              <a:solidFill>
                <a:srgbClr val="064E3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7" name="Google Shape;167;p17"/>
          <p:cNvSpPr txBox="1"/>
          <p:nvPr/>
        </p:nvSpPr>
        <p:spPr>
          <a:xfrm>
            <a:off x="9753600" y="5334000"/>
            <a:ext cx="6781800" cy="1304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065F46"/>
                </a:solidFill>
                <a:latin typeface="Inter"/>
                <a:ea typeface="Inter"/>
                <a:cs typeface="Inter"/>
                <a:sym typeface="Inter"/>
              </a:rPr>
              <a:t>• 10 de 10 por trámite.</a:t>
            </a:r>
            <a:endParaRPr b="0" sz="2200">
              <a:solidFill>
                <a:srgbClr val="065F4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125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065F46"/>
                </a:solidFill>
                <a:latin typeface="Inter"/>
                <a:ea typeface="Inter"/>
                <a:cs typeface="Inter"/>
                <a:sym typeface="Inter"/>
              </a:rPr>
              <a:t>• Cero bugs críticos abiertos.</a:t>
            </a:r>
            <a:endParaRPr b="0" sz="2200">
              <a:solidFill>
                <a:srgbClr val="065F4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125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65F46"/>
                </a:solidFill>
                <a:highlight>
                  <a:srgbClr val="D1FAE5"/>
                </a:highlight>
                <a:latin typeface="Inter"/>
                <a:ea typeface="Inter"/>
                <a:cs typeface="Inter"/>
                <a:sym typeface="Inter"/>
              </a:rPr>
              <a:t>Una persona externa lo completó sola.</a:t>
            </a:r>
            <a:endParaRPr b="1" sz="2200">
              <a:solidFill>
                <a:srgbClr val="065F46"/>
              </a:solidFill>
              <a:highlight>
                <a:srgbClr val="D1FAE5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68" name="Google Shape;168;p17"/>
          <p:cNvGrpSpPr/>
          <p:nvPr/>
        </p:nvGrpSpPr>
        <p:grpSpPr>
          <a:xfrm>
            <a:off x="1371600" y="8763000"/>
            <a:ext cx="15544800" cy="762000"/>
            <a:chOff x="1371600" y="8763000"/>
            <a:chExt cx="15544800" cy="762000"/>
          </a:xfrm>
        </p:grpSpPr>
        <p:cxnSp>
          <p:nvCxnSpPr>
            <p:cNvPr id="169" name="Google Shape;169;p17"/>
            <p:cNvCxnSpPr/>
            <p:nvPr/>
          </p:nvCxnSpPr>
          <p:spPr>
            <a:xfrm>
              <a:off x="1371600" y="8763000"/>
              <a:ext cx="15544800" cy="0"/>
            </a:xfrm>
            <a:prstGeom prst="straightConnector1">
              <a:avLst/>
            </a:prstGeom>
            <a:solidFill>
              <a:srgbClr val="FFFFFF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70" name="Google Shape;170;p17"/>
            <p:cNvSpPr txBox="1"/>
            <p:nvPr/>
          </p:nvSpPr>
          <p:spPr>
            <a:xfrm>
              <a:off x="1371600" y="8953500"/>
              <a:ext cx="155448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La excelencia no es negociable en lanzamientos de impacto ciudadano.</a:t>
              </a:r>
              <a:endParaRPr b="0" sz="16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8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8"/>
          <p:cNvSpPr txBox="1"/>
          <p:nvPr/>
        </p:nvSpPr>
        <p:spPr>
          <a:xfrm>
            <a:off x="1371600" y="3200400"/>
            <a:ext cx="15544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Diez de diez o no se lanza</a:t>
            </a:r>
            <a:endParaRPr/>
          </a:p>
        </p:txBody>
      </p:sp>
      <p:sp>
        <p:nvSpPr>
          <p:cNvPr id="178" name="Google Shape;178;p18"/>
          <p:cNvSpPr txBox="1"/>
          <p:nvPr/>
        </p:nvSpPr>
        <p:spPr>
          <a:xfrm>
            <a:off x="1371600" y="4000505"/>
            <a:ext cx="15544800" cy="25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Una persona externa que lo logre sola</a:t>
            </a:r>
            <a:endParaRPr/>
          </a:p>
        </p:txBody>
      </p:sp>
      <p:sp>
        <p:nvSpPr>
          <p:cNvPr id="179" name="Google Shape;179;p18"/>
          <p:cNvSpPr txBox="1"/>
          <p:nvPr/>
        </p:nvSpPr>
        <p:spPr>
          <a:xfrm>
            <a:off x="1371600" y="6734275"/>
            <a:ext cx="1554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es el verdadero criterio de éxito.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