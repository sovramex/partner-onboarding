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19.2s · 48 palabras]</a:t>
            </a:r>
          </a:p>
          <a:p/>
          <a:p>
            <a:r>
              <a:t>Antes de capacitar a nadie y antes de armar comunicación, tienes que cerrar el testing en producción. No el de Fase C, que era end-to-end técnico. El de Fase D, que es ejecutar el flujo completo en el ambiente real, con datos reales, como si fueras un ciudadano.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12.4s · 31 palabras]</a:t>
            </a:r>
          </a:p>
          <a:p/>
          <a:p>
            <a:r>
              <a:t>Son diez casos por trámite. Si tienes cinco trámites en producción, son cincuenta pasadas completas. Lo voy a decir derecho porque a veces se subestima: esto se hace, no se discute.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34.0s · 85 palabras]</a:t>
            </a:r>
          </a:p>
          <a:p/>
          <a:p>
            <a:r>
              <a:t>Los diez casos cubren el viaje completo del ciudadano y del operador. Que el ciudadano encuentre el trámite en la guía pública. Que se registre y se autentique sin fricción, incluyendo la integración con el sistema de identidad del gobierno si aplica. Que complete el formulario, adjunte documentos y los envíe. Que el operador reciba el expediente y pueda gestionar todas las etapas. Que el ciudadano reciba la notificación del resultado, sea aprobación o rechazo. Que el documento de salida se genere bien cuando corresponda.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19.2s · 48 palabras]</a:t>
            </a:r>
          </a:p>
          <a:p/>
          <a:p>
            <a:r>
              <a:t>Que las validaciones de campos obligatorios funcionen, tanto del lado ciudadano como del operador. Que el flujo completo se vea bien en celular, porque la mayoría va a entrar desde ahí. Y que un rechazo por documentación incompleta le llegue al ciudadano con instrucciones claras de qué corregir.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17.6s · 44 palabras]</a:t>
            </a:r>
          </a:p>
          <a:p/>
          <a:p>
            <a:r>
              <a:t>El criterio para decir listo para lanzar es estricto: diez de diez casos pasados por trámite, cero bugs críticos abiertos, y al menos una persona externa al proyecto que haya completado el trámite sin ayuda. Si te falta uno, no lanzas. Negocias la fecha.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8.0s · 20 palabras]</a:t>
            </a:r>
          </a:p>
          <a:p/>
          <a:p>
            <a:r>
              <a:t>Diez de diez o no se lanza. Una persona externa que lo logre sola es el verdadero criterio de éxito.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59669"/>
                </a:solidFill>
                <a:latin typeface="Figtree"/>
              </a:rPr>
              <a:t>FASE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155448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 b="1" i="0">
                <a:solidFill>
                  <a:srgbClr val="0A0915"/>
                </a:solidFill>
                <a:latin typeface="Plus Jakarta Sans"/>
              </a:rPr>
              <a:t>Pruebas en producción</a:t>
            </a:r>
          </a:p>
          <a:p>
            <a:pPr algn="l">
              <a:lnSpc>
                <a:spcPct val="110000"/>
              </a:lnSpc>
            </a:pPr>
            <a:r>
              <a:rPr sz="8000" b="1" i="0">
                <a:solidFill>
                  <a:srgbClr val="0A0915"/>
                </a:solidFill>
                <a:latin typeface="Plus Jakarta Sans"/>
              </a:rPr>
              <a:t>antes de hablar de lanzamiento.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772400"/>
            <a:ext cx="1554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888888"/>
                </a:solidFill>
                <a:latin typeface="Figtree"/>
              </a:rPr>
              <a:t>Diez casos por trámite. No se discute, se hace.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59669"/>
                </a:solidFill>
                <a:latin typeface="Figtree"/>
              </a:rPr>
              <a:t>Qué es y qué no 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No es el testing de Fase 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858000"/>
            <a:ext cx="14630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 b="0" i="0">
                <a:solidFill>
                  <a:srgbClr val="0A0915"/>
                </a:solidFill>
                <a:latin typeface="Figtree"/>
              </a:rPr>
              <a:t>Fase C era end-to-end técnico. Fase D es ejecutar el flujo completo en el ambiente real, con datos reales, como si fueras un ciudadano.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15544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0A0915"/>
                </a:solidFill>
                <a:latin typeface="Plus Jakarta Sans"/>
              </a:rPr>
              <a:t>Los diez casos</a:t>
            </a:r>
          </a:p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0A0915"/>
                </a:solidFill>
                <a:latin typeface="Plus Jakarta Sans"/>
              </a:rPr>
              <a:t>cubren el viaje completo.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3886200"/>
            <a:ext cx="228600" cy="2286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El ciudadano encuentra el trámite en la guía pública.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709160"/>
            <a:ext cx="228600" cy="2286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48056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Se registra y autentica sin fricción, integración de identidad incluida.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532120"/>
            <a:ext cx="228600" cy="2286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530352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Completa el formulario, adjunta documentos, envía.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6355080"/>
            <a:ext cx="228600" cy="2286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612648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El operador recibe el expediente y gestiona todas las etapas.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7178040"/>
            <a:ext cx="228600" cy="2286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694944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El ciudadano recibe la notificación del resultado, aprobación o rechazo.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8001000"/>
            <a:ext cx="228600" cy="2286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777240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El documento de salida se genera bien cuando corresponda.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15544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0A0915"/>
                </a:solidFill>
                <a:latin typeface="Plus Jakarta Sans"/>
              </a:rPr>
              <a:t>Y los casos que se olvidan más.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3886200"/>
            <a:ext cx="228600" cy="2286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Validaciones de campos obligatorios — del lado ciudadano y operador.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709160"/>
            <a:ext cx="228600" cy="2286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48056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El flujo completo se ve bien en celular. La mayoría entra desde ahí.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532120"/>
            <a:ext cx="228600" cy="2286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530352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Un rechazo por documentación incompleta llega con instrucciones claras.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6355080"/>
            <a:ext cx="228600" cy="2286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6126480"/>
            <a:ext cx="1508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A0915"/>
                </a:solidFill>
                <a:latin typeface="Figtree"/>
              </a:rPr>
              <a:t>Diez casos por trámite. Cinco trámites = cincuenta pasadas completas.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15544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600" b="1" i="0">
                <a:solidFill>
                  <a:srgbClr val="0A0915"/>
                </a:solidFill>
                <a:latin typeface="Plus Jakarta Sans"/>
              </a:rPr>
              <a:t>El criterio para</a:t>
            </a:r>
          </a:p>
          <a:p>
            <a:pPr algn="ctr">
              <a:lnSpc>
                <a:spcPct val="110000"/>
              </a:lnSpc>
            </a:pPr>
            <a:r>
              <a:rPr sz="4600" b="1" i="0">
                <a:solidFill>
                  <a:srgbClr val="0A0915"/>
                </a:solidFill>
                <a:latin typeface="Plus Jakarta Sans"/>
              </a:rPr>
              <a:t>"listo para lanzar".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4754880"/>
            <a:ext cx="6400800" cy="4114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5120640"/>
            <a:ext cx="914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DC2626"/>
                </a:solidFill>
                <a:latin typeface="Plus Jakarta Sans"/>
              </a:rPr>
              <a:t>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217920"/>
            <a:ext cx="5486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A0915"/>
                </a:solidFill>
                <a:latin typeface="Plus Jakarta Sans"/>
              </a:rPr>
              <a:t>Casi listo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7315200"/>
            <a:ext cx="5486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888888"/>
                </a:solidFill>
                <a:latin typeface="Figtree"/>
              </a:rPr>
              <a:t>9 de 10 casos pasados.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888888"/>
                </a:solidFill>
                <a:latin typeface="Figtree"/>
              </a:rPr>
              <a:t>Un bug crítico abierto.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888888"/>
                </a:solidFill>
                <a:latin typeface="Figtree"/>
              </a:rPr>
              <a:t>"Lo arreglamos después."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4754880"/>
            <a:ext cx="6400800" cy="4114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5120640"/>
            <a:ext cx="914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0B981"/>
                </a:solidFill>
                <a:latin typeface="Plus Jakarta San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217920"/>
            <a:ext cx="5486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A0915"/>
                </a:solidFill>
                <a:latin typeface="Plus Jakarta Sans"/>
              </a:rPr>
              <a:t>Listo de verdad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7315200"/>
            <a:ext cx="5486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888888"/>
                </a:solidFill>
                <a:latin typeface="Figtree"/>
              </a:rPr>
              <a:t>10 de 10 por trámite.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888888"/>
                </a:solidFill>
                <a:latin typeface="Figtree"/>
              </a:rPr>
              <a:t>Cero bugs críticos abiertos.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888888"/>
                </a:solidFill>
                <a:latin typeface="Figtree"/>
              </a:rPr>
              <a:t>Una persona externa lo completó sola.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0" i="0">
                <a:solidFill>
                  <a:srgbClr val="FFFFFF"/>
                </a:solidFill>
                <a:latin typeface="Plus Jakarta Sans"/>
              </a:rPr>
              <a:t>Diez de diez o no se lanza.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15544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7800" b="1" i="0">
                <a:solidFill>
                  <a:srgbClr val="FFFFFF"/>
                </a:solidFill>
                <a:latin typeface="Plus Jakarta Sans"/>
              </a:rPr>
              <a:t>Una persona externa que lo logre sola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315200"/>
            <a:ext cx="15544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 i="0">
                <a:solidFill>
                  <a:srgbClr val="FFFFFF"/>
                </a:solidFill>
                <a:latin typeface="Plus Jakarta Sans"/>
              </a:rPr>
              <a:t>es el verdadero criterio de éxito.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CE5FF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