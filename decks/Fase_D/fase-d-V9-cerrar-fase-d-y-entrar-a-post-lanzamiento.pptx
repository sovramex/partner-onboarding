
<file path=[Content_Types].xml><?xml version="1.0" encoding="utf-8"?>
<Types xmlns="http://schemas.openxmlformats.org/package/2006/content-types">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10287000" cx="18288000"/>
  <p:notesSz cx="6858000" cy="9144000"/>
  <p:embeddedFontLst>
    <p:embeddedFont>
      <p:font typeface="Inter SemiBold"/>
      <p:regular r:id="rId13"/>
      <p:bold r:id="rId14"/>
      <p:italic r:id="rId15"/>
      <p:boldItalic r:id="rId16"/>
    </p:embeddedFont>
    <p:embeddedFont>
      <p:font typeface="Inter"/>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Inter-boldItalic.fnt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InterSemiBold-regular.fntdata"/><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SemiBold-italic.fntdata"/><Relationship Id="rId14" Type="http://schemas.openxmlformats.org/officeDocument/2006/relationships/font" Target="fonts/InterSemiBold-bold.fntdata"/><Relationship Id="rId17" Type="http://schemas.openxmlformats.org/officeDocument/2006/relationships/font" Target="fonts/Inter-regular.fntdata"/><Relationship Id="rId16" Type="http://schemas.openxmlformats.org/officeDocument/2006/relationships/font" Target="fonts/InterSemiBold-boldItalic.fntdata"/><Relationship Id="rId5" Type="http://schemas.openxmlformats.org/officeDocument/2006/relationships/notesMaster" Target="notesMasters/notesMaster1.xml"/><Relationship Id="rId19" Type="http://schemas.openxmlformats.org/officeDocument/2006/relationships/font" Target="fonts/Inter-italic.fntdata"/><Relationship Id="rId6" Type="http://schemas.openxmlformats.org/officeDocument/2006/relationships/slide" Target="slides/slide1.xml"/><Relationship Id="rId18" Type="http://schemas.openxmlformats.org/officeDocument/2006/relationships/font" Target="fonts/Inter-bold.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4.0s · 10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Para cerrar Fase D con tranquilidad, repasa este checklist mental.</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26.4s · 66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¿Las pruebas en producción están pasadas? ¿Los accesos de cada operador están gestionados y confirmados uno a uno? ¿Los operadores están capacitados en su flujo específico, no en una demo genérica? ¿El modelo de soporte está socializado, con los tres niveles claros y SLAs aceptados? ¿El equipo de comunicación tiene los materiales y el plan de lanzamiento? ¿Los tomadores de decisión están alineados con el discurso?</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16.0s · 40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fecha de lanzamiento está confirmada? ¿Tienes el runbook escrito? ¿Los roles están verificados y vigentes, incluyendo el Nivel 1 de soporte con nombres concretos? Si todo eso está, lanzas. Si falta uno solo, te detienes y lo resuelves antes.</a:t>
            </a:r>
            <a:endParaRPr/>
          </a:p>
        </p:txBody>
      </p:sp>
      <p:sp>
        <p:nvSpPr>
          <p:cNvPr id="105" name="Google Shape;105;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29.2s · 73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Algo importante sobre Fase D que vale recordar: las reuniones acá las lidera el partner. Sovra no entra a capacitar operadores ni a presentar el modelo de soporte. Sovra entra solo si hay un escalamiento real: un problema en producción que afecta disponibilidad, un cambio de alcance del gobierno antes de lanzar, o un conflicto político que amenaza la fecha. Si te encuentras en alguno de esos tres, escalas. Si no, sigues tú.</a:t>
            </a:r>
            <a:endParaRPr/>
          </a:p>
        </p:txBody>
      </p:sp>
      <p:sp>
        <p:nvSpPr>
          <p:cNvPr id="121" name="Google Shape;121;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17.2s · 43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Y la otra cosa, no menor: en Fase D la minuta se vuelve más frecuente. Puede ser dos veces por semana. Después de cada reunión, mandas qué se acordó, qué quedó pendiente, quién es responsable. No se entrega un lanzamiento sin esa trazabilidad.</a:t>
            </a:r>
            <a:endParaRPr/>
          </a:p>
        </p:txBody>
      </p:sp>
      <p:sp>
        <p:nvSpPr>
          <p:cNvPr id="134" name="Google Shape;134;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8" name="Google Shape;148;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22.4s · 56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 que viene es Fase E, post-lanzamiento. Ahí el foco cambia de nuevo: monitoreo de métricas reales, documentación de lecciones aprendidas y cierre del proyecto. La adrenalina del día 1 ya pasó, pero el trabajo no terminó. La Fase E es la que define si la implementación se sostiene o se desinfla a los tres meses.</a:t>
            </a:r>
            <a:endParaRPr/>
          </a:p>
        </p:txBody>
      </p:sp>
      <p:sp>
        <p:nvSpPr>
          <p:cNvPr id="149" name="Google Shape;149;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2" name="Google Shape;162;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10.0s · 25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Fase D termina cuando lanzas con la gente lista, no cuando termina el calendario. Si llegaste hasta acá con los nueve ítems cerrados, estás listo.</a:t>
            </a:r>
            <a:endParaRPr/>
          </a:p>
        </p:txBody>
      </p:sp>
      <p:sp>
        <p:nvSpPr>
          <p:cNvPr id="163" name="Google Shape;163;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059669"/>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059669"/>
                </a:solidFill>
                <a:latin typeface="Inter"/>
                <a:ea typeface="Inter"/>
                <a:cs typeface="Inter"/>
                <a:sym typeface="Inter"/>
              </a:rPr>
              <a:t>FASE D</a:t>
            </a:r>
            <a:endParaRPr/>
          </a:p>
        </p:txBody>
      </p:sp>
      <p:sp>
        <p:nvSpPr>
          <p:cNvPr id="87" name="Google Shape;87;p13"/>
          <p:cNvSpPr txBox="1"/>
          <p:nvPr/>
        </p:nvSpPr>
        <p:spPr>
          <a:xfrm>
            <a:off x="1371600" y="3840480"/>
            <a:ext cx="15544800" cy="2586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Cerrar Fase D</a:t>
            </a:r>
            <a:endParaRPr/>
          </a:p>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y entrar a post-lanzamiento</a:t>
            </a:r>
            <a:endParaRPr/>
          </a:p>
        </p:txBody>
      </p:sp>
      <p:sp>
        <p:nvSpPr>
          <p:cNvPr id="88" name="Google Shape;88;p13"/>
          <p:cNvSpPr txBox="1"/>
          <p:nvPr/>
        </p:nvSpPr>
        <p:spPr>
          <a:xfrm>
            <a:off x="1371600" y="6517900"/>
            <a:ext cx="15544800" cy="338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Si todo está, lanzas. Si falta uno solo, te detienes y lo resuelves antes.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4"/>
          <p:cNvSpPr/>
          <p:nvPr/>
        </p:nvSpPr>
        <p:spPr>
          <a:xfrm>
            <a:off x="0" y="0"/>
            <a:ext cx="18288000" cy="228600"/>
          </a:xfrm>
          <a:prstGeom prst="rect">
            <a:avLst/>
          </a:prstGeom>
          <a:solidFill>
            <a:srgbClr val="0596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 name="Google Shape;95;p14"/>
          <p:cNvSpPr txBox="1"/>
          <p:nvPr/>
        </p:nvSpPr>
        <p:spPr>
          <a:xfrm>
            <a:off x="1371600" y="952500"/>
            <a:ext cx="7620000" cy="1413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4590">
                <a:solidFill>
                  <a:srgbClr val="0A0915"/>
                </a:solidFill>
                <a:latin typeface="Inter"/>
                <a:ea typeface="Inter"/>
                <a:cs typeface="Inter"/>
                <a:sym typeface="Inter"/>
              </a:rPr>
              <a:t>Checklist mental</a:t>
            </a:r>
            <a:endParaRPr b="1" i="0" sz="4590">
              <a:solidFill>
                <a:srgbClr val="0A0915"/>
              </a:solidFill>
              <a:latin typeface="Inter"/>
              <a:ea typeface="Inter"/>
              <a:cs typeface="Inter"/>
              <a:sym typeface="Inter"/>
            </a:endParaRPr>
          </a:p>
          <a:p>
            <a:pPr indent="0" lvl="0" marL="0" rtl="0" algn="l">
              <a:spcBef>
                <a:spcPts val="0"/>
              </a:spcBef>
              <a:spcAft>
                <a:spcPts val="0"/>
              </a:spcAft>
              <a:buNone/>
            </a:pPr>
            <a:r>
              <a:rPr b="1" i="0" lang="en-US" sz="4590">
                <a:solidFill>
                  <a:srgbClr val="059669"/>
                </a:solidFill>
                <a:latin typeface="Inter"/>
                <a:ea typeface="Inter"/>
                <a:cs typeface="Inter"/>
                <a:sym typeface="Inter"/>
              </a:rPr>
              <a:t>antes de lanzar</a:t>
            </a:r>
            <a:endParaRPr b="1" i="0" sz="4590">
              <a:solidFill>
                <a:srgbClr val="059669"/>
              </a:solidFill>
              <a:latin typeface="Inter"/>
              <a:ea typeface="Inter"/>
              <a:cs typeface="Inter"/>
              <a:sym typeface="Inter"/>
            </a:endParaRPr>
          </a:p>
        </p:txBody>
      </p:sp>
      <p:sp>
        <p:nvSpPr>
          <p:cNvPr id="96" name="Google Shape;96;p14"/>
          <p:cNvSpPr txBox="1"/>
          <p:nvPr/>
        </p:nvSpPr>
        <p:spPr>
          <a:xfrm>
            <a:off x="1371600" y="3048000"/>
            <a:ext cx="7429500" cy="1531500"/>
          </a:xfrm>
          <a:prstGeom prst="rect">
            <a:avLst/>
          </a:prstGeom>
          <a:solidFill>
            <a:srgbClr val="F8FAFC"/>
          </a:solidFill>
          <a:ln>
            <a:noFill/>
          </a:ln>
        </p:spPr>
        <p:txBody>
          <a:bodyPr anchorCtr="0" anchor="ctr" bIns="381000" lIns="381000" spcFirstLastPara="1" rIns="381000" wrap="square" tIns="381000">
            <a:spAutoFit/>
          </a:bodyPr>
          <a:lstStyle/>
          <a:p>
            <a:pPr indent="0" lvl="0" marL="0" rtl="0" algn="l">
              <a:spcBef>
                <a:spcPts val="0"/>
              </a:spcBef>
              <a:spcAft>
                <a:spcPts val="0"/>
              </a:spcAft>
              <a:buNone/>
            </a:pPr>
            <a:r>
              <a:rPr b="1" lang="en-US" sz="2400">
                <a:solidFill>
                  <a:srgbClr val="059669"/>
                </a:solidFill>
                <a:latin typeface="Inter"/>
                <a:ea typeface="Inter"/>
                <a:cs typeface="Inter"/>
                <a:sym typeface="Inter"/>
              </a:rPr>
              <a:t>01</a:t>
            </a:r>
            <a:endParaRPr b="1" sz="2400">
              <a:solidFill>
                <a:srgbClr val="059669"/>
              </a:solidFill>
              <a:latin typeface="Inter"/>
              <a:ea typeface="Inter"/>
              <a:cs typeface="Inter"/>
              <a:sym typeface="Inter"/>
            </a:endParaRPr>
          </a:p>
          <a:p>
            <a:pPr indent="0" lvl="0" marL="0" rtl="0" algn="l">
              <a:spcBef>
                <a:spcPts val="900"/>
              </a:spcBef>
              <a:spcAft>
                <a:spcPts val="0"/>
              </a:spcAft>
              <a:buNone/>
            </a:pPr>
            <a:r>
              <a:rPr b="0" lang="en-US" sz="1800">
                <a:solidFill>
                  <a:srgbClr val="0A0915"/>
                </a:solidFill>
                <a:latin typeface="Inter SemiBold"/>
                <a:ea typeface="Inter SemiBold"/>
                <a:cs typeface="Inter SemiBold"/>
                <a:sym typeface="Inter SemiBold"/>
              </a:rPr>
              <a:t>Pruebas en producción pasadas.</a:t>
            </a:r>
            <a:endParaRPr b="0" sz="1800">
              <a:solidFill>
                <a:srgbClr val="0A0915"/>
              </a:solidFill>
              <a:latin typeface="Inter SemiBold"/>
              <a:ea typeface="Inter SemiBold"/>
              <a:cs typeface="Inter SemiBold"/>
              <a:sym typeface="Inter SemiBold"/>
            </a:endParaRPr>
          </a:p>
        </p:txBody>
      </p:sp>
      <p:sp>
        <p:nvSpPr>
          <p:cNvPr id="97" name="Google Shape;97;p14"/>
          <p:cNvSpPr txBox="1"/>
          <p:nvPr/>
        </p:nvSpPr>
        <p:spPr>
          <a:xfrm>
            <a:off x="9486900" y="3048000"/>
            <a:ext cx="7429500" cy="1434600"/>
          </a:xfrm>
          <a:prstGeom prst="rect">
            <a:avLst/>
          </a:prstGeom>
          <a:solidFill>
            <a:srgbClr val="F8FAFC"/>
          </a:solidFill>
          <a:ln>
            <a:noFill/>
          </a:ln>
        </p:spPr>
        <p:txBody>
          <a:bodyPr anchorCtr="0" anchor="ctr" bIns="381000" lIns="381000" spcFirstLastPara="1" rIns="381000" wrap="square" tIns="381000">
            <a:spAutoFit/>
          </a:bodyPr>
          <a:lstStyle/>
          <a:p>
            <a:pPr indent="0" lvl="0" marL="0" rtl="0" algn="l">
              <a:spcBef>
                <a:spcPts val="0"/>
              </a:spcBef>
              <a:spcAft>
                <a:spcPts val="0"/>
              </a:spcAft>
              <a:buNone/>
            </a:pPr>
            <a:r>
              <a:rPr b="1" lang="en-US" sz="2040">
                <a:solidFill>
                  <a:srgbClr val="059669"/>
                </a:solidFill>
                <a:latin typeface="Inter"/>
                <a:ea typeface="Inter"/>
                <a:cs typeface="Inter"/>
                <a:sym typeface="Inter"/>
              </a:rPr>
              <a:t>02</a:t>
            </a:r>
            <a:endParaRPr b="1" sz="2040">
              <a:solidFill>
                <a:srgbClr val="059669"/>
              </a:solidFill>
              <a:latin typeface="Inter"/>
              <a:ea typeface="Inter"/>
              <a:cs typeface="Inter"/>
              <a:sym typeface="Inter"/>
            </a:endParaRPr>
          </a:p>
          <a:p>
            <a:pPr indent="0" lvl="0" marL="0" rtl="0" algn="l">
              <a:spcBef>
                <a:spcPts val="900"/>
              </a:spcBef>
              <a:spcAft>
                <a:spcPts val="0"/>
              </a:spcAft>
              <a:buNone/>
            </a:pPr>
            <a:r>
              <a:rPr b="0" lang="en-US" sz="1530">
                <a:solidFill>
                  <a:srgbClr val="0A0915"/>
                </a:solidFill>
                <a:latin typeface="Inter SemiBold"/>
                <a:ea typeface="Inter SemiBold"/>
                <a:cs typeface="Inter SemiBold"/>
                <a:sym typeface="Inter SemiBold"/>
              </a:rPr>
              <a:t>Accesos de cada operador gestionados y confirmados uno a uno.</a:t>
            </a:r>
            <a:endParaRPr b="0" sz="1530">
              <a:solidFill>
                <a:srgbClr val="0A0915"/>
              </a:solidFill>
              <a:latin typeface="Inter SemiBold"/>
              <a:ea typeface="Inter SemiBold"/>
              <a:cs typeface="Inter SemiBold"/>
              <a:sym typeface="Inter SemiBold"/>
            </a:endParaRPr>
          </a:p>
        </p:txBody>
      </p:sp>
      <p:sp>
        <p:nvSpPr>
          <p:cNvPr id="98" name="Google Shape;98;p14"/>
          <p:cNvSpPr txBox="1"/>
          <p:nvPr/>
        </p:nvSpPr>
        <p:spPr>
          <a:xfrm>
            <a:off x="1371600" y="5143500"/>
            <a:ext cx="7429500" cy="1670100"/>
          </a:xfrm>
          <a:prstGeom prst="rect">
            <a:avLst/>
          </a:prstGeom>
          <a:solidFill>
            <a:srgbClr val="F8FAFC"/>
          </a:solidFill>
          <a:ln>
            <a:noFill/>
          </a:ln>
        </p:spPr>
        <p:txBody>
          <a:bodyPr anchorCtr="0" anchor="ctr" bIns="381000" lIns="381000" spcFirstLastPara="1" rIns="381000" wrap="square" tIns="381000">
            <a:spAutoFit/>
          </a:bodyPr>
          <a:lstStyle/>
          <a:p>
            <a:pPr indent="0" lvl="0" marL="0" rtl="0" algn="l">
              <a:spcBef>
                <a:spcPts val="0"/>
              </a:spcBef>
              <a:spcAft>
                <a:spcPts val="0"/>
              </a:spcAft>
              <a:buNone/>
            </a:pPr>
            <a:r>
              <a:rPr b="1" lang="en-US" sz="2040">
                <a:solidFill>
                  <a:srgbClr val="059669"/>
                </a:solidFill>
                <a:latin typeface="Inter"/>
                <a:ea typeface="Inter"/>
                <a:cs typeface="Inter"/>
                <a:sym typeface="Inter"/>
              </a:rPr>
              <a:t>03</a:t>
            </a:r>
            <a:endParaRPr b="1" sz="2040">
              <a:solidFill>
                <a:srgbClr val="059669"/>
              </a:solidFill>
              <a:latin typeface="Inter"/>
              <a:ea typeface="Inter"/>
              <a:cs typeface="Inter"/>
              <a:sym typeface="Inter"/>
            </a:endParaRPr>
          </a:p>
          <a:p>
            <a:pPr indent="0" lvl="0" marL="0" rtl="0" algn="l">
              <a:spcBef>
                <a:spcPts val="900"/>
              </a:spcBef>
              <a:spcAft>
                <a:spcPts val="0"/>
              </a:spcAft>
              <a:buNone/>
            </a:pPr>
            <a:r>
              <a:rPr b="0" lang="en-US" sz="1530">
                <a:solidFill>
                  <a:srgbClr val="0A0915"/>
                </a:solidFill>
                <a:latin typeface="Inter SemiBold"/>
                <a:ea typeface="Inter SemiBold"/>
                <a:cs typeface="Inter SemiBold"/>
                <a:sym typeface="Inter SemiBold"/>
              </a:rPr>
              <a:t>Operadores capacitados en su flujo específico, no en una demo genérica.</a:t>
            </a:r>
            <a:endParaRPr b="0" sz="1530">
              <a:solidFill>
                <a:srgbClr val="0A0915"/>
              </a:solidFill>
              <a:latin typeface="Inter SemiBold"/>
              <a:ea typeface="Inter SemiBold"/>
              <a:cs typeface="Inter SemiBold"/>
              <a:sym typeface="Inter SemiBold"/>
            </a:endParaRPr>
          </a:p>
        </p:txBody>
      </p:sp>
      <p:sp>
        <p:nvSpPr>
          <p:cNvPr id="99" name="Google Shape;99;p14"/>
          <p:cNvSpPr txBox="1"/>
          <p:nvPr/>
        </p:nvSpPr>
        <p:spPr>
          <a:xfrm>
            <a:off x="9486900" y="5143500"/>
            <a:ext cx="7429500" cy="1434600"/>
          </a:xfrm>
          <a:prstGeom prst="rect">
            <a:avLst/>
          </a:prstGeom>
          <a:solidFill>
            <a:srgbClr val="F8FAFC"/>
          </a:solidFill>
          <a:ln>
            <a:noFill/>
          </a:ln>
        </p:spPr>
        <p:txBody>
          <a:bodyPr anchorCtr="0" anchor="ctr" bIns="381000" lIns="381000" spcFirstLastPara="1" rIns="381000" wrap="square" tIns="381000">
            <a:spAutoFit/>
          </a:bodyPr>
          <a:lstStyle/>
          <a:p>
            <a:pPr indent="0" lvl="0" marL="0" rtl="0" algn="l">
              <a:spcBef>
                <a:spcPts val="0"/>
              </a:spcBef>
              <a:spcAft>
                <a:spcPts val="0"/>
              </a:spcAft>
              <a:buNone/>
            </a:pPr>
            <a:r>
              <a:rPr b="1" lang="en-US" sz="2040">
                <a:solidFill>
                  <a:srgbClr val="059669"/>
                </a:solidFill>
                <a:latin typeface="Inter"/>
                <a:ea typeface="Inter"/>
                <a:cs typeface="Inter"/>
                <a:sym typeface="Inter"/>
              </a:rPr>
              <a:t>04</a:t>
            </a:r>
            <a:endParaRPr b="1" sz="2040">
              <a:solidFill>
                <a:srgbClr val="059669"/>
              </a:solidFill>
              <a:latin typeface="Inter"/>
              <a:ea typeface="Inter"/>
              <a:cs typeface="Inter"/>
              <a:sym typeface="Inter"/>
            </a:endParaRPr>
          </a:p>
          <a:p>
            <a:pPr indent="0" lvl="0" marL="0" rtl="0" algn="l">
              <a:spcBef>
                <a:spcPts val="900"/>
              </a:spcBef>
              <a:spcAft>
                <a:spcPts val="0"/>
              </a:spcAft>
              <a:buNone/>
            </a:pPr>
            <a:r>
              <a:rPr b="0" lang="en-US" sz="1530">
                <a:solidFill>
                  <a:srgbClr val="0A0915"/>
                </a:solidFill>
                <a:latin typeface="Inter SemiBold"/>
                <a:ea typeface="Inter SemiBold"/>
                <a:cs typeface="Inter SemiBold"/>
                <a:sym typeface="Inter SemiBold"/>
              </a:rPr>
              <a:t>Modelo de soporte socializado: tres niveles claros y SLAs aceptados.</a:t>
            </a:r>
            <a:endParaRPr b="0" sz="1530">
              <a:solidFill>
                <a:srgbClr val="0A0915"/>
              </a:solidFill>
              <a:latin typeface="Inter SemiBold"/>
              <a:ea typeface="Inter SemiBold"/>
              <a:cs typeface="Inter SemiBold"/>
              <a:sym typeface="Inter SemiBold"/>
            </a:endParaRPr>
          </a:p>
        </p:txBody>
      </p:sp>
      <p:sp>
        <p:nvSpPr>
          <p:cNvPr id="100" name="Google Shape;100;p14"/>
          <p:cNvSpPr txBox="1"/>
          <p:nvPr/>
        </p:nvSpPr>
        <p:spPr>
          <a:xfrm>
            <a:off x="1371600" y="7239000"/>
            <a:ext cx="7429500" cy="1531500"/>
          </a:xfrm>
          <a:prstGeom prst="rect">
            <a:avLst/>
          </a:prstGeom>
          <a:solidFill>
            <a:srgbClr val="F8FAFC"/>
          </a:solidFill>
          <a:ln>
            <a:noFill/>
          </a:ln>
        </p:spPr>
        <p:txBody>
          <a:bodyPr anchorCtr="0" anchor="ctr" bIns="381000" lIns="381000" spcFirstLastPara="1" rIns="381000" wrap="square" tIns="381000">
            <a:spAutoFit/>
          </a:bodyPr>
          <a:lstStyle/>
          <a:p>
            <a:pPr indent="0" lvl="0" marL="0" rtl="0" algn="l">
              <a:spcBef>
                <a:spcPts val="0"/>
              </a:spcBef>
              <a:spcAft>
                <a:spcPts val="0"/>
              </a:spcAft>
              <a:buNone/>
            </a:pPr>
            <a:r>
              <a:rPr b="1" lang="en-US" sz="2400">
                <a:solidFill>
                  <a:srgbClr val="059669"/>
                </a:solidFill>
                <a:latin typeface="Inter"/>
                <a:ea typeface="Inter"/>
                <a:cs typeface="Inter"/>
                <a:sym typeface="Inter"/>
              </a:rPr>
              <a:t>05</a:t>
            </a:r>
            <a:endParaRPr b="1" sz="2400">
              <a:solidFill>
                <a:srgbClr val="059669"/>
              </a:solidFill>
              <a:latin typeface="Inter"/>
              <a:ea typeface="Inter"/>
              <a:cs typeface="Inter"/>
              <a:sym typeface="Inter"/>
            </a:endParaRPr>
          </a:p>
          <a:p>
            <a:pPr indent="0" lvl="0" marL="0" rtl="0" algn="l">
              <a:spcBef>
                <a:spcPts val="900"/>
              </a:spcBef>
              <a:spcAft>
                <a:spcPts val="0"/>
              </a:spcAft>
              <a:buNone/>
            </a:pPr>
            <a:r>
              <a:rPr b="0" lang="en-US" sz="1800">
                <a:solidFill>
                  <a:srgbClr val="0A0915"/>
                </a:solidFill>
                <a:latin typeface="Inter SemiBold"/>
                <a:ea typeface="Inter SemiBold"/>
                <a:cs typeface="Inter SemiBold"/>
                <a:sym typeface="Inter SemiBold"/>
              </a:rPr>
              <a:t>Comunicación con materiales y plan de lanzamiento.</a:t>
            </a:r>
            <a:endParaRPr b="0" sz="1800">
              <a:solidFill>
                <a:srgbClr val="0A0915"/>
              </a:solidFill>
              <a:latin typeface="Inter SemiBold"/>
              <a:ea typeface="Inter SemiBold"/>
              <a:cs typeface="Inter SemiBold"/>
              <a:sym typeface="Inter SemiBold"/>
            </a:endParaRPr>
          </a:p>
        </p:txBody>
      </p:sp>
      <p:sp>
        <p:nvSpPr>
          <p:cNvPr id="101" name="Google Shape;101;p14"/>
          <p:cNvSpPr txBox="1"/>
          <p:nvPr/>
        </p:nvSpPr>
        <p:spPr>
          <a:xfrm>
            <a:off x="9486900" y="7239000"/>
            <a:ext cx="7429500" cy="1531500"/>
          </a:xfrm>
          <a:prstGeom prst="rect">
            <a:avLst/>
          </a:prstGeom>
          <a:solidFill>
            <a:srgbClr val="F8FAFC"/>
          </a:solidFill>
          <a:ln>
            <a:noFill/>
          </a:ln>
        </p:spPr>
        <p:txBody>
          <a:bodyPr anchorCtr="0" anchor="ctr" bIns="381000" lIns="381000" spcFirstLastPara="1" rIns="381000" wrap="square" tIns="381000">
            <a:spAutoFit/>
          </a:bodyPr>
          <a:lstStyle/>
          <a:p>
            <a:pPr indent="0" lvl="0" marL="0" rtl="0" algn="l">
              <a:spcBef>
                <a:spcPts val="0"/>
              </a:spcBef>
              <a:spcAft>
                <a:spcPts val="0"/>
              </a:spcAft>
              <a:buNone/>
            </a:pPr>
            <a:r>
              <a:rPr b="1" lang="en-US" sz="2400">
                <a:solidFill>
                  <a:srgbClr val="059669"/>
                </a:solidFill>
                <a:latin typeface="Inter"/>
                <a:ea typeface="Inter"/>
                <a:cs typeface="Inter"/>
                <a:sym typeface="Inter"/>
              </a:rPr>
              <a:t>06</a:t>
            </a:r>
            <a:endParaRPr b="1" sz="2400">
              <a:solidFill>
                <a:srgbClr val="059669"/>
              </a:solidFill>
              <a:latin typeface="Inter"/>
              <a:ea typeface="Inter"/>
              <a:cs typeface="Inter"/>
              <a:sym typeface="Inter"/>
            </a:endParaRPr>
          </a:p>
          <a:p>
            <a:pPr indent="0" lvl="0" marL="0" rtl="0" algn="l">
              <a:spcBef>
                <a:spcPts val="900"/>
              </a:spcBef>
              <a:spcAft>
                <a:spcPts val="0"/>
              </a:spcAft>
              <a:buNone/>
            </a:pPr>
            <a:r>
              <a:rPr b="0" lang="en-US" sz="1800">
                <a:solidFill>
                  <a:srgbClr val="0A0915"/>
                </a:solidFill>
                <a:latin typeface="Inter SemiBold"/>
                <a:ea typeface="Inter SemiBold"/>
                <a:cs typeface="Inter SemiBold"/>
                <a:sym typeface="Inter SemiBold"/>
              </a:rPr>
              <a:t>Tomadores de decisión alineados con el discurso.</a:t>
            </a:r>
            <a:endParaRPr b="0" sz="1800">
              <a:solidFill>
                <a:srgbClr val="0A0915"/>
              </a:solidFill>
              <a:latin typeface="Inter SemiBold"/>
              <a:ea typeface="Inter SemiBold"/>
              <a:cs typeface="Inter SemiBold"/>
              <a:sym typeface="Inter SemiBo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p:nvPr/>
        </p:nvSpPr>
        <p:spPr>
          <a:xfrm>
            <a:off x="0" y="0"/>
            <a:ext cx="18288000" cy="228600"/>
          </a:xfrm>
          <a:prstGeom prst="rect">
            <a:avLst/>
          </a:prstGeom>
          <a:solidFill>
            <a:srgbClr val="0596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8" name="Google Shape;108;p15"/>
          <p:cNvSpPr txBox="1"/>
          <p:nvPr/>
        </p:nvSpPr>
        <p:spPr>
          <a:xfrm>
            <a:off x="1371600" y="952500"/>
            <a:ext cx="7620000" cy="1428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4590">
                <a:solidFill>
                  <a:srgbClr val="0A0915"/>
                </a:solidFill>
                <a:latin typeface="Inter"/>
                <a:ea typeface="Inter"/>
                <a:cs typeface="Inter"/>
                <a:sym typeface="Inter"/>
              </a:rPr>
              <a:t>Y los últimos</a:t>
            </a:r>
            <a:endParaRPr b="1" sz="4590">
              <a:solidFill>
                <a:srgbClr val="0A0915"/>
              </a:solidFill>
              <a:latin typeface="Inter"/>
              <a:ea typeface="Inter"/>
              <a:cs typeface="Inter"/>
              <a:sym typeface="Inter"/>
            </a:endParaRPr>
          </a:p>
          <a:p>
            <a:pPr indent="0" lvl="0" marL="0" rtl="0" algn="l">
              <a:spcBef>
                <a:spcPts val="0"/>
              </a:spcBef>
              <a:spcAft>
                <a:spcPts val="0"/>
              </a:spcAft>
              <a:buNone/>
            </a:pPr>
            <a:r>
              <a:rPr b="1" lang="en-US" sz="4590">
                <a:solidFill>
                  <a:srgbClr val="059669"/>
                </a:solidFill>
                <a:latin typeface="Inter"/>
                <a:ea typeface="Inter"/>
                <a:cs typeface="Inter"/>
                <a:sym typeface="Inter"/>
              </a:rPr>
              <a:t>tres ítems</a:t>
            </a:r>
            <a:endParaRPr b="1" sz="4590">
              <a:solidFill>
                <a:srgbClr val="0A0915"/>
              </a:solidFill>
              <a:latin typeface="Inter"/>
              <a:ea typeface="Inter"/>
              <a:cs typeface="Inter"/>
              <a:sym typeface="Inter"/>
            </a:endParaRPr>
          </a:p>
        </p:txBody>
      </p:sp>
      <p:grpSp>
        <p:nvGrpSpPr>
          <p:cNvPr id="109" name="Google Shape;109;p15"/>
          <p:cNvGrpSpPr/>
          <p:nvPr/>
        </p:nvGrpSpPr>
        <p:grpSpPr>
          <a:xfrm>
            <a:off x="1371600" y="3048000"/>
            <a:ext cx="4953000" cy="3810000"/>
            <a:chOff x="1371600" y="3048000"/>
            <a:chExt cx="4953000" cy="3810000"/>
          </a:xfrm>
        </p:grpSpPr>
        <p:sp>
          <p:nvSpPr>
            <p:cNvPr id="110" name="Google Shape;110;p15"/>
            <p:cNvSpPr/>
            <p:nvPr/>
          </p:nvSpPr>
          <p:spPr>
            <a:xfrm>
              <a:off x="1371600" y="3048000"/>
              <a:ext cx="4953000" cy="3810000"/>
            </a:xfrm>
            <a:prstGeom prst="rect">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1" name="Google Shape;111;p15"/>
            <p:cNvSpPr txBox="1"/>
            <p:nvPr/>
          </p:nvSpPr>
          <p:spPr>
            <a:xfrm>
              <a:off x="1371600" y="3048000"/>
              <a:ext cx="4953000" cy="3810000"/>
            </a:xfrm>
            <a:prstGeom prst="rect">
              <a:avLst/>
            </a:prstGeom>
            <a:noFill/>
            <a:ln>
              <a:noFill/>
            </a:ln>
          </p:spPr>
          <p:txBody>
            <a:bodyPr anchorCtr="0" anchor="ctr" bIns="381000" lIns="381000" spcFirstLastPara="1" rIns="381000" wrap="square" tIns="381000">
              <a:noAutofit/>
            </a:bodyPr>
            <a:lstStyle/>
            <a:p>
              <a:pPr indent="0" lvl="0" marL="0" rtl="0" algn="l">
                <a:spcBef>
                  <a:spcPts val="0"/>
                </a:spcBef>
                <a:spcAft>
                  <a:spcPts val="0"/>
                </a:spcAft>
                <a:buNone/>
              </a:pPr>
              <a:r>
                <a:rPr b="1" lang="en-US" sz="2400">
                  <a:solidFill>
                    <a:srgbClr val="059669"/>
                  </a:solidFill>
                  <a:latin typeface="Inter"/>
                  <a:ea typeface="Inter"/>
                  <a:cs typeface="Inter"/>
                  <a:sym typeface="Inter"/>
                </a:rPr>
                <a:t>07</a:t>
              </a:r>
              <a:endParaRPr b="1" sz="2400">
                <a:solidFill>
                  <a:srgbClr val="059669"/>
                </a:solidFill>
                <a:latin typeface="Inter"/>
                <a:ea typeface="Inter"/>
                <a:cs typeface="Inter"/>
                <a:sym typeface="Inter"/>
              </a:endParaRPr>
            </a:p>
            <a:p>
              <a:pPr indent="0" lvl="0" marL="0" rtl="0" algn="l">
                <a:spcBef>
                  <a:spcPts val="1500"/>
                </a:spcBef>
                <a:spcAft>
                  <a:spcPts val="0"/>
                </a:spcAft>
                <a:buNone/>
              </a:pPr>
              <a:r>
                <a:rPr b="0" lang="en-US" sz="2000">
                  <a:solidFill>
                    <a:srgbClr val="0A0915"/>
                  </a:solidFill>
                  <a:latin typeface="Inter SemiBold"/>
                  <a:ea typeface="Inter SemiBold"/>
                  <a:cs typeface="Inter SemiBold"/>
                  <a:sym typeface="Inter SemiBold"/>
                </a:rPr>
                <a:t>Fecha de lanzamiento confirmada.</a:t>
              </a:r>
              <a:endParaRPr b="0" sz="2000">
                <a:solidFill>
                  <a:srgbClr val="0A0915"/>
                </a:solidFill>
                <a:latin typeface="Inter SemiBold"/>
                <a:ea typeface="Inter SemiBold"/>
                <a:cs typeface="Inter SemiBold"/>
                <a:sym typeface="Inter SemiBold"/>
              </a:endParaRPr>
            </a:p>
          </p:txBody>
        </p:sp>
      </p:grpSp>
      <p:grpSp>
        <p:nvGrpSpPr>
          <p:cNvPr id="112" name="Google Shape;112;p15"/>
          <p:cNvGrpSpPr/>
          <p:nvPr/>
        </p:nvGrpSpPr>
        <p:grpSpPr>
          <a:xfrm>
            <a:off x="6667500" y="3048000"/>
            <a:ext cx="4953000" cy="3810000"/>
            <a:chOff x="6667500" y="3048000"/>
            <a:chExt cx="4953000" cy="3810000"/>
          </a:xfrm>
        </p:grpSpPr>
        <p:sp>
          <p:nvSpPr>
            <p:cNvPr id="113" name="Google Shape;113;p15"/>
            <p:cNvSpPr/>
            <p:nvPr/>
          </p:nvSpPr>
          <p:spPr>
            <a:xfrm>
              <a:off x="6667500" y="3048000"/>
              <a:ext cx="4953000" cy="3810000"/>
            </a:xfrm>
            <a:prstGeom prst="rect">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4" name="Google Shape;114;p15"/>
            <p:cNvSpPr txBox="1"/>
            <p:nvPr/>
          </p:nvSpPr>
          <p:spPr>
            <a:xfrm>
              <a:off x="6667500" y="3048000"/>
              <a:ext cx="4953000" cy="3810000"/>
            </a:xfrm>
            <a:prstGeom prst="rect">
              <a:avLst/>
            </a:prstGeom>
            <a:noFill/>
            <a:ln>
              <a:noFill/>
            </a:ln>
          </p:spPr>
          <p:txBody>
            <a:bodyPr anchorCtr="0" anchor="ctr" bIns="381000" lIns="381000" spcFirstLastPara="1" rIns="381000" wrap="square" tIns="381000">
              <a:noAutofit/>
            </a:bodyPr>
            <a:lstStyle/>
            <a:p>
              <a:pPr indent="0" lvl="0" marL="0" rtl="0" algn="l">
                <a:spcBef>
                  <a:spcPts val="0"/>
                </a:spcBef>
                <a:spcAft>
                  <a:spcPts val="0"/>
                </a:spcAft>
                <a:buNone/>
              </a:pPr>
              <a:r>
                <a:rPr b="1" lang="en-US" sz="2400">
                  <a:solidFill>
                    <a:srgbClr val="059669"/>
                  </a:solidFill>
                  <a:latin typeface="Inter"/>
                  <a:ea typeface="Inter"/>
                  <a:cs typeface="Inter"/>
                  <a:sym typeface="Inter"/>
                </a:rPr>
                <a:t>08</a:t>
              </a:r>
              <a:endParaRPr b="1" sz="2400">
                <a:solidFill>
                  <a:srgbClr val="059669"/>
                </a:solidFill>
                <a:latin typeface="Inter"/>
                <a:ea typeface="Inter"/>
                <a:cs typeface="Inter"/>
                <a:sym typeface="Inter"/>
              </a:endParaRPr>
            </a:p>
            <a:p>
              <a:pPr indent="0" lvl="0" marL="0" rtl="0" algn="l">
                <a:spcBef>
                  <a:spcPts val="1500"/>
                </a:spcBef>
                <a:spcAft>
                  <a:spcPts val="0"/>
                </a:spcAft>
                <a:buNone/>
              </a:pPr>
              <a:r>
                <a:rPr b="0" lang="en-US" sz="2000">
                  <a:solidFill>
                    <a:srgbClr val="0A0915"/>
                  </a:solidFill>
                  <a:latin typeface="Inter SemiBold"/>
                  <a:ea typeface="Inter SemiBold"/>
                  <a:cs typeface="Inter SemiBold"/>
                  <a:sym typeface="Inter SemiBold"/>
                </a:rPr>
                <a:t>Runbook escrito.</a:t>
              </a:r>
              <a:endParaRPr b="0" sz="2000">
                <a:solidFill>
                  <a:srgbClr val="0A0915"/>
                </a:solidFill>
                <a:latin typeface="Inter SemiBold"/>
                <a:ea typeface="Inter SemiBold"/>
                <a:cs typeface="Inter SemiBold"/>
                <a:sym typeface="Inter SemiBold"/>
              </a:endParaRPr>
            </a:p>
          </p:txBody>
        </p:sp>
      </p:grpSp>
      <p:grpSp>
        <p:nvGrpSpPr>
          <p:cNvPr id="115" name="Google Shape;115;p15"/>
          <p:cNvGrpSpPr/>
          <p:nvPr/>
        </p:nvGrpSpPr>
        <p:grpSpPr>
          <a:xfrm>
            <a:off x="11963400" y="3048000"/>
            <a:ext cx="4953000" cy="3810000"/>
            <a:chOff x="11963400" y="3048000"/>
            <a:chExt cx="4953000" cy="3810000"/>
          </a:xfrm>
        </p:grpSpPr>
        <p:sp>
          <p:nvSpPr>
            <p:cNvPr id="116" name="Google Shape;116;p15"/>
            <p:cNvSpPr/>
            <p:nvPr/>
          </p:nvSpPr>
          <p:spPr>
            <a:xfrm>
              <a:off x="11963400" y="3048000"/>
              <a:ext cx="4953000" cy="3810000"/>
            </a:xfrm>
            <a:prstGeom prst="rect">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7" name="Google Shape;117;p15"/>
            <p:cNvSpPr txBox="1"/>
            <p:nvPr/>
          </p:nvSpPr>
          <p:spPr>
            <a:xfrm>
              <a:off x="11963400" y="3048000"/>
              <a:ext cx="4953000" cy="3810000"/>
            </a:xfrm>
            <a:prstGeom prst="rect">
              <a:avLst/>
            </a:prstGeom>
            <a:noFill/>
            <a:ln>
              <a:noFill/>
            </a:ln>
          </p:spPr>
          <p:txBody>
            <a:bodyPr anchorCtr="0" anchor="ctr" bIns="381000" lIns="381000" spcFirstLastPara="1" rIns="381000" wrap="square" tIns="381000">
              <a:noAutofit/>
            </a:bodyPr>
            <a:lstStyle/>
            <a:p>
              <a:pPr indent="0" lvl="0" marL="0" rtl="0" algn="l">
                <a:spcBef>
                  <a:spcPts val="0"/>
                </a:spcBef>
                <a:spcAft>
                  <a:spcPts val="0"/>
                </a:spcAft>
                <a:buNone/>
              </a:pPr>
              <a:r>
                <a:rPr b="1" lang="en-US" sz="2400">
                  <a:solidFill>
                    <a:srgbClr val="059669"/>
                  </a:solidFill>
                  <a:latin typeface="Inter"/>
                  <a:ea typeface="Inter"/>
                  <a:cs typeface="Inter"/>
                  <a:sym typeface="Inter"/>
                </a:rPr>
                <a:t>09</a:t>
              </a:r>
              <a:endParaRPr b="1" sz="2400">
                <a:solidFill>
                  <a:srgbClr val="059669"/>
                </a:solidFill>
                <a:latin typeface="Inter"/>
                <a:ea typeface="Inter"/>
                <a:cs typeface="Inter"/>
                <a:sym typeface="Inter"/>
              </a:endParaRPr>
            </a:p>
            <a:p>
              <a:pPr indent="0" lvl="0" marL="0" rtl="0" algn="l">
                <a:spcBef>
                  <a:spcPts val="1500"/>
                </a:spcBef>
                <a:spcAft>
                  <a:spcPts val="0"/>
                </a:spcAft>
                <a:buNone/>
              </a:pPr>
              <a:r>
                <a:rPr b="0" lang="en-US" sz="2000">
                  <a:solidFill>
                    <a:srgbClr val="0A0915"/>
                  </a:solidFill>
                  <a:latin typeface="Inter SemiBold"/>
                  <a:ea typeface="Inter SemiBold"/>
                  <a:cs typeface="Inter SemiBold"/>
                  <a:sym typeface="Inter SemiBold"/>
                </a:rPr>
                <a:t>Roles verificados y vigentes, incluyendo Nivel 1 con nombres concretos.</a:t>
              </a:r>
              <a:endParaRPr b="0" sz="2000">
                <a:solidFill>
                  <a:srgbClr val="0A0915"/>
                </a:solidFill>
                <a:latin typeface="Inter SemiBold"/>
                <a:ea typeface="Inter SemiBold"/>
                <a:cs typeface="Inter SemiBold"/>
                <a:sym typeface="Inter SemiBold"/>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16"/>
          <p:cNvSpPr/>
          <p:nvPr/>
        </p:nvSpPr>
        <p:spPr>
          <a:xfrm>
            <a:off x="0" y="0"/>
            <a:ext cx="18288000" cy="228600"/>
          </a:xfrm>
          <a:prstGeom prst="rect">
            <a:avLst/>
          </a:prstGeom>
          <a:solidFill>
            <a:srgbClr val="0596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4" name="Google Shape;124;p16"/>
          <p:cNvSpPr txBox="1"/>
          <p:nvPr/>
        </p:nvSpPr>
        <p:spPr>
          <a:xfrm>
            <a:off x="1371600" y="952500"/>
            <a:ext cx="7620000" cy="3078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2000">
                <a:solidFill>
                  <a:srgbClr val="059669"/>
                </a:solidFill>
                <a:latin typeface="Inter"/>
                <a:ea typeface="Inter"/>
                <a:cs typeface="Inter"/>
                <a:sym typeface="Inter"/>
              </a:rPr>
              <a:t>Quién lidera</a:t>
            </a:r>
            <a:endParaRPr b="1" i="0" sz="2000">
              <a:solidFill>
                <a:srgbClr val="059669"/>
              </a:solidFill>
              <a:latin typeface="Inter"/>
              <a:ea typeface="Inter"/>
              <a:cs typeface="Inter"/>
              <a:sym typeface="Inter"/>
            </a:endParaRPr>
          </a:p>
        </p:txBody>
      </p:sp>
      <p:sp>
        <p:nvSpPr>
          <p:cNvPr id="125" name="Google Shape;125;p16"/>
          <p:cNvSpPr txBox="1"/>
          <p:nvPr/>
        </p:nvSpPr>
        <p:spPr>
          <a:xfrm>
            <a:off x="1371600" y="1428750"/>
            <a:ext cx="7620000" cy="1416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4600">
                <a:solidFill>
                  <a:srgbClr val="0A0915"/>
                </a:solidFill>
                <a:latin typeface="Inter"/>
                <a:ea typeface="Inter"/>
                <a:cs typeface="Inter"/>
                <a:sym typeface="Inter"/>
              </a:rPr>
              <a:t>Las reuniones las</a:t>
            </a:r>
            <a:endParaRPr b="1" i="0" sz="4600">
              <a:solidFill>
                <a:srgbClr val="0A0915"/>
              </a:solidFill>
              <a:latin typeface="Inter"/>
              <a:ea typeface="Inter"/>
              <a:cs typeface="Inter"/>
              <a:sym typeface="Inter"/>
            </a:endParaRPr>
          </a:p>
          <a:p>
            <a:pPr indent="0" lvl="0" marL="0" rtl="0" algn="l">
              <a:spcBef>
                <a:spcPts val="0"/>
              </a:spcBef>
              <a:spcAft>
                <a:spcPts val="0"/>
              </a:spcAft>
              <a:buNone/>
            </a:pPr>
            <a:r>
              <a:rPr b="1" i="0" lang="en-US" sz="4600">
                <a:solidFill>
                  <a:srgbClr val="059669"/>
                </a:solidFill>
                <a:latin typeface="Inter"/>
                <a:ea typeface="Inter"/>
                <a:cs typeface="Inter"/>
                <a:sym typeface="Inter"/>
              </a:rPr>
              <a:t>lidera el partner</a:t>
            </a:r>
            <a:endParaRPr b="1" i="0" sz="4600">
              <a:solidFill>
                <a:srgbClr val="059669"/>
              </a:solidFill>
              <a:latin typeface="Inter"/>
              <a:ea typeface="Inter"/>
              <a:cs typeface="Inter"/>
              <a:sym typeface="Inter"/>
            </a:endParaRPr>
          </a:p>
        </p:txBody>
      </p:sp>
      <p:grpSp>
        <p:nvGrpSpPr>
          <p:cNvPr id="126" name="Google Shape;126;p16"/>
          <p:cNvGrpSpPr/>
          <p:nvPr/>
        </p:nvGrpSpPr>
        <p:grpSpPr>
          <a:xfrm>
            <a:off x="1371600" y="3429000"/>
            <a:ext cx="15544800" cy="4762500"/>
            <a:chOff x="1371600" y="3429000"/>
            <a:chExt cx="15544800" cy="4762500"/>
          </a:xfrm>
        </p:grpSpPr>
        <p:sp>
          <p:nvSpPr>
            <p:cNvPr id="127" name="Google Shape;127;p16"/>
            <p:cNvSpPr/>
            <p:nvPr/>
          </p:nvSpPr>
          <p:spPr>
            <a:xfrm>
              <a:off x="1371600" y="3429000"/>
              <a:ext cx="7429500" cy="4762500"/>
            </a:xfrm>
            <a:prstGeom prst="roundRect">
              <a:avLst>
                <a:gd fmla="val 0"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8" name="Google Shape;128;p16"/>
            <p:cNvSpPr txBox="1"/>
            <p:nvPr/>
          </p:nvSpPr>
          <p:spPr>
            <a:xfrm>
              <a:off x="1371600" y="3429000"/>
              <a:ext cx="7429500" cy="4762500"/>
            </a:xfrm>
            <a:prstGeom prst="rect">
              <a:avLst/>
            </a:prstGeom>
            <a:noFill/>
            <a:ln>
              <a:noFill/>
            </a:ln>
          </p:spPr>
          <p:txBody>
            <a:bodyPr anchorCtr="0" anchor="ctr" bIns="571500" lIns="571500" spcFirstLastPara="1" rIns="571500" wrap="square" tIns="571500">
              <a:noAutofit/>
            </a:bodyPr>
            <a:lstStyle/>
            <a:p>
              <a:pPr indent="0" lvl="0" marL="0" rtl="0" algn="l">
                <a:spcBef>
                  <a:spcPts val="0"/>
                </a:spcBef>
                <a:spcAft>
                  <a:spcPts val="0"/>
                </a:spcAft>
                <a:buNone/>
              </a:pPr>
              <a:r>
                <a:rPr b="1" lang="en-US" sz="2800">
                  <a:solidFill>
                    <a:srgbClr val="059669"/>
                  </a:solidFill>
                  <a:latin typeface="Inter"/>
                  <a:ea typeface="Inter"/>
                  <a:cs typeface="Inter"/>
                  <a:sym typeface="Inter"/>
                </a:rPr>
                <a:t>El Rol de Sovra</a:t>
              </a:r>
              <a:endParaRPr b="1" sz="2800">
                <a:solidFill>
                  <a:srgbClr val="059669"/>
                </a:solidFill>
                <a:latin typeface="Inter"/>
                <a:ea typeface="Inter"/>
                <a:cs typeface="Inter"/>
                <a:sym typeface="Inter"/>
              </a:endParaRPr>
            </a:p>
            <a:p>
              <a:pPr indent="0" lvl="0" marL="0" rtl="0" algn="l">
                <a:spcBef>
                  <a:spcPts val="2250"/>
                </a:spcBef>
                <a:spcAft>
                  <a:spcPts val="0"/>
                </a:spcAft>
                <a:buNone/>
              </a:pPr>
              <a:r>
                <a:rPr b="0" lang="en-US" sz="1800">
                  <a:solidFill>
                    <a:srgbClr val="0A0915"/>
                  </a:solidFill>
                  <a:latin typeface="Inter"/>
                  <a:ea typeface="Inter"/>
                  <a:cs typeface="Inter"/>
                  <a:sym typeface="Inter"/>
                </a:rPr>
                <a:t>Sovra no entra a capacitar operadores ni a presentar el modelo de soporte.</a:t>
              </a:r>
              <a:endParaRPr b="0" sz="1800">
                <a:solidFill>
                  <a:srgbClr val="0A0915"/>
                </a:solidFill>
                <a:latin typeface="Inter"/>
                <a:ea typeface="Inter"/>
                <a:cs typeface="Inter"/>
                <a:sym typeface="Inter"/>
              </a:endParaRPr>
            </a:p>
          </p:txBody>
        </p:sp>
        <p:sp>
          <p:nvSpPr>
            <p:cNvPr id="129" name="Google Shape;129;p16"/>
            <p:cNvSpPr/>
            <p:nvPr/>
          </p:nvSpPr>
          <p:spPr>
            <a:xfrm>
              <a:off x="9486900" y="3429000"/>
              <a:ext cx="7429500" cy="4762500"/>
            </a:xfrm>
            <a:prstGeom prst="roundRect">
              <a:avLst>
                <a:gd fmla="val 0" name="adj"/>
              </a:avLst>
            </a:prstGeom>
            <a:solidFill>
              <a:srgbClr val="0A09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0" name="Google Shape;130;p16"/>
            <p:cNvSpPr txBox="1"/>
            <p:nvPr/>
          </p:nvSpPr>
          <p:spPr>
            <a:xfrm>
              <a:off x="9486900" y="3429000"/>
              <a:ext cx="7429500" cy="4762500"/>
            </a:xfrm>
            <a:prstGeom prst="rect">
              <a:avLst/>
            </a:prstGeom>
            <a:solidFill>
              <a:srgbClr val="059669"/>
            </a:solidFill>
            <a:ln>
              <a:noFill/>
            </a:ln>
          </p:spPr>
          <p:txBody>
            <a:bodyPr anchorCtr="0" anchor="ctr" bIns="571500" lIns="571500" spcFirstLastPara="1" rIns="571500" wrap="square" tIns="571500">
              <a:noAutofit/>
            </a:bodyPr>
            <a:lstStyle/>
            <a:p>
              <a:pPr indent="0" lvl="0" marL="0" rtl="0" algn="l">
                <a:spcBef>
                  <a:spcPts val="0"/>
                </a:spcBef>
                <a:spcAft>
                  <a:spcPts val="0"/>
                </a:spcAft>
                <a:buNone/>
              </a:pPr>
              <a:r>
                <a:rPr b="1" lang="en-US" sz="2800">
                  <a:solidFill>
                    <a:schemeClr val="lt1"/>
                  </a:solidFill>
                  <a:latin typeface="Inter"/>
                  <a:ea typeface="Inter"/>
                  <a:cs typeface="Inter"/>
                  <a:sym typeface="Inter"/>
                </a:rPr>
                <a:t>Escalamiento Real</a:t>
              </a:r>
              <a:endParaRPr b="1" sz="2800">
                <a:solidFill>
                  <a:schemeClr val="lt1"/>
                </a:solidFill>
                <a:latin typeface="Inter"/>
                <a:ea typeface="Inter"/>
                <a:cs typeface="Inter"/>
                <a:sym typeface="Inter"/>
              </a:endParaRPr>
            </a:p>
            <a:p>
              <a:pPr indent="0" lvl="0" marL="0" rtl="0" algn="l">
                <a:spcBef>
                  <a:spcPts val="2250"/>
                </a:spcBef>
                <a:spcAft>
                  <a:spcPts val="0"/>
                </a:spcAft>
                <a:buNone/>
              </a:pPr>
              <a:r>
                <a:rPr b="0" lang="en-US" sz="1800">
                  <a:solidFill>
                    <a:schemeClr val="lt1"/>
                  </a:solidFill>
                  <a:latin typeface="Inter SemiBold"/>
                  <a:ea typeface="Inter SemiBold"/>
                  <a:cs typeface="Inter SemiBold"/>
                  <a:sym typeface="Inter SemiBold"/>
                </a:rPr>
                <a:t>Entramos solo ante:</a:t>
              </a:r>
              <a:endParaRPr b="0" sz="1800">
                <a:solidFill>
                  <a:schemeClr val="lt1"/>
                </a:solidFill>
                <a:latin typeface="Inter SemiBold"/>
                <a:ea typeface="Inter SemiBold"/>
                <a:cs typeface="Inter SemiBold"/>
                <a:sym typeface="Inter SemiBold"/>
              </a:endParaRPr>
            </a:p>
            <a:p>
              <a:pPr indent="-330200" lvl="0" marL="457200" rtl="0" algn="l">
                <a:spcBef>
                  <a:spcPts val="1500"/>
                </a:spcBef>
                <a:spcAft>
                  <a:spcPts val="0"/>
                </a:spcAft>
                <a:buClr>
                  <a:schemeClr val="lt1"/>
                </a:buClr>
                <a:buSzPts val="1600"/>
                <a:buFont typeface="Inter"/>
                <a:buChar char="●"/>
              </a:pPr>
              <a:r>
                <a:rPr b="0" lang="en-US" sz="1600">
                  <a:solidFill>
                    <a:schemeClr val="lt1"/>
                  </a:solidFill>
                  <a:latin typeface="Inter"/>
                  <a:ea typeface="Inter"/>
                  <a:cs typeface="Inter"/>
                  <a:sym typeface="Inter"/>
                </a:rPr>
                <a:t>Problemas en producción que afecten disponibilidad.</a:t>
              </a:r>
              <a:endParaRPr b="0" sz="1600">
                <a:solidFill>
                  <a:schemeClr val="lt1"/>
                </a:solidFill>
                <a:latin typeface="Inter"/>
                <a:ea typeface="Inter"/>
                <a:cs typeface="Inter"/>
                <a:sym typeface="Inter"/>
              </a:endParaRPr>
            </a:p>
            <a:p>
              <a:pPr indent="-330200" lvl="0" marL="457200" rtl="0" algn="l">
                <a:spcBef>
                  <a:spcPts val="1125"/>
                </a:spcBef>
                <a:spcAft>
                  <a:spcPts val="0"/>
                </a:spcAft>
                <a:buClr>
                  <a:schemeClr val="lt1"/>
                </a:buClr>
                <a:buSzPts val="1600"/>
                <a:buFont typeface="Inter"/>
                <a:buChar char="●"/>
              </a:pPr>
              <a:r>
                <a:rPr b="0" lang="en-US" sz="1600">
                  <a:solidFill>
                    <a:schemeClr val="lt1"/>
                  </a:solidFill>
                  <a:latin typeface="Inter"/>
                  <a:ea typeface="Inter"/>
                  <a:cs typeface="Inter"/>
                  <a:sym typeface="Inter"/>
                </a:rPr>
                <a:t>Cambios de alcance críticos antes de lanzar.</a:t>
              </a:r>
              <a:endParaRPr b="0" sz="1600">
                <a:solidFill>
                  <a:schemeClr val="lt1"/>
                </a:solidFill>
                <a:latin typeface="Inter"/>
                <a:ea typeface="Inter"/>
                <a:cs typeface="Inter"/>
                <a:sym typeface="Inter"/>
              </a:endParaRPr>
            </a:p>
            <a:p>
              <a:pPr indent="-330200" lvl="0" marL="457200" rtl="0" algn="l">
                <a:spcBef>
                  <a:spcPts val="1125"/>
                </a:spcBef>
                <a:spcAft>
                  <a:spcPts val="0"/>
                </a:spcAft>
                <a:buClr>
                  <a:schemeClr val="lt1"/>
                </a:buClr>
                <a:buSzPts val="1600"/>
                <a:buFont typeface="Inter"/>
                <a:buChar char="●"/>
              </a:pPr>
              <a:r>
                <a:rPr b="0" lang="en-US" sz="1600">
                  <a:solidFill>
                    <a:schemeClr val="lt1"/>
                  </a:solidFill>
                  <a:latin typeface="Inter"/>
                  <a:ea typeface="Inter"/>
                  <a:cs typeface="Inter"/>
                  <a:sym typeface="Inter"/>
                </a:rPr>
                <a:t>Conflictos políticos que amenacen la fecha.</a:t>
              </a:r>
              <a:endParaRPr b="0" sz="1600">
                <a:solidFill>
                  <a:schemeClr val="lt1"/>
                </a:solidFill>
                <a:latin typeface="Inter"/>
                <a:ea typeface="Inter"/>
                <a:cs typeface="Inter"/>
                <a:sym typeface="Inte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17"/>
          <p:cNvSpPr/>
          <p:nvPr/>
        </p:nvSpPr>
        <p:spPr>
          <a:xfrm>
            <a:off x="0" y="0"/>
            <a:ext cx="18288000" cy="228600"/>
          </a:xfrm>
          <a:prstGeom prst="rect">
            <a:avLst/>
          </a:prstGeom>
          <a:solidFill>
            <a:srgbClr val="0596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7" name="Google Shape;137;p17"/>
          <p:cNvSpPr txBox="1"/>
          <p:nvPr/>
        </p:nvSpPr>
        <p:spPr>
          <a:xfrm>
            <a:off x="1371600" y="952500"/>
            <a:ext cx="7620000" cy="3078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2000">
                <a:solidFill>
                  <a:srgbClr val="059669"/>
                </a:solidFill>
                <a:latin typeface="Inter"/>
                <a:ea typeface="Inter"/>
                <a:cs typeface="Inter"/>
                <a:sym typeface="Inter"/>
              </a:rPr>
              <a:t>Trazabilidad</a:t>
            </a:r>
            <a:endParaRPr b="1" i="0" sz="2000">
              <a:solidFill>
                <a:srgbClr val="059669"/>
              </a:solidFill>
              <a:latin typeface="Inter"/>
              <a:ea typeface="Inter"/>
              <a:cs typeface="Inter"/>
              <a:sym typeface="Inter"/>
            </a:endParaRPr>
          </a:p>
        </p:txBody>
      </p:sp>
      <p:sp>
        <p:nvSpPr>
          <p:cNvPr id="138" name="Google Shape;138;p17"/>
          <p:cNvSpPr txBox="1"/>
          <p:nvPr/>
        </p:nvSpPr>
        <p:spPr>
          <a:xfrm>
            <a:off x="1371600" y="1428750"/>
            <a:ext cx="7620000" cy="1416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4600">
                <a:solidFill>
                  <a:srgbClr val="0A0915"/>
                </a:solidFill>
                <a:latin typeface="Inter"/>
                <a:ea typeface="Inter"/>
                <a:cs typeface="Inter"/>
                <a:sym typeface="Inter"/>
              </a:rPr>
              <a:t>La minuta se vuelve</a:t>
            </a:r>
            <a:endParaRPr b="1" i="0" sz="4600">
              <a:solidFill>
                <a:srgbClr val="0A0915"/>
              </a:solidFill>
              <a:latin typeface="Inter"/>
              <a:ea typeface="Inter"/>
              <a:cs typeface="Inter"/>
              <a:sym typeface="Inter"/>
            </a:endParaRPr>
          </a:p>
          <a:p>
            <a:pPr indent="0" lvl="0" marL="0" rtl="0" algn="l">
              <a:spcBef>
                <a:spcPts val="0"/>
              </a:spcBef>
              <a:spcAft>
                <a:spcPts val="0"/>
              </a:spcAft>
              <a:buNone/>
            </a:pPr>
            <a:r>
              <a:rPr b="1" i="0" lang="en-US" sz="4600">
                <a:solidFill>
                  <a:srgbClr val="059669"/>
                </a:solidFill>
                <a:latin typeface="Inter"/>
                <a:ea typeface="Inter"/>
                <a:cs typeface="Inter"/>
                <a:sym typeface="Inter"/>
              </a:rPr>
              <a:t>más frecuente</a:t>
            </a:r>
            <a:endParaRPr b="1" i="0" sz="4600">
              <a:solidFill>
                <a:srgbClr val="059669"/>
              </a:solidFill>
              <a:latin typeface="Inter"/>
              <a:ea typeface="Inter"/>
              <a:cs typeface="Inter"/>
              <a:sym typeface="Inter"/>
            </a:endParaRPr>
          </a:p>
        </p:txBody>
      </p:sp>
      <p:grpSp>
        <p:nvGrpSpPr>
          <p:cNvPr id="139" name="Google Shape;139;p17"/>
          <p:cNvGrpSpPr/>
          <p:nvPr/>
        </p:nvGrpSpPr>
        <p:grpSpPr>
          <a:xfrm>
            <a:off x="1371600" y="3619500"/>
            <a:ext cx="7429500" cy="4572000"/>
            <a:chOff x="1371600" y="3619500"/>
            <a:chExt cx="7429500" cy="4572000"/>
          </a:xfrm>
        </p:grpSpPr>
        <p:sp>
          <p:nvSpPr>
            <p:cNvPr id="140" name="Google Shape;140;p17"/>
            <p:cNvSpPr/>
            <p:nvPr/>
          </p:nvSpPr>
          <p:spPr>
            <a:xfrm>
              <a:off x="1371600" y="3619500"/>
              <a:ext cx="7429500" cy="4572000"/>
            </a:xfrm>
            <a:prstGeom prst="roundRect">
              <a:avLst>
                <a:gd fmla="val 0"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1" name="Google Shape;141;p17"/>
            <p:cNvSpPr txBox="1"/>
            <p:nvPr/>
          </p:nvSpPr>
          <p:spPr>
            <a:xfrm>
              <a:off x="1371600" y="3619500"/>
              <a:ext cx="7429500" cy="4572000"/>
            </a:xfrm>
            <a:prstGeom prst="rect">
              <a:avLst/>
            </a:prstGeom>
            <a:noFill/>
            <a:ln>
              <a:noFill/>
            </a:ln>
          </p:spPr>
          <p:txBody>
            <a:bodyPr anchorCtr="0" anchor="ctr" bIns="571500" lIns="571500" spcFirstLastPara="1" rIns="571500" wrap="square" tIns="571500">
              <a:noAutofit/>
            </a:bodyPr>
            <a:lstStyle/>
            <a:p>
              <a:pPr indent="0" lvl="0" marL="0" rtl="0" algn="l">
                <a:spcBef>
                  <a:spcPts val="0"/>
                </a:spcBef>
                <a:spcAft>
                  <a:spcPts val="0"/>
                </a:spcAft>
                <a:buNone/>
              </a:pPr>
              <a:r>
                <a:rPr b="1" lang="en-US" sz="2800">
                  <a:solidFill>
                    <a:srgbClr val="059669"/>
                  </a:solidFill>
                  <a:latin typeface="Inter"/>
                  <a:ea typeface="Inter"/>
                  <a:cs typeface="Inter"/>
                  <a:sym typeface="Inter"/>
                </a:rPr>
                <a:t>Frecuencia Semanal</a:t>
              </a:r>
              <a:endParaRPr b="1" sz="2800">
                <a:solidFill>
                  <a:srgbClr val="059669"/>
                </a:solidFill>
                <a:latin typeface="Inter"/>
                <a:ea typeface="Inter"/>
                <a:cs typeface="Inter"/>
                <a:sym typeface="Inter"/>
              </a:endParaRPr>
            </a:p>
            <a:p>
              <a:pPr indent="0" lvl="0" marL="0" rtl="0" algn="l">
                <a:spcBef>
                  <a:spcPts val="1500"/>
                </a:spcBef>
                <a:spcAft>
                  <a:spcPts val="0"/>
                </a:spcAft>
                <a:buNone/>
              </a:pPr>
              <a:r>
                <a:rPr b="0" lang="en-US" sz="1800">
                  <a:solidFill>
                    <a:srgbClr val="0A0915"/>
                  </a:solidFill>
                  <a:latin typeface="Inter"/>
                  <a:ea typeface="Inter"/>
                  <a:cs typeface="Inter"/>
                  <a:sym typeface="Inter"/>
                </a:rPr>
                <a:t>Puede ser dos veces por semana. Es el ritmo necesario para asegurar que ningún detalle se pierda antes del lanzamiento.</a:t>
              </a:r>
              <a:endParaRPr b="0" sz="1800">
                <a:solidFill>
                  <a:srgbClr val="0A0915"/>
                </a:solidFill>
                <a:latin typeface="Inter"/>
                <a:ea typeface="Inter"/>
                <a:cs typeface="Inter"/>
                <a:sym typeface="Inter"/>
              </a:endParaRPr>
            </a:p>
          </p:txBody>
        </p:sp>
      </p:grpSp>
      <p:grpSp>
        <p:nvGrpSpPr>
          <p:cNvPr id="142" name="Google Shape;142;p17"/>
          <p:cNvGrpSpPr/>
          <p:nvPr/>
        </p:nvGrpSpPr>
        <p:grpSpPr>
          <a:xfrm>
            <a:off x="9486900" y="3619500"/>
            <a:ext cx="7429500" cy="4572000"/>
            <a:chOff x="9486900" y="3619500"/>
            <a:chExt cx="7429500" cy="4572000"/>
          </a:xfrm>
        </p:grpSpPr>
        <p:sp>
          <p:nvSpPr>
            <p:cNvPr id="143" name="Google Shape;143;p17"/>
            <p:cNvSpPr/>
            <p:nvPr/>
          </p:nvSpPr>
          <p:spPr>
            <a:xfrm>
              <a:off x="9486900" y="3619500"/>
              <a:ext cx="7429500" cy="4572000"/>
            </a:xfrm>
            <a:prstGeom prst="roundRect">
              <a:avLst>
                <a:gd fmla="val 0" name="adj"/>
              </a:avLst>
            </a:prstGeom>
            <a:solidFill>
              <a:srgbClr val="0A09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4" name="Google Shape;144;p17"/>
            <p:cNvSpPr txBox="1"/>
            <p:nvPr/>
          </p:nvSpPr>
          <p:spPr>
            <a:xfrm>
              <a:off x="9486900" y="3619500"/>
              <a:ext cx="7429500" cy="4572000"/>
            </a:xfrm>
            <a:prstGeom prst="rect">
              <a:avLst/>
            </a:prstGeom>
            <a:solidFill>
              <a:srgbClr val="059669"/>
            </a:solidFill>
            <a:ln>
              <a:noFill/>
            </a:ln>
          </p:spPr>
          <p:txBody>
            <a:bodyPr anchorCtr="0" anchor="ctr" bIns="571500" lIns="571500" spcFirstLastPara="1" rIns="571500" wrap="square" tIns="571500">
              <a:noAutofit/>
            </a:bodyPr>
            <a:lstStyle/>
            <a:p>
              <a:pPr indent="0" lvl="0" marL="0" rtl="0" algn="l">
                <a:spcBef>
                  <a:spcPts val="0"/>
                </a:spcBef>
                <a:spcAft>
                  <a:spcPts val="0"/>
                </a:spcAft>
                <a:buNone/>
              </a:pPr>
              <a:r>
                <a:rPr b="1" lang="en-US" sz="2800">
                  <a:solidFill>
                    <a:schemeClr val="lt1"/>
                  </a:solidFill>
                  <a:latin typeface="Inter"/>
                  <a:ea typeface="Inter"/>
                  <a:cs typeface="Inter"/>
                  <a:sym typeface="Inter"/>
                </a:rPr>
                <a:t>Checklist Post-Reunión</a:t>
              </a:r>
              <a:endParaRPr b="1" sz="2800">
                <a:solidFill>
                  <a:schemeClr val="lt1"/>
                </a:solidFill>
                <a:latin typeface="Inter"/>
                <a:ea typeface="Inter"/>
                <a:cs typeface="Inter"/>
                <a:sym typeface="Inter"/>
              </a:endParaRPr>
            </a:p>
            <a:p>
              <a:pPr indent="0" lvl="0" marL="0" rtl="0" algn="l">
                <a:spcBef>
                  <a:spcPts val="1875"/>
                </a:spcBef>
                <a:spcAft>
                  <a:spcPts val="0"/>
                </a:spcAft>
                <a:buNone/>
              </a:pPr>
              <a:r>
                <a:rPr b="0" lang="en-US" sz="1800">
                  <a:solidFill>
                    <a:schemeClr val="lt1"/>
                  </a:solidFill>
                  <a:latin typeface="Inter SemiBold"/>
                  <a:ea typeface="Inter SemiBold"/>
                  <a:cs typeface="Inter SemiBold"/>
                  <a:sym typeface="Inter SemiBold"/>
                </a:rPr>
                <a:t>¿Qué se acordó?</a:t>
              </a:r>
              <a:endParaRPr b="0" sz="1800">
                <a:solidFill>
                  <a:schemeClr val="lt1"/>
                </a:solidFill>
                <a:latin typeface="Inter SemiBold"/>
                <a:ea typeface="Inter SemiBold"/>
                <a:cs typeface="Inter SemiBold"/>
                <a:sym typeface="Inter SemiBold"/>
              </a:endParaRPr>
            </a:p>
            <a:p>
              <a:pPr indent="0" lvl="0" marL="0" rtl="0" algn="l">
                <a:spcBef>
                  <a:spcPts val="1125"/>
                </a:spcBef>
                <a:spcAft>
                  <a:spcPts val="0"/>
                </a:spcAft>
                <a:buNone/>
              </a:pPr>
              <a:r>
                <a:rPr b="0" lang="en-US" sz="1800">
                  <a:solidFill>
                    <a:schemeClr val="lt1"/>
                  </a:solidFill>
                  <a:latin typeface="Inter SemiBold"/>
                  <a:ea typeface="Inter SemiBold"/>
                  <a:cs typeface="Inter SemiBold"/>
                  <a:sym typeface="Inter SemiBold"/>
                </a:rPr>
                <a:t>¿Qué quedó pendiente?</a:t>
              </a:r>
              <a:endParaRPr b="0" sz="1800">
                <a:solidFill>
                  <a:schemeClr val="lt1"/>
                </a:solidFill>
                <a:latin typeface="Inter SemiBold"/>
                <a:ea typeface="Inter SemiBold"/>
                <a:cs typeface="Inter SemiBold"/>
                <a:sym typeface="Inter SemiBold"/>
              </a:endParaRPr>
            </a:p>
            <a:p>
              <a:pPr indent="0" lvl="0" marL="0" rtl="0" algn="l">
                <a:spcBef>
                  <a:spcPts val="1125"/>
                </a:spcBef>
                <a:spcAft>
                  <a:spcPts val="1125"/>
                </a:spcAft>
                <a:buNone/>
              </a:pPr>
              <a:r>
                <a:rPr b="0" lang="en-US" sz="1800">
                  <a:solidFill>
                    <a:schemeClr val="lt1"/>
                  </a:solidFill>
                  <a:latin typeface="Inter SemiBold"/>
                  <a:ea typeface="Inter SemiBold"/>
                  <a:cs typeface="Inter SemiBold"/>
                  <a:sym typeface="Inter SemiBold"/>
                </a:rPr>
                <a:t>¿Quién es responsable?</a:t>
              </a:r>
              <a:endParaRPr b="0" sz="1800">
                <a:solidFill>
                  <a:schemeClr val="lt1"/>
                </a:solidFill>
                <a:latin typeface="Inter SemiBold"/>
                <a:ea typeface="Inter SemiBold"/>
                <a:cs typeface="Inter SemiBold"/>
                <a:sym typeface="Inter SemiBold"/>
              </a:endParaRPr>
            </a:p>
          </p:txBody>
        </p:sp>
      </p:grpSp>
      <p:sp>
        <p:nvSpPr>
          <p:cNvPr id="145" name="Google Shape;145;p17"/>
          <p:cNvSpPr txBox="1"/>
          <p:nvPr/>
        </p:nvSpPr>
        <p:spPr>
          <a:xfrm>
            <a:off x="1371600" y="8382000"/>
            <a:ext cx="155448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800">
                <a:solidFill>
                  <a:srgbClr val="0A0915"/>
                </a:solidFill>
                <a:latin typeface="Inter"/>
                <a:ea typeface="Inter"/>
                <a:cs typeface="Inter"/>
                <a:sym typeface="Inter"/>
              </a:rPr>
              <a:t>Mandatorio:</a:t>
            </a:r>
            <a:r>
              <a:rPr b="0" lang="en-US" sz="1800">
                <a:solidFill>
                  <a:srgbClr val="64748B"/>
                </a:solidFill>
                <a:latin typeface="Inter"/>
                <a:ea typeface="Inter"/>
                <a:cs typeface="Inter"/>
                <a:sym typeface="Inter"/>
              </a:rPr>
              <a:t> No se entrega un lanzamiento sin esta trazabilidad.</a:t>
            </a:r>
            <a:endParaRPr b="0" sz="1800">
              <a:solidFill>
                <a:srgbClr val="64748B"/>
              </a:solidFill>
              <a:latin typeface="Inter"/>
              <a:ea typeface="Inter"/>
              <a:cs typeface="Inter"/>
              <a:sym typeface="Inte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18"/>
          <p:cNvSpPr/>
          <p:nvPr/>
        </p:nvSpPr>
        <p:spPr>
          <a:xfrm>
            <a:off x="0" y="0"/>
            <a:ext cx="18288000" cy="228600"/>
          </a:xfrm>
          <a:prstGeom prst="rect">
            <a:avLst/>
          </a:prstGeom>
          <a:solidFill>
            <a:srgbClr val="0596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2" name="Google Shape;152;p18"/>
          <p:cNvSpPr txBox="1"/>
          <p:nvPr/>
        </p:nvSpPr>
        <p:spPr>
          <a:xfrm>
            <a:off x="1371600" y="952500"/>
            <a:ext cx="7620000" cy="3078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000">
                <a:solidFill>
                  <a:srgbClr val="059669"/>
                </a:solidFill>
                <a:latin typeface="Inter"/>
                <a:ea typeface="Inter"/>
                <a:cs typeface="Inter"/>
                <a:sym typeface="Inter"/>
              </a:rPr>
              <a:t>Lo que viene</a:t>
            </a:r>
            <a:endParaRPr b="1" sz="2000">
              <a:solidFill>
                <a:srgbClr val="059669"/>
              </a:solidFill>
              <a:latin typeface="Inter"/>
              <a:ea typeface="Inter"/>
              <a:cs typeface="Inter"/>
              <a:sym typeface="Inter"/>
            </a:endParaRPr>
          </a:p>
        </p:txBody>
      </p:sp>
      <p:sp>
        <p:nvSpPr>
          <p:cNvPr id="153" name="Google Shape;153;p18"/>
          <p:cNvSpPr txBox="1"/>
          <p:nvPr/>
        </p:nvSpPr>
        <p:spPr>
          <a:xfrm>
            <a:off x="1371600" y="1428750"/>
            <a:ext cx="9525000" cy="1416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4600">
                <a:solidFill>
                  <a:srgbClr val="0A0915"/>
                </a:solidFill>
                <a:latin typeface="Inter"/>
                <a:ea typeface="Inter"/>
                <a:cs typeface="Inter"/>
                <a:sym typeface="Inter"/>
              </a:rPr>
              <a:t>Fase E</a:t>
            </a:r>
            <a:endParaRPr b="1" sz="4600">
              <a:solidFill>
                <a:srgbClr val="0A0915"/>
              </a:solidFill>
              <a:latin typeface="Inter"/>
              <a:ea typeface="Inter"/>
              <a:cs typeface="Inter"/>
              <a:sym typeface="Inter"/>
            </a:endParaRPr>
          </a:p>
          <a:p>
            <a:pPr indent="0" lvl="0" marL="0" rtl="0" algn="l">
              <a:spcBef>
                <a:spcPts val="0"/>
              </a:spcBef>
              <a:spcAft>
                <a:spcPts val="0"/>
              </a:spcAft>
              <a:buNone/>
            </a:pPr>
            <a:r>
              <a:rPr b="1" lang="en-US" sz="4600">
                <a:solidFill>
                  <a:srgbClr val="059669"/>
                </a:solidFill>
                <a:latin typeface="Inter"/>
                <a:ea typeface="Inter"/>
                <a:cs typeface="Inter"/>
                <a:sym typeface="Inter"/>
              </a:rPr>
              <a:t>post-lanzamiento</a:t>
            </a:r>
            <a:endParaRPr b="1" sz="4600">
              <a:solidFill>
                <a:srgbClr val="059669"/>
              </a:solidFill>
              <a:latin typeface="Inter"/>
              <a:ea typeface="Inter"/>
              <a:cs typeface="Inter"/>
              <a:sym typeface="Inter"/>
            </a:endParaRPr>
          </a:p>
        </p:txBody>
      </p:sp>
      <p:grpSp>
        <p:nvGrpSpPr>
          <p:cNvPr id="154" name="Google Shape;154;p18"/>
          <p:cNvGrpSpPr/>
          <p:nvPr/>
        </p:nvGrpSpPr>
        <p:grpSpPr>
          <a:xfrm>
            <a:off x="1371600" y="3619500"/>
            <a:ext cx="15544800" cy="4286400"/>
            <a:chOff x="1371600" y="3619500"/>
            <a:chExt cx="15544800" cy="4286400"/>
          </a:xfrm>
        </p:grpSpPr>
        <p:sp>
          <p:nvSpPr>
            <p:cNvPr id="155" name="Google Shape;155;p18"/>
            <p:cNvSpPr/>
            <p:nvPr/>
          </p:nvSpPr>
          <p:spPr>
            <a:xfrm>
              <a:off x="1371600" y="3619500"/>
              <a:ext cx="15544800" cy="4286400"/>
            </a:xfrm>
            <a:prstGeom prst="roundRect">
              <a:avLst>
                <a:gd fmla="val 0" name="adj"/>
              </a:avLst>
            </a:prstGeom>
            <a:solidFill>
              <a:srgbClr val="F8FAF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6" name="Google Shape;156;p18"/>
            <p:cNvSpPr txBox="1"/>
            <p:nvPr/>
          </p:nvSpPr>
          <p:spPr>
            <a:xfrm>
              <a:off x="1943100" y="4191000"/>
              <a:ext cx="14401800" cy="3143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800">
                  <a:solidFill>
                    <a:srgbClr val="059669"/>
                  </a:solidFill>
                  <a:latin typeface="Inter"/>
                  <a:ea typeface="Inter"/>
                  <a:cs typeface="Inter"/>
                  <a:sym typeface="Inter"/>
                </a:rPr>
                <a:t>Objetivos Clave</a:t>
              </a:r>
              <a:endParaRPr b="1" sz="2800">
                <a:solidFill>
                  <a:srgbClr val="059669"/>
                </a:solidFill>
                <a:latin typeface="Inter"/>
                <a:ea typeface="Inter"/>
                <a:cs typeface="Inter"/>
                <a:sym typeface="Inter"/>
              </a:endParaRPr>
            </a:p>
            <a:p>
              <a:pPr indent="0" lvl="0" marL="0" rtl="0" algn="l">
                <a:spcBef>
                  <a:spcPts val="1500"/>
                </a:spcBef>
                <a:spcAft>
                  <a:spcPts val="0"/>
                </a:spcAft>
                <a:buNone/>
              </a:pPr>
              <a:r>
                <a:rPr lang="en-US" sz="2400">
                  <a:solidFill>
                    <a:srgbClr val="059669"/>
                  </a:solidFill>
                  <a:latin typeface="Material Icons"/>
                  <a:ea typeface="Material Icons"/>
                  <a:cs typeface="Material Icons"/>
                  <a:sym typeface="Material Icons"/>
                </a:rPr>
                <a:t></a:t>
              </a:r>
              <a:r>
                <a:rPr lang="en-US"/>
                <a:t> </a:t>
              </a:r>
              <a:r>
                <a:rPr b="0" lang="en-US" sz="1800">
                  <a:solidFill>
                    <a:srgbClr val="0A0915"/>
                  </a:solidFill>
                  <a:latin typeface="Inter"/>
                  <a:ea typeface="Inter"/>
                  <a:cs typeface="Inter"/>
                  <a:sym typeface="Inter"/>
                </a:rPr>
                <a:t>Monitoreo de métricas reales para validar el éxito.</a:t>
              </a:r>
              <a:endParaRPr/>
            </a:p>
            <a:p>
              <a:pPr indent="0" lvl="0" marL="0" rtl="0" algn="l">
                <a:spcBef>
                  <a:spcPts val="1125"/>
                </a:spcBef>
                <a:spcAft>
                  <a:spcPts val="0"/>
                </a:spcAft>
                <a:buNone/>
              </a:pPr>
              <a:r>
                <a:rPr lang="en-US" sz="2400">
                  <a:solidFill>
                    <a:srgbClr val="059669"/>
                  </a:solidFill>
                  <a:latin typeface="Material Icons"/>
                  <a:ea typeface="Material Icons"/>
                  <a:cs typeface="Material Icons"/>
                  <a:sym typeface="Material Icons"/>
                </a:rPr>
                <a:t></a:t>
              </a:r>
              <a:r>
                <a:rPr lang="en-US"/>
                <a:t> </a:t>
              </a:r>
              <a:r>
                <a:rPr b="0" lang="en-US" sz="1800">
                  <a:solidFill>
                    <a:srgbClr val="0A0915"/>
                  </a:solidFill>
                  <a:latin typeface="Inter"/>
                  <a:ea typeface="Inter"/>
                  <a:cs typeface="Inter"/>
                  <a:sym typeface="Inter"/>
                </a:rPr>
                <a:t>Documentación de lecciones aprendidas y cierre formal.</a:t>
              </a:r>
              <a:endParaRPr/>
            </a:p>
            <a:p>
              <a:pPr indent="0" lvl="0" marL="0" rtl="0" algn="l">
                <a:spcBef>
                  <a:spcPts val="1125"/>
                </a:spcBef>
                <a:spcAft>
                  <a:spcPts val="0"/>
                </a:spcAft>
                <a:buNone/>
              </a:pPr>
              <a:r>
                <a:rPr lang="en-US" sz="2400">
                  <a:solidFill>
                    <a:srgbClr val="059669"/>
                  </a:solidFill>
                  <a:latin typeface="Material Icons"/>
                  <a:ea typeface="Material Icons"/>
                  <a:cs typeface="Material Icons"/>
                  <a:sym typeface="Material Icons"/>
                </a:rPr>
                <a:t></a:t>
              </a:r>
              <a:r>
                <a:rPr lang="en-US"/>
                <a:t> </a:t>
              </a:r>
              <a:r>
                <a:rPr b="0" lang="en-US" sz="1800">
                  <a:solidFill>
                    <a:srgbClr val="0A0915"/>
                  </a:solidFill>
                  <a:latin typeface="Inter"/>
                  <a:ea typeface="Inter"/>
                  <a:cs typeface="Inter"/>
                  <a:sym typeface="Inter"/>
                </a:rPr>
                <a:t>Asegurar que la implementación se sostenga en el tiempo.</a:t>
              </a:r>
              <a:endParaRPr b="0" sz="1800">
                <a:solidFill>
                  <a:srgbClr val="0A0915"/>
                </a:solidFill>
                <a:latin typeface="Inter"/>
                <a:ea typeface="Inter"/>
                <a:cs typeface="Inter"/>
                <a:sym typeface="Inter"/>
              </a:endParaRPr>
            </a:p>
            <a:p>
              <a:pPr indent="0" lvl="0" marL="0" rtl="0" algn="l">
                <a:spcBef>
                  <a:spcPts val="0"/>
                </a:spcBef>
                <a:spcAft>
                  <a:spcPts val="0"/>
                </a:spcAft>
                <a:buNone/>
              </a:pPr>
              <a:r>
                <a:t/>
              </a:r>
              <a:endParaRPr sz="1800">
                <a:solidFill>
                  <a:srgbClr val="0A0915"/>
                </a:solidFill>
                <a:latin typeface="Inter"/>
                <a:ea typeface="Inter"/>
                <a:cs typeface="Inter"/>
                <a:sym typeface="Inter"/>
              </a:endParaRPr>
            </a:p>
            <a:p>
              <a:pPr indent="0" lvl="0" marL="0" rtl="0" algn="l">
                <a:spcBef>
                  <a:spcPts val="0"/>
                </a:spcBef>
                <a:spcAft>
                  <a:spcPts val="0"/>
                </a:spcAft>
                <a:buNone/>
              </a:pPr>
              <a:r>
                <a:rPr b="0" i="1" lang="en-US" sz="2000">
                  <a:solidFill>
                    <a:srgbClr val="0A0915"/>
                  </a:solidFill>
                  <a:latin typeface="Inter SemiBold"/>
                  <a:ea typeface="Inter SemiBold"/>
                  <a:cs typeface="Inter SemiBold"/>
                  <a:sym typeface="Inter SemiBold"/>
                </a:rPr>
                <a:t>"La adrenalina del día 1 ya pasó, pero el trabajo no terminó. Esta fase define si el proyecto se consolida o se desinfla a los tres meses."</a:t>
              </a:r>
              <a:endParaRPr b="0" i="1" sz="2000">
                <a:solidFill>
                  <a:srgbClr val="0A0915"/>
                </a:solidFill>
                <a:latin typeface="Inter SemiBold"/>
                <a:ea typeface="Inter SemiBold"/>
                <a:cs typeface="Inter SemiBold"/>
                <a:sym typeface="Inter SemiBold"/>
              </a:endParaRPr>
            </a:p>
          </p:txBody>
        </p:sp>
      </p:grpSp>
      <p:grpSp>
        <p:nvGrpSpPr>
          <p:cNvPr id="157" name="Google Shape;157;p18"/>
          <p:cNvGrpSpPr/>
          <p:nvPr/>
        </p:nvGrpSpPr>
        <p:grpSpPr>
          <a:xfrm>
            <a:off x="1371600" y="8572500"/>
            <a:ext cx="15544800" cy="762000"/>
            <a:chOff x="1371600" y="8572500"/>
            <a:chExt cx="15544800" cy="762000"/>
          </a:xfrm>
        </p:grpSpPr>
        <p:sp>
          <p:nvSpPr>
            <p:cNvPr id="158" name="Google Shape;158;p18"/>
            <p:cNvSpPr/>
            <p:nvPr/>
          </p:nvSpPr>
          <p:spPr>
            <a:xfrm>
              <a:off x="1371600" y="8572500"/>
              <a:ext cx="155448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9" name="Google Shape;159;p18"/>
            <p:cNvSpPr txBox="1"/>
            <p:nvPr/>
          </p:nvSpPr>
          <p:spPr>
            <a:xfrm>
              <a:off x="1371600" y="8572500"/>
              <a:ext cx="155448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1600">
                  <a:solidFill>
                    <a:srgbClr val="64748B"/>
                  </a:solidFill>
                  <a:latin typeface="Inter"/>
                  <a:ea typeface="Inter"/>
                  <a:cs typeface="Inter"/>
                  <a:sym typeface="Inter"/>
                </a:rPr>
                <a:t>Fase crítica para la sostenibilidad del negocio a largo plazo.</a:t>
              </a:r>
              <a:endParaRPr b="0" sz="1600">
                <a:solidFill>
                  <a:srgbClr val="64748B"/>
                </a:solidFill>
                <a:latin typeface="Inter"/>
                <a:ea typeface="Inter"/>
                <a:cs typeface="Inter"/>
                <a:sym typeface="Inte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19"/>
          <p:cNvSpPr/>
          <p:nvPr/>
        </p:nvSpPr>
        <p:spPr>
          <a:xfrm>
            <a:off x="0" y="0"/>
            <a:ext cx="18288000" cy="10287000"/>
          </a:xfrm>
          <a:prstGeom prst="rect">
            <a:avLst/>
          </a:prstGeom>
          <a:solidFill>
            <a:srgbClr val="059669"/>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6" name="Google Shape;166;p19"/>
          <p:cNvSpPr txBox="1"/>
          <p:nvPr/>
        </p:nvSpPr>
        <p:spPr>
          <a:xfrm>
            <a:off x="1371600" y="3200400"/>
            <a:ext cx="15544800" cy="13716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Fase D termina cuando lanzas</a:t>
            </a:r>
            <a:endParaRPr/>
          </a:p>
        </p:txBody>
      </p:sp>
      <p:sp>
        <p:nvSpPr>
          <p:cNvPr id="167" name="Google Shape;167;p19"/>
          <p:cNvSpPr txBox="1"/>
          <p:nvPr/>
        </p:nvSpPr>
        <p:spPr>
          <a:xfrm>
            <a:off x="1371600" y="4754880"/>
            <a:ext cx="15544800" cy="22860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con la gente lista,</a:t>
            </a:r>
            <a:endParaRPr/>
          </a:p>
        </p:txBody>
      </p:sp>
      <p:sp>
        <p:nvSpPr>
          <p:cNvPr id="168" name="Google Shape;168;p19"/>
          <p:cNvSpPr txBox="1"/>
          <p:nvPr/>
        </p:nvSpPr>
        <p:spPr>
          <a:xfrm>
            <a:off x="1371600" y="7315200"/>
            <a:ext cx="15544800" cy="109728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no cuando termina el calendario.</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