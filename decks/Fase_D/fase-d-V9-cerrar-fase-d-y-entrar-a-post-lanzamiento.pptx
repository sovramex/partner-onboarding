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4.0s · 10 palabras]</a:t>
            </a:r>
          </a:p>
          <a:p/>
          <a:p>
            <a:r>
              <a:t>Para cerrar Fase D con tranquilidad, repasa este checklist mental.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26.4s · 66 palabras]</a:t>
            </a:r>
          </a:p>
          <a:p/>
          <a:p>
            <a:r>
              <a:t>¿Las pruebas en producción están pasadas? ¿Los accesos de cada operador están gestionados y confirmados uno a uno? ¿Los operadores están capacitados en su flujo específico, no en una demo genérica? ¿El modelo de soporte está socializado, con los tres niveles claros y SLAs aceptados? ¿El equipo de comunicación tiene los materiales y el plan de lanzamiento? ¿Los tomadores de decisión están alineados con el discurso?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16.0s · 40 palabras]</a:t>
            </a:r>
          </a:p>
          <a:p/>
          <a:p>
            <a:r>
              <a:t>¿La fecha de lanzamiento está confirmada? ¿Tienes el runbook escrito? ¿Los roles están verificados y vigentes, incluyendo el Nivel 1 de soporte con nombres concretos? Si todo eso está, lanzas. Si falta uno solo, te detienes y lo resuelves antes.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29.2s · 73 palabras]</a:t>
            </a:r>
          </a:p>
          <a:p/>
          <a:p>
            <a:r>
              <a:t>Algo importante sobre Fase D que vale recordar: las reuniones acá las lidera el partner. Sovra no entra a capacitar operadores ni a presentar el modelo de soporte. Sovra entra solo si hay un escalamiento real: un problema en producción que afecta disponibilidad, un cambio de alcance del gobierno antes de lanzar, o un conflicto político que amenaza la fecha. Si te encuentras en alguno de esos tres, escalas. Si no, sigues tú.</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17.2s · 43 palabras]</a:t>
            </a:r>
          </a:p>
          <a:p/>
          <a:p>
            <a:r>
              <a:t>Y la otra cosa, no menor: en Fase D la minuta se vuelve más frecuente. Puede ser dos veces por semana. Después de cada reunión, mandas qué se acordó, qué quedó pendiente, quién es responsable. No se entrega un lanzamiento sin esa trazabilidad.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22.4s · 56 palabras]</a:t>
            </a:r>
          </a:p>
          <a:p/>
          <a:p>
            <a:r>
              <a:t>Lo que viene es Fase E, post-lanzamiento. Ahí el foco cambia de nuevo: monitoreo de métricas reales, documentación de lecciones aprendidas y cierre del proyecto. La adrenalina del día 1 ya pasó, pero el trabajo no terminó. La Fase E es la que define si la implementación se sostiene o se desinfla a los tres meses.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10.0s · 25 palabras]</a:t>
            </a:r>
          </a:p>
          <a:p/>
          <a:p>
            <a:r>
              <a:t>Fase D termina cuando lanzas con la gente lista, no cuando termina el calendario. Si llegaste hasta acá con los nueve ítems cerrados, estás listo.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2286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548640"/>
          </a:xfrm>
          <a:prstGeom prst="rect">
            <a:avLst/>
          </a:prstGeom>
          <a:noFill/>
        </p:spPr>
        <p:txBody>
          <a:bodyPr wrap="square" anchor="t" lIns="0" rIns="0" tIns="0" bIns="0">
            <a:spAutoFit/>
          </a:bodyPr>
          <a:lstStyle/>
          <a:p>
            <a:pPr algn="l">
              <a:lnSpc>
                <a:spcPct val="115000"/>
              </a:lnSpc>
            </a:pPr>
            <a:r>
              <a:rPr sz="1800" b="1" i="0">
                <a:solidFill>
                  <a:srgbClr val="059669"/>
                </a:solidFill>
                <a:latin typeface="Figtree"/>
              </a:rPr>
              <a:t>FASE D</a:t>
            </a:r>
          </a:p>
        </p:txBody>
      </p:sp>
      <p:sp>
        <p:nvSpPr>
          <p:cNvPr id="4" name="TextBox 3"/>
          <p:cNvSpPr txBox="1"/>
          <p:nvPr/>
        </p:nvSpPr>
        <p:spPr>
          <a:xfrm>
            <a:off x="1371600" y="3840480"/>
            <a:ext cx="15544800" cy="3657600"/>
          </a:xfrm>
          <a:prstGeom prst="rect">
            <a:avLst/>
          </a:prstGeom>
          <a:noFill/>
        </p:spPr>
        <p:txBody>
          <a:bodyPr wrap="square" anchor="t" lIns="0" rIns="0" tIns="0" bIns="0">
            <a:spAutoFit/>
          </a:bodyPr>
          <a:lstStyle/>
          <a:p>
            <a:pPr algn="l">
              <a:lnSpc>
                <a:spcPct val="110000"/>
              </a:lnSpc>
            </a:pPr>
            <a:r>
              <a:rPr sz="8000" b="1" i="0">
                <a:solidFill>
                  <a:srgbClr val="0A0915"/>
                </a:solidFill>
                <a:latin typeface="Plus Jakarta Sans"/>
              </a:rPr>
              <a:t>Cerrar Fase D</a:t>
            </a:r>
          </a:p>
          <a:p>
            <a:pPr algn="l">
              <a:lnSpc>
                <a:spcPct val="110000"/>
              </a:lnSpc>
            </a:pPr>
            <a:r>
              <a:rPr sz="8000" b="1" i="0">
                <a:solidFill>
                  <a:srgbClr val="0A0915"/>
                </a:solidFill>
                <a:latin typeface="Plus Jakarta Sans"/>
              </a:rPr>
              <a:t>y entrar a post-lanzamiento.</a:t>
            </a:r>
          </a:p>
        </p:txBody>
      </p:sp>
      <p:sp>
        <p:nvSpPr>
          <p:cNvPr id="5" name="TextBox 4"/>
          <p:cNvSpPr txBox="1"/>
          <p:nvPr/>
        </p:nvSpPr>
        <p:spPr>
          <a:xfrm>
            <a:off x="1371600" y="7772400"/>
            <a:ext cx="15544800" cy="1371600"/>
          </a:xfrm>
          <a:prstGeom prst="rect">
            <a:avLst/>
          </a:prstGeom>
          <a:noFill/>
        </p:spPr>
        <p:txBody>
          <a:bodyPr wrap="square" anchor="t" lIns="0" rIns="0" tIns="0" bIns="0">
            <a:spAutoFit/>
          </a:bodyPr>
          <a:lstStyle/>
          <a:p>
            <a:pPr algn="l">
              <a:lnSpc>
                <a:spcPct val="130000"/>
              </a:lnSpc>
            </a:pPr>
            <a:r>
              <a:rPr sz="2200" b="0" i="0">
                <a:solidFill>
                  <a:srgbClr val="888888"/>
                </a:solidFill>
                <a:latin typeface="Figtree"/>
              </a:rPr>
              <a:t>Si todo está, lanzas. Si falta uno solo, te detienes y lo resuelves antes.</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1828800"/>
          </a:xfrm>
          <a:prstGeom prst="rect">
            <a:avLst/>
          </a:prstGeom>
          <a:noFill/>
        </p:spPr>
        <p:txBody>
          <a:bodyPr wrap="square" anchor="t" lIns="0" rIns="0" tIns="0" bIns="0">
            <a:spAutoFit/>
          </a:bodyPr>
          <a:lstStyle/>
          <a:p>
            <a:pPr algn="l">
              <a:lnSpc>
                <a:spcPct val="115000"/>
              </a:lnSpc>
            </a:pPr>
            <a:r>
              <a:rPr sz="4200" b="1" i="0">
                <a:solidFill>
                  <a:srgbClr val="0A0915"/>
                </a:solidFill>
                <a:latin typeface="Plus Jakarta Sans"/>
              </a:rPr>
              <a:t>Checklist mental</a:t>
            </a:r>
          </a:p>
          <a:p>
            <a:pPr algn="l">
              <a:lnSpc>
                <a:spcPct val="115000"/>
              </a:lnSpc>
            </a:pPr>
            <a:r>
              <a:rPr sz="4200" b="1" i="0">
                <a:solidFill>
                  <a:srgbClr val="0A0915"/>
                </a:solidFill>
                <a:latin typeface="Plus Jakarta Sans"/>
              </a:rPr>
              <a:t>antes de lanzar.</a:t>
            </a:r>
          </a:p>
        </p:txBody>
      </p:sp>
      <p:sp>
        <p:nvSpPr>
          <p:cNvPr id="3" name="Rounded Rectangle 2"/>
          <p:cNvSpPr/>
          <p:nvPr/>
        </p:nvSpPr>
        <p:spPr>
          <a:xfrm>
            <a:off x="1371600" y="3886200"/>
            <a:ext cx="22860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6576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Pruebas en producción pasadas.</a:t>
            </a:r>
          </a:p>
        </p:txBody>
      </p:sp>
      <p:sp>
        <p:nvSpPr>
          <p:cNvPr id="5" name="Rounded Rectangle 4"/>
          <p:cNvSpPr/>
          <p:nvPr/>
        </p:nvSpPr>
        <p:spPr>
          <a:xfrm>
            <a:off x="1371600" y="4709160"/>
            <a:ext cx="22860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48056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Accesos de cada operador gestionados y confirmados uno a uno.</a:t>
            </a:r>
          </a:p>
        </p:txBody>
      </p:sp>
      <p:sp>
        <p:nvSpPr>
          <p:cNvPr id="7" name="Rounded Rectangle 6"/>
          <p:cNvSpPr/>
          <p:nvPr/>
        </p:nvSpPr>
        <p:spPr>
          <a:xfrm>
            <a:off x="1371600" y="5532120"/>
            <a:ext cx="22860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30352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Operadores capacitados en su flujo específico, no en una demo genérica.</a:t>
            </a:r>
          </a:p>
        </p:txBody>
      </p:sp>
      <p:sp>
        <p:nvSpPr>
          <p:cNvPr id="9" name="Rounded Rectangle 8"/>
          <p:cNvSpPr/>
          <p:nvPr/>
        </p:nvSpPr>
        <p:spPr>
          <a:xfrm>
            <a:off x="1371600" y="6355080"/>
            <a:ext cx="22860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612648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Modelo de soporte socializado: tres niveles claros y SLAs aceptados.</a:t>
            </a:r>
          </a:p>
        </p:txBody>
      </p:sp>
      <p:sp>
        <p:nvSpPr>
          <p:cNvPr id="11" name="Rounded Rectangle 10"/>
          <p:cNvSpPr/>
          <p:nvPr/>
        </p:nvSpPr>
        <p:spPr>
          <a:xfrm>
            <a:off x="1371600" y="7178040"/>
            <a:ext cx="22860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694944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Comunicación con materiales y plan de lanzamiento.</a:t>
            </a:r>
          </a:p>
        </p:txBody>
      </p:sp>
      <p:sp>
        <p:nvSpPr>
          <p:cNvPr id="13" name="Rounded Rectangle 12"/>
          <p:cNvSpPr/>
          <p:nvPr/>
        </p:nvSpPr>
        <p:spPr>
          <a:xfrm>
            <a:off x="1371600" y="8001000"/>
            <a:ext cx="22860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0" y="77724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Tomadores de decisión alineados con el discurso.</a:t>
            </a:r>
          </a:p>
        </p:txBody>
      </p:sp>
      <p:sp>
        <p:nvSpPr>
          <p:cNvPr id="15" name="TextBox 1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1828800"/>
          </a:xfrm>
          <a:prstGeom prst="rect">
            <a:avLst/>
          </a:prstGeom>
          <a:noFill/>
        </p:spPr>
        <p:txBody>
          <a:bodyPr wrap="square" anchor="t" lIns="0" rIns="0" tIns="0" bIns="0">
            <a:spAutoFit/>
          </a:bodyPr>
          <a:lstStyle/>
          <a:p>
            <a:pPr algn="l">
              <a:lnSpc>
                <a:spcPct val="115000"/>
              </a:lnSpc>
            </a:pPr>
            <a:r>
              <a:rPr sz="4200" b="1" i="0">
                <a:solidFill>
                  <a:srgbClr val="0A0915"/>
                </a:solidFill>
                <a:latin typeface="Plus Jakarta Sans"/>
              </a:rPr>
              <a:t>Y los últimos</a:t>
            </a:r>
          </a:p>
          <a:p>
            <a:pPr algn="l">
              <a:lnSpc>
                <a:spcPct val="115000"/>
              </a:lnSpc>
            </a:pPr>
            <a:r>
              <a:rPr sz="4200" b="1" i="0">
                <a:solidFill>
                  <a:srgbClr val="0A0915"/>
                </a:solidFill>
                <a:latin typeface="Plus Jakarta Sans"/>
              </a:rPr>
              <a:t>tres ítems.</a:t>
            </a:r>
          </a:p>
        </p:txBody>
      </p:sp>
      <p:sp>
        <p:nvSpPr>
          <p:cNvPr id="3" name="Rounded Rectangle 2"/>
          <p:cNvSpPr/>
          <p:nvPr/>
        </p:nvSpPr>
        <p:spPr>
          <a:xfrm>
            <a:off x="1371600" y="3886200"/>
            <a:ext cx="22860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6576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Fecha de lanzamiento confirmada.</a:t>
            </a:r>
          </a:p>
        </p:txBody>
      </p:sp>
      <p:sp>
        <p:nvSpPr>
          <p:cNvPr id="5" name="Rounded Rectangle 4"/>
          <p:cNvSpPr/>
          <p:nvPr/>
        </p:nvSpPr>
        <p:spPr>
          <a:xfrm>
            <a:off x="1371600" y="4709160"/>
            <a:ext cx="22860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48056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Runbook escrito.</a:t>
            </a:r>
          </a:p>
        </p:txBody>
      </p:sp>
      <p:sp>
        <p:nvSpPr>
          <p:cNvPr id="7" name="Rounded Rectangle 6"/>
          <p:cNvSpPr/>
          <p:nvPr/>
        </p:nvSpPr>
        <p:spPr>
          <a:xfrm>
            <a:off x="1371600" y="5532120"/>
            <a:ext cx="22860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30352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Roles verificados y vigentes, incluyendo Nivel 1 con nombres concretos.</a:t>
            </a:r>
          </a:p>
        </p:txBody>
      </p:sp>
      <p:sp>
        <p:nvSpPr>
          <p:cNvPr id="9" name="TextBox 8"/>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059669"/>
                </a:solidFill>
                <a:latin typeface="Figtree"/>
              </a:rPr>
              <a:t>Quién lidera</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Las reuniones</a:t>
            </a:r>
          </a:p>
          <a:p>
            <a:pPr algn="ctr">
              <a:lnSpc>
                <a:spcPct val="115000"/>
              </a:lnSpc>
            </a:pPr>
            <a:r>
              <a:rPr sz="5600" b="1" i="0">
                <a:solidFill>
                  <a:srgbClr val="0A0915"/>
                </a:solidFill>
                <a:latin typeface="Plus Jakarta Sans"/>
              </a:rPr>
              <a:t>las lidera el partner.</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Sovra no entra a capacitar operadores ni a presentar el modelo de soporte. Sovra entra solo si hay escalamiento real: problema en producción que afecta disponibilidad, cambio de alcance antes de lanzar, o conflicto político que amenaza la fecha.</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059669"/>
                </a:solidFill>
                <a:latin typeface="Figtree"/>
              </a:rPr>
              <a:t>Trazabilidad</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La minuta</a:t>
            </a:r>
          </a:p>
          <a:p>
            <a:pPr algn="ctr">
              <a:lnSpc>
                <a:spcPct val="115000"/>
              </a:lnSpc>
            </a:pPr>
            <a:r>
              <a:rPr sz="5600" b="1" i="0">
                <a:solidFill>
                  <a:srgbClr val="0A0915"/>
                </a:solidFill>
                <a:latin typeface="Plus Jakarta Sans"/>
              </a:rPr>
              <a:t>se vuelve más frecuente.</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Puede ser dos veces por semana. Después de cada reunión: qué se acordó, qué quedó pendiente, quién es responsable. No se entrega un lanzamiento sin esa trazabilidad.</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059669"/>
                </a:solidFill>
                <a:latin typeface="Figtree"/>
              </a:rPr>
              <a:t>Lo que viene</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Fase E:</a:t>
            </a:r>
          </a:p>
          <a:p>
            <a:pPr algn="ctr">
              <a:lnSpc>
                <a:spcPct val="115000"/>
              </a:lnSpc>
            </a:pPr>
            <a:r>
              <a:rPr sz="5600" b="1" i="0">
                <a:solidFill>
                  <a:srgbClr val="0A0915"/>
                </a:solidFill>
                <a:latin typeface="Plus Jakarta Sans"/>
              </a:rPr>
              <a:t>post-lanzamiento.</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Monitoreo de métricas reales, documentación de lecciones aprendidas y cierre del proyecto. La adrenalina del día 1 ya pasó, pero el trabajo no terminó. Fase E define si la implementación se sostiene o se desinfla a los tres meses.</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1371600"/>
          </a:xfrm>
          <a:prstGeom prst="rect">
            <a:avLst/>
          </a:prstGeom>
          <a:noFill/>
        </p:spPr>
        <p:txBody>
          <a:bodyPr wrap="square" anchor="t" lIns="0" rIns="0" tIns="0" bIns="0">
            <a:spAutoFit/>
          </a:bodyPr>
          <a:lstStyle/>
          <a:p>
            <a:pPr algn="ctr">
              <a:lnSpc>
                <a:spcPct val="115000"/>
              </a:lnSpc>
            </a:pPr>
            <a:r>
              <a:rPr sz="4200" b="0" i="0">
                <a:solidFill>
                  <a:srgbClr val="FFFFFF"/>
                </a:solidFill>
                <a:latin typeface="Plus Jakarta Sans"/>
              </a:rPr>
              <a:t>Fase D termina cuando lanzas</a:t>
            </a:r>
          </a:p>
        </p:txBody>
      </p:sp>
      <p:sp>
        <p:nvSpPr>
          <p:cNvPr id="4" name="TextBox 3"/>
          <p:cNvSpPr txBox="1"/>
          <p:nvPr/>
        </p:nvSpPr>
        <p:spPr>
          <a:xfrm>
            <a:off x="1371600" y="4754880"/>
            <a:ext cx="15544800" cy="2286000"/>
          </a:xfrm>
          <a:prstGeom prst="rect">
            <a:avLst/>
          </a:prstGeom>
          <a:noFill/>
        </p:spPr>
        <p:txBody>
          <a:bodyPr wrap="square" anchor="t" lIns="0" rIns="0" tIns="0" bIns="0">
            <a:spAutoFit/>
          </a:bodyPr>
          <a:lstStyle/>
          <a:p>
            <a:pPr algn="ctr">
              <a:lnSpc>
                <a:spcPct val="110000"/>
              </a:lnSpc>
            </a:pPr>
            <a:r>
              <a:rPr sz="7800" b="1" i="0">
                <a:solidFill>
                  <a:srgbClr val="FFFFFF"/>
                </a:solidFill>
                <a:latin typeface="Plus Jakarta Sans"/>
              </a:rPr>
              <a:t>con la gente lista,</a:t>
            </a:r>
          </a:p>
        </p:txBody>
      </p:sp>
      <p:sp>
        <p:nvSpPr>
          <p:cNvPr id="5" name="TextBox 4"/>
          <p:cNvSpPr txBox="1"/>
          <p:nvPr/>
        </p:nvSpPr>
        <p:spPr>
          <a:xfrm>
            <a:off x="1371600" y="7315200"/>
            <a:ext cx="15544800" cy="1097280"/>
          </a:xfrm>
          <a:prstGeom prst="rect">
            <a:avLst/>
          </a:prstGeom>
          <a:noFill/>
        </p:spPr>
        <p:txBody>
          <a:bodyPr wrap="square" anchor="t" lIns="0" rIns="0" tIns="0" bIns="0">
            <a:spAutoFit/>
          </a:bodyPr>
          <a:lstStyle/>
          <a:p>
            <a:pPr algn="ctr">
              <a:lnSpc>
                <a:spcPct val="115000"/>
              </a:lnSpc>
            </a:pPr>
            <a:r>
              <a:rPr sz="3000" b="0" i="0">
                <a:solidFill>
                  <a:srgbClr val="FFFFFF"/>
                </a:solidFill>
                <a:latin typeface="Plus Jakarta Sans"/>
              </a:rPr>
              <a:t>no cuando termina el calendario.</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CCE5FF"/>
                </a:solidFill>
                <a:latin typeface="Figtree"/>
              </a:rPr>
              <a:t>Sovra Partners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