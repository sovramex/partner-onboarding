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23.6s · 59 palabras]</a:t>
            </a:r>
          </a:p>
          <a:p/>
          <a:p>
            <a:r>
              <a:t>La capacitación de operadores es la reunión más importante de Fase D. Dura mínimo dos horas por grupo, la lideras tú con apoyo del especialista funcional del gobierno, y el objetivo es que cada operador sepa usar la plataforma para su flujo específico. No la plataforma en general. El flujo que esa persona va a ejecutar todos los días.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9.6s · 24 palabras]</a:t>
            </a:r>
          </a:p>
          <a:p/>
          <a:p>
            <a:r>
              <a:t>Dura mínimo dos horas por grupo, la lideras tú con apoyo del especialista funcional del gobierno. Es la reunión más importante de Fase 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38.4s · 96 palabras]</a:t>
            </a:r>
          </a:p>
          <a:p/>
          <a:p>
            <a:r>
              <a:t>La agenda tiene cuatro momentos. Primero una demo del flujo completo del trámite, vista desde el rol de operador, donde ven el expediente llegar y se camina cada etapa. Segundo, práctica supervisada: cada operador gestiona un expediente de prueba, no mira a otro hacerlo. Tercero, dudas y casuística, que es donde aparece lo importante: qué hacer cuando el ciudadano sube un documento ilegible, qué hacer cuando un expediente queda trabado, qué hacer cuando hay que devolverlo. Cuarto, verificar que el acceso individual de cada operador funcione con sus credenciales reales antes de irse de la sala.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17.2s · 43 palabras]</a:t>
            </a:r>
          </a:p>
          <a:p/>
          <a:p>
            <a:r>
              <a:t>Los entregables son concretos. Operadores capacitados en su flujo. Accesos confirmados uno por uno. Una lista de dudas frecuentes documentada, que después alimenta el material de soporte. Y por lo menos un día de práctica supervisada antes de que entren a producción real.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18.4s · 46 palabras]</a:t>
            </a:r>
          </a:p>
          <a:p/>
          <a:p>
            <a:r>
              <a:t>Hay una decisión que vas a tener que tomar acá: si el gobierno tiene más de diez operadores, no los capacitas tú a todos. Capacitas a dos o tres del equipo core, ellos replican al resto. Es train the trainer y vamos a verlo más adelante.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[Duración estimada: 6.8s · 17 palabras]</a:t>
            </a:r>
          </a:p>
          <a:p/>
          <a:p>
            <a:r>
              <a:t>Un operador que no practicó es un operador que no sabe. La práctica supervisada no es opcional.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2286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548640"/>
          </a:xfrm>
          <a:prstGeom prst="rect">
            <a:avLst/>
          </a:prstGeom>
          <a:noFill/>
        </p:spPr>
        <p:txBody>
          <a:bodyPr wrap="square" anchor="t" lIns="0" rIns="0" tIns="0" bIns="0">
            <a:spAutoFit/>
          </a:bodyPr>
          <a:lstStyle/>
          <a:p>
            <a:pPr algn="l">
              <a:lnSpc>
                <a:spcPct val="115000"/>
              </a:lnSpc>
            </a:pPr>
            <a:r>
              <a:rPr sz="1800" b="1" i="0">
                <a:solidFill>
                  <a:srgbClr val="059669"/>
                </a:solidFill>
                <a:latin typeface="Figtree"/>
              </a:rPr>
              <a:t>FASE D</a:t>
            </a:r>
          </a:p>
        </p:txBody>
      </p:sp>
      <p:sp>
        <p:nvSpPr>
          <p:cNvPr id="4" name="TextBox 3"/>
          <p:cNvSpPr txBox="1"/>
          <p:nvPr/>
        </p:nvSpPr>
        <p:spPr>
          <a:xfrm>
            <a:off x="1371600" y="3840480"/>
            <a:ext cx="15544800" cy="3657600"/>
          </a:xfrm>
          <a:prstGeom prst="rect">
            <a:avLst/>
          </a:prstGeom>
          <a:noFill/>
        </p:spPr>
        <p:txBody>
          <a:bodyPr wrap="square" anchor="t" lIns="0" rIns="0" tIns="0" bIns="0">
            <a:spAutoFit/>
          </a:bodyPr>
          <a:lstStyle/>
          <a:p>
            <a:pPr algn="l">
              <a:lnSpc>
                <a:spcPct val="110000"/>
              </a:lnSpc>
            </a:pPr>
            <a:r>
              <a:rPr sz="8000" b="1" i="0">
                <a:solidFill>
                  <a:srgbClr val="0A0915"/>
                </a:solidFill>
                <a:latin typeface="Plus Jakarta Sans"/>
              </a:rPr>
              <a:t>Capacitar operadores</a:t>
            </a:r>
          </a:p>
          <a:p>
            <a:pPr algn="l">
              <a:lnSpc>
                <a:spcPct val="110000"/>
              </a:lnSpc>
            </a:pPr>
            <a:r>
              <a:rPr sz="8000" b="1" i="0">
                <a:solidFill>
                  <a:srgbClr val="0A0915"/>
                </a:solidFill>
                <a:latin typeface="Plus Jakarta Sans"/>
              </a:rPr>
              <a:t>en su flujo real.</a:t>
            </a:r>
          </a:p>
        </p:txBody>
      </p:sp>
      <p:sp>
        <p:nvSpPr>
          <p:cNvPr id="5" name="TextBox 4"/>
          <p:cNvSpPr txBox="1"/>
          <p:nvPr/>
        </p:nvSpPr>
        <p:spPr>
          <a:xfrm>
            <a:off x="1371600" y="7772400"/>
            <a:ext cx="15544800" cy="1371600"/>
          </a:xfrm>
          <a:prstGeom prst="rect">
            <a:avLst/>
          </a:prstGeom>
          <a:noFill/>
        </p:spPr>
        <p:txBody>
          <a:bodyPr wrap="square" anchor="t" lIns="0" rIns="0" tIns="0" bIns="0">
            <a:spAutoFit/>
          </a:bodyPr>
          <a:lstStyle/>
          <a:p>
            <a:pPr algn="l">
              <a:lnSpc>
                <a:spcPct val="130000"/>
              </a:lnSpc>
            </a:pPr>
            <a:r>
              <a:rPr sz="2200" b="0" i="0">
                <a:solidFill>
                  <a:srgbClr val="888888"/>
                </a:solidFill>
                <a:latin typeface="Figtree"/>
              </a:rPr>
              <a:t>No "la plataforma en general". El flujo que esa persona va a ejecutar todos los días.</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59669"/>
                </a:solidFill>
                <a:latin typeface="Figtree"/>
              </a:rPr>
              <a:t>Setup</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Mínimo dos horas por grupo.</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La lideras tú con apoyo del especialista funcional del gobierno. Es la reunión más importante de Fase D.</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Cuatro momentos</a:t>
            </a:r>
          </a:p>
          <a:p>
            <a:pPr algn="l">
              <a:lnSpc>
                <a:spcPct val="115000"/>
              </a:lnSpc>
            </a:pPr>
            <a:r>
              <a:rPr sz="4200" b="1" i="0">
                <a:solidFill>
                  <a:srgbClr val="0A0915"/>
                </a:solidFill>
                <a:latin typeface="Plus Jakarta Sans"/>
              </a:rPr>
              <a:t>de la agenda.</a:t>
            </a:r>
          </a:p>
        </p:txBody>
      </p:sp>
      <p:sp>
        <p:nvSpPr>
          <p:cNvPr id="3" name="Rounded Rectangle 2"/>
          <p:cNvSpPr/>
          <p:nvPr/>
        </p:nvSpPr>
        <p:spPr>
          <a:xfrm>
            <a:off x="1371600" y="388620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1. Demo del flujo completo del trámite, vista desde el rol de operador.</a:t>
            </a:r>
          </a:p>
        </p:txBody>
      </p:sp>
      <p:sp>
        <p:nvSpPr>
          <p:cNvPr id="5" name="Rounded Rectangle 4"/>
          <p:cNvSpPr/>
          <p:nvPr/>
        </p:nvSpPr>
        <p:spPr>
          <a:xfrm>
            <a:off x="1371600" y="470916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2. Práctica supervisada: cada operador gestiona un expediente. No mira a otro hacerlo.</a:t>
            </a:r>
          </a:p>
        </p:txBody>
      </p:sp>
      <p:sp>
        <p:nvSpPr>
          <p:cNvPr id="7" name="Rounded Rectangle 6"/>
          <p:cNvSpPr/>
          <p:nvPr/>
        </p:nvSpPr>
        <p:spPr>
          <a:xfrm>
            <a:off x="1371600" y="553212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3. Dudas y casuística: documento ilegible, expediente trabado, devolución.</a:t>
            </a:r>
          </a:p>
        </p:txBody>
      </p:sp>
      <p:sp>
        <p:nvSpPr>
          <p:cNvPr id="9" name="Rounded Rectangle 8"/>
          <p:cNvSpPr/>
          <p:nvPr/>
        </p:nvSpPr>
        <p:spPr>
          <a:xfrm>
            <a:off x="1371600" y="635508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4. Verificar que el acceso individual funcione con credenciales reales, antes de salir de la sala.</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1371600"/>
            <a:ext cx="15544800" cy="1828800"/>
          </a:xfrm>
          <a:prstGeom prst="rect">
            <a:avLst/>
          </a:prstGeom>
          <a:noFill/>
        </p:spPr>
        <p:txBody>
          <a:bodyPr wrap="square" anchor="t" lIns="0" rIns="0" tIns="0" bIns="0">
            <a:spAutoFit/>
          </a:bodyPr>
          <a:lstStyle/>
          <a:p>
            <a:pPr algn="l">
              <a:lnSpc>
                <a:spcPct val="115000"/>
              </a:lnSpc>
            </a:pPr>
            <a:r>
              <a:rPr sz="4200" b="1" i="0">
                <a:solidFill>
                  <a:srgbClr val="0A0915"/>
                </a:solidFill>
                <a:latin typeface="Plus Jakarta Sans"/>
              </a:rPr>
              <a:t>Los entregables</a:t>
            </a:r>
          </a:p>
          <a:p>
            <a:pPr algn="l">
              <a:lnSpc>
                <a:spcPct val="115000"/>
              </a:lnSpc>
            </a:pPr>
            <a:r>
              <a:rPr sz="4200" b="1" i="0">
                <a:solidFill>
                  <a:srgbClr val="0A0915"/>
                </a:solidFill>
                <a:latin typeface="Plus Jakarta Sans"/>
              </a:rPr>
              <a:t>son concretos.</a:t>
            </a:r>
          </a:p>
        </p:txBody>
      </p:sp>
      <p:sp>
        <p:nvSpPr>
          <p:cNvPr id="3" name="Rounded Rectangle 2"/>
          <p:cNvSpPr/>
          <p:nvPr/>
        </p:nvSpPr>
        <p:spPr>
          <a:xfrm>
            <a:off x="1371600" y="388620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365760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Operadores capacitados en su flujo.</a:t>
            </a:r>
          </a:p>
        </p:txBody>
      </p:sp>
      <p:sp>
        <p:nvSpPr>
          <p:cNvPr id="5" name="Rounded Rectangle 4"/>
          <p:cNvSpPr/>
          <p:nvPr/>
        </p:nvSpPr>
        <p:spPr>
          <a:xfrm>
            <a:off x="1371600" y="470916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448056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Accesos confirmados uno por uno.</a:t>
            </a:r>
          </a:p>
        </p:txBody>
      </p:sp>
      <p:sp>
        <p:nvSpPr>
          <p:cNvPr id="7" name="Rounded Rectangle 6"/>
          <p:cNvSpPr/>
          <p:nvPr/>
        </p:nvSpPr>
        <p:spPr>
          <a:xfrm>
            <a:off x="1371600" y="553212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0" y="530352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Dudas frecuentes documentadas — alimentan el material de soporte.</a:t>
            </a:r>
          </a:p>
        </p:txBody>
      </p:sp>
      <p:sp>
        <p:nvSpPr>
          <p:cNvPr id="9" name="Rounded Rectangle 8"/>
          <p:cNvSpPr/>
          <p:nvPr/>
        </p:nvSpPr>
        <p:spPr>
          <a:xfrm>
            <a:off x="1371600" y="6355080"/>
            <a:ext cx="228600" cy="22860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0" y="6126480"/>
            <a:ext cx="15087600" cy="731520"/>
          </a:xfrm>
          <a:prstGeom prst="rect">
            <a:avLst/>
          </a:prstGeom>
          <a:noFill/>
        </p:spPr>
        <p:txBody>
          <a:bodyPr wrap="square" anchor="t" lIns="0" rIns="0" tIns="0" bIns="0">
            <a:spAutoFit/>
          </a:bodyPr>
          <a:lstStyle/>
          <a:p>
            <a:pPr algn="l">
              <a:lnSpc>
                <a:spcPct val="130000"/>
              </a:lnSpc>
            </a:pPr>
            <a:r>
              <a:rPr sz="2200" b="0" i="0">
                <a:solidFill>
                  <a:srgbClr val="0A0915"/>
                </a:solidFill>
                <a:latin typeface="Figtree"/>
              </a:rPr>
              <a:t>Al menos un día de práctica supervisada antes de producción real.</a:t>
            </a:r>
          </a:p>
        </p:txBody>
      </p:sp>
      <p:sp>
        <p:nvSpPr>
          <p:cNvPr id="11" name="TextBox 10"/>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0" y="2286000"/>
            <a:ext cx="15544800" cy="548640"/>
          </a:xfrm>
          <a:prstGeom prst="rect">
            <a:avLst/>
          </a:prstGeom>
          <a:noFill/>
        </p:spPr>
        <p:txBody>
          <a:bodyPr wrap="square" anchor="t" lIns="0" rIns="0" tIns="0" bIns="0">
            <a:spAutoFit/>
          </a:bodyPr>
          <a:lstStyle/>
          <a:p>
            <a:pPr algn="ctr">
              <a:lnSpc>
                <a:spcPct val="115000"/>
              </a:lnSpc>
            </a:pPr>
            <a:r>
              <a:rPr sz="2000" b="1" i="0">
                <a:solidFill>
                  <a:srgbClr val="059669"/>
                </a:solidFill>
                <a:latin typeface="Figtree"/>
              </a:rPr>
              <a:t>Decisión que vas a tomar</a:t>
            </a:r>
          </a:p>
        </p:txBody>
      </p:sp>
      <p:sp>
        <p:nvSpPr>
          <p:cNvPr id="3" name="TextBox 2"/>
          <p:cNvSpPr txBox="1"/>
          <p:nvPr/>
        </p:nvSpPr>
        <p:spPr>
          <a:xfrm>
            <a:off x="1371600" y="3200400"/>
            <a:ext cx="15544800" cy="2743200"/>
          </a:xfrm>
          <a:prstGeom prst="rect">
            <a:avLst/>
          </a:prstGeom>
          <a:noFill/>
        </p:spPr>
        <p:txBody>
          <a:bodyPr wrap="square" anchor="t" lIns="0" rIns="0" tIns="0" bIns="0">
            <a:spAutoFit/>
          </a:bodyPr>
          <a:lstStyle/>
          <a:p>
            <a:pPr algn="ctr">
              <a:lnSpc>
                <a:spcPct val="115000"/>
              </a:lnSpc>
            </a:pPr>
            <a:r>
              <a:rPr sz="5600" b="1" i="0">
                <a:solidFill>
                  <a:srgbClr val="0A0915"/>
                </a:solidFill>
                <a:latin typeface="Plus Jakarta Sans"/>
              </a:rPr>
              <a:t>Más de diez operadores:</a:t>
            </a:r>
          </a:p>
          <a:p>
            <a:pPr algn="ctr">
              <a:lnSpc>
                <a:spcPct val="115000"/>
              </a:lnSpc>
            </a:pPr>
            <a:r>
              <a:rPr sz="5600" b="1" i="0">
                <a:solidFill>
                  <a:srgbClr val="0A0915"/>
                </a:solidFill>
                <a:latin typeface="Plus Jakarta Sans"/>
              </a:rPr>
              <a:t>no los capacitas tú.</a:t>
            </a:r>
          </a:p>
        </p:txBody>
      </p:sp>
      <p:sp>
        <p:nvSpPr>
          <p:cNvPr id="4" name="TextBox 3"/>
          <p:cNvSpPr txBox="1"/>
          <p:nvPr/>
        </p:nvSpPr>
        <p:spPr>
          <a:xfrm>
            <a:off x="1828800" y="6858000"/>
            <a:ext cx="14630400" cy="2286000"/>
          </a:xfrm>
          <a:prstGeom prst="rect">
            <a:avLst/>
          </a:prstGeom>
          <a:noFill/>
        </p:spPr>
        <p:txBody>
          <a:bodyPr wrap="square" anchor="t" lIns="0" rIns="0" tIns="0" bIns="0">
            <a:spAutoFit/>
          </a:bodyPr>
          <a:lstStyle/>
          <a:p>
            <a:pPr algn="ctr">
              <a:lnSpc>
                <a:spcPct val="140000"/>
              </a:lnSpc>
            </a:pPr>
            <a:r>
              <a:rPr sz="2400" b="0" i="0">
                <a:solidFill>
                  <a:srgbClr val="0A0915"/>
                </a:solidFill>
                <a:latin typeface="Figtree"/>
              </a:rPr>
              <a:t>Capacitas a dos o tres del equipo core. Ellos replican al resto. Es train the trainer, lo vemos en el video 7.</a:t>
            </a:r>
          </a:p>
        </p:txBody>
      </p:sp>
      <p:sp>
        <p:nvSpPr>
          <p:cNvPr id="5" name="TextBox 4"/>
          <p:cNvSpPr txBox="1"/>
          <p:nvPr/>
        </p:nvSpPr>
        <p:spPr>
          <a:xfrm>
            <a:off x="13716000" y="9829800"/>
            <a:ext cx="4389120" cy="365760"/>
          </a:xfrm>
          <a:prstGeom prst="rect">
            <a:avLst/>
          </a:prstGeom>
          <a:noFill/>
        </p:spPr>
        <p:txBody>
          <a:bodyPr wrap="none">
            <a:spAutoFit/>
          </a:bodyPr>
          <a:lstStyle/>
          <a:p>
            <a:pPr algn="r"/>
            <a:r>
              <a:rPr sz="1000">
                <a:solidFill>
                  <a:srgbClr val="888888"/>
                </a:solidFill>
                <a:latin typeface="Figtree"/>
              </a:rPr>
              <a:t>Sovra Partners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3200400"/>
            <a:ext cx="15544800" cy="1371600"/>
          </a:xfrm>
          <a:prstGeom prst="rect">
            <a:avLst/>
          </a:prstGeom>
          <a:noFill/>
        </p:spPr>
        <p:txBody>
          <a:bodyPr wrap="square" anchor="t" lIns="0" rIns="0" tIns="0" bIns="0">
            <a:spAutoFit/>
          </a:bodyPr>
          <a:lstStyle/>
          <a:p>
            <a:pPr algn="ctr">
              <a:lnSpc>
                <a:spcPct val="115000"/>
              </a:lnSpc>
            </a:pPr>
            <a:r>
              <a:rPr sz="4200" b="0" i="0">
                <a:solidFill>
                  <a:srgbClr val="FFFFFF"/>
                </a:solidFill>
                <a:latin typeface="Plus Jakarta Sans"/>
              </a:rPr>
              <a:t>Un operador que no practicó</a:t>
            </a:r>
          </a:p>
        </p:txBody>
      </p:sp>
      <p:sp>
        <p:nvSpPr>
          <p:cNvPr id="4" name="TextBox 3"/>
          <p:cNvSpPr txBox="1"/>
          <p:nvPr/>
        </p:nvSpPr>
        <p:spPr>
          <a:xfrm>
            <a:off x="1371600" y="4754880"/>
            <a:ext cx="15544800" cy="2286000"/>
          </a:xfrm>
          <a:prstGeom prst="rect">
            <a:avLst/>
          </a:prstGeom>
          <a:noFill/>
        </p:spPr>
        <p:txBody>
          <a:bodyPr wrap="square" anchor="t" lIns="0" rIns="0" tIns="0" bIns="0">
            <a:spAutoFit/>
          </a:bodyPr>
          <a:lstStyle/>
          <a:p>
            <a:pPr algn="ctr">
              <a:lnSpc>
                <a:spcPct val="110000"/>
              </a:lnSpc>
            </a:pPr>
            <a:r>
              <a:rPr sz="7800" b="1" i="0">
                <a:solidFill>
                  <a:srgbClr val="FFFFFF"/>
                </a:solidFill>
                <a:latin typeface="Plus Jakarta Sans"/>
              </a:rPr>
              <a:t>es un operador que no sabe.</a:t>
            </a:r>
          </a:p>
        </p:txBody>
      </p:sp>
      <p:sp>
        <p:nvSpPr>
          <p:cNvPr id="5" name="TextBox 4"/>
          <p:cNvSpPr txBox="1"/>
          <p:nvPr/>
        </p:nvSpPr>
        <p:spPr>
          <a:xfrm>
            <a:off x="1371600" y="7315200"/>
            <a:ext cx="15544800" cy="1097280"/>
          </a:xfrm>
          <a:prstGeom prst="rect">
            <a:avLst/>
          </a:prstGeom>
          <a:noFill/>
        </p:spPr>
        <p:txBody>
          <a:bodyPr wrap="square" anchor="t" lIns="0" rIns="0" tIns="0" bIns="0">
            <a:spAutoFit/>
          </a:bodyPr>
          <a:lstStyle/>
          <a:p>
            <a:pPr algn="ctr">
              <a:lnSpc>
                <a:spcPct val="115000"/>
              </a:lnSpc>
            </a:pPr>
            <a:r>
              <a:rPr sz="3000" b="0" i="0">
                <a:solidFill>
                  <a:srgbClr val="FFFFFF"/>
                </a:solidFill>
                <a:latin typeface="Plus Jakarta Sans"/>
              </a:rPr>
              <a:t>La práctica supervisada no es opcional.</a:t>
            </a:r>
          </a:p>
        </p:txBody>
      </p:sp>
      <p:sp>
        <p:nvSpPr>
          <p:cNvPr id="6" name="TextBox 5"/>
          <p:cNvSpPr txBox="1"/>
          <p:nvPr/>
        </p:nvSpPr>
        <p:spPr>
          <a:xfrm>
            <a:off x="13716000" y="9829800"/>
            <a:ext cx="4389120" cy="365760"/>
          </a:xfrm>
          <a:prstGeom prst="rect">
            <a:avLst/>
          </a:prstGeom>
          <a:noFill/>
        </p:spPr>
        <p:txBody>
          <a:bodyPr wrap="none">
            <a:spAutoFit/>
          </a:bodyPr>
          <a:lstStyle/>
          <a:p>
            <a:pPr algn="r"/>
            <a:r>
              <a:rPr sz="1000">
                <a:solidFill>
                  <a:srgbClr val="CCE5FF"/>
                </a:solidFill>
                <a:latin typeface="Figtree"/>
              </a:rPr>
              <a:t>Sovra Partners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