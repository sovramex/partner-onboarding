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287000" cx="18288000"/>
  <p:notesSz cx="6858000" cy="9144000"/>
  <p:embeddedFontLst>
    <p:embeddedFont>
      <p:font typeface="Inter SemiBold"/>
      <p:regular r:id="rId12"/>
      <p:bold r:id="rId13"/>
      <p:italic r:id="rId14"/>
      <p:boldItalic r:id="rId15"/>
    </p:embeddedFont>
    <p:embeddedFont>
      <p:font typeface="Int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SemiBold-bold.fntdata"/><Relationship Id="rId12" Type="http://schemas.openxmlformats.org/officeDocument/2006/relationships/font" Target="fonts/InterSemiBold-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boldItalic.fntdata"/><Relationship Id="rId14" Type="http://schemas.openxmlformats.org/officeDocument/2006/relationships/font" Target="fonts/InterSemiBold-italic.fntdata"/><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notesMaster" Target="notesMasters/notesMaster1.xml"/><Relationship Id="rId19" Type="http://schemas.openxmlformats.org/officeDocument/2006/relationships/font" Target="fonts/Inter-boldItalic.fntdata"/><Relationship Id="rId6" Type="http://schemas.openxmlformats.org/officeDocument/2006/relationships/slide" Target="slides/slide1.xml"/><Relationship Id="rId18"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23.6s · 59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capacitación de operadores es la reunión más importante de Fase D. Dura mínimo dos horas por grupo, la lideras tú con apoyo del especialista funcional del gobierno, y el objetivo es que cada operador sepa usar la plataforma para su flujo específico. No la plataforma en general. El flujo que esa persona va a ejecutar todos los días.</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9.6s · 24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Dura mínimo dos horas por grupo, la lideras tú con apoyo del especialista funcional del gobierno. Es la reunión más importante de Fase D.</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38.4s · 96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agenda tiene cuatro momentos. Primero una demo del flujo completo del trámite, vista desde el rol de operador, donde ven el expediente llegar y se camina cada etapa. Segundo, práctica supervisada: cada operador gestiona un expediente de prueba, no mira a otro hacerlo. Tercero, dudas y casuística, que es donde aparece lo importante: qué hacer cuando el ciudadano sube un documento ilegible, qué hacer cuando un expediente queda trabado, qué hacer cuando hay que devolverlo. Cuarto, verificar que el acceso individual de cada operador funcione con sus credenciales reales antes de irse de la sala.</a:t>
            </a:r>
            <a:endParaRPr/>
          </a:p>
        </p:txBody>
      </p:sp>
      <p:sp>
        <p:nvSpPr>
          <p:cNvPr id="103" name="Google Shape;103;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17.2s · 43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entregables son concretos. Operadores capacitados en su flujo. Accesos confirmados uno por uno. Una lista de dudas frecuentes documentada, que después alimenta el material de soporte. Y por lo menos un día de práctica supervisada antes de que entren a producción real.</a:t>
            </a:r>
            <a:endParaRPr/>
          </a:p>
        </p:txBody>
      </p:sp>
      <p:sp>
        <p:nvSpPr>
          <p:cNvPr id="126" name="Google Shape;12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18.4s · 46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una decisión que vas a tener que tomar acá: si el gobierno tiene más de diez operadores, no los capacitas tú a todos. Capacitas a dos o tres del equipo core, ellos replican al resto. Es train the trainer y vamos a verlo más adelante.</a:t>
            </a:r>
            <a:endParaRPr/>
          </a:p>
        </p:txBody>
      </p:sp>
      <p:sp>
        <p:nvSpPr>
          <p:cNvPr id="147" name="Google Shape;147;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6.8s · 17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 operador que no practicó es un operador que no sabe. La práctica supervisada no es opcional.</a:t>
            </a:r>
            <a:endParaRPr/>
          </a:p>
        </p:txBody>
      </p:sp>
      <p:sp>
        <p:nvSpPr>
          <p:cNvPr id="163" name="Google Shape;16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59669"/>
                </a:solidFill>
                <a:latin typeface="Inter"/>
                <a:ea typeface="Inter"/>
                <a:cs typeface="Inter"/>
                <a:sym typeface="Inter"/>
              </a:rPr>
              <a:t>FASE D</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Capacitar operadores</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en su flujo real</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No "la plataforma en general". El flujo que esa persona va a ejecutar todos los días.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274775" y="2861525"/>
            <a:ext cx="15544800" cy="2581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6800">
                <a:solidFill>
                  <a:srgbClr val="0A0915"/>
                </a:solidFill>
                <a:latin typeface="Inter"/>
                <a:ea typeface="Inter"/>
                <a:cs typeface="Inter"/>
                <a:sym typeface="Inter"/>
              </a:rPr>
              <a:t>Mínimo dos horas</a:t>
            </a:r>
            <a:endParaRPr b="1" sz="6800">
              <a:solidFill>
                <a:srgbClr val="0A0915"/>
              </a:solidFill>
              <a:latin typeface="Inter"/>
              <a:ea typeface="Inter"/>
              <a:cs typeface="Inter"/>
              <a:sym typeface="Inter"/>
            </a:endParaRPr>
          </a:p>
          <a:p>
            <a:pPr indent="0" lvl="0" marL="0" rtl="0" algn="l">
              <a:spcBef>
                <a:spcPts val="0"/>
              </a:spcBef>
              <a:spcAft>
                <a:spcPts val="0"/>
              </a:spcAft>
              <a:buNone/>
            </a:pPr>
            <a:r>
              <a:rPr b="1" lang="en-US" sz="6800">
                <a:solidFill>
                  <a:srgbClr val="0A0915"/>
                </a:solidFill>
                <a:latin typeface="Inter"/>
                <a:ea typeface="Inter"/>
                <a:cs typeface="Inter"/>
                <a:sym typeface="Inter"/>
              </a:rPr>
              <a:t>por grupo</a:t>
            </a:r>
            <a:endParaRPr b="1" sz="6800">
              <a:solidFill>
                <a:srgbClr val="0A0915"/>
              </a:solidFill>
              <a:latin typeface="Inter"/>
              <a:ea typeface="Inter"/>
              <a:cs typeface="Inter"/>
              <a:sym typeface="Inter"/>
            </a:endParaRPr>
          </a:p>
        </p:txBody>
      </p:sp>
      <p:sp>
        <p:nvSpPr>
          <p:cNvPr id="96" name="Google Shape;96;p14"/>
          <p:cNvSpPr txBox="1"/>
          <p:nvPr/>
        </p:nvSpPr>
        <p:spPr>
          <a:xfrm>
            <a:off x="1371600" y="6286500"/>
            <a:ext cx="7620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200">
                <a:solidFill>
                  <a:srgbClr val="888888"/>
                </a:solidFill>
                <a:latin typeface="Inter"/>
                <a:ea typeface="Inter"/>
                <a:cs typeface="Inter"/>
                <a:sym typeface="Inter"/>
              </a:rPr>
              <a:t>La lideras tú con apoyo del especialista funcional del gobierno. Es la reunión más importante de Fase D.</a:t>
            </a:r>
            <a:endParaRPr b="0" sz="2200">
              <a:solidFill>
                <a:srgbClr val="888888"/>
              </a:solidFill>
              <a:latin typeface="Inter"/>
              <a:ea typeface="Inter"/>
              <a:cs typeface="Inter"/>
              <a:sym typeface="Inter"/>
            </a:endParaRPr>
          </a:p>
        </p:txBody>
      </p:sp>
      <p:grpSp>
        <p:nvGrpSpPr>
          <p:cNvPr id="97" name="Google Shape;97;p14"/>
          <p:cNvGrpSpPr/>
          <p:nvPr/>
        </p:nvGrpSpPr>
        <p:grpSpPr>
          <a:xfrm>
            <a:off x="9525000" y="3200400"/>
            <a:ext cx="7391400" cy="4762500"/>
            <a:chOff x="9525000" y="3200400"/>
            <a:chExt cx="7391400" cy="4762500"/>
          </a:xfrm>
        </p:grpSpPr>
        <p:sp>
          <p:nvSpPr>
            <p:cNvPr id="98" name="Google Shape;98;p14"/>
            <p:cNvSpPr/>
            <p:nvPr/>
          </p:nvSpPr>
          <p:spPr>
            <a:xfrm>
              <a:off x="9525000" y="3200400"/>
              <a:ext cx="7391400" cy="4762500"/>
            </a:xfrm>
            <a:prstGeom prst="roundRect">
              <a:avLst>
                <a:gd fmla="val 400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4"/>
            <p:cNvSpPr txBox="1"/>
            <p:nvPr/>
          </p:nvSpPr>
          <p:spPr>
            <a:xfrm>
              <a:off x="9906000" y="3581400"/>
              <a:ext cx="6629400" cy="400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2000">
                  <a:solidFill>
                    <a:srgbClr val="059669"/>
                  </a:solidFill>
                  <a:latin typeface="Inter"/>
                  <a:ea typeface="Inter"/>
                  <a:cs typeface="Inter"/>
                  <a:sym typeface="Inter"/>
                </a:rPr>
                <a:t>2h</a:t>
              </a:r>
              <a:endParaRPr b="1" sz="12000">
                <a:solidFill>
                  <a:srgbClr val="059669"/>
                </a:solidFill>
                <a:latin typeface="Inter"/>
                <a:ea typeface="Inter"/>
                <a:cs typeface="Inter"/>
                <a:sym typeface="Inter"/>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Dedicación mínima</a:t>
              </a:r>
              <a:endParaRPr b="1" sz="2400">
                <a:solidFill>
                  <a:srgbClr val="0A0915"/>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15"/>
          <p:cNvPicPr preferRelativeResize="0"/>
          <p:nvPr/>
        </p:nvPicPr>
        <p:blipFill rotWithShape="1">
          <a:blip r:embed="rId3">
            <a:alphaModFix/>
          </a:blip>
          <a:srcRect b="0" l="0" r="0" t="0"/>
          <a:stretch/>
        </p:blipFill>
        <p:spPr>
          <a:xfrm>
            <a:off x="0" y="0"/>
            <a:ext cx="9144000" cy="228600"/>
          </a:xfrm>
          <a:prstGeom prst="rect">
            <a:avLst/>
          </a:prstGeom>
          <a:noFill/>
          <a:ln>
            <a:noFill/>
          </a:ln>
        </p:spPr>
      </p:pic>
      <p:sp>
        <p:nvSpPr>
          <p:cNvPr id="106" name="Google Shape;106;p15"/>
          <p:cNvSpPr txBox="1"/>
          <p:nvPr/>
        </p:nvSpPr>
        <p:spPr>
          <a:xfrm>
            <a:off x="1371600" y="7620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800">
                <a:solidFill>
                  <a:srgbClr val="0A0915"/>
                </a:solidFill>
                <a:latin typeface="Inter"/>
                <a:ea typeface="Inter"/>
                <a:cs typeface="Inter"/>
                <a:sym typeface="Inter"/>
              </a:rPr>
              <a:t>Cuatro momentos de la agenda</a:t>
            </a:r>
            <a:endParaRPr b="1" sz="4800">
              <a:solidFill>
                <a:srgbClr val="0A0915"/>
              </a:solidFill>
              <a:latin typeface="Inter"/>
              <a:ea typeface="Inter"/>
              <a:cs typeface="Inter"/>
              <a:sym typeface="Inter"/>
            </a:endParaRPr>
          </a:p>
        </p:txBody>
      </p:sp>
      <p:grpSp>
        <p:nvGrpSpPr>
          <p:cNvPr id="107" name="Google Shape;107;p15"/>
          <p:cNvGrpSpPr/>
          <p:nvPr/>
        </p:nvGrpSpPr>
        <p:grpSpPr>
          <a:xfrm>
            <a:off x="1371600" y="2286000"/>
            <a:ext cx="3619500" cy="4000500"/>
            <a:chOff x="1371600" y="2286000"/>
            <a:chExt cx="3619500" cy="4000500"/>
          </a:xfrm>
        </p:grpSpPr>
        <p:sp>
          <p:nvSpPr>
            <p:cNvPr id="108" name="Google Shape;108;p15"/>
            <p:cNvSpPr/>
            <p:nvPr/>
          </p:nvSpPr>
          <p:spPr>
            <a:xfrm>
              <a:off x="1371600" y="2286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1562100" y="2476500"/>
              <a:ext cx="323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59669"/>
                  </a:solidFill>
                  <a:latin typeface="Inter"/>
                  <a:ea typeface="Inter"/>
                  <a:cs typeface="Inter"/>
                  <a:sym typeface="Inter"/>
                </a:rPr>
                <a:t>01</a:t>
              </a:r>
              <a:endParaRPr b="1" sz="3600">
                <a:solidFill>
                  <a:srgbClr val="059669"/>
                </a:solidFill>
                <a:latin typeface="Inter"/>
                <a:ea typeface="Inter"/>
                <a:cs typeface="Inter"/>
                <a:sym typeface="Inter"/>
              </a:endParaRPr>
            </a:p>
          </p:txBody>
        </p:sp>
        <p:sp>
          <p:nvSpPr>
            <p:cNvPr id="110" name="Google Shape;110;p15"/>
            <p:cNvSpPr txBox="1"/>
            <p:nvPr/>
          </p:nvSpPr>
          <p:spPr>
            <a:xfrm>
              <a:off x="1562100" y="3143250"/>
              <a:ext cx="3238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0A0915"/>
                  </a:solidFill>
                  <a:latin typeface="Inter SemiBold"/>
                  <a:ea typeface="Inter SemiBold"/>
                  <a:cs typeface="Inter SemiBold"/>
                  <a:sym typeface="Inter SemiBold"/>
                </a:rPr>
                <a:t>Demo del flujo completo</a:t>
              </a:r>
              <a:endParaRPr b="0" sz="1800">
                <a:solidFill>
                  <a:srgbClr val="0A0915"/>
                </a:solidFill>
                <a:latin typeface="Inter SemiBold"/>
                <a:ea typeface="Inter SemiBold"/>
                <a:cs typeface="Inter SemiBold"/>
                <a:sym typeface="Inter SemiBold"/>
              </a:endParaRPr>
            </a:p>
            <a:p>
              <a:pPr indent="0" lvl="0" marL="0" rtl="0" algn="l">
                <a:spcBef>
                  <a:spcPts val="900"/>
                </a:spcBef>
                <a:spcAft>
                  <a:spcPts val="0"/>
                </a:spcAft>
                <a:buNone/>
              </a:pPr>
              <a:r>
                <a:rPr b="0" lang="en-US" sz="1400">
                  <a:solidFill>
                    <a:srgbClr val="4B5563"/>
                  </a:solidFill>
                  <a:latin typeface="Inter"/>
                  <a:ea typeface="Inter"/>
                  <a:cs typeface="Inter"/>
                  <a:sym typeface="Inter"/>
                </a:rPr>
                <a:t>Visualización integral del trámite desde la perspectiva real del operador.</a:t>
              </a:r>
              <a:endParaRPr b="0" sz="1400">
                <a:solidFill>
                  <a:srgbClr val="4B5563"/>
                </a:solidFill>
                <a:latin typeface="Inter"/>
                <a:ea typeface="Inter"/>
                <a:cs typeface="Inter"/>
                <a:sym typeface="Inter"/>
              </a:endParaRPr>
            </a:p>
          </p:txBody>
        </p:sp>
      </p:grpSp>
      <p:grpSp>
        <p:nvGrpSpPr>
          <p:cNvPr id="111" name="Google Shape;111;p15"/>
          <p:cNvGrpSpPr/>
          <p:nvPr/>
        </p:nvGrpSpPr>
        <p:grpSpPr>
          <a:xfrm>
            <a:off x="5276850" y="2286000"/>
            <a:ext cx="3619500" cy="4000500"/>
            <a:chOff x="5276850" y="2286000"/>
            <a:chExt cx="3619500" cy="4000500"/>
          </a:xfrm>
        </p:grpSpPr>
        <p:sp>
          <p:nvSpPr>
            <p:cNvPr id="112" name="Google Shape;112;p15"/>
            <p:cNvSpPr/>
            <p:nvPr/>
          </p:nvSpPr>
          <p:spPr>
            <a:xfrm>
              <a:off x="5276850" y="2286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5"/>
            <p:cNvSpPr txBox="1"/>
            <p:nvPr/>
          </p:nvSpPr>
          <p:spPr>
            <a:xfrm>
              <a:off x="5467350" y="2476500"/>
              <a:ext cx="323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59669"/>
                  </a:solidFill>
                  <a:latin typeface="Inter"/>
                  <a:ea typeface="Inter"/>
                  <a:cs typeface="Inter"/>
                  <a:sym typeface="Inter"/>
                </a:rPr>
                <a:t>02</a:t>
              </a:r>
              <a:endParaRPr b="1" sz="3600">
                <a:solidFill>
                  <a:srgbClr val="059669"/>
                </a:solidFill>
                <a:latin typeface="Inter"/>
                <a:ea typeface="Inter"/>
                <a:cs typeface="Inter"/>
                <a:sym typeface="Inter"/>
              </a:endParaRPr>
            </a:p>
          </p:txBody>
        </p:sp>
        <p:sp>
          <p:nvSpPr>
            <p:cNvPr id="114" name="Google Shape;114;p15"/>
            <p:cNvSpPr txBox="1"/>
            <p:nvPr/>
          </p:nvSpPr>
          <p:spPr>
            <a:xfrm>
              <a:off x="5467350" y="3143250"/>
              <a:ext cx="3238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0A0915"/>
                  </a:solidFill>
                  <a:latin typeface="Inter SemiBold"/>
                  <a:ea typeface="Inter SemiBold"/>
                  <a:cs typeface="Inter SemiBold"/>
                  <a:sym typeface="Inter SemiBold"/>
                </a:rPr>
                <a:t>Práctica supervisada</a:t>
              </a:r>
              <a:endParaRPr b="0" sz="1800">
                <a:solidFill>
                  <a:srgbClr val="0A0915"/>
                </a:solidFill>
                <a:latin typeface="Inter SemiBold"/>
                <a:ea typeface="Inter SemiBold"/>
                <a:cs typeface="Inter SemiBold"/>
                <a:sym typeface="Inter SemiBold"/>
              </a:endParaRPr>
            </a:p>
            <a:p>
              <a:pPr indent="0" lvl="0" marL="0" rtl="0" algn="l">
                <a:spcBef>
                  <a:spcPts val="900"/>
                </a:spcBef>
                <a:spcAft>
                  <a:spcPts val="0"/>
                </a:spcAft>
                <a:buNone/>
              </a:pPr>
              <a:r>
                <a:rPr b="0" lang="en-US" sz="1400">
                  <a:solidFill>
                    <a:srgbClr val="4B5563"/>
                  </a:solidFill>
                  <a:latin typeface="Inter"/>
                  <a:ea typeface="Inter"/>
                  <a:cs typeface="Inter"/>
                  <a:sym typeface="Inter"/>
                </a:rPr>
                <a:t>Cada operador gestiona un expediente individualmente. Aprender haciendo.</a:t>
              </a:r>
              <a:endParaRPr b="0" sz="1400">
                <a:solidFill>
                  <a:srgbClr val="4B5563"/>
                </a:solidFill>
                <a:latin typeface="Inter"/>
                <a:ea typeface="Inter"/>
                <a:cs typeface="Inter"/>
                <a:sym typeface="Inter"/>
              </a:endParaRPr>
            </a:p>
          </p:txBody>
        </p:sp>
      </p:grpSp>
      <p:grpSp>
        <p:nvGrpSpPr>
          <p:cNvPr id="115" name="Google Shape;115;p15"/>
          <p:cNvGrpSpPr/>
          <p:nvPr/>
        </p:nvGrpSpPr>
        <p:grpSpPr>
          <a:xfrm>
            <a:off x="9182100" y="2286000"/>
            <a:ext cx="3619500" cy="4000500"/>
            <a:chOff x="9182100" y="2286000"/>
            <a:chExt cx="3619500" cy="4000500"/>
          </a:xfrm>
        </p:grpSpPr>
        <p:sp>
          <p:nvSpPr>
            <p:cNvPr id="116" name="Google Shape;116;p15"/>
            <p:cNvSpPr/>
            <p:nvPr/>
          </p:nvSpPr>
          <p:spPr>
            <a:xfrm>
              <a:off x="9182100" y="2286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5"/>
            <p:cNvSpPr txBox="1"/>
            <p:nvPr/>
          </p:nvSpPr>
          <p:spPr>
            <a:xfrm>
              <a:off x="9372600" y="2476500"/>
              <a:ext cx="323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59669"/>
                  </a:solidFill>
                  <a:latin typeface="Inter"/>
                  <a:ea typeface="Inter"/>
                  <a:cs typeface="Inter"/>
                  <a:sym typeface="Inter"/>
                </a:rPr>
                <a:t>03</a:t>
              </a:r>
              <a:endParaRPr b="1" sz="3600">
                <a:solidFill>
                  <a:srgbClr val="059669"/>
                </a:solidFill>
                <a:latin typeface="Inter"/>
                <a:ea typeface="Inter"/>
                <a:cs typeface="Inter"/>
                <a:sym typeface="Inter"/>
              </a:endParaRPr>
            </a:p>
          </p:txBody>
        </p:sp>
        <p:sp>
          <p:nvSpPr>
            <p:cNvPr id="118" name="Google Shape;118;p15"/>
            <p:cNvSpPr txBox="1"/>
            <p:nvPr/>
          </p:nvSpPr>
          <p:spPr>
            <a:xfrm>
              <a:off x="9372600" y="3143250"/>
              <a:ext cx="3238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0A0915"/>
                  </a:solidFill>
                  <a:latin typeface="Inter SemiBold"/>
                  <a:ea typeface="Inter SemiBold"/>
                  <a:cs typeface="Inter SemiBold"/>
                  <a:sym typeface="Inter SemiBold"/>
                </a:rPr>
                <a:t>Dudas y casuística</a:t>
              </a:r>
              <a:endParaRPr b="0" sz="1800">
                <a:solidFill>
                  <a:srgbClr val="0A0915"/>
                </a:solidFill>
                <a:latin typeface="Inter SemiBold"/>
                <a:ea typeface="Inter SemiBold"/>
                <a:cs typeface="Inter SemiBold"/>
                <a:sym typeface="Inter SemiBold"/>
              </a:endParaRPr>
            </a:p>
            <a:p>
              <a:pPr indent="0" lvl="0" marL="0" rtl="0" algn="l">
                <a:spcBef>
                  <a:spcPts val="900"/>
                </a:spcBef>
                <a:spcAft>
                  <a:spcPts val="0"/>
                </a:spcAft>
                <a:buNone/>
              </a:pPr>
              <a:r>
                <a:rPr b="0" lang="en-US" sz="1400">
                  <a:solidFill>
                    <a:srgbClr val="4B5563"/>
                  </a:solidFill>
                  <a:latin typeface="Inter"/>
                  <a:ea typeface="Inter"/>
                  <a:cs typeface="Inter"/>
                  <a:sym typeface="Inter"/>
                </a:rPr>
                <a:t>Resolución de escenarios críticos: documentos ilegibles o expedientes trabados.</a:t>
              </a:r>
              <a:endParaRPr b="0" sz="1400">
                <a:solidFill>
                  <a:srgbClr val="4B5563"/>
                </a:solidFill>
                <a:latin typeface="Inter"/>
                <a:ea typeface="Inter"/>
                <a:cs typeface="Inter"/>
                <a:sym typeface="Inter"/>
              </a:endParaRPr>
            </a:p>
          </p:txBody>
        </p:sp>
      </p:grpSp>
      <p:grpSp>
        <p:nvGrpSpPr>
          <p:cNvPr id="119" name="Google Shape;119;p15"/>
          <p:cNvGrpSpPr/>
          <p:nvPr/>
        </p:nvGrpSpPr>
        <p:grpSpPr>
          <a:xfrm>
            <a:off x="13087350" y="2286000"/>
            <a:ext cx="3619500" cy="4000500"/>
            <a:chOff x="13087350" y="2286000"/>
            <a:chExt cx="3619500" cy="4000500"/>
          </a:xfrm>
        </p:grpSpPr>
        <p:sp>
          <p:nvSpPr>
            <p:cNvPr id="120" name="Google Shape;120;p15"/>
            <p:cNvSpPr/>
            <p:nvPr/>
          </p:nvSpPr>
          <p:spPr>
            <a:xfrm>
              <a:off x="13087350" y="2286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5"/>
            <p:cNvSpPr txBox="1"/>
            <p:nvPr/>
          </p:nvSpPr>
          <p:spPr>
            <a:xfrm>
              <a:off x="13277850" y="2476500"/>
              <a:ext cx="323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59669"/>
                  </a:solidFill>
                  <a:latin typeface="Inter"/>
                  <a:ea typeface="Inter"/>
                  <a:cs typeface="Inter"/>
                  <a:sym typeface="Inter"/>
                </a:rPr>
                <a:t>04</a:t>
              </a:r>
              <a:endParaRPr b="1" sz="3600">
                <a:solidFill>
                  <a:srgbClr val="059669"/>
                </a:solidFill>
                <a:latin typeface="Inter"/>
                <a:ea typeface="Inter"/>
                <a:cs typeface="Inter"/>
                <a:sym typeface="Inter"/>
              </a:endParaRPr>
            </a:p>
          </p:txBody>
        </p:sp>
        <p:sp>
          <p:nvSpPr>
            <p:cNvPr id="122" name="Google Shape;122;p15"/>
            <p:cNvSpPr txBox="1"/>
            <p:nvPr/>
          </p:nvSpPr>
          <p:spPr>
            <a:xfrm>
              <a:off x="13277850" y="3143250"/>
              <a:ext cx="3238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0A0915"/>
                  </a:solidFill>
                  <a:latin typeface="Inter SemiBold"/>
                  <a:ea typeface="Inter SemiBold"/>
                  <a:cs typeface="Inter SemiBold"/>
                  <a:sym typeface="Inter SemiBold"/>
                </a:rPr>
                <a:t>Validación de accesos</a:t>
              </a:r>
              <a:endParaRPr b="0" sz="1800">
                <a:solidFill>
                  <a:srgbClr val="0A0915"/>
                </a:solidFill>
                <a:latin typeface="Inter SemiBold"/>
                <a:ea typeface="Inter SemiBold"/>
                <a:cs typeface="Inter SemiBold"/>
                <a:sym typeface="Inter SemiBold"/>
              </a:endParaRPr>
            </a:p>
            <a:p>
              <a:pPr indent="0" lvl="0" marL="0" rtl="0" algn="l">
                <a:spcBef>
                  <a:spcPts val="900"/>
                </a:spcBef>
                <a:spcAft>
                  <a:spcPts val="0"/>
                </a:spcAft>
                <a:buNone/>
              </a:pPr>
              <a:r>
                <a:rPr b="0" lang="en-US" sz="1400">
                  <a:solidFill>
                    <a:srgbClr val="4B5563"/>
                  </a:solidFill>
                  <a:latin typeface="Inter"/>
                  <a:ea typeface="Inter"/>
                  <a:cs typeface="Inter"/>
                  <a:sym typeface="Inter"/>
                </a:rPr>
                <a:t>Verificar credenciales reales antes de finalizar la sesión presencial.</a:t>
              </a:r>
              <a:endParaRPr b="0" sz="1400">
                <a:solidFill>
                  <a:srgbClr val="4B5563"/>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txBox="1"/>
          <p:nvPr/>
        </p:nvSpPr>
        <p:spPr>
          <a:xfrm>
            <a:off x="1371600" y="7620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800">
                <a:solidFill>
                  <a:srgbClr val="0A0915"/>
                </a:solidFill>
                <a:latin typeface="Inter"/>
                <a:ea typeface="Inter"/>
                <a:cs typeface="Inter"/>
                <a:sym typeface="Inter"/>
              </a:rPr>
              <a:t>Los entregables son concretos</a:t>
            </a:r>
            <a:endParaRPr b="1" sz="4800">
              <a:solidFill>
                <a:srgbClr val="0A0915"/>
              </a:solidFill>
              <a:latin typeface="Inter"/>
              <a:ea typeface="Inter"/>
              <a:cs typeface="Inter"/>
              <a:sym typeface="Inter"/>
            </a:endParaRPr>
          </a:p>
        </p:txBody>
      </p:sp>
      <p:grpSp>
        <p:nvGrpSpPr>
          <p:cNvPr id="130" name="Google Shape;130;p16"/>
          <p:cNvGrpSpPr/>
          <p:nvPr/>
        </p:nvGrpSpPr>
        <p:grpSpPr>
          <a:xfrm>
            <a:off x="1371600" y="2667000"/>
            <a:ext cx="3619500" cy="4000500"/>
            <a:chOff x="1371600" y="2667000"/>
            <a:chExt cx="3619500" cy="4000500"/>
          </a:xfrm>
        </p:grpSpPr>
        <p:sp>
          <p:nvSpPr>
            <p:cNvPr id="131" name="Google Shape;131;p16"/>
            <p:cNvSpPr/>
            <p:nvPr/>
          </p:nvSpPr>
          <p:spPr>
            <a:xfrm>
              <a:off x="1371600" y="2667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txBox="1"/>
            <p:nvPr/>
          </p:nvSpPr>
          <p:spPr>
            <a:xfrm>
              <a:off x="1657350" y="3048000"/>
              <a:ext cx="30480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059669"/>
                  </a:solidFill>
                  <a:latin typeface="Material Icons"/>
                  <a:ea typeface="Material Icons"/>
                  <a:cs typeface="Material Icons"/>
                  <a:sym typeface="Material Icons"/>
                </a:rPr>
                <a:t></a:t>
              </a:r>
              <a:endParaRPr b="0" sz="3200">
                <a:solidFill>
                  <a:srgbClr val="059669"/>
                </a:solidFill>
                <a:latin typeface="Material Icons"/>
                <a:ea typeface="Material Icons"/>
                <a:cs typeface="Material Icons"/>
                <a:sym typeface="Material Icons"/>
              </a:endParaRPr>
            </a:p>
            <a:p>
              <a:pPr indent="0" lvl="0" marL="0" rtl="0" algn="l">
                <a:spcBef>
                  <a:spcPts val="1500"/>
                </a:spcBef>
                <a:spcAft>
                  <a:spcPts val="0"/>
                </a:spcAft>
                <a:buNone/>
              </a:pPr>
              <a:r>
                <a:rPr b="1" lang="en-US" sz="1800">
                  <a:solidFill>
                    <a:srgbClr val="0A0915"/>
                  </a:solidFill>
                  <a:latin typeface="Inter"/>
                  <a:ea typeface="Inter"/>
                  <a:cs typeface="Inter"/>
                  <a:sym typeface="Inter"/>
                </a:rPr>
                <a:t>Operadores capacitados</a:t>
              </a:r>
              <a:endParaRPr b="1" sz="1800">
                <a:solidFill>
                  <a:srgbClr val="0A0915"/>
                </a:solidFill>
                <a:latin typeface="Inter"/>
                <a:ea typeface="Inter"/>
                <a:cs typeface="Inter"/>
                <a:sym typeface="Inter"/>
              </a:endParaRPr>
            </a:p>
            <a:p>
              <a:pPr indent="0" lvl="0" marL="0" rtl="0" algn="l">
                <a:spcBef>
                  <a:spcPts val="900"/>
                </a:spcBef>
                <a:spcAft>
                  <a:spcPts val="0"/>
                </a:spcAft>
                <a:buNone/>
              </a:pPr>
              <a:r>
                <a:rPr b="0" lang="en-US" sz="1400">
                  <a:solidFill>
                    <a:srgbClr val="4B5563"/>
                  </a:solidFill>
                  <a:latin typeface="Inter"/>
                  <a:ea typeface="Inter"/>
                  <a:cs typeface="Inter"/>
                  <a:sym typeface="Inter"/>
                </a:rPr>
                <a:t>Formación práctica directa en su flujo de trabajo real.</a:t>
              </a:r>
              <a:endParaRPr b="0" sz="1400">
                <a:solidFill>
                  <a:srgbClr val="4B5563"/>
                </a:solidFill>
                <a:latin typeface="Inter"/>
                <a:ea typeface="Inter"/>
                <a:cs typeface="Inter"/>
                <a:sym typeface="Inter"/>
              </a:endParaRPr>
            </a:p>
          </p:txBody>
        </p:sp>
      </p:grpSp>
      <p:grpSp>
        <p:nvGrpSpPr>
          <p:cNvPr id="133" name="Google Shape;133;p16"/>
          <p:cNvGrpSpPr/>
          <p:nvPr/>
        </p:nvGrpSpPr>
        <p:grpSpPr>
          <a:xfrm>
            <a:off x="5276850" y="2667000"/>
            <a:ext cx="3619500" cy="4000500"/>
            <a:chOff x="5276850" y="2667000"/>
            <a:chExt cx="3619500" cy="4000500"/>
          </a:xfrm>
        </p:grpSpPr>
        <p:sp>
          <p:nvSpPr>
            <p:cNvPr id="134" name="Google Shape;134;p16"/>
            <p:cNvSpPr/>
            <p:nvPr/>
          </p:nvSpPr>
          <p:spPr>
            <a:xfrm>
              <a:off x="5276850" y="2667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5562600" y="3048000"/>
              <a:ext cx="30480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059669"/>
                  </a:solidFill>
                  <a:latin typeface="Material Icons"/>
                  <a:ea typeface="Material Icons"/>
                  <a:cs typeface="Material Icons"/>
                  <a:sym typeface="Material Icons"/>
                </a:rPr>
                <a:t></a:t>
              </a:r>
              <a:endParaRPr b="0" sz="3200">
                <a:solidFill>
                  <a:srgbClr val="059669"/>
                </a:solidFill>
                <a:latin typeface="Material Icons"/>
                <a:ea typeface="Material Icons"/>
                <a:cs typeface="Material Icons"/>
                <a:sym typeface="Material Icons"/>
              </a:endParaRPr>
            </a:p>
            <a:p>
              <a:pPr indent="0" lvl="0" marL="0" rtl="0" algn="l">
                <a:spcBef>
                  <a:spcPts val="1500"/>
                </a:spcBef>
                <a:spcAft>
                  <a:spcPts val="0"/>
                </a:spcAft>
                <a:buNone/>
              </a:pPr>
              <a:r>
                <a:rPr b="1" lang="en-US" sz="1800">
                  <a:solidFill>
                    <a:srgbClr val="0A0915"/>
                  </a:solidFill>
                  <a:latin typeface="Inter"/>
                  <a:ea typeface="Inter"/>
                  <a:cs typeface="Inter"/>
                  <a:sym typeface="Inter"/>
                </a:rPr>
                <a:t>Accesos confirmados</a:t>
              </a:r>
              <a:endParaRPr b="1" sz="1800">
                <a:solidFill>
                  <a:srgbClr val="0A0915"/>
                </a:solidFill>
                <a:latin typeface="Inter"/>
                <a:ea typeface="Inter"/>
                <a:cs typeface="Inter"/>
                <a:sym typeface="Inter"/>
              </a:endParaRPr>
            </a:p>
            <a:p>
              <a:pPr indent="0" lvl="0" marL="0" rtl="0" algn="l">
                <a:spcBef>
                  <a:spcPts val="900"/>
                </a:spcBef>
                <a:spcAft>
                  <a:spcPts val="0"/>
                </a:spcAft>
                <a:buNone/>
              </a:pPr>
              <a:r>
                <a:rPr b="0" lang="en-US" sz="1400">
                  <a:solidFill>
                    <a:srgbClr val="4B5563"/>
                  </a:solidFill>
                  <a:latin typeface="Inter"/>
                  <a:ea typeface="Inter"/>
                  <a:cs typeface="Inter"/>
                  <a:sym typeface="Inter"/>
                </a:rPr>
                <a:t>Verificación individual de credenciales para asegurar operatividad inmediata.</a:t>
              </a:r>
              <a:endParaRPr b="0" sz="1400">
                <a:solidFill>
                  <a:srgbClr val="4B5563"/>
                </a:solidFill>
                <a:latin typeface="Inter"/>
                <a:ea typeface="Inter"/>
                <a:cs typeface="Inter"/>
                <a:sym typeface="Inter"/>
              </a:endParaRPr>
            </a:p>
          </p:txBody>
        </p:sp>
      </p:grpSp>
      <p:grpSp>
        <p:nvGrpSpPr>
          <p:cNvPr id="136" name="Google Shape;136;p16"/>
          <p:cNvGrpSpPr/>
          <p:nvPr/>
        </p:nvGrpSpPr>
        <p:grpSpPr>
          <a:xfrm>
            <a:off x="9182100" y="2667000"/>
            <a:ext cx="3619500" cy="4000500"/>
            <a:chOff x="9182100" y="2667000"/>
            <a:chExt cx="3619500" cy="4000500"/>
          </a:xfrm>
        </p:grpSpPr>
        <p:sp>
          <p:nvSpPr>
            <p:cNvPr id="137" name="Google Shape;137;p16"/>
            <p:cNvSpPr/>
            <p:nvPr/>
          </p:nvSpPr>
          <p:spPr>
            <a:xfrm>
              <a:off x="9182100" y="2667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9467850" y="3048000"/>
              <a:ext cx="30480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059669"/>
                  </a:solidFill>
                  <a:latin typeface="Material Icons"/>
                  <a:ea typeface="Material Icons"/>
                  <a:cs typeface="Material Icons"/>
                  <a:sym typeface="Material Icons"/>
                </a:rPr>
                <a:t></a:t>
              </a:r>
              <a:endParaRPr b="0" sz="3200">
                <a:solidFill>
                  <a:srgbClr val="059669"/>
                </a:solidFill>
                <a:latin typeface="Material Icons"/>
                <a:ea typeface="Material Icons"/>
                <a:cs typeface="Material Icons"/>
                <a:sym typeface="Material Icons"/>
              </a:endParaRPr>
            </a:p>
            <a:p>
              <a:pPr indent="0" lvl="0" marL="0" rtl="0" algn="l">
                <a:spcBef>
                  <a:spcPts val="1500"/>
                </a:spcBef>
                <a:spcAft>
                  <a:spcPts val="0"/>
                </a:spcAft>
                <a:buNone/>
              </a:pPr>
              <a:r>
                <a:rPr b="1" lang="en-US" sz="1800">
                  <a:solidFill>
                    <a:srgbClr val="0A0915"/>
                  </a:solidFill>
                  <a:latin typeface="Inter"/>
                  <a:ea typeface="Inter"/>
                  <a:cs typeface="Inter"/>
                  <a:sym typeface="Inter"/>
                </a:rPr>
                <a:t>Documentación de dudas</a:t>
              </a:r>
              <a:endParaRPr b="1" sz="1800">
                <a:solidFill>
                  <a:srgbClr val="0A0915"/>
                </a:solidFill>
                <a:latin typeface="Inter"/>
                <a:ea typeface="Inter"/>
                <a:cs typeface="Inter"/>
                <a:sym typeface="Inter"/>
              </a:endParaRPr>
            </a:p>
            <a:p>
              <a:pPr indent="0" lvl="0" marL="0" rtl="0" algn="l">
                <a:spcBef>
                  <a:spcPts val="900"/>
                </a:spcBef>
                <a:spcAft>
                  <a:spcPts val="0"/>
                </a:spcAft>
                <a:buNone/>
              </a:pPr>
              <a:r>
                <a:rPr b="0" lang="en-US" sz="1400">
                  <a:solidFill>
                    <a:srgbClr val="4B5563"/>
                  </a:solidFill>
                  <a:latin typeface="Inter"/>
                  <a:ea typeface="Inter"/>
                  <a:cs typeface="Inter"/>
                  <a:sym typeface="Inter"/>
                </a:rPr>
                <a:t>Recopilación de consultas frecuentes que alimentan el material de soporte técnico.</a:t>
              </a:r>
              <a:endParaRPr b="0" sz="1400">
                <a:solidFill>
                  <a:srgbClr val="4B5563"/>
                </a:solidFill>
                <a:latin typeface="Inter"/>
                <a:ea typeface="Inter"/>
                <a:cs typeface="Inter"/>
                <a:sym typeface="Inter"/>
              </a:endParaRPr>
            </a:p>
          </p:txBody>
        </p:sp>
      </p:grpSp>
      <p:grpSp>
        <p:nvGrpSpPr>
          <p:cNvPr id="139" name="Google Shape;139;p16"/>
          <p:cNvGrpSpPr/>
          <p:nvPr/>
        </p:nvGrpSpPr>
        <p:grpSpPr>
          <a:xfrm>
            <a:off x="13087350" y="2667000"/>
            <a:ext cx="3619500" cy="4000500"/>
            <a:chOff x="13087350" y="2667000"/>
            <a:chExt cx="3619500" cy="4000500"/>
          </a:xfrm>
        </p:grpSpPr>
        <p:sp>
          <p:nvSpPr>
            <p:cNvPr id="140" name="Google Shape;140;p16"/>
            <p:cNvSpPr/>
            <p:nvPr/>
          </p:nvSpPr>
          <p:spPr>
            <a:xfrm>
              <a:off x="13087350" y="2667000"/>
              <a:ext cx="3619500" cy="4000500"/>
            </a:xfrm>
            <a:prstGeom prst="roundRect">
              <a:avLst>
                <a:gd fmla="val 421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txBox="1"/>
            <p:nvPr/>
          </p:nvSpPr>
          <p:spPr>
            <a:xfrm>
              <a:off x="13373100" y="3048000"/>
              <a:ext cx="30480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059669"/>
                  </a:solidFill>
                  <a:latin typeface="Material Icons"/>
                  <a:ea typeface="Material Icons"/>
                  <a:cs typeface="Material Icons"/>
                  <a:sym typeface="Material Icons"/>
                </a:rPr>
                <a:t></a:t>
              </a:r>
              <a:endParaRPr b="0" sz="3200">
                <a:solidFill>
                  <a:srgbClr val="059669"/>
                </a:solidFill>
                <a:latin typeface="Material Icons"/>
                <a:ea typeface="Material Icons"/>
                <a:cs typeface="Material Icons"/>
                <a:sym typeface="Material Icons"/>
              </a:endParaRPr>
            </a:p>
            <a:p>
              <a:pPr indent="0" lvl="0" marL="0" rtl="0" algn="l">
                <a:spcBef>
                  <a:spcPts val="1500"/>
                </a:spcBef>
                <a:spcAft>
                  <a:spcPts val="0"/>
                </a:spcAft>
                <a:buNone/>
              </a:pPr>
              <a:r>
                <a:rPr b="1" lang="en-US" sz="1800">
                  <a:solidFill>
                    <a:srgbClr val="0A0915"/>
                  </a:solidFill>
                  <a:latin typeface="Inter"/>
                  <a:ea typeface="Inter"/>
                  <a:cs typeface="Inter"/>
                  <a:sym typeface="Inter"/>
                </a:rPr>
                <a:t>Práctica supervisada</a:t>
              </a:r>
              <a:endParaRPr b="1" sz="1800">
                <a:solidFill>
                  <a:srgbClr val="0A0915"/>
                </a:solidFill>
                <a:latin typeface="Inter"/>
                <a:ea typeface="Inter"/>
                <a:cs typeface="Inter"/>
                <a:sym typeface="Inter"/>
              </a:endParaRPr>
            </a:p>
            <a:p>
              <a:pPr indent="0" lvl="0" marL="0" rtl="0" algn="l">
                <a:spcBef>
                  <a:spcPts val="900"/>
                </a:spcBef>
                <a:spcAft>
                  <a:spcPts val="0"/>
                </a:spcAft>
                <a:buNone/>
              </a:pPr>
              <a:r>
                <a:rPr b="0" lang="en-US" sz="1400">
                  <a:solidFill>
                    <a:srgbClr val="4B5563"/>
                  </a:solidFill>
                  <a:latin typeface="Inter"/>
                  <a:ea typeface="Inter"/>
                  <a:cs typeface="Inter"/>
                  <a:sym typeface="Inter"/>
                </a:rPr>
                <a:t>Jornada de práctica asistida para garantizar autonomía antes del despliegue real.</a:t>
              </a:r>
              <a:endParaRPr b="0" sz="1400">
                <a:solidFill>
                  <a:srgbClr val="4B5563"/>
                </a:solidFill>
                <a:latin typeface="Inter"/>
                <a:ea typeface="Inter"/>
                <a:cs typeface="Inter"/>
                <a:sym typeface="Inter"/>
              </a:endParaRPr>
            </a:p>
          </p:txBody>
        </p:sp>
      </p:grpSp>
      <p:sp>
        <p:nvSpPr>
          <p:cNvPr id="142" name="Google Shape;142;p16"/>
          <p:cNvSpPr/>
          <p:nvPr/>
        </p:nvSpPr>
        <p:spPr>
          <a:xfrm>
            <a:off x="1371600" y="7239000"/>
            <a:ext cx="15544800" cy="192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txBox="1"/>
          <p:nvPr/>
        </p:nvSpPr>
        <p:spPr>
          <a:xfrm>
            <a:off x="1371600" y="7620000"/>
            <a:ext cx="155448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6B7280"/>
                </a:solidFill>
                <a:latin typeface="Inter"/>
                <a:ea typeface="Inter"/>
                <a:cs typeface="Inter"/>
                <a:sym typeface="Inter"/>
              </a:rPr>
              <a:t>Garantizamos que el equipo esté listo para operar con seguridad desde el primer día.</a:t>
            </a:r>
            <a:endParaRPr b="0" sz="1800">
              <a:solidFill>
                <a:srgbClr val="6B7280"/>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17"/>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0" name="Google Shape;150;p17"/>
          <p:cNvGrpSpPr/>
          <p:nvPr/>
        </p:nvGrpSpPr>
        <p:grpSpPr>
          <a:xfrm>
            <a:off x="1371600" y="762000"/>
            <a:ext cx="15544800" cy="2286000"/>
            <a:chOff x="1371600" y="762000"/>
            <a:chExt cx="15544800" cy="2286000"/>
          </a:xfrm>
        </p:grpSpPr>
        <p:sp>
          <p:nvSpPr>
            <p:cNvPr id="151" name="Google Shape;151;p17"/>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59669"/>
                  </a:solidFill>
                  <a:latin typeface="Inter"/>
                  <a:ea typeface="Inter"/>
                  <a:cs typeface="Inter"/>
                  <a:sym typeface="Inter"/>
                </a:rPr>
                <a:t>Decisión que vas a tomar</a:t>
              </a:r>
              <a:endParaRPr b="1" sz="2000">
                <a:solidFill>
                  <a:srgbClr val="059669"/>
                </a:solidFill>
                <a:latin typeface="Inter"/>
                <a:ea typeface="Inter"/>
                <a:cs typeface="Inter"/>
                <a:sym typeface="Inter"/>
              </a:endParaRPr>
            </a:p>
          </p:txBody>
        </p:sp>
        <p:sp>
          <p:nvSpPr>
            <p:cNvPr id="152" name="Google Shape;152;p17"/>
            <p:cNvSpPr txBox="1"/>
            <p:nvPr/>
          </p:nvSpPr>
          <p:spPr>
            <a:xfrm>
              <a:off x="1371600" y="1333500"/>
              <a:ext cx="155448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Más de diez operadores:</a:t>
              </a:r>
              <a:endParaRPr b="1" sz="5600">
                <a:solidFill>
                  <a:srgbClr val="0A0915"/>
                </a:solidFill>
                <a:latin typeface="Inter"/>
                <a:ea typeface="Inter"/>
                <a:cs typeface="Inter"/>
                <a:sym typeface="Inter"/>
              </a:endParaRPr>
            </a:p>
            <a:p>
              <a:pPr indent="0" lvl="0" marL="0" rtl="0" algn="l">
                <a:spcBef>
                  <a:spcPts val="0"/>
                </a:spcBef>
                <a:spcAft>
                  <a:spcPts val="0"/>
                </a:spcAft>
                <a:buNone/>
              </a:pPr>
              <a:r>
                <a:rPr b="1" lang="en-US" sz="5600">
                  <a:solidFill>
                    <a:srgbClr val="0A0915"/>
                  </a:solidFill>
                  <a:latin typeface="Inter"/>
                  <a:ea typeface="Inter"/>
                  <a:cs typeface="Inter"/>
                  <a:sym typeface="Inter"/>
                </a:rPr>
                <a:t>no los capacitas tú</a:t>
              </a:r>
              <a:endParaRPr b="1" sz="5600">
                <a:solidFill>
                  <a:srgbClr val="0A0915"/>
                </a:solidFill>
                <a:latin typeface="Inter"/>
                <a:ea typeface="Inter"/>
                <a:cs typeface="Inter"/>
                <a:sym typeface="Inter"/>
              </a:endParaRPr>
            </a:p>
          </p:txBody>
        </p:sp>
      </p:grpSp>
      <p:grpSp>
        <p:nvGrpSpPr>
          <p:cNvPr id="153" name="Google Shape;153;p17"/>
          <p:cNvGrpSpPr/>
          <p:nvPr/>
        </p:nvGrpSpPr>
        <p:grpSpPr>
          <a:xfrm>
            <a:off x="1371600" y="3619500"/>
            <a:ext cx="15544800" cy="4572000"/>
            <a:chOff x="1371600" y="3619500"/>
            <a:chExt cx="15544800" cy="4572000"/>
          </a:xfrm>
        </p:grpSpPr>
        <p:sp>
          <p:nvSpPr>
            <p:cNvPr id="154" name="Google Shape;154;p17"/>
            <p:cNvSpPr/>
            <p:nvPr/>
          </p:nvSpPr>
          <p:spPr>
            <a:xfrm>
              <a:off x="1371600" y="3619500"/>
              <a:ext cx="15544800" cy="4572000"/>
            </a:xfrm>
            <a:prstGeom prst="roundRect">
              <a:avLst>
                <a:gd fmla="val 4166"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7"/>
            <p:cNvSpPr txBox="1"/>
            <p:nvPr/>
          </p:nvSpPr>
          <p:spPr>
            <a:xfrm>
              <a:off x="2133600" y="4498340"/>
              <a:ext cx="11430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400">
                  <a:solidFill>
                    <a:srgbClr val="059669"/>
                  </a:solidFill>
                  <a:latin typeface="Material Icons"/>
                  <a:ea typeface="Material Icons"/>
                  <a:cs typeface="Material Icons"/>
                  <a:sym typeface="Material Icons"/>
                </a:rPr>
                <a:t></a:t>
              </a:r>
              <a:endParaRPr b="0" sz="7400">
                <a:solidFill>
                  <a:srgbClr val="059669"/>
                </a:solidFill>
                <a:latin typeface="Material Icons"/>
                <a:ea typeface="Material Icons"/>
                <a:cs typeface="Material Icons"/>
                <a:sym typeface="Material Icons"/>
              </a:endParaRPr>
            </a:p>
          </p:txBody>
        </p:sp>
        <p:sp>
          <p:nvSpPr>
            <p:cNvPr id="156" name="Google Shape;156;p17"/>
            <p:cNvSpPr txBox="1"/>
            <p:nvPr/>
          </p:nvSpPr>
          <p:spPr>
            <a:xfrm>
              <a:off x="4038600" y="4191000"/>
              <a:ext cx="12115800" cy="3429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200">
                  <a:solidFill>
                    <a:srgbClr val="0A0915"/>
                  </a:solidFill>
                  <a:latin typeface="Inter"/>
                  <a:ea typeface="Inter"/>
                  <a:cs typeface="Inter"/>
                  <a:sym typeface="Inter"/>
                </a:rPr>
                <a:t>Capacitas a </a:t>
              </a:r>
              <a:r>
                <a:rPr b="1" lang="en-US" sz="3200">
                  <a:solidFill>
                    <a:srgbClr val="059669"/>
                  </a:solidFill>
                  <a:latin typeface="Inter"/>
                  <a:ea typeface="Inter"/>
                  <a:cs typeface="Inter"/>
                  <a:sym typeface="Inter"/>
                </a:rPr>
                <a:t>dos o tres</a:t>
              </a:r>
              <a:r>
                <a:rPr b="0" lang="en-US" sz="3200">
                  <a:solidFill>
                    <a:srgbClr val="0A0915"/>
                  </a:solidFill>
                  <a:latin typeface="Inter"/>
                  <a:ea typeface="Inter"/>
                  <a:cs typeface="Inter"/>
                  <a:sym typeface="Inter"/>
                </a:rPr>
                <a:t> del equipo core. Ellos replican al resto.</a:t>
              </a:r>
              <a:endParaRPr b="0" sz="3200">
                <a:solidFill>
                  <a:srgbClr val="0A0915"/>
                </a:solidFill>
                <a:latin typeface="Inter"/>
                <a:ea typeface="Inter"/>
                <a:cs typeface="Inter"/>
                <a:sym typeface="Inter"/>
              </a:endParaRPr>
            </a:p>
            <a:p>
              <a:pPr indent="0" lvl="0" marL="0" rtl="0" algn="l">
                <a:spcBef>
                  <a:spcPts val="1500"/>
                </a:spcBef>
                <a:spcAft>
                  <a:spcPts val="1500"/>
                </a:spcAft>
                <a:buNone/>
              </a:pPr>
              <a:r>
                <a:rPr b="0" lang="en-US" sz="3200">
                  <a:solidFill>
                    <a:srgbClr val="0A0915"/>
                  </a:solidFill>
                  <a:latin typeface="Inter"/>
                  <a:ea typeface="Inter"/>
                  <a:cs typeface="Inter"/>
                  <a:sym typeface="Inter"/>
                </a:rPr>
                <a:t>Es </a:t>
              </a:r>
              <a:r>
                <a:rPr b="1" lang="en-US" sz="3200">
                  <a:solidFill>
                    <a:srgbClr val="0A0915"/>
                  </a:solidFill>
                  <a:latin typeface="Inter"/>
                  <a:ea typeface="Inter"/>
                  <a:cs typeface="Inter"/>
                  <a:sym typeface="Inter"/>
                </a:rPr>
                <a:t>train the trainer</a:t>
              </a:r>
              <a:r>
                <a:rPr b="0" lang="en-US" sz="3200">
                  <a:solidFill>
                    <a:srgbClr val="0A0915"/>
                  </a:solidFill>
                  <a:latin typeface="Inter"/>
                  <a:ea typeface="Inter"/>
                  <a:cs typeface="Inter"/>
                  <a:sym typeface="Inter"/>
                </a:rPr>
                <a:t>, lo vemos en el video 7.</a:t>
              </a:r>
              <a:endParaRPr b="0" sz="3200">
                <a:solidFill>
                  <a:srgbClr val="0A0915"/>
                </a:solidFill>
                <a:latin typeface="Inter"/>
                <a:ea typeface="Inter"/>
                <a:cs typeface="Inter"/>
                <a:sym typeface="Inter"/>
              </a:endParaRPr>
            </a:p>
          </p:txBody>
        </p:sp>
      </p:grpSp>
      <p:grpSp>
        <p:nvGrpSpPr>
          <p:cNvPr id="157" name="Google Shape;157;p17"/>
          <p:cNvGrpSpPr/>
          <p:nvPr/>
        </p:nvGrpSpPr>
        <p:grpSpPr>
          <a:xfrm>
            <a:off x="1371600" y="8953500"/>
            <a:ext cx="15544800" cy="762000"/>
            <a:chOff x="1371600" y="8953500"/>
            <a:chExt cx="15544800" cy="762000"/>
          </a:xfrm>
        </p:grpSpPr>
        <p:sp>
          <p:nvSpPr>
            <p:cNvPr id="158" name="Google Shape;158;p17"/>
            <p:cNvSpPr/>
            <p:nvPr/>
          </p:nvSpPr>
          <p:spPr>
            <a:xfrm>
              <a:off x="1371600" y="8953500"/>
              <a:ext cx="15544800" cy="192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txBox="1"/>
            <p:nvPr/>
          </p:nvSpPr>
          <p:spPr>
            <a:xfrm>
              <a:off x="1371600" y="9144000"/>
              <a:ext cx="155448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6B7280"/>
                  </a:solidFill>
                  <a:latin typeface="Inter"/>
                  <a:ea typeface="Inter"/>
                  <a:cs typeface="Inter"/>
                  <a:sym typeface="Inter"/>
                </a:rPr>
                <a:t>Optimiza tu tiempo liderando la estrategia, no la ejecución individual.</a:t>
              </a:r>
              <a:endParaRPr b="0" sz="1800">
                <a:solidFill>
                  <a:srgbClr val="6B7280"/>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p:nvPr/>
        </p:nvSpPr>
        <p:spPr>
          <a:xfrm>
            <a:off x="0" y="0"/>
            <a:ext cx="18288000" cy="10287000"/>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8"/>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Un operador que no practicó</a:t>
            </a:r>
            <a:endParaRPr/>
          </a:p>
        </p:txBody>
      </p:sp>
      <p:sp>
        <p:nvSpPr>
          <p:cNvPr id="167" name="Google Shape;167;p18"/>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es un operador que no sabe</a:t>
            </a:r>
            <a:endParaRPr/>
          </a:p>
        </p:txBody>
      </p:sp>
      <p:sp>
        <p:nvSpPr>
          <p:cNvPr id="168" name="Google Shape;168;p18"/>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La práctica supervisada no es opcional.</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