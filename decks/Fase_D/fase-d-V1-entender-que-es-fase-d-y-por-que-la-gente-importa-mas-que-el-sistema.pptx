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10287000" cx="18288000"/>
  <p:notesSz cx="6858000" cy="9144000"/>
  <p:embeddedFontLst>
    <p:embeddedFont>
      <p:font typeface="Inter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Inter-bold.fntdata"/><Relationship Id="rId12" Type="http://schemas.openxmlformats.org/officeDocument/2006/relationships/font" Target="fonts/Inter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Inter-boldItalic.fntdata"/><Relationship Id="rId14" Type="http://schemas.openxmlformats.org/officeDocument/2006/relationships/font" Target="fonts/Inter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[Duración estimada: 17.6s · 44 palabras]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Llegaste a Fase D. Si veniste siguiendo el orden, esto significa que ya tienes los trámites digitalizados y modelados, las áreas dueñas validaron lo que hiciste, pasaste el testing end-to-end con cero bugs críticos, y las integraciones están funcionando. La plataforma, técnicamente, está lista.</a:t>
            </a:r>
            <a:endParaRPr/>
          </a:p>
        </p:txBody>
      </p:sp>
      <p:sp>
        <p:nvSpPr>
          <p:cNvPr id="83" name="Google Shape;83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[Duración estimada: 6.4s · 16 palabras]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Y sin embargo no estás listo para lanzar. Esa es la trampa clásica de esta fase.</a:t>
            </a:r>
            <a:endParaRPr/>
          </a:p>
        </p:txBody>
      </p:sp>
      <p:sp>
        <p:nvSpPr>
          <p:cNvPr id="92" name="Google Shape;92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5" name="Google Shape;115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[Duración estimada: 28.4s · 71 palabras]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Fase D dura dos semanas, semana 9 y semana 10 del proceso. Pero no es una fase de plataforma. Es una fase de personas. El foco ya no es configurar trámites: es preparar a los operadores para que sepan usar lo que construiste, definir el modelo de soporte para que todos sepan a quién escalar qué, y armar a los tomadores de decisiones para que puedan hablar del proyecto con confianza.</a:t>
            </a:r>
            <a:endParaRPr/>
          </a:p>
        </p:txBody>
      </p:sp>
      <p:sp>
        <p:nvSpPr>
          <p:cNvPr id="116" name="Google Shape;116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5" name="Google Shape;135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[Duración estimada: 22.8s · 57 palabras]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Tres roles se vuelven críticos ahora. El soporte y capacitador de tu equipo, que va a entrenar a los operadores del gobierno. El equipo de comunicación, que tiene que preparar materiales y plan de lanzamiento. Y el dueño del proyecto del lado del gobierno, que va a tener que dar la cara públicamente cuando el sistema arranque.</a:t>
            </a:r>
            <a:endParaRPr/>
          </a:p>
        </p:txBody>
      </p:sp>
      <p:sp>
        <p:nvSpPr>
          <p:cNvPr id="136" name="Google Shape;136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4" name="Google Shape;154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[Duración estimada: 26.4s · 66 palabras]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Si saltas Fase D pensando que la plataforma se vende sola, lo que va a pasar el día 1 es que un ciudadano va a llamar con una duda, el operador no va a saber responder, esa duda va a escalar al líder del proyecto, que tampoco va a saber dónde mirar, y la prensa va a tener una historia de implementación fallida antes del mediodía.</a:t>
            </a:r>
            <a:endParaRPr/>
          </a:p>
        </p:txBody>
      </p:sp>
      <p:sp>
        <p:nvSpPr>
          <p:cNvPr id="155" name="Google Shape;155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1" name="Google Shape;181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[Duración estimada: 7.6s · 19 palabras]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 sistema técnico ya está. Lo que falta es la gente. Fase D es donde el lanzamiento se decide.</a:t>
            </a:r>
            <a:endParaRPr/>
          </a:p>
        </p:txBody>
      </p:sp>
      <p:sp>
        <p:nvSpPr>
          <p:cNvPr id="182" name="Google Shape;182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/>
          <p:nvPr/>
        </p:nvSpPr>
        <p:spPr>
          <a:xfrm>
            <a:off x="0" y="0"/>
            <a:ext cx="18288000" cy="228600"/>
          </a:xfrm>
          <a:prstGeom prst="rect">
            <a:avLst/>
          </a:prstGeom>
          <a:solidFill>
            <a:srgbClr val="05966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1371600" y="3200400"/>
            <a:ext cx="15544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FASE D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371600" y="3840480"/>
            <a:ext cx="155448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0" u="none" cap="none" strike="noStrike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rPr>
              <a:t>Fase D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0" u="none" cap="none" strike="noStrike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rPr>
              <a:t>la gente, no el sistema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371600" y="6517900"/>
            <a:ext cx="15544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rPr>
              <a:t>La plataforma está lista. Y aun así no estás listo para lanzar.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/>
          <p:nvPr/>
        </p:nvSpPr>
        <p:spPr>
          <a:xfrm>
            <a:off x="0" y="0"/>
            <a:ext cx="18288000" cy="228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1371600" y="762000"/>
            <a:ext cx="15544800" cy="30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Dónde estás</a:t>
            </a:r>
            <a:endParaRPr b="1" sz="2000">
              <a:solidFill>
                <a:srgbClr val="0596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1371600" y="1333500"/>
            <a:ext cx="15544800" cy="861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60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rPr>
              <a:t>Técnicamente, la plataforma está lista</a:t>
            </a:r>
            <a:endParaRPr b="1" sz="5600">
              <a:solidFill>
                <a:srgbClr val="0A091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97" name="Google Shape;97;p14"/>
          <p:cNvGrpSpPr/>
          <p:nvPr/>
        </p:nvGrpSpPr>
        <p:grpSpPr>
          <a:xfrm>
            <a:off x="1371600" y="3048000"/>
            <a:ext cx="15659100" cy="3810000"/>
            <a:chOff x="1371600" y="3048000"/>
            <a:chExt cx="15659100" cy="3810000"/>
          </a:xfrm>
        </p:grpSpPr>
        <p:sp>
          <p:nvSpPr>
            <p:cNvPr id="98" name="Google Shape;98;p14"/>
            <p:cNvSpPr/>
            <p:nvPr/>
          </p:nvSpPr>
          <p:spPr>
            <a:xfrm>
              <a:off x="1371600" y="3048000"/>
              <a:ext cx="3657600" cy="3810000"/>
            </a:xfrm>
            <a:prstGeom prst="roundRect">
              <a:avLst>
                <a:gd fmla="val 10416" name="adj"/>
              </a:avLst>
            </a:prstGeom>
            <a:solidFill>
              <a:srgbClr val="F8F9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4"/>
            <p:cNvSpPr txBox="1"/>
            <p:nvPr/>
          </p:nvSpPr>
          <p:spPr>
            <a:xfrm>
              <a:off x="1657350" y="3392170"/>
              <a:ext cx="57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700">
                  <a:solidFill>
                    <a:srgbClr val="059669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</a:t>
              </a:r>
              <a:endParaRPr sz="3700">
                <a:solidFill>
                  <a:srgbClr val="059669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00" name="Google Shape;100;p14"/>
            <p:cNvSpPr txBox="1"/>
            <p:nvPr/>
          </p:nvSpPr>
          <p:spPr>
            <a:xfrm>
              <a:off x="1657350" y="4095750"/>
              <a:ext cx="30861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A0915"/>
                  </a:solidFill>
                  <a:latin typeface="Inter"/>
                  <a:ea typeface="Inter"/>
                  <a:cs typeface="Inter"/>
                  <a:sym typeface="Inter"/>
                </a:rPr>
                <a:t>Trámites</a:t>
              </a:r>
              <a:endParaRPr b="1" sz="180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Digitalizados y modelados al 100%.</a:t>
              </a:r>
              <a:endParaRPr b="0" sz="14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01" name="Google Shape;101;p14"/>
            <p:cNvSpPr/>
            <p:nvPr/>
          </p:nvSpPr>
          <p:spPr>
            <a:xfrm>
              <a:off x="5372100" y="3048000"/>
              <a:ext cx="3657600" cy="3810000"/>
            </a:xfrm>
            <a:prstGeom prst="roundRect">
              <a:avLst>
                <a:gd fmla="val 10416" name="adj"/>
              </a:avLst>
            </a:prstGeom>
            <a:solidFill>
              <a:srgbClr val="F8F9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4"/>
            <p:cNvSpPr txBox="1"/>
            <p:nvPr/>
          </p:nvSpPr>
          <p:spPr>
            <a:xfrm>
              <a:off x="5657850" y="3392170"/>
              <a:ext cx="57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700">
                  <a:solidFill>
                    <a:srgbClr val="059669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</a:t>
              </a:r>
              <a:endParaRPr sz="3700">
                <a:solidFill>
                  <a:srgbClr val="059669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03" name="Google Shape;103;p14"/>
            <p:cNvSpPr txBox="1"/>
            <p:nvPr/>
          </p:nvSpPr>
          <p:spPr>
            <a:xfrm>
              <a:off x="5657850" y="4095750"/>
              <a:ext cx="30861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A0915"/>
                  </a:solidFill>
                  <a:latin typeface="Inter"/>
                  <a:ea typeface="Inter"/>
                  <a:cs typeface="Inter"/>
                  <a:sym typeface="Inter"/>
                </a:rPr>
                <a:t>Validación</a:t>
              </a:r>
              <a:endParaRPr b="1" sz="180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Las áreas dueñas ya dieron el visto bueno.</a:t>
              </a:r>
              <a:endParaRPr b="0" sz="14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04" name="Google Shape;104;p14"/>
            <p:cNvSpPr/>
            <p:nvPr/>
          </p:nvSpPr>
          <p:spPr>
            <a:xfrm>
              <a:off x="9372600" y="3048000"/>
              <a:ext cx="3657600" cy="3810000"/>
            </a:xfrm>
            <a:prstGeom prst="roundRect">
              <a:avLst>
                <a:gd fmla="val 10416" name="adj"/>
              </a:avLst>
            </a:prstGeom>
            <a:solidFill>
              <a:srgbClr val="F8F9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4"/>
            <p:cNvSpPr txBox="1"/>
            <p:nvPr/>
          </p:nvSpPr>
          <p:spPr>
            <a:xfrm>
              <a:off x="9658350" y="3392170"/>
              <a:ext cx="57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700">
                  <a:solidFill>
                    <a:srgbClr val="059669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</a:t>
              </a:r>
              <a:endParaRPr sz="3700">
                <a:solidFill>
                  <a:srgbClr val="059669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06" name="Google Shape;106;p14"/>
            <p:cNvSpPr txBox="1"/>
            <p:nvPr/>
          </p:nvSpPr>
          <p:spPr>
            <a:xfrm>
              <a:off x="9658350" y="4095750"/>
              <a:ext cx="30861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A0915"/>
                  </a:solidFill>
                  <a:latin typeface="Inter"/>
                  <a:ea typeface="Inter"/>
                  <a:cs typeface="Inter"/>
                  <a:sym typeface="Inter"/>
                </a:rPr>
                <a:t>Testing E2E</a:t>
              </a:r>
              <a:endParaRPr b="1" sz="180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Finalizado con éxito y cero bugs críticos.</a:t>
              </a:r>
              <a:endParaRPr b="0" sz="14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07" name="Google Shape;107;p14"/>
            <p:cNvSpPr/>
            <p:nvPr/>
          </p:nvSpPr>
          <p:spPr>
            <a:xfrm>
              <a:off x="13373100" y="3048000"/>
              <a:ext cx="3657600" cy="3810000"/>
            </a:xfrm>
            <a:prstGeom prst="roundRect">
              <a:avLst>
                <a:gd fmla="val 10416" name="adj"/>
              </a:avLst>
            </a:prstGeom>
            <a:solidFill>
              <a:srgbClr val="F8F9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4"/>
            <p:cNvSpPr txBox="1"/>
            <p:nvPr/>
          </p:nvSpPr>
          <p:spPr>
            <a:xfrm>
              <a:off x="13658850" y="3392170"/>
              <a:ext cx="57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700">
                  <a:solidFill>
                    <a:srgbClr val="059669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</a:t>
              </a:r>
              <a:endParaRPr sz="3700">
                <a:solidFill>
                  <a:srgbClr val="059669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09" name="Google Shape;109;p14"/>
            <p:cNvSpPr txBox="1"/>
            <p:nvPr/>
          </p:nvSpPr>
          <p:spPr>
            <a:xfrm>
              <a:off x="13658850" y="4095750"/>
              <a:ext cx="30861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A0915"/>
                  </a:solidFill>
                  <a:latin typeface="Inter"/>
                  <a:ea typeface="Inter"/>
                  <a:cs typeface="Inter"/>
                  <a:sym typeface="Inter"/>
                </a:rPr>
                <a:t>Integraciones</a:t>
              </a:r>
              <a:endParaRPr b="1" sz="180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Todos los sistemas externos funcionando.</a:t>
              </a:r>
              <a:endParaRPr b="0" sz="14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0" name="Google Shape;110;p14"/>
          <p:cNvGrpSpPr/>
          <p:nvPr/>
        </p:nvGrpSpPr>
        <p:grpSpPr>
          <a:xfrm>
            <a:off x="1371600" y="7620000"/>
            <a:ext cx="15544800" cy="952500"/>
            <a:chOff x="1371600" y="7620000"/>
            <a:chExt cx="15544800" cy="952500"/>
          </a:xfrm>
        </p:grpSpPr>
        <p:sp>
          <p:nvSpPr>
            <p:cNvPr id="111" name="Google Shape;111;p14"/>
            <p:cNvSpPr/>
            <p:nvPr/>
          </p:nvSpPr>
          <p:spPr>
            <a:xfrm>
              <a:off x="1371600" y="7620000"/>
              <a:ext cx="15544800" cy="952500"/>
            </a:xfrm>
            <a:prstGeom prst="roundRect">
              <a:avLst>
                <a:gd fmla="val 20000" name="adj"/>
              </a:avLst>
            </a:prstGeom>
            <a:solidFill>
              <a:srgbClr val="ECFDF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4"/>
            <p:cNvSpPr txBox="1"/>
            <p:nvPr/>
          </p:nvSpPr>
          <p:spPr>
            <a:xfrm>
              <a:off x="1657350" y="7620000"/>
              <a:ext cx="149733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200">
                  <a:solidFill>
                    <a:srgbClr val="065F46"/>
                  </a:solidFill>
                  <a:latin typeface="Inter"/>
                  <a:ea typeface="Inter"/>
                  <a:cs typeface="Inter"/>
                  <a:sym typeface="Inter"/>
                </a:rPr>
                <a:t>El motor está encendido. La estructura está sólida. </a:t>
              </a:r>
              <a:r>
                <a:rPr b="1" lang="en-US" sz="2200">
                  <a:solidFill>
                    <a:srgbClr val="065F46"/>
                  </a:solidFill>
                  <a:latin typeface="Inter"/>
                  <a:ea typeface="Inter"/>
                  <a:cs typeface="Inter"/>
                  <a:sym typeface="Inter"/>
                </a:rPr>
                <a:t>Todo listo para el siguiente paso.</a:t>
              </a:r>
              <a:endParaRPr b="0" sz="2200">
                <a:solidFill>
                  <a:srgbClr val="065F46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5"/>
          <p:cNvSpPr/>
          <p:nvPr/>
        </p:nvSpPr>
        <p:spPr>
          <a:xfrm>
            <a:off x="0" y="0"/>
            <a:ext cx="18288000" cy="228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1371600" y="952500"/>
            <a:ext cx="15544800" cy="1450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60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rPr>
              <a:t>Fase D es un cambio de enfoque</a:t>
            </a:r>
            <a:endParaRPr b="1" i="0" sz="5600">
              <a:solidFill>
                <a:srgbClr val="0A091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750"/>
              </a:spcBef>
              <a:spcAft>
                <a:spcPts val="0"/>
              </a:spcAft>
              <a:buNone/>
            </a:pPr>
            <a:r>
              <a:rPr b="0" i="0" lang="en-US" sz="32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De la plataforma a las personas</a:t>
            </a:r>
            <a:endParaRPr b="0" i="0" sz="3200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20" name="Google Shape;120;p15"/>
          <p:cNvGrpSpPr/>
          <p:nvPr/>
        </p:nvGrpSpPr>
        <p:grpSpPr>
          <a:xfrm>
            <a:off x="2286000" y="3048000"/>
            <a:ext cx="6400800" cy="4762500"/>
            <a:chOff x="2286000" y="3048000"/>
            <a:chExt cx="6400800" cy="4762500"/>
          </a:xfrm>
        </p:grpSpPr>
        <p:sp>
          <p:nvSpPr>
            <p:cNvPr id="121" name="Google Shape;121;p15"/>
            <p:cNvSpPr/>
            <p:nvPr/>
          </p:nvSpPr>
          <p:spPr>
            <a:xfrm>
              <a:off x="2286000" y="3048000"/>
              <a:ext cx="6400800" cy="4762500"/>
            </a:xfrm>
            <a:prstGeom prst="roundRect">
              <a:avLst>
                <a:gd fmla="val 8000" name="adj"/>
              </a:avLst>
            </a:prstGeom>
            <a:solidFill>
              <a:srgbClr val="FEE2E2">
                <a:alpha val="5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5"/>
            <p:cNvSpPr txBox="1"/>
            <p:nvPr/>
          </p:nvSpPr>
          <p:spPr>
            <a:xfrm>
              <a:off x="5105400" y="3499104"/>
              <a:ext cx="7620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00">
                  <a:solidFill>
                    <a:srgbClr val="EF444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</a:t>
              </a:r>
              <a:endParaRPr sz="4800">
                <a:solidFill>
                  <a:srgbClr val="EF444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23" name="Google Shape;123;p15"/>
            <p:cNvSpPr txBox="1"/>
            <p:nvPr/>
          </p:nvSpPr>
          <p:spPr>
            <a:xfrm>
              <a:off x="2743200" y="3524250"/>
              <a:ext cx="54864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B91C1C"/>
                  </a:solidFill>
                  <a:latin typeface="Inter"/>
                  <a:ea typeface="Inter"/>
                  <a:cs typeface="Inter"/>
                  <a:sym typeface="Inter"/>
                </a:rPr>
                <a:t>Lo que NO es</a:t>
              </a:r>
              <a:endParaRPr b="1" sz="2400">
                <a:solidFill>
                  <a:srgbClr val="B91C1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4" name="Google Shape;124;p15"/>
            <p:cNvSpPr txBox="1"/>
            <p:nvPr/>
          </p:nvSpPr>
          <p:spPr>
            <a:xfrm>
              <a:off x="2743200" y="4381500"/>
              <a:ext cx="5486400" cy="2857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800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• Configurar trámites.</a:t>
              </a:r>
              <a:endParaRPr b="0" sz="280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875"/>
                </a:spcBef>
                <a:spcAft>
                  <a:spcPts val="0"/>
                </a:spcAft>
                <a:buNone/>
              </a:pPr>
              <a:r>
                <a:rPr b="0" lang="en-US" sz="2800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• Ajustar la plataforma.</a:t>
              </a:r>
              <a:endParaRPr b="0" sz="280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5" name="Google Shape;125;p15"/>
          <p:cNvGrpSpPr/>
          <p:nvPr/>
        </p:nvGrpSpPr>
        <p:grpSpPr>
          <a:xfrm>
            <a:off x="9601200" y="3048000"/>
            <a:ext cx="6400800" cy="4762500"/>
            <a:chOff x="9601200" y="3048000"/>
            <a:chExt cx="6400800" cy="4762500"/>
          </a:xfrm>
        </p:grpSpPr>
        <p:sp>
          <p:nvSpPr>
            <p:cNvPr id="126" name="Google Shape;126;p15"/>
            <p:cNvSpPr/>
            <p:nvPr/>
          </p:nvSpPr>
          <p:spPr>
            <a:xfrm>
              <a:off x="9601200" y="3048000"/>
              <a:ext cx="6400800" cy="4762500"/>
            </a:xfrm>
            <a:prstGeom prst="roundRect">
              <a:avLst>
                <a:gd fmla="val 8000" name="adj"/>
              </a:avLst>
            </a:prstGeom>
            <a:solidFill>
              <a:srgbClr val="D1FAE5">
                <a:alpha val="5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5"/>
            <p:cNvSpPr txBox="1"/>
            <p:nvPr/>
          </p:nvSpPr>
          <p:spPr>
            <a:xfrm>
              <a:off x="12420600" y="3499104"/>
              <a:ext cx="7620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00">
                  <a:solidFill>
                    <a:srgbClr val="059669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</a:t>
              </a:r>
              <a:endParaRPr sz="4800">
                <a:solidFill>
                  <a:srgbClr val="059669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28" name="Google Shape;128;p15"/>
            <p:cNvSpPr txBox="1"/>
            <p:nvPr/>
          </p:nvSpPr>
          <p:spPr>
            <a:xfrm>
              <a:off x="10058400" y="3524250"/>
              <a:ext cx="54864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065F46"/>
                  </a:solidFill>
                  <a:latin typeface="Inter"/>
                  <a:ea typeface="Inter"/>
                  <a:cs typeface="Inter"/>
                  <a:sym typeface="Inter"/>
                </a:rPr>
                <a:t>Lo que SÍ es</a:t>
              </a:r>
              <a:endParaRPr b="1" sz="2400">
                <a:solidFill>
                  <a:srgbClr val="065F46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9" name="Google Shape;129;p15"/>
            <p:cNvSpPr txBox="1"/>
            <p:nvPr/>
          </p:nvSpPr>
          <p:spPr>
            <a:xfrm>
              <a:off x="10058400" y="4381500"/>
              <a:ext cx="5486400" cy="3333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80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rPr>
                <a:t>• Preparar operadores.</a:t>
              </a:r>
              <a:endParaRPr b="0" sz="280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875"/>
                </a:spcBef>
                <a:spcAft>
                  <a:spcPts val="0"/>
                </a:spcAft>
                <a:buNone/>
              </a:pPr>
              <a:r>
                <a:rPr b="0" lang="en-US" sz="280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rPr>
                <a:t>• Definir soporte.</a:t>
              </a:r>
              <a:endParaRPr b="0" sz="280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875"/>
                </a:spcBef>
                <a:spcAft>
                  <a:spcPts val="0"/>
                </a:spcAft>
                <a:buNone/>
              </a:pPr>
              <a:r>
                <a:rPr b="0" lang="en-US" sz="280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rPr>
                <a:t>• Armar al tomador de decisiones.</a:t>
              </a:r>
              <a:endParaRPr b="0" sz="280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30" name="Google Shape;130;p15"/>
          <p:cNvGrpSpPr/>
          <p:nvPr/>
        </p:nvGrpSpPr>
        <p:grpSpPr>
          <a:xfrm>
            <a:off x="2286000" y="8382000"/>
            <a:ext cx="13716000" cy="1143000"/>
            <a:chOff x="2286000" y="8382000"/>
            <a:chExt cx="13716000" cy="1143000"/>
          </a:xfrm>
        </p:grpSpPr>
        <p:sp>
          <p:nvSpPr>
            <p:cNvPr id="131" name="Google Shape;131;p15"/>
            <p:cNvSpPr/>
            <p:nvPr/>
          </p:nvSpPr>
          <p:spPr>
            <a:xfrm>
              <a:off x="2286000" y="8382000"/>
              <a:ext cx="13716000" cy="1143000"/>
            </a:xfrm>
            <a:prstGeom prst="roundRect">
              <a:avLst>
                <a:gd fmla="val 16666" name="adj"/>
              </a:avLst>
            </a:prstGeom>
            <a:solidFill>
              <a:srgbClr val="F3F4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5"/>
            <p:cNvSpPr txBox="1"/>
            <p:nvPr/>
          </p:nvSpPr>
          <p:spPr>
            <a:xfrm>
              <a:off x="2762250" y="8572500"/>
              <a:ext cx="127635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2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Fase D se trata de </a:t>
              </a:r>
              <a:r>
                <a:rPr b="1" lang="en-US" sz="2200">
                  <a:solidFill>
                    <a:srgbClr val="059669"/>
                  </a:solidFill>
                  <a:latin typeface="Inter"/>
                  <a:ea typeface="Inter"/>
                  <a:cs typeface="Inter"/>
                  <a:sym typeface="Inter"/>
                </a:rPr>
                <a:t>asegurar el éxito humano</a:t>
              </a:r>
              <a:r>
                <a:rPr b="0" lang="en-US" sz="22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, no de corregir el software.</a:t>
              </a:r>
              <a:endParaRPr b="0" sz="22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6"/>
          <p:cNvSpPr/>
          <p:nvPr/>
        </p:nvSpPr>
        <p:spPr>
          <a:xfrm>
            <a:off x="0" y="0"/>
            <a:ext cx="18288000" cy="228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1371600" y="762000"/>
            <a:ext cx="15544800" cy="1450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60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rPr>
              <a:t>Tres roles</a:t>
            </a:r>
            <a:endParaRPr b="1" sz="5600">
              <a:solidFill>
                <a:srgbClr val="0A091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750"/>
              </a:spcBef>
              <a:spcAft>
                <a:spcPts val="0"/>
              </a:spcAft>
              <a:buNone/>
            </a:pPr>
            <a:r>
              <a:rPr b="0" lang="en-US" sz="32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se vuelven críticos ahora</a:t>
            </a:r>
            <a:endParaRPr b="0" sz="3200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952500" y="3048000"/>
            <a:ext cx="4953000" cy="4953000"/>
          </a:xfrm>
          <a:prstGeom prst="roundRect">
            <a:avLst>
              <a:gd fmla="val 7692" name="adj"/>
            </a:avLst>
          </a:prstGeom>
          <a:solidFill>
            <a:srgbClr val="F9FAFB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1333500" y="3499104"/>
            <a:ext cx="762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059669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</a:t>
            </a:r>
            <a:endParaRPr sz="4800">
              <a:solidFill>
                <a:srgbClr val="059669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sp>
        <p:nvSpPr>
          <p:cNvPr id="142" name="Google Shape;142;p16"/>
          <p:cNvSpPr txBox="1"/>
          <p:nvPr/>
        </p:nvSpPr>
        <p:spPr>
          <a:xfrm>
            <a:off x="1333500" y="4381500"/>
            <a:ext cx="4191000" cy="400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Soporte y capacitador</a:t>
            </a:r>
            <a:endParaRPr b="1" sz="2600">
              <a:solidFill>
                <a:srgbClr val="0596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3" name="Google Shape;143;p16"/>
          <p:cNvSpPr txBox="1"/>
          <p:nvPr/>
        </p:nvSpPr>
        <p:spPr>
          <a:xfrm>
            <a:off x="1333500" y="5334000"/>
            <a:ext cx="4191000" cy="1100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De tu equipo.</a:t>
            </a:r>
            <a:endParaRPr b="0" sz="1600">
              <a:solidFill>
                <a:srgbClr val="37415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Va a entrenar a los operadores del gobierno para asegurar el uso correcto de la plataforma.</a:t>
            </a:r>
            <a:endParaRPr b="0" sz="1600">
              <a:solidFill>
                <a:srgbClr val="37415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6667500" y="3048000"/>
            <a:ext cx="4953000" cy="4953000"/>
          </a:xfrm>
          <a:prstGeom prst="roundRect">
            <a:avLst>
              <a:gd fmla="val 7692" name="adj"/>
            </a:avLst>
          </a:prstGeom>
          <a:solidFill>
            <a:srgbClr val="F9FAFB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7048500" y="3499104"/>
            <a:ext cx="762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059669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</a:t>
            </a:r>
            <a:endParaRPr sz="4800">
              <a:solidFill>
                <a:srgbClr val="059669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sp>
        <p:nvSpPr>
          <p:cNvPr id="146" name="Google Shape;146;p16"/>
          <p:cNvSpPr txBox="1"/>
          <p:nvPr/>
        </p:nvSpPr>
        <p:spPr>
          <a:xfrm>
            <a:off x="7048500" y="4381500"/>
            <a:ext cx="4191000" cy="400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Comunicación</a:t>
            </a:r>
            <a:endParaRPr b="1" sz="2600">
              <a:solidFill>
                <a:srgbClr val="0596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7" name="Google Shape;147;p16"/>
          <p:cNvSpPr txBox="1"/>
          <p:nvPr/>
        </p:nvSpPr>
        <p:spPr>
          <a:xfrm>
            <a:off x="7048500" y="5334000"/>
            <a:ext cx="4191000" cy="854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Estrategia de difusión.</a:t>
            </a:r>
            <a:endParaRPr b="0" sz="1600">
              <a:solidFill>
                <a:srgbClr val="37415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Prepara materiales y plan de lanzamiento para que todos sepan qué esperar.</a:t>
            </a:r>
            <a:endParaRPr b="0" sz="1600">
              <a:solidFill>
                <a:srgbClr val="37415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" name="Google Shape;148;p16"/>
          <p:cNvSpPr/>
          <p:nvPr/>
        </p:nvSpPr>
        <p:spPr>
          <a:xfrm>
            <a:off x="12382500" y="3048000"/>
            <a:ext cx="4953000" cy="4953000"/>
          </a:xfrm>
          <a:prstGeom prst="roundRect">
            <a:avLst>
              <a:gd fmla="val 7692" name="adj"/>
            </a:avLst>
          </a:prstGeom>
          <a:solidFill>
            <a:srgbClr val="F9FAFB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12763500" y="3499104"/>
            <a:ext cx="762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059669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</a:t>
            </a:r>
            <a:endParaRPr sz="4800">
              <a:solidFill>
                <a:srgbClr val="059669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sp>
        <p:nvSpPr>
          <p:cNvPr id="150" name="Google Shape;150;p16"/>
          <p:cNvSpPr txBox="1"/>
          <p:nvPr/>
        </p:nvSpPr>
        <p:spPr>
          <a:xfrm>
            <a:off x="12763500" y="4381500"/>
            <a:ext cx="4191000" cy="400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Dueño del proyecto</a:t>
            </a:r>
            <a:endParaRPr b="1" sz="2600">
              <a:solidFill>
                <a:srgbClr val="0596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1" name="Google Shape;151;p16"/>
          <p:cNvSpPr txBox="1"/>
          <p:nvPr/>
        </p:nvSpPr>
        <p:spPr>
          <a:xfrm>
            <a:off x="12763500" y="5334000"/>
            <a:ext cx="4191000" cy="1100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Liderazgo institucional.</a:t>
            </a:r>
            <a:endParaRPr b="0" sz="1600">
              <a:solidFill>
                <a:srgbClr val="37415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Del lado gobierno. Da la cara públicamente cuando el sistema arranque y valida el éxito.</a:t>
            </a:r>
            <a:endParaRPr b="0" sz="1600">
              <a:solidFill>
                <a:srgbClr val="37415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"/>
          <p:cNvSpPr/>
          <p:nvPr/>
        </p:nvSpPr>
        <p:spPr>
          <a:xfrm>
            <a:off x="0" y="0"/>
            <a:ext cx="18288000" cy="228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1371600" y="762000"/>
            <a:ext cx="15544800" cy="30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Consecuencias de ignorar el factor humano</a:t>
            </a:r>
            <a:endParaRPr b="1" sz="2000">
              <a:solidFill>
                <a:srgbClr val="0596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9" name="Google Shape;159;p17"/>
          <p:cNvSpPr txBox="1"/>
          <p:nvPr/>
        </p:nvSpPr>
        <p:spPr>
          <a:xfrm>
            <a:off x="1371600" y="1333500"/>
            <a:ext cx="15544800" cy="861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60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rPr>
              <a:t>Si saltas Fase D, el día 1 explota</a:t>
            </a:r>
            <a:endParaRPr b="1" sz="5600">
              <a:solidFill>
                <a:srgbClr val="0A091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60" name="Google Shape;160;p17"/>
          <p:cNvGrpSpPr/>
          <p:nvPr/>
        </p:nvGrpSpPr>
        <p:grpSpPr>
          <a:xfrm>
            <a:off x="1371600" y="3048000"/>
            <a:ext cx="3810000" cy="3810000"/>
            <a:chOff x="1371600" y="3048000"/>
            <a:chExt cx="3810000" cy="3810000"/>
          </a:xfrm>
        </p:grpSpPr>
        <p:sp>
          <p:nvSpPr>
            <p:cNvPr id="161" name="Google Shape;161;p17"/>
            <p:cNvSpPr/>
            <p:nvPr/>
          </p:nvSpPr>
          <p:spPr>
            <a:xfrm>
              <a:off x="1371600" y="3048000"/>
              <a:ext cx="3810000" cy="3810000"/>
            </a:xfrm>
            <a:prstGeom prst="roundRect">
              <a:avLst>
                <a:gd fmla="val 10000" name="adj"/>
              </a:avLst>
            </a:prstGeom>
            <a:solidFill>
              <a:srgbClr val="FEE2E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17"/>
            <p:cNvSpPr txBox="1"/>
            <p:nvPr/>
          </p:nvSpPr>
          <p:spPr>
            <a:xfrm>
              <a:off x="1657350" y="3392170"/>
              <a:ext cx="57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700">
                  <a:solidFill>
                    <a:srgbClr val="EF444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</a:t>
              </a:r>
              <a:endParaRPr sz="3700">
                <a:solidFill>
                  <a:srgbClr val="EF444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63" name="Google Shape;163;p17"/>
            <p:cNvSpPr txBox="1"/>
            <p:nvPr/>
          </p:nvSpPr>
          <p:spPr>
            <a:xfrm>
              <a:off x="1657350" y="4000500"/>
              <a:ext cx="3238500" cy="257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B91C1C"/>
                  </a:solidFill>
                  <a:latin typeface="Inter"/>
                  <a:ea typeface="Inter"/>
                  <a:cs typeface="Inter"/>
                  <a:sym typeface="Inter"/>
                </a:rPr>
                <a:t>El Ciudadano</a:t>
              </a:r>
              <a:endParaRPr b="1" sz="2000">
                <a:solidFill>
                  <a:srgbClr val="B91C1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Llama con una duda legítima sobre el nuevo sistema.</a:t>
              </a:r>
              <a:endParaRPr sz="160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64" name="Google Shape;164;p17"/>
          <p:cNvGrpSpPr/>
          <p:nvPr/>
        </p:nvGrpSpPr>
        <p:grpSpPr>
          <a:xfrm>
            <a:off x="5467350" y="3048000"/>
            <a:ext cx="3810000" cy="3810000"/>
            <a:chOff x="5467350" y="3048000"/>
            <a:chExt cx="3810000" cy="3810000"/>
          </a:xfrm>
        </p:grpSpPr>
        <p:sp>
          <p:nvSpPr>
            <p:cNvPr id="165" name="Google Shape;165;p17"/>
            <p:cNvSpPr/>
            <p:nvPr/>
          </p:nvSpPr>
          <p:spPr>
            <a:xfrm>
              <a:off x="5467350" y="3048000"/>
              <a:ext cx="3810000" cy="3810000"/>
            </a:xfrm>
            <a:prstGeom prst="roundRect">
              <a:avLst>
                <a:gd fmla="val 10000" name="adj"/>
              </a:avLst>
            </a:prstGeom>
            <a:solidFill>
              <a:srgbClr val="FEE2E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7"/>
            <p:cNvSpPr txBox="1"/>
            <p:nvPr/>
          </p:nvSpPr>
          <p:spPr>
            <a:xfrm>
              <a:off x="5753100" y="3392170"/>
              <a:ext cx="57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700">
                  <a:solidFill>
                    <a:srgbClr val="EF444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</a:t>
              </a:r>
              <a:endParaRPr sz="3700">
                <a:solidFill>
                  <a:srgbClr val="EF444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67" name="Google Shape;167;p17"/>
            <p:cNvSpPr txBox="1"/>
            <p:nvPr/>
          </p:nvSpPr>
          <p:spPr>
            <a:xfrm>
              <a:off x="5753100" y="4000500"/>
              <a:ext cx="3238500" cy="257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B91C1C"/>
                  </a:solidFill>
                  <a:latin typeface="Inter"/>
                  <a:ea typeface="Inter"/>
                  <a:cs typeface="Inter"/>
                  <a:sym typeface="Inter"/>
                </a:rPr>
                <a:t>El Operador</a:t>
              </a:r>
              <a:endParaRPr b="1" sz="2000">
                <a:solidFill>
                  <a:srgbClr val="B91C1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No fue capacitado. No sabe responder y escala el problema por frustración.</a:t>
              </a:r>
              <a:endParaRPr sz="160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68" name="Google Shape;168;p17"/>
          <p:cNvGrpSpPr/>
          <p:nvPr/>
        </p:nvGrpSpPr>
        <p:grpSpPr>
          <a:xfrm>
            <a:off x="9563100" y="3048000"/>
            <a:ext cx="3810000" cy="3810000"/>
            <a:chOff x="9563100" y="3048000"/>
            <a:chExt cx="3810000" cy="3810000"/>
          </a:xfrm>
        </p:grpSpPr>
        <p:sp>
          <p:nvSpPr>
            <p:cNvPr id="169" name="Google Shape;169;p17"/>
            <p:cNvSpPr/>
            <p:nvPr/>
          </p:nvSpPr>
          <p:spPr>
            <a:xfrm>
              <a:off x="9563100" y="3048000"/>
              <a:ext cx="3810000" cy="3810000"/>
            </a:xfrm>
            <a:prstGeom prst="roundRect">
              <a:avLst>
                <a:gd fmla="val 10000" name="adj"/>
              </a:avLst>
            </a:prstGeom>
            <a:solidFill>
              <a:srgbClr val="FEE2E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17"/>
            <p:cNvSpPr txBox="1"/>
            <p:nvPr/>
          </p:nvSpPr>
          <p:spPr>
            <a:xfrm>
              <a:off x="9848850" y="3392170"/>
              <a:ext cx="57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700">
                  <a:solidFill>
                    <a:srgbClr val="EF444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</a:t>
              </a:r>
              <a:endParaRPr sz="3700">
                <a:solidFill>
                  <a:srgbClr val="EF444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71" name="Google Shape;171;p17"/>
            <p:cNvSpPr txBox="1"/>
            <p:nvPr/>
          </p:nvSpPr>
          <p:spPr>
            <a:xfrm>
              <a:off x="9848850" y="4000500"/>
              <a:ext cx="3238500" cy="257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B91C1C"/>
                  </a:solidFill>
                  <a:latin typeface="Inter"/>
                  <a:ea typeface="Inter"/>
                  <a:cs typeface="Inter"/>
                  <a:sym typeface="Inter"/>
                </a:rPr>
                <a:t>El Líder</a:t>
              </a:r>
              <a:endParaRPr b="1" sz="2000">
                <a:solidFill>
                  <a:srgbClr val="B91C1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Tampoco sabe dónde mirar. El proceso de soporte no está definido.</a:t>
              </a:r>
              <a:endParaRPr sz="160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72" name="Google Shape;172;p17"/>
          <p:cNvGrpSpPr/>
          <p:nvPr/>
        </p:nvGrpSpPr>
        <p:grpSpPr>
          <a:xfrm>
            <a:off x="13658850" y="3048000"/>
            <a:ext cx="3505200" cy="3810000"/>
            <a:chOff x="13658850" y="3048000"/>
            <a:chExt cx="3505200" cy="3810000"/>
          </a:xfrm>
        </p:grpSpPr>
        <p:sp>
          <p:nvSpPr>
            <p:cNvPr id="173" name="Google Shape;173;p17"/>
            <p:cNvSpPr/>
            <p:nvPr/>
          </p:nvSpPr>
          <p:spPr>
            <a:xfrm>
              <a:off x="13658850" y="3048000"/>
              <a:ext cx="3505200" cy="3810000"/>
            </a:xfrm>
            <a:prstGeom prst="roundRect">
              <a:avLst>
                <a:gd fmla="val 10869" name="adj"/>
              </a:avLst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17"/>
            <p:cNvSpPr txBox="1"/>
            <p:nvPr/>
          </p:nvSpPr>
          <p:spPr>
            <a:xfrm>
              <a:off x="13944600" y="3392170"/>
              <a:ext cx="57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7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</a:t>
              </a:r>
              <a:endParaRPr sz="37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75" name="Google Shape;175;p17"/>
            <p:cNvSpPr txBox="1"/>
            <p:nvPr/>
          </p:nvSpPr>
          <p:spPr>
            <a:xfrm>
              <a:off x="13944600" y="4000500"/>
              <a:ext cx="2933700" cy="257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La Prensa</a:t>
              </a:r>
              <a:endParaRPr b="1" sz="2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"Implementación fallida". El daño reputacional ocurre antes del mediodía.</a:t>
              </a:r>
              <a:endParaRPr sz="1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76" name="Google Shape;176;p17"/>
          <p:cNvGrpSpPr/>
          <p:nvPr/>
        </p:nvGrpSpPr>
        <p:grpSpPr>
          <a:xfrm>
            <a:off x="1371600" y="7620000"/>
            <a:ext cx="15544800" cy="952500"/>
            <a:chOff x="1371600" y="7620000"/>
            <a:chExt cx="15544800" cy="952500"/>
          </a:xfrm>
        </p:grpSpPr>
        <p:sp>
          <p:nvSpPr>
            <p:cNvPr id="177" name="Google Shape;177;p17"/>
            <p:cNvSpPr/>
            <p:nvPr/>
          </p:nvSpPr>
          <p:spPr>
            <a:xfrm>
              <a:off x="1371600" y="7620000"/>
              <a:ext cx="15544800" cy="952500"/>
            </a:xfrm>
            <a:prstGeom prst="roundRect">
              <a:avLst>
                <a:gd fmla="val 20000" name="adj"/>
              </a:avLst>
            </a:prstGeom>
            <a:solidFill>
              <a:srgbClr val="F3F4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17"/>
            <p:cNvSpPr txBox="1"/>
            <p:nvPr/>
          </p:nvSpPr>
          <p:spPr>
            <a:xfrm>
              <a:off x="1657350" y="7620000"/>
              <a:ext cx="149733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No dejes que el éxito técnico sea opacado por una </a:t>
              </a:r>
              <a:r>
                <a:rPr b="1" lang="en-US" sz="2200">
                  <a:solidFill>
                    <a:srgbClr val="EF4444"/>
                  </a:solidFill>
                  <a:latin typeface="Inter"/>
                  <a:ea typeface="Inter"/>
                  <a:cs typeface="Inter"/>
                  <a:sym typeface="Inter"/>
                </a:rPr>
                <a:t>gestión humana inexistente</a:t>
              </a:r>
              <a:r>
                <a:rPr lang="en-US" sz="22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sz="22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8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5966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8"/>
          <p:cNvSpPr txBox="1"/>
          <p:nvPr/>
        </p:nvSpPr>
        <p:spPr>
          <a:xfrm>
            <a:off x="1371600" y="3200400"/>
            <a:ext cx="15544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El sistema técnico ya está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1371600" y="4754880"/>
            <a:ext cx="155448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Lo que falta es la gente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1371600" y="7315200"/>
            <a:ext cx="15544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Fase D es donde el lanzamiento se decide.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