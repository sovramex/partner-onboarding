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8.4s · 21 palabras]</a:t>
            </a:r>
          </a:p>
          <a:p/>
          <a:p>
            <a:r>
              <a:t>Hay tres errores típicos en Fase D, y los tres son evitables con disciplina, no con experiencia. Te los digo derecho.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28.4s · 71 palabras]</a:t>
            </a:r>
          </a:p>
          <a:p/>
          <a:p>
            <a:r>
              <a:t>Primer error: lanzar sin capacitar operadores. Es el más obvio y aún así se comete cada vez que la presión política aprieta. Un equipo terminó la configuración el viernes, hay un evento de lanzamiento el lunes, y alguien decide capacitar en paralelo durante el lanzamiento. No funciona. La regla mínima es una sesión de dos horas más un día de práctica supervisada. Si no entra en el calendario, mueves el lanzamiento.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29.2s · 73 palabras]</a:t>
            </a:r>
          </a:p>
          <a:p/>
          <a:p>
            <a:r>
              <a:t>Segundo error: no preparar el discurso político. El tomador de decisiones llega al lanzamiento, le pregunta un periodista qué porcentaje de adopción esperan en seis meses, y la respuesta es no sabría decirte ahora. Esa respuesta sola le da a la nota un tono dubitativo. La sesión ejecutiva de una hora resuelve esto. Qué valor genera la plataforma, qué métricas vas a comunicar, qué responder ante preguntas difíciles. No es opcional, es protocolo.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16.4s · 41 palabras]</a:t>
            </a:r>
          </a:p>
          <a:p/>
          <a:p>
            <a:r>
              <a:t>Tercer error: soporte sin estructura. La conversación es cuando lance, vemos cómo lo vamos resolviendo. El día 1 entra una avalancha y nadie sabe a quién escalar. Define los niveles antes del lanzamiento. Usa el template del Kit, ajústalo, hazlo firmar.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7.6s · 19 palabras]</a:t>
            </a:r>
          </a:p>
          <a:p/>
          <a:p>
            <a:r>
              <a:t>Los tres errores se evitan con tres reuniones. Si no las haces, el lanzamiento te va a pasar factura.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59669"/>
                </a:solidFill>
                <a:latin typeface="Figtree"/>
              </a:rPr>
              <a:t>FASE D</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Tres errores</a:t>
            </a:r>
          </a:p>
          <a:p>
            <a:pPr algn="l">
              <a:lnSpc>
                <a:spcPct val="110000"/>
              </a:lnSpc>
            </a:pPr>
            <a:r>
              <a:rPr sz="8000" b="1" i="0">
                <a:solidFill>
                  <a:srgbClr val="0A0915"/>
                </a:solidFill>
                <a:latin typeface="Plus Jakarta Sans"/>
              </a:rPr>
              <a:t>que arruinan un lanzamiento.</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Los tres son evitables con disciplina, no con experiencia.</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Error 1:</a:t>
            </a:r>
          </a:p>
          <a:p>
            <a:pPr algn="ctr">
              <a:lnSpc>
                <a:spcPct val="110000"/>
              </a:lnSpc>
            </a:pPr>
            <a:r>
              <a:rPr sz="4600" b="1" i="0">
                <a:solidFill>
                  <a:srgbClr val="0A0915"/>
                </a:solidFill>
                <a:latin typeface="Plus Jakarta Sans"/>
              </a:rPr>
              <a:t>lanzar sin capacitar operadores.</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"Capacitamos en paralelo"</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Configuración terminó el viernes.</a:t>
            </a:r>
          </a:p>
          <a:p>
            <a:pPr algn="l">
              <a:lnSpc>
                <a:spcPct val="140000"/>
              </a:lnSpc>
            </a:pPr>
            <a:r>
              <a:rPr sz="1800" b="0" i="0">
                <a:solidFill>
                  <a:srgbClr val="888888"/>
                </a:solidFill>
                <a:latin typeface="Figtree"/>
              </a:rPr>
              <a:t>Lanzamiento el lunes.</a:t>
            </a:r>
          </a:p>
          <a:p>
            <a:pPr algn="l">
              <a:lnSpc>
                <a:spcPct val="140000"/>
              </a:lnSpc>
            </a:pPr>
            <a:r>
              <a:rPr sz="1800" b="0" i="0">
                <a:solidFill>
                  <a:srgbClr val="888888"/>
                </a:solidFill>
                <a:latin typeface="Figtree"/>
              </a:rPr>
              <a:t>No funciona.</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Sesión + práctica</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Dos horas mínimo.</a:t>
            </a:r>
          </a:p>
          <a:p>
            <a:pPr algn="l">
              <a:lnSpc>
                <a:spcPct val="140000"/>
              </a:lnSpc>
            </a:pPr>
            <a:r>
              <a:rPr sz="1800" b="0" i="0">
                <a:solidFill>
                  <a:srgbClr val="888888"/>
                </a:solidFill>
                <a:latin typeface="Figtree"/>
              </a:rPr>
              <a:t>Un día de práctica supervisada.</a:t>
            </a:r>
          </a:p>
          <a:p>
            <a:pPr algn="l">
              <a:lnSpc>
                <a:spcPct val="140000"/>
              </a:lnSpc>
            </a:pPr>
            <a:r>
              <a:rPr sz="1800" b="0" i="0">
                <a:solidFill>
                  <a:srgbClr val="888888"/>
                </a:solidFill>
                <a:latin typeface="Figtree"/>
              </a:rPr>
              <a:t>Si no entra, mueves el lanzamiento.</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Error 2:</a:t>
            </a:r>
          </a:p>
          <a:p>
            <a:pPr algn="ctr">
              <a:lnSpc>
                <a:spcPct val="110000"/>
              </a:lnSpc>
            </a:pPr>
            <a:r>
              <a:rPr sz="4600" b="1" i="0">
                <a:solidFill>
                  <a:srgbClr val="0A0915"/>
                </a:solidFill>
                <a:latin typeface="Plus Jakarta Sans"/>
              </a:rPr>
              <a:t>no preparar el discurso político.</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"No sabría decirte ahora"</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El tomador llega al lanzamiento.</a:t>
            </a:r>
          </a:p>
          <a:p>
            <a:pPr algn="l">
              <a:lnSpc>
                <a:spcPct val="140000"/>
              </a:lnSpc>
            </a:pPr>
            <a:r>
              <a:rPr sz="1800" b="0" i="0">
                <a:solidFill>
                  <a:srgbClr val="888888"/>
                </a:solidFill>
                <a:latin typeface="Figtree"/>
              </a:rPr>
              <a:t>Periodista pregunta adopción a seis meses.</a:t>
            </a:r>
          </a:p>
          <a:p>
            <a:pPr algn="l">
              <a:lnSpc>
                <a:spcPct val="140000"/>
              </a:lnSpc>
            </a:pPr>
            <a:r>
              <a:rPr sz="1800" b="0" i="0">
                <a:solidFill>
                  <a:srgbClr val="888888"/>
                </a:solidFill>
                <a:latin typeface="Figtree"/>
              </a:rPr>
              <a:t>La nota se vuelve dubitativa.</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Sesión ejecutiva de una hora</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Qué valor genera.</a:t>
            </a:r>
          </a:p>
          <a:p>
            <a:pPr algn="l">
              <a:lnSpc>
                <a:spcPct val="140000"/>
              </a:lnSpc>
            </a:pPr>
            <a:r>
              <a:rPr sz="1800" b="0" i="0">
                <a:solidFill>
                  <a:srgbClr val="888888"/>
                </a:solidFill>
                <a:latin typeface="Figtree"/>
              </a:rPr>
              <a:t>Qué métricas comunicar.</a:t>
            </a:r>
          </a:p>
          <a:p>
            <a:pPr algn="l">
              <a:lnSpc>
                <a:spcPct val="140000"/>
              </a:lnSpc>
            </a:pPr>
            <a:r>
              <a:rPr sz="1800" b="0" i="0">
                <a:solidFill>
                  <a:srgbClr val="888888"/>
                </a:solidFill>
                <a:latin typeface="Figtree"/>
              </a:rPr>
              <a:t>Qué responder ante preguntas difíciles.</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Error 3:</a:t>
            </a:r>
          </a:p>
          <a:p>
            <a:pPr algn="ctr">
              <a:lnSpc>
                <a:spcPct val="110000"/>
              </a:lnSpc>
            </a:pPr>
            <a:r>
              <a:rPr sz="4600" b="1" i="0">
                <a:solidFill>
                  <a:srgbClr val="0A0915"/>
                </a:solidFill>
                <a:latin typeface="Plus Jakarta Sans"/>
              </a:rPr>
              <a:t>soporte sin estructura.</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"Vemos cómo lo resolvemos"</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El día 1 entra una avalancha.</a:t>
            </a:r>
          </a:p>
          <a:p>
            <a:pPr algn="l">
              <a:lnSpc>
                <a:spcPct val="140000"/>
              </a:lnSpc>
            </a:pPr>
            <a:r>
              <a:rPr sz="1800" b="0" i="0">
                <a:solidFill>
                  <a:srgbClr val="888888"/>
                </a:solidFill>
                <a:latin typeface="Figtree"/>
              </a:rPr>
              <a:t>Nadie sabe a quién escalar.</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Niveles definidos antes</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Template del Kit.</a:t>
            </a:r>
          </a:p>
          <a:p>
            <a:pPr algn="l">
              <a:lnSpc>
                <a:spcPct val="140000"/>
              </a:lnSpc>
            </a:pPr>
            <a:r>
              <a:rPr sz="1800" b="0" i="0">
                <a:solidFill>
                  <a:srgbClr val="888888"/>
                </a:solidFill>
                <a:latin typeface="Figtree"/>
              </a:rPr>
              <a:t>Ajustado.</a:t>
            </a:r>
          </a:p>
          <a:p>
            <a:pPr algn="l">
              <a:lnSpc>
                <a:spcPct val="140000"/>
              </a:lnSpc>
            </a:pPr>
            <a:r>
              <a:rPr sz="1800" b="0" i="0">
                <a:solidFill>
                  <a:srgbClr val="888888"/>
                </a:solidFill>
                <a:latin typeface="Figtree"/>
              </a:rPr>
              <a:t>Firmado.</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Los tres errores se evitan</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con tres reuniones.</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Si no las haces, el lanzamiento te pasa factura.</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