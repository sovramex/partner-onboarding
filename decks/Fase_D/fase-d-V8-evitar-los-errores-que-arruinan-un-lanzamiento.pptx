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10287000" cx="18288000"/>
  <p:notesSz cx="6858000" cy="9144000"/>
  <p:embeddedFontLst>
    <p:embeddedFont>
      <p:font typeface="Inter"/>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Inter-regular.fntdata"/><Relationship Id="rId10" Type="http://schemas.openxmlformats.org/officeDocument/2006/relationships/slide" Target="slides/slide5.xml"/><Relationship Id="rId13" Type="http://schemas.openxmlformats.org/officeDocument/2006/relationships/font" Target="fonts/Inter-italic.fntdata"/><Relationship Id="rId12" Type="http://schemas.openxmlformats.org/officeDocument/2006/relationships/font" Target="fonts/Int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8.4s · 21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Hay tres errores típicos en Fase D, y los tres son evitables con disciplina, no con experiencia. Te los digo derecho.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28.4s · 71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Primer error: lanzar sin capacitar operadores. Es el más obvio y aún así se comete cada vez que la presión política aprieta. Un equipo terminó la configuración el viernes, hay un evento de lanzamiento el lunes, y alguien decide capacitar en paralelo durante el lanzamiento. No funciona. La regla mínima es una sesión de dos horas más un día de práctica supervisada. Si no entra en el calendario, mueves el lanzamiento.</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29.2s · 73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Segundo error: no preparar el discurso político. El tomador de decisiones llega al lanzamiento, le pregunta un periodista qué porcentaje de adopción esperan en seis meses, y la respuesta es no sabría decirte ahora. Esa respuesta sola le da a la nota un tono dubitativo. La sesión ejecutiva de una hora resuelve esto. Qué valor genera la plataforma, qué métricas vas a comunicar, qué responder ante preguntas difíciles. No es opcional, es protocolo.</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16.4s · 41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Tercer error: soporte sin estructura. La conversación es cuando lance, vemos cómo lo vamos resolviendo. El día 1 entra una avalancha y nadie sabe a quién escalar. Define los niveles antes del lanzamiento. Usa el template del Kit, ajústalo, hazlo firmar.</a:t>
            </a:r>
            <a:endParaRPr/>
          </a:p>
        </p:txBody>
      </p:sp>
      <p:sp>
        <p:nvSpPr>
          <p:cNvPr id="124" name="Google Shape;124;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7.6s · 19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tres errores se evitan con tres reuniones. Si no las haces, el lanzamiento te va a pasar factura.</a:t>
            </a:r>
            <a:endParaRPr/>
          </a:p>
        </p:txBody>
      </p:sp>
      <p:sp>
        <p:nvSpPr>
          <p:cNvPr id="140" name="Google Shape;140;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0596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059669"/>
                </a:solidFill>
                <a:latin typeface="Inter"/>
                <a:ea typeface="Inter"/>
                <a:cs typeface="Inter"/>
                <a:sym typeface="Inter"/>
              </a:rPr>
              <a:t>FASE D</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Tres errores</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que arruinan un lanzamiento</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Los tres son evitables con disciplina, no con experiencia.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371600" y="762000"/>
            <a:ext cx="15544800" cy="1204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400">
                <a:solidFill>
                  <a:srgbClr val="059669"/>
                </a:solidFill>
                <a:latin typeface="Inter"/>
                <a:ea typeface="Inter"/>
                <a:cs typeface="Inter"/>
                <a:sym typeface="Inter"/>
              </a:rPr>
              <a:t>Error 1</a:t>
            </a:r>
            <a:endParaRPr b="1" sz="2400">
              <a:solidFill>
                <a:srgbClr val="059669"/>
              </a:solidFill>
              <a:latin typeface="Inter"/>
              <a:ea typeface="Inter"/>
              <a:cs typeface="Inter"/>
              <a:sym typeface="Inter"/>
            </a:endParaRPr>
          </a:p>
          <a:p>
            <a:pPr indent="0" lvl="0" marL="0" rtl="0" algn="ctr">
              <a:spcBef>
                <a:spcPts val="750"/>
              </a:spcBef>
              <a:spcAft>
                <a:spcPts val="0"/>
              </a:spcAft>
              <a:buNone/>
            </a:pPr>
            <a:r>
              <a:rPr b="1" lang="en-US" sz="4800">
                <a:solidFill>
                  <a:srgbClr val="0A0915"/>
                </a:solidFill>
                <a:latin typeface="Inter"/>
                <a:ea typeface="Inter"/>
                <a:cs typeface="Inter"/>
                <a:sym typeface="Inter"/>
              </a:rPr>
              <a:t>Lanzar sin capacitar operadores</a:t>
            </a:r>
            <a:endParaRPr b="1" sz="4800">
              <a:solidFill>
                <a:srgbClr val="0A0915"/>
              </a:solidFill>
              <a:latin typeface="Inter"/>
              <a:ea typeface="Inter"/>
              <a:cs typeface="Inter"/>
              <a:sym typeface="Inter"/>
            </a:endParaRPr>
          </a:p>
        </p:txBody>
      </p:sp>
      <p:sp>
        <p:nvSpPr>
          <p:cNvPr id="96" name="Google Shape;96;p14"/>
          <p:cNvSpPr/>
          <p:nvPr/>
        </p:nvSpPr>
        <p:spPr>
          <a:xfrm>
            <a:off x="1714500" y="3048000"/>
            <a:ext cx="6667500" cy="4953000"/>
          </a:xfrm>
          <a:prstGeom prst="roundRect">
            <a:avLst>
              <a:gd fmla="val 7692" name="adj"/>
            </a:avLst>
          </a:prstGeom>
          <a:solidFill>
            <a:srgbClr val="FEF2F2"/>
          </a:solidFill>
          <a:ln cap="flat" cmpd="sng" w="19050">
            <a:solidFill>
              <a:srgbClr val="FEE2E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4"/>
          <p:cNvSpPr txBox="1"/>
          <p:nvPr/>
        </p:nvSpPr>
        <p:spPr>
          <a:xfrm>
            <a:off x="2286000" y="3429000"/>
            <a:ext cx="762000" cy="769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5000">
                <a:solidFill>
                  <a:srgbClr val="DC2626"/>
                </a:solidFill>
                <a:latin typeface="Inter"/>
                <a:ea typeface="Inter"/>
                <a:cs typeface="Inter"/>
                <a:sym typeface="Inter"/>
              </a:rPr>
              <a:t>✗</a:t>
            </a:r>
            <a:endParaRPr b="1" sz="5000">
              <a:solidFill>
                <a:srgbClr val="DC2626"/>
              </a:solidFill>
              <a:latin typeface="Inter"/>
              <a:ea typeface="Inter"/>
              <a:cs typeface="Inter"/>
              <a:sym typeface="Inter"/>
            </a:endParaRPr>
          </a:p>
        </p:txBody>
      </p:sp>
      <p:sp>
        <p:nvSpPr>
          <p:cNvPr id="98" name="Google Shape;98;p14"/>
          <p:cNvSpPr txBox="1"/>
          <p:nvPr/>
        </p:nvSpPr>
        <p:spPr>
          <a:xfrm>
            <a:off x="2286000" y="4381500"/>
            <a:ext cx="5524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"Capacitamos en paralelo"</a:t>
            </a:r>
            <a:endParaRPr b="1" sz="3200">
              <a:solidFill>
                <a:srgbClr val="0A0915"/>
              </a:solidFill>
              <a:latin typeface="Inter"/>
              <a:ea typeface="Inter"/>
              <a:cs typeface="Inter"/>
              <a:sym typeface="Inter"/>
            </a:endParaRPr>
          </a:p>
        </p:txBody>
      </p:sp>
      <p:sp>
        <p:nvSpPr>
          <p:cNvPr id="99" name="Google Shape;99;p14"/>
          <p:cNvSpPr txBox="1"/>
          <p:nvPr/>
        </p:nvSpPr>
        <p:spPr>
          <a:xfrm>
            <a:off x="2286000" y="5334000"/>
            <a:ext cx="5524500" cy="182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2000">
                <a:solidFill>
                  <a:srgbClr val="4B5563"/>
                </a:solidFill>
                <a:latin typeface="Inter"/>
                <a:ea typeface="Inter"/>
                <a:cs typeface="Inter"/>
                <a:sym typeface="Inter"/>
              </a:rPr>
              <a:t>La configuración terminó el viernes, el lanzamiento es el lunes.</a:t>
            </a:r>
            <a:endParaRPr b="0" sz="2000">
              <a:solidFill>
                <a:srgbClr val="4B5563"/>
              </a:solidFill>
              <a:latin typeface="Inter"/>
              <a:ea typeface="Inter"/>
              <a:cs typeface="Inter"/>
              <a:sym typeface="Inter"/>
            </a:endParaRPr>
          </a:p>
          <a:p>
            <a:pPr indent="0" lvl="0" marL="0" rtl="0" algn="l">
              <a:spcBef>
                <a:spcPts val="1125"/>
              </a:spcBef>
              <a:spcAft>
                <a:spcPts val="0"/>
              </a:spcAft>
              <a:buNone/>
            </a:pPr>
            <a:r>
              <a:rPr b="1" lang="en-US" sz="2000">
                <a:solidFill>
                  <a:srgbClr val="4B5563"/>
                </a:solidFill>
                <a:latin typeface="Inter"/>
                <a:ea typeface="Inter"/>
                <a:cs typeface="Inter"/>
                <a:sym typeface="Inter"/>
              </a:rPr>
              <a:t>Consecuencia:</a:t>
            </a:r>
            <a:r>
              <a:rPr b="0" lang="en-US" sz="2000">
                <a:solidFill>
                  <a:srgbClr val="4B5563"/>
                </a:solidFill>
                <a:latin typeface="Inter"/>
                <a:ea typeface="Inter"/>
                <a:cs typeface="Inter"/>
                <a:sym typeface="Inter"/>
              </a:rPr>
              <a:t> No hay margen de error ni asimilación.</a:t>
            </a:r>
            <a:endParaRPr b="0" sz="2000">
              <a:solidFill>
                <a:srgbClr val="4B5563"/>
              </a:solidFill>
              <a:latin typeface="Inter"/>
              <a:ea typeface="Inter"/>
              <a:cs typeface="Inter"/>
              <a:sym typeface="Inter"/>
            </a:endParaRPr>
          </a:p>
          <a:p>
            <a:pPr indent="0" lvl="0" marL="0" rtl="0" algn="l">
              <a:spcBef>
                <a:spcPts val="1125"/>
              </a:spcBef>
              <a:spcAft>
                <a:spcPts val="0"/>
              </a:spcAft>
              <a:buNone/>
            </a:pPr>
            <a:r>
              <a:rPr b="1" lang="en-US" sz="2000">
                <a:solidFill>
                  <a:srgbClr val="DC2626"/>
                </a:solidFill>
                <a:latin typeface="Inter"/>
                <a:ea typeface="Inter"/>
                <a:cs typeface="Inter"/>
                <a:sym typeface="Inter"/>
              </a:rPr>
              <a:t>Simplemente no funciona.</a:t>
            </a:r>
            <a:endParaRPr b="1" sz="2000">
              <a:solidFill>
                <a:srgbClr val="DC2626"/>
              </a:solidFill>
              <a:latin typeface="Inter"/>
              <a:ea typeface="Inter"/>
              <a:cs typeface="Inter"/>
              <a:sym typeface="Inter"/>
            </a:endParaRPr>
          </a:p>
        </p:txBody>
      </p:sp>
      <p:sp>
        <p:nvSpPr>
          <p:cNvPr id="100" name="Google Shape;100;p14"/>
          <p:cNvSpPr/>
          <p:nvPr/>
        </p:nvSpPr>
        <p:spPr>
          <a:xfrm>
            <a:off x="9906000" y="3048000"/>
            <a:ext cx="6667500" cy="4953000"/>
          </a:xfrm>
          <a:prstGeom prst="roundRect">
            <a:avLst>
              <a:gd fmla="val 7692" name="adj"/>
            </a:avLst>
          </a:prstGeom>
          <a:solidFill>
            <a:srgbClr val="ECFDF5"/>
          </a:solidFill>
          <a:ln cap="flat" cmpd="sng" w="19050">
            <a:solidFill>
              <a:srgbClr val="A7F3D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4"/>
          <p:cNvSpPr txBox="1"/>
          <p:nvPr/>
        </p:nvSpPr>
        <p:spPr>
          <a:xfrm>
            <a:off x="10477500" y="3429000"/>
            <a:ext cx="762000" cy="769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5000">
                <a:solidFill>
                  <a:srgbClr val="10B981"/>
                </a:solidFill>
                <a:latin typeface="Inter"/>
                <a:ea typeface="Inter"/>
                <a:cs typeface="Inter"/>
                <a:sym typeface="Inter"/>
              </a:rPr>
              <a:t>✓</a:t>
            </a:r>
            <a:endParaRPr b="1" sz="5000">
              <a:solidFill>
                <a:srgbClr val="10B981"/>
              </a:solidFill>
              <a:latin typeface="Inter"/>
              <a:ea typeface="Inter"/>
              <a:cs typeface="Inter"/>
              <a:sym typeface="Inter"/>
            </a:endParaRPr>
          </a:p>
        </p:txBody>
      </p:sp>
      <p:sp>
        <p:nvSpPr>
          <p:cNvPr id="102" name="Google Shape;102;p14"/>
          <p:cNvSpPr txBox="1"/>
          <p:nvPr/>
        </p:nvSpPr>
        <p:spPr>
          <a:xfrm>
            <a:off x="10477500" y="4381500"/>
            <a:ext cx="5524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Sesión + práctica</a:t>
            </a:r>
            <a:endParaRPr b="1" sz="3200">
              <a:solidFill>
                <a:srgbClr val="0A0915"/>
              </a:solidFill>
              <a:latin typeface="Inter"/>
              <a:ea typeface="Inter"/>
              <a:cs typeface="Inter"/>
              <a:sym typeface="Inter"/>
            </a:endParaRPr>
          </a:p>
        </p:txBody>
      </p:sp>
      <p:sp>
        <p:nvSpPr>
          <p:cNvPr id="103" name="Google Shape;103;p14"/>
          <p:cNvSpPr txBox="1"/>
          <p:nvPr/>
        </p:nvSpPr>
        <p:spPr>
          <a:xfrm>
            <a:off x="10477500" y="5334000"/>
            <a:ext cx="5524500" cy="1462200"/>
          </a:xfrm>
          <a:prstGeom prst="rect">
            <a:avLst/>
          </a:prstGeom>
          <a:solidFill>
            <a:srgbClr val="000000">
              <a:alpha val="0"/>
            </a:srgbClr>
          </a:solidFill>
          <a:ln>
            <a:noFill/>
          </a:ln>
        </p:spPr>
        <p:txBody>
          <a:bodyPr anchorCtr="0" anchor="t" bIns="0" lIns="0" spcFirstLastPara="1" rIns="0" wrap="square" tIns="0">
            <a:spAutoFit/>
          </a:bodyPr>
          <a:lstStyle/>
          <a:p>
            <a:pPr indent="-355600" lvl="0" marL="457200" rtl="0" algn="l">
              <a:spcBef>
                <a:spcPts val="0"/>
              </a:spcBef>
              <a:spcAft>
                <a:spcPts val="0"/>
              </a:spcAft>
              <a:buClr>
                <a:srgbClr val="065F46"/>
              </a:buClr>
              <a:buSzPts val="2000"/>
              <a:buFont typeface="Inter"/>
              <a:buChar char="●"/>
            </a:pPr>
            <a:r>
              <a:rPr b="0" lang="en-US" sz="2000">
                <a:solidFill>
                  <a:srgbClr val="065F46"/>
                </a:solidFill>
                <a:latin typeface="Inter"/>
                <a:ea typeface="Inter"/>
                <a:cs typeface="Inter"/>
                <a:sym typeface="Inter"/>
              </a:rPr>
              <a:t>Dos horas mínimo de teoría.</a:t>
            </a:r>
            <a:endParaRPr b="0" sz="2000">
              <a:solidFill>
                <a:srgbClr val="065F46"/>
              </a:solidFill>
              <a:latin typeface="Inter"/>
              <a:ea typeface="Inter"/>
              <a:cs typeface="Inter"/>
              <a:sym typeface="Inter"/>
            </a:endParaRPr>
          </a:p>
          <a:p>
            <a:pPr indent="-355600" lvl="0" marL="457200" rtl="0" algn="l">
              <a:spcBef>
                <a:spcPts val="900"/>
              </a:spcBef>
              <a:spcAft>
                <a:spcPts val="0"/>
              </a:spcAft>
              <a:buClr>
                <a:srgbClr val="065F46"/>
              </a:buClr>
              <a:buSzPts val="2000"/>
              <a:buFont typeface="Inter"/>
              <a:buChar char="●"/>
            </a:pPr>
            <a:r>
              <a:rPr b="0" lang="en-US" sz="2000">
                <a:solidFill>
                  <a:srgbClr val="065F46"/>
                </a:solidFill>
                <a:latin typeface="Inter"/>
                <a:ea typeface="Inter"/>
                <a:cs typeface="Inter"/>
                <a:sym typeface="Inter"/>
              </a:rPr>
              <a:t>Un día entero de práctica supervisada.</a:t>
            </a:r>
            <a:endParaRPr b="0" sz="2000">
              <a:solidFill>
                <a:srgbClr val="065F46"/>
              </a:solidFill>
              <a:latin typeface="Inter"/>
              <a:ea typeface="Inter"/>
              <a:cs typeface="Inter"/>
              <a:sym typeface="Inter"/>
            </a:endParaRPr>
          </a:p>
          <a:p>
            <a:pPr indent="-355600" lvl="0" marL="457200" rtl="0" algn="l">
              <a:spcBef>
                <a:spcPts val="900"/>
              </a:spcBef>
              <a:spcAft>
                <a:spcPts val="0"/>
              </a:spcAft>
              <a:buClr>
                <a:srgbClr val="065F46"/>
              </a:buClr>
              <a:buSzPts val="2000"/>
              <a:buFont typeface="Inter"/>
              <a:buChar char="●"/>
            </a:pPr>
            <a:r>
              <a:rPr b="1" lang="en-US" sz="2000">
                <a:solidFill>
                  <a:srgbClr val="065F46"/>
                </a:solidFill>
                <a:latin typeface="Inter"/>
                <a:ea typeface="Inter"/>
                <a:cs typeface="Inter"/>
                <a:sym typeface="Inter"/>
              </a:rPr>
              <a:t>Si no se logra el dominio, se posterga el lanzamiento.</a:t>
            </a:r>
            <a:endParaRPr b="1" sz="2000">
              <a:solidFill>
                <a:srgbClr val="065F46"/>
              </a:solidFill>
              <a:latin typeface="Inter"/>
              <a:ea typeface="Inter"/>
              <a:cs typeface="Inter"/>
              <a:sym typeface="Inter"/>
            </a:endParaRPr>
          </a:p>
        </p:txBody>
      </p:sp>
      <p:sp>
        <p:nvSpPr>
          <p:cNvPr id="104" name="Google Shape;104;p14"/>
          <p:cNvSpPr txBox="1"/>
          <p:nvPr/>
        </p:nvSpPr>
        <p:spPr>
          <a:xfrm>
            <a:off x="1371600" y="8763000"/>
            <a:ext cx="155448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1800">
                <a:solidFill>
                  <a:srgbClr val="888888"/>
                </a:solidFill>
                <a:latin typeface="Inter"/>
                <a:ea typeface="Inter"/>
                <a:cs typeface="Inter"/>
                <a:sym typeface="Inter"/>
              </a:rPr>
              <a:t>La capacitación no es un trámite, es el seguro del éxito.</a:t>
            </a:r>
            <a:endParaRPr sz="1800">
              <a:solidFill>
                <a:srgbClr val="888888"/>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p:nvPr/>
        </p:nvSpPr>
        <p:spPr>
          <a:xfrm>
            <a:off x="0" y="0"/>
            <a:ext cx="18288000" cy="2286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5"/>
          <p:cNvSpPr txBox="1"/>
          <p:nvPr/>
        </p:nvSpPr>
        <p:spPr>
          <a:xfrm>
            <a:off x="1371600" y="762000"/>
            <a:ext cx="15544800" cy="1204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2400">
                <a:solidFill>
                  <a:srgbClr val="059669"/>
                </a:solidFill>
                <a:latin typeface="Inter"/>
                <a:ea typeface="Inter"/>
                <a:cs typeface="Inter"/>
                <a:sym typeface="Inter"/>
              </a:rPr>
              <a:t>Error 2</a:t>
            </a:r>
            <a:endParaRPr b="1" sz="2400">
              <a:solidFill>
                <a:srgbClr val="059669"/>
              </a:solidFill>
              <a:latin typeface="Inter"/>
              <a:ea typeface="Inter"/>
              <a:cs typeface="Inter"/>
              <a:sym typeface="Inter"/>
            </a:endParaRPr>
          </a:p>
          <a:p>
            <a:pPr indent="0" lvl="0" marL="0" rtl="0" algn="ctr">
              <a:spcBef>
                <a:spcPts val="750"/>
              </a:spcBef>
              <a:spcAft>
                <a:spcPts val="0"/>
              </a:spcAft>
              <a:buNone/>
            </a:pPr>
            <a:r>
              <a:rPr b="1" lang="en-US" sz="4800">
                <a:solidFill>
                  <a:srgbClr val="0A0915"/>
                </a:solidFill>
                <a:latin typeface="Inter"/>
                <a:ea typeface="Inter"/>
                <a:cs typeface="Inter"/>
                <a:sym typeface="Inter"/>
              </a:rPr>
              <a:t>No preparar el discurso político</a:t>
            </a:r>
            <a:endParaRPr b="1" sz="4800">
              <a:solidFill>
                <a:srgbClr val="0A0915"/>
              </a:solidFill>
              <a:latin typeface="Inter"/>
              <a:ea typeface="Inter"/>
              <a:cs typeface="Inter"/>
              <a:sym typeface="Inter"/>
            </a:endParaRPr>
          </a:p>
        </p:txBody>
      </p:sp>
      <p:sp>
        <p:nvSpPr>
          <p:cNvPr id="112" name="Google Shape;112;p15"/>
          <p:cNvSpPr/>
          <p:nvPr/>
        </p:nvSpPr>
        <p:spPr>
          <a:xfrm>
            <a:off x="1714500" y="3048000"/>
            <a:ext cx="6667500" cy="4953000"/>
          </a:xfrm>
          <a:prstGeom prst="roundRect">
            <a:avLst>
              <a:gd fmla="val 7692" name="adj"/>
            </a:avLst>
          </a:prstGeom>
          <a:solidFill>
            <a:srgbClr val="FEF2F2"/>
          </a:solidFill>
          <a:ln cap="flat" cmpd="sng" w="19050">
            <a:solidFill>
              <a:srgbClr val="FEE2E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5"/>
          <p:cNvSpPr txBox="1"/>
          <p:nvPr/>
        </p:nvSpPr>
        <p:spPr>
          <a:xfrm>
            <a:off x="2286000" y="3429000"/>
            <a:ext cx="762000" cy="769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5000">
                <a:solidFill>
                  <a:srgbClr val="DC2626"/>
                </a:solidFill>
                <a:latin typeface="Inter"/>
                <a:ea typeface="Inter"/>
                <a:cs typeface="Inter"/>
                <a:sym typeface="Inter"/>
              </a:rPr>
              <a:t>✗</a:t>
            </a:r>
            <a:endParaRPr b="1" sz="5000">
              <a:solidFill>
                <a:srgbClr val="DC2626"/>
              </a:solidFill>
              <a:latin typeface="Inter"/>
              <a:ea typeface="Inter"/>
              <a:cs typeface="Inter"/>
              <a:sym typeface="Inter"/>
            </a:endParaRPr>
          </a:p>
        </p:txBody>
      </p:sp>
      <p:sp>
        <p:nvSpPr>
          <p:cNvPr id="114" name="Google Shape;114;p15"/>
          <p:cNvSpPr txBox="1"/>
          <p:nvPr/>
        </p:nvSpPr>
        <p:spPr>
          <a:xfrm>
            <a:off x="2286000" y="4381500"/>
            <a:ext cx="5524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"No sabría decirte ahora"</a:t>
            </a:r>
            <a:endParaRPr b="1" sz="3200">
              <a:solidFill>
                <a:srgbClr val="0A0915"/>
              </a:solidFill>
              <a:latin typeface="Inter"/>
              <a:ea typeface="Inter"/>
              <a:cs typeface="Inter"/>
              <a:sym typeface="Inter"/>
            </a:endParaRPr>
          </a:p>
        </p:txBody>
      </p:sp>
      <p:sp>
        <p:nvSpPr>
          <p:cNvPr id="115" name="Google Shape;115;p15"/>
          <p:cNvSpPr txBox="1"/>
          <p:nvPr/>
        </p:nvSpPr>
        <p:spPr>
          <a:xfrm>
            <a:off x="2286000" y="5334000"/>
            <a:ext cx="5524500" cy="1375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2000">
                <a:solidFill>
                  <a:srgbClr val="4B5563"/>
                </a:solidFill>
                <a:latin typeface="Inter"/>
                <a:ea typeface="Inter"/>
                <a:cs typeface="Inter"/>
                <a:sym typeface="Inter"/>
              </a:rPr>
              <a:t>El tomador llega al lanzamiento. Periodista pregunta adopción a seis meses.</a:t>
            </a:r>
            <a:endParaRPr b="0" sz="2000">
              <a:solidFill>
                <a:srgbClr val="4B5563"/>
              </a:solidFill>
              <a:latin typeface="Inter"/>
              <a:ea typeface="Inter"/>
              <a:cs typeface="Inter"/>
              <a:sym typeface="Inter"/>
            </a:endParaRPr>
          </a:p>
          <a:p>
            <a:pPr indent="0" lvl="0" marL="0" rtl="0" algn="l">
              <a:spcBef>
                <a:spcPts val="1125"/>
              </a:spcBef>
              <a:spcAft>
                <a:spcPts val="1125"/>
              </a:spcAft>
              <a:buNone/>
            </a:pPr>
            <a:r>
              <a:rPr b="1" lang="en-US" sz="2000">
                <a:solidFill>
                  <a:srgbClr val="DC2626"/>
                </a:solidFill>
                <a:latin typeface="Inter"/>
                <a:ea typeface="Inter"/>
                <a:cs typeface="Inter"/>
                <a:sym typeface="Inter"/>
              </a:rPr>
              <a:t>Consecuencia:</a:t>
            </a:r>
            <a:r>
              <a:rPr b="0" lang="en-US" sz="2000">
                <a:solidFill>
                  <a:srgbClr val="4B5563"/>
                </a:solidFill>
                <a:latin typeface="Inter"/>
                <a:ea typeface="Inter"/>
                <a:cs typeface="Inter"/>
                <a:sym typeface="Inter"/>
              </a:rPr>
              <a:t> La nota se vuelve dubitativa y resta credibilidad.</a:t>
            </a:r>
            <a:endParaRPr b="0" sz="2000">
              <a:solidFill>
                <a:srgbClr val="4B5563"/>
              </a:solidFill>
              <a:latin typeface="Inter"/>
              <a:ea typeface="Inter"/>
              <a:cs typeface="Inter"/>
              <a:sym typeface="Inter"/>
            </a:endParaRPr>
          </a:p>
        </p:txBody>
      </p:sp>
      <p:sp>
        <p:nvSpPr>
          <p:cNvPr id="116" name="Google Shape;116;p15"/>
          <p:cNvSpPr/>
          <p:nvPr/>
        </p:nvSpPr>
        <p:spPr>
          <a:xfrm>
            <a:off x="9906000" y="3048000"/>
            <a:ext cx="6667500" cy="4953000"/>
          </a:xfrm>
          <a:prstGeom prst="roundRect">
            <a:avLst>
              <a:gd fmla="val 7692" name="adj"/>
            </a:avLst>
          </a:prstGeom>
          <a:solidFill>
            <a:srgbClr val="ECFDF5"/>
          </a:solidFill>
          <a:ln cap="flat" cmpd="sng" w="19050">
            <a:solidFill>
              <a:srgbClr val="A7F3D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5"/>
          <p:cNvSpPr txBox="1"/>
          <p:nvPr/>
        </p:nvSpPr>
        <p:spPr>
          <a:xfrm>
            <a:off x="10477500" y="3429000"/>
            <a:ext cx="762000" cy="769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5000">
                <a:solidFill>
                  <a:srgbClr val="10B981"/>
                </a:solidFill>
                <a:latin typeface="Inter"/>
                <a:ea typeface="Inter"/>
                <a:cs typeface="Inter"/>
                <a:sym typeface="Inter"/>
              </a:rPr>
              <a:t>✓</a:t>
            </a:r>
            <a:endParaRPr b="1" sz="5000">
              <a:solidFill>
                <a:srgbClr val="10B981"/>
              </a:solidFill>
              <a:latin typeface="Inter"/>
              <a:ea typeface="Inter"/>
              <a:cs typeface="Inter"/>
              <a:sym typeface="Inter"/>
            </a:endParaRPr>
          </a:p>
        </p:txBody>
      </p:sp>
      <p:sp>
        <p:nvSpPr>
          <p:cNvPr id="118" name="Google Shape;118;p15"/>
          <p:cNvSpPr txBox="1"/>
          <p:nvPr/>
        </p:nvSpPr>
        <p:spPr>
          <a:xfrm>
            <a:off x="10477500" y="4381500"/>
            <a:ext cx="5524500" cy="455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960">
                <a:solidFill>
                  <a:srgbClr val="0A0915"/>
                </a:solidFill>
                <a:latin typeface="Inter"/>
                <a:ea typeface="Inter"/>
                <a:cs typeface="Inter"/>
                <a:sym typeface="Inter"/>
              </a:rPr>
              <a:t>Sesión ejecutiva de una hora</a:t>
            </a:r>
            <a:endParaRPr b="1" sz="2960">
              <a:solidFill>
                <a:srgbClr val="0A0915"/>
              </a:solidFill>
              <a:latin typeface="Inter"/>
              <a:ea typeface="Inter"/>
              <a:cs typeface="Inter"/>
              <a:sym typeface="Inter"/>
            </a:endParaRPr>
          </a:p>
        </p:txBody>
      </p:sp>
      <p:sp>
        <p:nvSpPr>
          <p:cNvPr id="119" name="Google Shape;119;p15"/>
          <p:cNvSpPr txBox="1"/>
          <p:nvPr/>
        </p:nvSpPr>
        <p:spPr>
          <a:xfrm>
            <a:off x="10477500" y="5334000"/>
            <a:ext cx="5524500" cy="1462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2000">
                <a:solidFill>
                  <a:srgbClr val="10B981"/>
                </a:solidFill>
                <a:latin typeface="Inter"/>
                <a:ea typeface="Inter"/>
                <a:cs typeface="Inter"/>
                <a:sym typeface="Inter"/>
              </a:rPr>
              <a:t>•</a:t>
            </a:r>
            <a:r>
              <a:rPr b="0" lang="en-US" sz="2000">
                <a:solidFill>
                  <a:srgbClr val="065F46"/>
                </a:solidFill>
                <a:latin typeface="Inter"/>
                <a:ea typeface="Inter"/>
                <a:cs typeface="Inter"/>
                <a:sym typeface="Inter"/>
              </a:rPr>
              <a:t> Definir qué valor genera el proyecto.</a:t>
            </a:r>
            <a:endParaRPr b="0" sz="2000">
              <a:solidFill>
                <a:srgbClr val="065F46"/>
              </a:solidFill>
              <a:latin typeface="Inter"/>
              <a:ea typeface="Inter"/>
              <a:cs typeface="Inter"/>
              <a:sym typeface="Inter"/>
            </a:endParaRPr>
          </a:p>
          <a:p>
            <a:pPr indent="0" lvl="0" marL="0" rtl="0" algn="l">
              <a:spcBef>
                <a:spcPts val="900"/>
              </a:spcBef>
              <a:spcAft>
                <a:spcPts val="0"/>
              </a:spcAft>
              <a:buNone/>
            </a:pPr>
            <a:r>
              <a:rPr b="0" lang="en-US" sz="2000">
                <a:solidFill>
                  <a:srgbClr val="10B981"/>
                </a:solidFill>
                <a:latin typeface="Inter"/>
                <a:ea typeface="Inter"/>
                <a:cs typeface="Inter"/>
                <a:sym typeface="Inter"/>
              </a:rPr>
              <a:t>•</a:t>
            </a:r>
            <a:r>
              <a:rPr b="0" lang="en-US" sz="2000">
                <a:solidFill>
                  <a:srgbClr val="065F46"/>
                </a:solidFill>
                <a:latin typeface="Inter"/>
                <a:ea typeface="Inter"/>
                <a:cs typeface="Inter"/>
                <a:sym typeface="Inter"/>
              </a:rPr>
              <a:t> Identificar qué métricas clave comunicar.</a:t>
            </a:r>
            <a:endParaRPr b="0" sz="2000">
              <a:solidFill>
                <a:srgbClr val="065F46"/>
              </a:solidFill>
              <a:latin typeface="Inter"/>
              <a:ea typeface="Inter"/>
              <a:cs typeface="Inter"/>
              <a:sym typeface="Inter"/>
            </a:endParaRPr>
          </a:p>
          <a:p>
            <a:pPr indent="0" lvl="0" marL="0" rtl="0" algn="l">
              <a:spcBef>
                <a:spcPts val="900"/>
              </a:spcBef>
              <a:spcAft>
                <a:spcPts val="0"/>
              </a:spcAft>
              <a:buNone/>
            </a:pPr>
            <a:r>
              <a:rPr b="0" lang="en-US" sz="2000">
                <a:solidFill>
                  <a:srgbClr val="10B981"/>
                </a:solidFill>
                <a:latin typeface="Inter"/>
                <a:ea typeface="Inter"/>
                <a:cs typeface="Inter"/>
                <a:sym typeface="Inter"/>
              </a:rPr>
              <a:t>•</a:t>
            </a:r>
            <a:r>
              <a:rPr b="0" lang="en-US" sz="2000">
                <a:solidFill>
                  <a:srgbClr val="065F46"/>
                </a:solidFill>
                <a:latin typeface="Inter"/>
                <a:ea typeface="Inter"/>
                <a:cs typeface="Inter"/>
                <a:sym typeface="Inter"/>
              </a:rPr>
              <a:t> </a:t>
            </a:r>
            <a:r>
              <a:rPr b="1" lang="en-US" sz="2000">
                <a:solidFill>
                  <a:srgbClr val="065F46"/>
                </a:solidFill>
                <a:latin typeface="Inter"/>
                <a:ea typeface="Inter"/>
                <a:cs typeface="Inter"/>
                <a:sym typeface="Inter"/>
              </a:rPr>
              <a:t>Preparar respuestas ante preguntas difíciles.</a:t>
            </a:r>
            <a:endParaRPr b="0" sz="2000">
              <a:solidFill>
                <a:srgbClr val="065F46"/>
              </a:solidFill>
              <a:latin typeface="Inter"/>
              <a:ea typeface="Inter"/>
              <a:cs typeface="Inter"/>
              <a:sym typeface="Inter"/>
            </a:endParaRPr>
          </a:p>
        </p:txBody>
      </p:sp>
      <p:sp>
        <p:nvSpPr>
          <p:cNvPr id="120" name="Google Shape;120;p15"/>
          <p:cNvSpPr txBox="1"/>
          <p:nvPr/>
        </p:nvSpPr>
        <p:spPr>
          <a:xfrm>
            <a:off x="1371600" y="8763000"/>
            <a:ext cx="15544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888888"/>
                </a:solidFill>
                <a:latin typeface="Inter"/>
                <a:ea typeface="Inter"/>
                <a:cs typeface="Inter"/>
                <a:sym typeface="Inter"/>
              </a:rPr>
              <a:t>Un discurso sólido protege la reputación institucional en el momento más crítico.</a:t>
            </a:r>
            <a:endParaRPr b="0" sz="1800">
              <a:solidFill>
                <a:srgbClr val="888888"/>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6"/>
          <p:cNvSpPr/>
          <p:nvPr/>
        </p:nvSpPr>
        <p:spPr>
          <a:xfrm>
            <a:off x="0" y="0"/>
            <a:ext cx="18288000" cy="228600"/>
          </a:xfrm>
          <a:prstGeom prst="rect">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1371600" y="762000"/>
            <a:ext cx="15544800" cy="1204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2400">
                <a:solidFill>
                  <a:srgbClr val="059669"/>
                </a:solidFill>
                <a:latin typeface="Inter"/>
                <a:ea typeface="Inter"/>
                <a:cs typeface="Inter"/>
                <a:sym typeface="Inter"/>
              </a:rPr>
              <a:t>Error 3</a:t>
            </a:r>
            <a:endParaRPr b="1" i="0" sz="2400">
              <a:solidFill>
                <a:srgbClr val="059669"/>
              </a:solidFill>
              <a:latin typeface="Inter"/>
              <a:ea typeface="Inter"/>
              <a:cs typeface="Inter"/>
              <a:sym typeface="Inter"/>
            </a:endParaRPr>
          </a:p>
          <a:p>
            <a:pPr indent="0" lvl="0" marL="0" rtl="0" algn="ctr">
              <a:spcBef>
                <a:spcPts val="750"/>
              </a:spcBef>
              <a:spcAft>
                <a:spcPts val="0"/>
              </a:spcAft>
              <a:buNone/>
            </a:pPr>
            <a:r>
              <a:rPr b="1" i="0" lang="en-US" sz="4800">
                <a:solidFill>
                  <a:srgbClr val="0A0915"/>
                </a:solidFill>
                <a:latin typeface="Inter"/>
                <a:ea typeface="Inter"/>
                <a:cs typeface="Inter"/>
                <a:sym typeface="Inter"/>
              </a:rPr>
              <a:t>Soporte sin estructura</a:t>
            </a:r>
            <a:endParaRPr b="1" i="0" sz="2400">
              <a:solidFill>
                <a:srgbClr val="059669"/>
              </a:solidFill>
              <a:latin typeface="Inter"/>
              <a:ea typeface="Inter"/>
              <a:cs typeface="Inter"/>
              <a:sym typeface="Inter"/>
            </a:endParaRPr>
          </a:p>
        </p:txBody>
      </p:sp>
      <p:sp>
        <p:nvSpPr>
          <p:cNvPr id="128" name="Google Shape;128;p16"/>
          <p:cNvSpPr/>
          <p:nvPr/>
        </p:nvSpPr>
        <p:spPr>
          <a:xfrm>
            <a:off x="1714500" y="3048000"/>
            <a:ext cx="6667500" cy="4953000"/>
          </a:xfrm>
          <a:prstGeom prst="roundRect">
            <a:avLst>
              <a:gd fmla="val 7692" name="adj"/>
            </a:avLst>
          </a:prstGeom>
          <a:solidFill>
            <a:srgbClr val="FEF2F2"/>
          </a:solidFill>
          <a:ln cap="flat" cmpd="sng" w="19050">
            <a:solidFill>
              <a:srgbClr val="FEE2E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txBox="1"/>
          <p:nvPr/>
        </p:nvSpPr>
        <p:spPr>
          <a:xfrm>
            <a:off x="2286000" y="3429000"/>
            <a:ext cx="762000" cy="769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5000">
                <a:solidFill>
                  <a:srgbClr val="DC2626"/>
                </a:solidFill>
                <a:latin typeface="Inter"/>
                <a:ea typeface="Inter"/>
                <a:cs typeface="Inter"/>
                <a:sym typeface="Inter"/>
              </a:rPr>
              <a:t>✗</a:t>
            </a:r>
            <a:endParaRPr b="1" i="0" sz="5000">
              <a:solidFill>
                <a:srgbClr val="DC2626"/>
              </a:solidFill>
              <a:latin typeface="Inter"/>
              <a:ea typeface="Inter"/>
              <a:cs typeface="Inter"/>
              <a:sym typeface="Inter"/>
            </a:endParaRPr>
          </a:p>
        </p:txBody>
      </p:sp>
      <p:sp>
        <p:nvSpPr>
          <p:cNvPr id="130" name="Google Shape;130;p16"/>
          <p:cNvSpPr txBox="1"/>
          <p:nvPr/>
        </p:nvSpPr>
        <p:spPr>
          <a:xfrm>
            <a:off x="2286000" y="4381500"/>
            <a:ext cx="5524500" cy="455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2960">
                <a:solidFill>
                  <a:srgbClr val="0A0915"/>
                </a:solidFill>
                <a:latin typeface="Inter"/>
                <a:ea typeface="Inter"/>
                <a:cs typeface="Inter"/>
                <a:sym typeface="Inter"/>
              </a:rPr>
              <a:t>"Vemos cómo lo resolvemos"</a:t>
            </a:r>
            <a:endParaRPr b="1" i="0" sz="2960">
              <a:solidFill>
                <a:srgbClr val="0A0915"/>
              </a:solidFill>
              <a:latin typeface="Inter"/>
              <a:ea typeface="Inter"/>
              <a:cs typeface="Inter"/>
              <a:sym typeface="Inter"/>
            </a:endParaRPr>
          </a:p>
        </p:txBody>
      </p:sp>
      <p:sp>
        <p:nvSpPr>
          <p:cNvPr id="131" name="Google Shape;131;p16"/>
          <p:cNvSpPr txBox="1"/>
          <p:nvPr/>
        </p:nvSpPr>
        <p:spPr>
          <a:xfrm>
            <a:off x="2286000" y="5334000"/>
            <a:ext cx="5524500" cy="1067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2000">
                <a:solidFill>
                  <a:srgbClr val="4B5563"/>
                </a:solidFill>
                <a:latin typeface="Inter"/>
                <a:ea typeface="Inter"/>
                <a:cs typeface="Inter"/>
                <a:sym typeface="Inter"/>
              </a:rPr>
              <a:t>El día 1 entra una avalancha de solicitudes.</a:t>
            </a:r>
            <a:endParaRPr b="0" i="0" sz="2000">
              <a:solidFill>
                <a:srgbClr val="4B5563"/>
              </a:solidFill>
              <a:latin typeface="Inter"/>
              <a:ea typeface="Inter"/>
              <a:cs typeface="Inter"/>
              <a:sym typeface="Inter"/>
            </a:endParaRPr>
          </a:p>
          <a:p>
            <a:pPr indent="0" lvl="0" marL="0" rtl="0" algn="l">
              <a:spcBef>
                <a:spcPts val="1125"/>
              </a:spcBef>
              <a:spcAft>
                <a:spcPts val="1125"/>
              </a:spcAft>
              <a:buNone/>
            </a:pPr>
            <a:r>
              <a:rPr b="1" i="0" lang="en-US" sz="2000">
                <a:solidFill>
                  <a:srgbClr val="DC2626"/>
                </a:solidFill>
                <a:latin typeface="Inter"/>
                <a:ea typeface="Inter"/>
                <a:cs typeface="Inter"/>
                <a:sym typeface="Inter"/>
              </a:rPr>
              <a:t>Consecuencia:</a:t>
            </a:r>
            <a:r>
              <a:rPr b="0" i="0" lang="en-US" sz="2000">
                <a:solidFill>
                  <a:srgbClr val="4B5563"/>
                </a:solidFill>
                <a:latin typeface="Inter"/>
                <a:ea typeface="Inter"/>
                <a:cs typeface="Inter"/>
                <a:sym typeface="Inter"/>
              </a:rPr>
              <a:t> Nadie sabe a quién escalar y el soporte colapsa.</a:t>
            </a:r>
            <a:endParaRPr b="0" i="0" sz="2000">
              <a:solidFill>
                <a:srgbClr val="4B5563"/>
              </a:solidFill>
              <a:latin typeface="Inter"/>
              <a:ea typeface="Inter"/>
              <a:cs typeface="Inter"/>
              <a:sym typeface="Inter"/>
            </a:endParaRPr>
          </a:p>
        </p:txBody>
      </p:sp>
      <p:sp>
        <p:nvSpPr>
          <p:cNvPr id="132" name="Google Shape;132;p16"/>
          <p:cNvSpPr/>
          <p:nvPr/>
        </p:nvSpPr>
        <p:spPr>
          <a:xfrm>
            <a:off x="9906000" y="3048000"/>
            <a:ext cx="6667500" cy="4953000"/>
          </a:xfrm>
          <a:prstGeom prst="roundRect">
            <a:avLst>
              <a:gd fmla="val 7692" name="adj"/>
            </a:avLst>
          </a:prstGeom>
          <a:solidFill>
            <a:srgbClr val="ECFDF5"/>
          </a:solidFill>
          <a:ln cap="flat" cmpd="sng" w="19050">
            <a:solidFill>
              <a:srgbClr val="A7F3D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10477500" y="3429000"/>
            <a:ext cx="762000" cy="769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5000">
                <a:solidFill>
                  <a:srgbClr val="10B981"/>
                </a:solidFill>
                <a:latin typeface="Inter"/>
                <a:ea typeface="Inter"/>
                <a:cs typeface="Inter"/>
                <a:sym typeface="Inter"/>
              </a:rPr>
              <a:t>✓</a:t>
            </a:r>
            <a:endParaRPr b="1" i="0" sz="5000">
              <a:solidFill>
                <a:srgbClr val="10B981"/>
              </a:solidFill>
              <a:latin typeface="Inter"/>
              <a:ea typeface="Inter"/>
              <a:cs typeface="Inter"/>
              <a:sym typeface="Inter"/>
            </a:endParaRPr>
          </a:p>
        </p:txBody>
      </p:sp>
      <p:sp>
        <p:nvSpPr>
          <p:cNvPr id="134" name="Google Shape;134;p16"/>
          <p:cNvSpPr txBox="1"/>
          <p:nvPr/>
        </p:nvSpPr>
        <p:spPr>
          <a:xfrm>
            <a:off x="10477500" y="4381500"/>
            <a:ext cx="5524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3200">
                <a:solidFill>
                  <a:srgbClr val="0A0915"/>
                </a:solidFill>
                <a:latin typeface="Inter"/>
                <a:ea typeface="Inter"/>
                <a:cs typeface="Inter"/>
                <a:sym typeface="Inter"/>
              </a:rPr>
              <a:t>Niveles definidos antes</a:t>
            </a:r>
            <a:endParaRPr b="1" i="0" sz="3200">
              <a:solidFill>
                <a:srgbClr val="0A0915"/>
              </a:solidFill>
              <a:latin typeface="Inter"/>
              <a:ea typeface="Inter"/>
              <a:cs typeface="Inter"/>
              <a:sym typeface="Inter"/>
            </a:endParaRPr>
          </a:p>
        </p:txBody>
      </p:sp>
      <p:sp>
        <p:nvSpPr>
          <p:cNvPr id="135" name="Google Shape;135;p16"/>
          <p:cNvSpPr txBox="1"/>
          <p:nvPr/>
        </p:nvSpPr>
        <p:spPr>
          <a:xfrm>
            <a:off x="10477500" y="5334000"/>
            <a:ext cx="5524500" cy="1154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2000">
                <a:solidFill>
                  <a:srgbClr val="065F46"/>
                </a:solidFill>
                <a:latin typeface="Inter"/>
                <a:ea typeface="Inter"/>
                <a:cs typeface="Inter"/>
                <a:sym typeface="Inter"/>
              </a:rPr>
              <a:t>• Usar el </a:t>
            </a:r>
            <a:r>
              <a:rPr b="1" i="0" lang="en-US" sz="2000">
                <a:solidFill>
                  <a:srgbClr val="065F46"/>
                </a:solidFill>
                <a:latin typeface="Inter"/>
                <a:ea typeface="Inter"/>
                <a:cs typeface="Inter"/>
                <a:sym typeface="Inter"/>
              </a:rPr>
              <a:t>Template del Kit</a:t>
            </a:r>
            <a:r>
              <a:rPr b="0" i="0" lang="en-US" sz="2000">
                <a:solidFill>
                  <a:srgbClr val="065F46"/>
                </a:solidFill>
                <a:latin typeface="Inter"/>
                <a:ea typeface="Inter"/>
                <a:cs typeface="Inter"/>
                <a:sym typeface="Inter"/>
              </a:rPr>
              <a:t> estándar.</a:t>
            </a:r>
            <a:endParaRPr b="0" i="0" sz="2000">
              <a:solidFill>
                <a:srgbClr val="065F46"/>
              </a:solidFill>
              <a:latin typeface="Inter"/>
              <a:ea typeface="Inter"/>
              <a:cs typeface="Inter"/>
              <a:sym typeface="Inter"/>
            </a:endParaRPr>
          </a:p>
          <a:p>
            <a:pPr indent="0" lvl="0" marL="0" rtl="0" algn="l">
              <a:spcBef>
                <a:spcPts val="900"/>
              </a:spcBef>
              <a:spcAft>
                <a:spcPts val="0"/>
              </a:spcAft>
              <a:buNone/>
            </a:pPr>
            <a:r>
              <a:rPr b="0" i="0" lang="en-US" sz="2000">
                <a:solidFill>
                  <a:srgbClr val="065F46"/>
                </a:solidFill>
                <a:latin typeface="Inter"/>
                <a:ea typeface="Inter"/>
                <a:cs typeface="Inter"/>
                <a:sym typeface="Inter"/>
              </a:rPr>
              <a:t>• Proceso </a:t>
            </a:r>
            <a:r>
              <a:rPr b="1" i="0" lang="en-US" sz="2000">
                <a:solidFill>
                  <a:srgbClr val="065F46"/>
                </a:solidFill>
                <a:latin typeface="Inter"/>
                <a:ea typeface="Inter"/>
                <a:cs typeface="Inter"/>
                <a:sym typeface="Inter"/>
              </a:rPr>
              <a:t>ajustado</a:t>
            </a:r>
            <a:r>
              <a:rPr b="0" i="0" lang="en-US" sz="2000">
                <a:solidFill>
                  <a:srgbClr val="065F46"/>
                </a:solidFill>
                <a:latin typeface="Inter"/>
                <a:ea typeface="Inter"/>
                <a:cs typeface="Inter"/>
                <a:sym typeface="Inter"/>
              </a:rPr>
              <a:t> a la realidad local.</a:t>
            </a:r>
            <a:endParaRPr b="0" i="0" sz="2000">
              <a:solidFill>
                <a:srgbClr val="065F46"/>
              </a:solidFill>
              <a:latin typeface="Inter"/>
              <a:ea typeface="Inter"/>
              <a:cs typeface="Inter"/>
              <a:sym typeface="Inter"/>
            </a:endParaRPr>
          </a:p>
          <a:p>
            <a:pPr indent="0" lvl="0" marL="0" rtl="0" algn="l">
              <a:spcBef>
                <a:spcPts val="900"/>
              </a:spcBef>
              <a:spcAft>
                <a:spcPts val="900"/>
              </a:spcAft>
              <a:buNone/>
            </a:pPr>
            <a:r>
              <a:rPr b="0" i="0" lang="en-US" sz="2000">
                <a:solidFill>
                  <a:srgbClr val="065F46"/>
                </a:solidFill>
                <a:latin typeface="Inter"/>
                <a:ea typeface="Inter"/>
                <a:cs typeface="Inter"/>
                <a:sym typeface="Inter"/>
              </a:rPr>
              <a:t>• Protocolo de escalamiento </a:t>
            </a:r>
            <a:r>
              <a:rPr b="1" i="0" lang="en-US" sz="2000">
                <a:solidFill>
                  <a:srgbClr val="065F46"/>
                </a:solidFill>
                <a:latin typeface="Inter"/>
                <a:ea typeface="Inter"/>
                <a:cs typeface="Inter"/>
                <a:sym typeface="Inter"/>
              </a:rPr>
              <a:t>firmado</a:t>
            </a:r>
            <a:r>
              <a:rPr b="0" i="0" lang="en-US" sz="2000">
                <a:solidFill>
                  <a:srgbClr val="065F46"/>
                </a:solidFill>
                <a:latin typeface="Inter"/>
                <a:ea typeface="Inter"/>
                <a:cs typeface="Inter"/>
                <a:sym typeface="Inter"/>
              </a:rPr>
              <a:t>.</a:t>
            </a:r>
            <a:endParaRPr b="0" i="0" sz="2000">
              <a:solidFill>
                <a:srgbClr val="065F46"/>
              </a:solidFill>
              <a:latin typeface="Inter"/>
              <a:ea typeface="Inter"/>
              <a:cs typeface="Inter"/>
              <a:sym typeface="Inter"/>
            </a:endParaRPr>
          </a:p>
        </p:txBody>
      </p:sp>
      <p:sp>
        <p:nvSpPr>
          <p:cNvPr id="136" name="Google Shape;136;p16"/>
          <p:cNvSpPr txBox="1"/>
          <p:nvPr/>
        </p:nvSpPr>
        <p:spPr>
          <a:xfrm>
            <a:off x="1371600" y="8763000"/>
            <a:ext cx="155448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i="0" lang="en-US" sz="1800">
                <a:solidFill>
                  <a:srgbClr val="888888"/>
                </a:solidFill>
                <a:latin typeface="Inter"/>
                <a:ea typeface="Inter"/>
                <a:cs typeface="Inter"/>
                <a:sym typeface="Inter"/>
              </a:rPr>
              <a:t>Sin una matriz de escalamiento clara, el primer problema se convierte en una crisis.</a:t>
            </a:r>
            <a:endParaRPr b="0" i="0" sz="1800">
              <a:solidFill>
                <a:srgbClr val="888888"/>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7"/>
          <p:cNvSpPr/>
          <p:nvPr/>
        </p:nvSpPr>
        <p:spPr>
          <a:xfrm>
            <a:off x="0" y="0"/>
            <a:ext cx="18288000" cy="10287000"/>
          </a:xfrm>
          <a:prstGeom prst="rect">
            <a:avLst/>
          </a:prstGeom>
          <a:solidFill>
            <a:srgbClr val="05966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7"/>
          <p:cNvSpPr txBox="1"/>
          <p:nvPr/>
        </p:nvSpPr>
        <p:spPr>
          <a:xfrm>
            <a:off x="1371600" y="3200400"/>
            <a:ext cx="15544800" cy="13716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Los tres errores se evitan</a:t>
            </a:r>
            <a:endParaRPr/>
          </a:p>
        </p:txBody>
      </p:sp>
      <p:sp>
        <p:nvSpPr>
          <p:cNvPr id="144" name="Google Shape;144;p17"/>
          <p:cNvSpPr txBox="1"/>
          <p:nvPr/>
        </p:nvSpPr>
        <p:spPr>
          <a:xfrm>
            <a:off x="1371600" y="4754880"/>
            <a:ext cx="15544800" cy="1200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con tres reuniones</a:t>
            </a:r>
            <a:endParaRPr/>
          </a:p>
        </p:txBody>
      </p:sp>
      <p:sp>
        <p:nvSpPr>
          <p:cNvPr id="145" name="Google Shape;145;p17"/>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Si no las haces, el lanzamiento te pasa factura.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