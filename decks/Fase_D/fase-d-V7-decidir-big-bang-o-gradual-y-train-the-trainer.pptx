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10287000" cx="18288000"/>
  <p:notesSz cx="6858000" cy="9144000"/>
  <p:embeddedFontLst>
    <p:embeddedFont>
      <p:font typeface="Inter"/>
      <p:regular r:id="rId11"/>
      <p:bold r:id="rId12"/>
      <p:italic r:id="rId13"/>
      <p:boldItalic r:id="rId1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Inter-regular.fntdata"/><Relationship Id="rId10" Type="http://schemas.openxmlformats.org/officeDocument/2006/relationships/slide" Target="slides/slide5.xml"/><Relationship Id="rId13" Type="http://schemas.openxmlformats.org/officeDocument/2006/relationships/font" Target="fonts/Inter-italic.fntdata"/><Relationship Id="rId12" Type="http://schemas.openxmlformats.org/officeDocument/2006/relationships/font" Target="fonts/Inter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font" Target="fonts/Inter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9.6s · 24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Hay tres decisiones de Fase D que vas a tener que tomar con criterio, no con plantilla. Vale la pena pararnos en cada una.</a:t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42.0s · 105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La primera es train the trainer o capacitación directa. La regla práctica: si el gobierno tiene más de diez operadores, no los capacitas tú. Capacitas a dos o tres del equipo core, generalmente los más fuertes técnicamente y los que ya tienen ascendencia sobre el resto, y ellos replican. Funciona porque el conocimiento se queda dentro del gobierno y porque la segunda ola de capacitación va a estar mejor adaptada al lenguaje interno. La trampa es no validar la calidad: tienes que sentarte en al menos una de las capacitaciones replicadas, para confirmar que lo que están enseñando se parece a lo que enseñaste tú.</a:t>
            </a:r>
            <a:endParaRPr/>
          </a:p>
        </p:txBody>
      </p:sp>
      <p:sp>
        <p:nvSpPr>
          <p:cNvPr id="92" name="Google Shape;92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8" name="Google Shape;108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35.6s · 89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La segunda es big bang o gradual. Big bang significa que el día del lanzamiento todos los trámites están disponibles para todos los ciudadanos. Gradual significa que arrancas con un trámite o con una zona acotada, ves cómo se comporta, y vas abriendo. El criterio: si el gobierno tiene poca experiencia digital previa, o si el equipo de soporte está recién armado, vas gradual. Si ya tienen adopción digital, los operadores son experimentados y los trámites son de alto volumen, big bang funciona porque generas un evento comunicacional fuerte.</a:t>
            </a:r>
            <a:endParaRPr/>
          </a:p>
        </p:txBody>
      </p:sp>
      <p:sp>
        <p:nvSpPr>
          <p:cNvPr id="109" name="Google Shape;109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3" name="Google Shape;123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14.8s · 37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La tercera es cuándo involucrar a comunicación. La respuesta corta: ya deberías. Idealmente comunicación está informada desde Fase B, no desde Fase D. Si recién la traes ahora, perdiste tiempo. Hazlo igual, pero anótalo como lección aprendida.</a:t>
            </a:r>
            <a:endParaRPr/>
          </a:p>
        </p:txBody>
      </p:sp>
      <p:sp>
        <p:nvSpPr>
          <p:cNvPr id="124" name="Google Shape;124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0" name="Google Shape;140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9.6s · 24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Las decisiones de Fase D no se toman por intuición. Se toman con criterio explícito, y el criterio se documenta para la próxima implementación.</a:t>
            </a:r>
            <a:endParaRPr/>
          </a:p>
        </p:txBody>
      </p:sp>
      <p:sp>
        <p:nvSpPr>
          <p:cNvPr id="141" name="Google Shape;141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1371600" y="3200400"/>
            <a:ext cx="15544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FASE D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371600" y="3840480"/>
            <a:ext cx="15544800" cy="25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0" u="none" cap="none" strike="noStrike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Tres decisiones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0" u="none" cap="none" strike="noStrike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con criterio, no con plantilla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1371600" y="6517900"/>
            <a:ext cx="155448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888888"/>
                </a:solidFill>
                <a:latin typeface="Inter"/>
                <a:ea typeface="Inter"/>
                <a:cs typeface="Inter"/>
                <a:sym typeface="Inter"/>
              </a:rPr>
              <a:t>Train the trainer, big bang o gradual, y cuándo entra comunicación.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95" name="Google Shape;95;p14"/>
          <p:cNvGrpSpPr/>
          <p:nvPr/>
        </p:nvGrpSpPr>
        <p:grpSpPr>
          <a:xfrm>
            <a:off x="1371600" y="762000"/>
            <a:ext cx="15544800" cy="1714500"/>
            <a:chOff x="1371600" y="762000"/>
            <a:chExt cx="15544800" cy="1714500"/>
          </a:xfrm>
        </p:grpSpPr>
        <p:sp>
          <p:nvSpPr>
            <p:cNvPr id="96" name="Google Shape;96;p14"/>
            <p:cNvSpPr txBox="1"/>
            <p:nvPr/>
          </p:nvSpPr>
          <p:spPr>
            <a:xfrm>
              <a:off x="1371600" y="762000"/>
              <a:ext cx="155448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59669"/>
                  </a:solidFill>
                  <a:latin typeface="Inter"/>
                  <a:ea typeface="Inter"/>
                  <a:cs typeface="Inter"/>
                  <a:sym typeface="Inter"/>
                </a:rPr>
                <a:t>DECISIÓN 1</a:t>
              </a:r>
              <a:endParaRPr b="1" sz="18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97" name="Google Shape;97;p14"/>
            <p:cNvSpPr txBox="1"/>
            <p:nvPr/>
          </p:nvSpPr>
          <p:spPr>
            <a:xfrm>
              <a:off x="1371600" y="1333500"/>
              <a:ext cx="155448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48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Train the trainer o capacitación directa</a:t>
              </a:r>
              <a:endParaRPr b="1" sz="48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98" name="Google Shape;98;p14"/>
          <p:cNvGrpSpPr/>
          <p:nvPr/>
        </p:nvGrpSpPr>
        <p:grpSpPr>
          <a:xfrm>
            <a:off x="1371600" y="3048000"/>
            <a:ext cx="15544800" cy="4572000"/>
            <a:chOff x="1371600" y="3048000"/>
            <a:chExt cx="15544800" cy="4572000"/>
          </a:xfrm>
        </p:grpSpPr>
        <p:sp>
          <p:nvSpPr>
            <p:cNvPr id="99" name="Google Shape;99;p14"/>
            <p:cNvSpPr/>
            <p:nvPr/>
          </p:nvSpPr>
          <p:spPr>
            <a:xfrm>
              <a:off x="1371600" y="3048000"/>
              <a:ext cx="7429500" cy="4572000"/>
            </a:xfrm>
            <a:prstGeom prst="roundRect">
              <a:avLst>
                <a:gd fmla="val 8333" name="adj"/>
              </a:avLst>
            </a:prstGeom>
            <a:solidFill>
              <a:srgbClr val="F8F9F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14"/>
            <p:cNvSpPr txBox="1"/>
            <p:nvPr/>
          </p:nvSpPr>
          <p:spPr>
            <a:xfrm>
              <a:off x="1752600" y="3429000"/>
              <a:ext cx="6667500" cy="381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400">
                  <a:solidFill>
                    <a:srgbClr val="059669"/>
                  </a:solidFill>
                  <a:latin typeface="Inter"/>
                  <a:ea typeface="Inter"/>
                  <a:cs typeface="Inter"/>
                  <a:sym typeface="Inter"/>
                </a:rPr>
                <a:t>Estrategia de Escala</a:t>
              </a:r>
              <a:endParaRPr b="1" sz="24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Más de diez operadores:</a:t>
              </a:r>
              <a:r>
                <a:rPr b="0" lang="en-US" sz="20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 no los capacitas tú directamente. Seleccionas y capacitas a 2 o 3 miembros del equipo core.</a:t>
              </a:r>
              <a:endParaRPr b="0" sz="20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0" lang="en-US" sz="20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Ellos actúan como multiplicadores y replican el conocimiento en el resto de la organización.</a:t>
              </a:r>
              <a:endParaRPr b="0" sz="20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1" name="Google Shape;101;p14"/>
            <p:cNvSpPr/>
            <p:nvPr/>
          </p:nvSpPr>
          <p:spPr>
            <a:xfrm>
              <a:off x="9486900" y="3048000"/>
              <a:ext cx="7429500" cy="4572000"/>
            </a:xfrm>
            <a:prstGeom prst="roundRect">
              <a:avLst>
                <a:gd fmla="val 8333" name="adj"/>
              </a:avLst>
            </a:prstGeom>
            <a:solidFill>
              <a:srgbClr val="05966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4"/>
            <p:cNvSpPr txBox="1"/>
            <p:nvPr/>
          </p:nvSpPr>
          <p:spPr>
            <a:xfrm>
              <a:off x="9867900" y="3429000"/>
              <a:ext cx="6667500" cy="381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4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Control de Calidad</a:t>
              </a:r>
              <a:endParaRPr b="1" sz="24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Evita la trampa:</a:t>
              </a:r>
              <a:r>
                <a:rPr b="0" lang="en-US" sz="20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 delegar no significa desentenderse. El riesgo es perder la fidelidad del proceso.</a:t>
              </a:r>
              <a:endParaRPr b="0" sz="20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0" lang="en-US" sz="20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Debes participar en al menos una capacitación replicada para validar que la calidad se mantiene íntegra.</a:t>
              </a:r>
              <a:endParaRPr b="0" sz="20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3" name="Google Shape;103;p14"/>
          <p:cNvGrpSpPr/>
          <p:nvPr/>
        </p:nvGrpSpPr>
        <p:grpSpPr>
          <a:xfrm>
            <a:off x="0" y="8191500"/>
            <a:ext cx="18288000" cy="1143000"/>
            <a:chOff x="0" y="8191500"/>
            <a:chExt cx="18288000" cy="1143000"/>
          </a:xfrm>
        </p:grpSpPr>
        <p:sp>
          <p:nvSpPr>
            <p:cNvPr id="104" name="Google Shape;104;p14"/>
            <p:cNvSpPr/>
            <p:nvPr/>
          </p:nvSpPr>
          <p:spPr>
            <a:xfrm>
              <a:off x="0" y="8191500"/>
              <a:ext cx="18288000" cy="1143000"/>
            </a:xfrm>
            <a:prstGeom prst="rect">
              <a:avLst/>
            </a:prstGeom>
            <a:solidFill>
              <a:srgbClr val="05966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" name="Google Shape;105;p14"/>
            <p:cNvSpPr txBox="1"/>
            <p:nvPr/>
          </p:nvSpPr>
          <p:spPr>
            <a:xfrm>
              <a:off x="1371600" y="8191500"/>
              <a:ext cx="15544800" cy="1143000"/>
            </a:xfrm>
            <a:prstGeom prst="rect">
              <a:avLst/>
            </a:prstGeom>
            <a:solidFill>
              <a:srgbClr val="05966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"La replicación efectiva requiere validación directa para asegurar el éxito del despliegue."</a:t>
              </a:r>
              <a:endParaRPr sz="1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5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1371600" y="762000"/>
            <a:ext cx="15544800" cy="1112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DECISIÓN 2</a:t>
            </a:r>
            <a:endParaRPr b="1" sz="1800">
              <a:solidFill>
                <a:srgbClr val="05966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1" lang="en-US" sz="48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Big bang o gradual</a:t>
            </a:r>
            <a:endParaRPr b="1" sz="4800">
              <a:solidFill>
                <a:srgbClr val="0A091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3" name="Google Shape;113;p15"/>
          <p:cNvSpPr/>
          <p:nvPr/>
        </p:nvSpPr>
        <p:spPr>
          <a:xfrm>
            <a:off x="1371600" y="2857500"/>
            <a:ext cx="7429500" cy="4953000"/>
          </a:xfrm>
          <a:prstGeom prst="roundRect">
            <a:avLst>
              <a:gd fmla="val 7692" name="adj"/>
            </a:avLst>
          </a:prstGeom>
          <a:solidFill>
            <a:srgbClr val="F8F9F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1752600" y="3238500"/>
            <a:ext cx="6667500" cy="369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888888"/>
                </a:solidFill>
                <a:latin typeface="Inter"/>
                <a:ea typeface="Inter"/>
                <a:cs typeface="Inter"/>
                <a:sym typeface="Inter"/>
              </a:rPr>
              <a:t>Gradual</a:t>
            </a:r>
            <a:endParaRPr b="1" sz="2400">
              <a:solidFill>
                <a:srgbClr val="88888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5" name="Google Shape;115;p15"/>
          <p:cNvSpPr txBox="1"/>
          <p:nvPr/>
        </p:nvSpPr>
        <p:spPr>
          <a:xfrm>
            <a:off x="1752600" y="3905250"/>
            <a:ext cx="6667500" cy="2512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Arrancas con un trámite o una zona acotada.</a:t>
            </a:r>
            <a:endParaRPr b="0" sz="2200">
              <a:solidFill>
                <a:srgbClr val="0A091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1875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Ves cómo se comporta, vas abriendo progresivamente.</a:t>
            </a:r>
            <a:endParaRPr b="0" sz="2200">
              <a:solidFill>
                <a:srgbClr val="0A091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1875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Contexto ideal:</a:t>
            </a:r>
            <a:endParaRPr b="1" sz="2200">
              <a:solidFill>
                <a:srgbClr val="4B5563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Gobierno con poca experiencia digital o soporte recién armado.</a:t>
            </a:r>
            <a:endParaRPr b="0" sz="2200">
              <a:solidFill>
                <a:srgbClr val="4B556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486900" y="2857500"/>
            <a:ext cx="7429500" cy="4953000"/>
          </a:xfrm>
          <a:prstGeom prst="roundRect">
            <a:avLst>
              <a:gd fmla="val 7692" name="adj"/>
            </a:avLst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15"/>
          <p:cNvSpPr txBox="1"/>
          <p:nvPr/>
        </p:nvSpPr>
        <p:spPr>
          <a:xfrm>
            <a:off x="9867900" y="3238500"/>
            <a:ext cx="6667500" cy="369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Big bang</a:t>
            </a:r>
            <a:endParaRPr b="1" sz="24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8" name="Google Shape;118;p15"/>
          <p:cNvSpPr txBox="1"/>
          <p:nvPr/>
        </p:nvSpPr>
        <p:spPr>
          <a:xfrm>
            <a:off x="9867900" y="3905250"/>
            <a:ext cx="6667500" cy="285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Día del lanzamiento, todos los trámites disponibles.</a:t>
            </a:r>
            <a:endParaRPr b="0" sz="22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1875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Genera un evento comunicacional de alto impacto.</a:t>
            </a:r>
            <a:endParaRPr b="0" sz="22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1875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Contexto ideal:</a:t>
            </a:r>
            <a:endParaRPr b="1" sz="22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Adopción digital ya instalada, operadores experimentados y trámites de alto volumen.</a:t>
            </a:r>
            <a:endParaRPr b="0" sz="22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9" name="Google Shape;119;p15"/>
          <p:cNvSpPr/>
          <p:nvPr/>
        </p:nvSpPr>
        <p:spPr>
          <a:xfrm>
            <a:off x="0" y="8382000"/>
            <a:ext cx="18288000" cy="1143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1371600" y="8382000"/>
            <a:ext cx="15544800" cy="1143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"La elección del modelo de despliegue define la velocidad de adopción y el nivel de riesgo gestionado."</a:t>
            </a:r>
            <a:endParaRPr b="0" sz="18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6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16"/>
          <p:cNvSpPr txBox="1"/>
          <p:nvPr/>
        </p:nvSpPr>
        <p:spPr>
          <a:xfrm>
            <a:off x="1371600" y="762000"/>
            <a:ext cx="15544800" cy="27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DECISIÓN 3</a:t>
            </a:r>
            <a:endParaRPr b="1" sz="1800">
              <a:solidFill>
                <a:srgbClr val="05966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8" name="Google Shape;128;p16"/>
          <p:cNvSpPr txBox="1"/>
          <p:nvPr/>
        </p:nvSpPr>
        <p:spPr>
          <a:xfrm>
            <a:off x="1371600" y="1333500"/>
            <a:ext cx="15544800" cy="738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8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¿Cuándo involucrar a comunicación?</a:t>
            </a:r>
            <a:endParaRPr b="1" sz="4800">
              <a:solidFill>
                <a:srgbClr val="0A091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29" name="Google Shape;129;p16"/>
          <p:cNvGrpSpPr/>
          <p:nvPr/>
        </p:nvGrpSpPr>
        <p:grpSpPr>
          <a:xfrm>
            <a:off x="1371600" y="2857500"/>
            <a:ext cx="15544800" cy="4762500"/>
            <a:chOff x="1371600" y="2857500"/>
            <a:chExt cx="15544800" cy="4762500"/>
          </a:xfrm>
        </p:grpSpPr>
        <p:sp>
          <p:nvSpPr>
            <p:cNvPr id="130" name="Google Shape;130;p16"/>
            <p:cNvSpPr/>
            <p:nvPr/>
          </p:nvSpPr>
          <p:spPr>
            <a:xfrm>
              <a:off x="1371600" y="2857500"/>
              <a:ext cx="15544800" cy="4762500"/>
            </a:xfrm>
            <a:prstGeom prst="roundRect">
              <a:avLst>
                <a:gd fmla="val 8000" name="adj"/>
              </a:avLst>
            </a:prstGeom>
            <a:solidFill>
              <a:srgbClr val="F8F9F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" name="Google Shape;131;p16"/>
            <p:cNvSpPr txBox="1"/>
            <p:nvPr/>
          </p:nvSpPr>
          <p:spPr>
            <a:xfrm>
              <a:off x="1752600" y="3238500"/>
              <a:ext cx="14782800" cy="400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200">
                  <a:solidFill>
                    <a:srgbClr val="059669"/>
                  </a:solidFill>
                  <a:latin typeface="Inter"/>
                  <a:ea typeface="Inter"/>
                  <a:cs typeface="Inter"/>
                  <a:sym typeface="Inter"/>
                </a:rPr>
                <a:t>La respuesta corta: ya deberías.</a:t>
              </a:r>
              <a:endParaRPr b="1" sz="32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875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Idealmente, comunicación está informada desde </a:t>
              </a:r>
              <a:r>
                <a:rPr b="1" lang="en-US" sz="28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Fase B</a:t>
              </a:r>
              <a:r>
                <a:rPr b="0" lang="en-US" sz="28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.</a:t>
              </a:r>
              <a:endParaRPr b="0" sz="28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Si recién la traes ahora, perdiste tiempo.</a:t>
              </a:r>
              <a:endParaRPr b="0" sz="28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0" i="1" lang="en-US" sz="2800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rPr>
                <a:t>Hazlo igual, pero anótalo como lección aprendida.</a:t>
              </a:r>
              <a:endParaRPr b="0" i="1" sz="2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32" name="Google Shape;132;p16"/>
          <p:cNvGrpSpPr/>
          <p:nvPr/>
        </p:nvGrpSpPr>
        <p:grpSpPr>
          <a:xfrm>
            <a:off x="15582900" y="3238500"/>
            <a:ext cx="952500" cy="1010920"/>
            <a:chOff x="15582900" y="3238500"/>
            <a:chExt cx="952500" cy="1010920"/>
          </a:xfrm>
        </p:grpSpPr>
        <p:sp>
          <p:nvSpPr>
            <p:cNvPr id="133" name="Google Shape;133;p16"/>
            <p:cNvSpPr/>
            <p:nvPr/>
          </p:nvSpPr>
          <p:spPr>
            <a:xfrm>
              <a:off x="15582900" y="3238500"/>
              <a:ext cx="952500" cy="952500"/>
            </a:xfrm>
            <a:prstGeom prst="roundRect">
              <a:avLst>
                <a:gd fmla="val 50000" name="adj"/>
              </a:avLst>
            </a:prstGeom>
            <a:solidFill>
              <a:srgbClr val="05966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" name="Google Shape;134;p16"/>
            <p:cNvSpPr txBox="1"/>
            <p:nvPr/>
          </p:nvSpPr>
          <p:spPr>
            <a:xfrm>
              <a:off x="15582900" y="3296920"/>
              <a:ext cx="952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00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</a:t>
              </a:r>
              <a:endParaRPr sz="400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</p:grpSp>
      <p:grpSp>
        <p:nvGrpSpPr>
          <p:cNvPr id="135" name="Google Shape;135;p16"/>
          <p:cNvGrpSpPr/>
          <p:nvPr/>
        </p:nvGrpSpPr>
        <p:grpSpPr>
          <a:xfrm>
            <a:off x="0" y="8191500"/>
            <a:ext cx="18288000" cy="1143000"/>
            <a:chOff x="0" y="8191500"/>
            <a:chExt cx="18288000" cy="1143000"/>
          </a:xfrm>
        </p:grpSpPr>
        <p:sp>
          <p:nvSpPr>
            <p:cNvPr id="136" name="Google Shape;136;p16"/>
            <p:cNvSpPr/>
            <p:nvPr/>
          </p:nvSpPr>
          <p:spPr>
            <a:xfrm>
              <a:off x="0" y="8191500"/>
              <a:ext cx="18288000" cy="1143000"/>
            </a:xfrm>
            <a:prstGeom prst="rect">
              <a:avLst/>
            </a:prstGeom>
            <a:solidFill>
              <a:srgbClr val="05966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" name="Google Shape;137;p16"/>
            <p:cNvSpPr txBox="1"/>
            <p:nvPr/>
          </p:nvSpPr>
          <p:spPr>
            <a:xfrm>
              <a:off x="1371600" y="8191500"/>
              <a:ext cx="155448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8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"La comunicación temprana asegura que la narrativa del trámite sea coherente y efectiva desde el primer día."</a:t>
              </a:r>
              <a:endParaRPr b="0" sz="1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7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7"/>
          <p:cNvSpPr txBox="1"/>
          <p:nvPr/>
        </p:nvSpPr>
        <p:spPr>
          <a:xfrm>
            <a:off x="1371600" y="3200400"/>
            <a:ext cx="155448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Las decisiones de Fase D</a:t>
            </a:r>
            <a:endParaRPr/>
          </a:p>
        </p:txBody>
      </p:sp>
      <p:sp>
        <p:nvSpPr>
          <p:cNvPr id="145" name="Google Shape;145;p17"/>
          <p:cNvSpPr txBox="1"/>
          <p:nvPr/>
        </p:nvSpPr>
        <p:spPr>
          <a:xfrm>
            <a:off x="1371600" y="4754880"/>
            <a:ext cx="155448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8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no se toman por intuición.</a:t>
            </a:r>
            <a:endParaRPr/>
          </a:p>
        </p:txBody>
      </p:sp>
      <p:sp>
        <p:nvSpPr>
          <p:cNvPr id="146" name="Google Shape;146;p17"/>
          <p:cNvSpPr txBox="1"/>
          <p:nvPr/>
        </p:nvSpPr>
        <p:spPr>
          <a:xfrm>
            <a:off x="1371600" y="7315200"/>
            <a:ext cx="155448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Se toman con criterio explícito y se documentan.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