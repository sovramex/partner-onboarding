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10287000" cx="18288000"/>
  <p:notesSz cx="6858000" cy="9144000"/>
  <p:embeddedFontLst>
    <p:embeddedFont>
      <p:font typeface="Inter"/>
      <p:regular r:id="rId12"/>
      <p:bold r:id="rId13"/>
      <p:italic r:id="rId14"/>
      <p:boldItalic r:id="rId15"/>
    </p:embeddedFont>
    <p:embeddedFont>
      <p:font typeface="Inter Medium"/>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Inter-bold.fntdata"/><Relationship Id="rId12" Type="http://schemas.openxmlformats.org/officeDocument/2006/relationships/font" Target="fonts/Inter-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Inter-boldItalic.fntdata"/><Relationship Id="rId14" Type="http://schemas.openxmlformats.org/officeDocument/2006/relationships/font" Target="fonts/Inter-italic.fntdata"/><Relationship Id="rId17" Type="http://schemas.openxmlformats.org/officeDocument/2006/relationships/font" Target="fonts/InterMedium-bold.fntdata"/><Relationship Id="rId16" Type="http://schemas.openxmlformats.org/officeDocument/2006/relationships/font" Target="fonts/InterMedium-regular.fntdata"/><Relationship Id="rId5" Type="http://schemas.openxmlformats.org/officeDocument/2006/relationships/notesMaster" Target="notesMasters/notesMaster1.xml"/><Relationship Id="rId19" Type="http://schemas.openxmlformats.org/officeDocument/2006/relationships/font" Target="fonts/InterMedium-boldItalic.fntdata"/><Relationship Id="rId6" Type="http://schemas.openxmlformats.org/officeDocument/2006/relationships/slide" Target="slides/slide1.xml"/><Relationship Id="rId18" Type="http://schemas.openxmlformats.org/officeDocument/2006/relationships/font" Target="fonts/InterMedium-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17.2s · 43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Si no defines el modelo de soporte antes del lanzamiento, todo te llega a ti. Literalmente todo: la duda del ciudadano, el bug, la pregunta política, la solicitud de cambio. Y tú no puedes ser soporte de primera línea de un gobierno entero.</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22.8s · 57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Por eso hay una reunión específica, de una hora, donde se socializa el modelo de soporte. Asisten cuatro personas: el coordinador del lado del gobierno, el dueño del proyecto, el equipo de Nivel 1 del gobierno, y tú como líder partner. Si falta el equipo de Nivel 1 con nombres concretos, no haces la reunión. La reagendas.</a:t>
            </a:r>
            <a:endParaRPr/>
          </a:p>
        </p:txBody>
      </p:sp>
      <p:sp>
        <p:nvSpPr>
          <p:cNvPr id="92" name="Google Shape;92;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 name="Google Shape;105;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19.6s · 49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El modelo tiene tres niveles. Nivel 1 es el gobierno: atienden ciudadanos, resuelven dudas básicas, gestionan expedientes. Nivel 2 eres tú como partner: resuelves casos que el Nivel 1 escala, problemas de configuración, capacitaciones de refuerzo. Nivel 3 es Sovra: bugs de plataforma, problemas de infraestructura, integraciones que fallan.</a:t>
            </a:r>
            <a:endParaRPr/>
          </a:p>
        </p:txBody>
      </p:sp>
      <p:sp>
        <p:nvSpPr>
          <p:cNvPr id="106" name="Google Shape;106;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 name="Google Shape;129;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26.4s · 66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 agenda recorre cinco temas. Presentar los tres niveles y dejar claro qué resuelve cada uno. Repasar los SLAs por severidad, con el documento completo que viene en el Kit como referencia. Definir qué canal se usa para qué nivel, sin ambigüedad. Caminar el proceso de escalación paso a paso, con un ejemplo concreto. Y armar el directorio de contactos con nombres, no con roles abstractos.</a:t>
            </a:r>
            <a:endParaRPr/>
          </a:p>
        </p:txBody>
      </p:sp>
      <p:sp>
        <p:nvSpPr>
          <p:cNvPr id="130" name="Google Shape;130;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0" name="Google Shape;14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21.2s · 53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Los entregables son cuatro. El modelo de soporte firmado o aceptado por el gobierno, no solo presentado. El directorio de contactos completo. El equipo de Nivel 1 del gobierno identificado con nombres. Y los SLAs entendidos por todos, lo cual significa que alguien del gobierno pueda explicártelos a ti sin mirar el documento.</a:t>
            </a:r>
            <a:endParaRPr/>
          </a:p>
        </p:txBody>
      </p:sp>
      <p:sp>
        <p:nvSpPr>
          <p:cNvPr id="141" name="Google Shape;141;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 name="Google Shape;157;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7.6s · 19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El modelo de soporte no es un PDF, es un acuerdo entre tres equipos con nombres y responsabilidades claras.</a:t>
            </a:r>
            <a:endParaRPr/>
          </a:p>
        </p:txBody>
      </p:sp>
      <p:sp>
        <p:nvSpPr>
          <p:cNvPr id="158" name="Google Shape;158;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p:nvPr/>
        </p:nvSpPr>
        <p:spPr>
          <a:xfrm>
            <a:off x="0" y="0"/>
            <a:ext cx="18288000" cy="228600"/>
          </a:xfrm>
          <a:prstGeom prst="rect">
            <a:avLst/>
          </a:prstGeom>
          <a:solidFill>
            <a:srgbClr val="05966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3"/>
          <p:cNvSpPr txBox="1"/>
          <p:nvPr/>
        </p:nvSpPr>
        <p:spPr>
          <a:xfrm>
            <a:off x="1371600" y="3200400"/>
            <a:ext cx="15544800"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800" u="none" cap="none" strike="noStrike">
                <a:solidFill>
                  <a:srgbClr val="059669"/>
                </a:solidFill>
                <a:latin typeface="Inter"/>
                <a:ea typeface="Inter"/>
                <a:cs typeface="Inter"/>
                <a:sym typeface="Inter"/>
              </a:rPr>
              <a:t>FASE D</a:t>
            </a:r>
            <a:endParaRPr/>
          </a:p>
        </p:txBody>
      </p:sp>
      <p:sp>
        <p:nvSpPr>
          <p:cNvPr id="87" name="Google Shape;87;p13"/>
          <p:cNvSpPr txBox="1"/>
          <p:nvPr/>
        </p:nvSpPr>
        <p:spPr>
          <a:xfrm>
            <a:off x="1371600" y="3840480"/>
            <a:ext cx="15544800" cy="2586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8000" u="none" cap="none" strike="noStrike">
                <a:solidFill>
                  <a:srgbClr val="0A0915"/>
                </a:solidFill>
                <a:latin typeface="Inter"/>
                <a:ea typeface="Inter"/>
                <a:cs typeface="Inter"/>
                <a:sym typeface="Inter"/>
              </a:rPr>
              <a:t>Socializar el modelo</a:t>
            </a:r>
            <a:endParaRPr/>
          </a:p>
          <a:p>
            <a:pPr indent="0" lvl="0" marL="0" marR="0" rtl="0" algn="l">
              <a:lnSpc>
                <a:spcPct val="110000"/>
              </a:lnSpc>
              <a:spcBef>
                <a:spcPts val="0"/>
              </a:spcBef>
              <a:spcAft>
                <a:spcPts val="0"/>
              </a:spcAft>
              <a:buNone/>
            </a:pPr>
            <a:r>
              <a:rPr b="1" i="0" lang="en-US" sz="8000" u="none" cap="none" strike="noStrike">
                <a:solidFill>
                  <a:srgbClr val="0A0915"/>
                </a:solidFill>
                <a:latin typeface="Inter"/>
                <a:ea typeface="Inter"/>
                <a:cs typeface="Inter"/>
                <a:sym typeface="Inter"/>
              </a:rPr>
              <a:t>de soporte de tres niveles</a:t>
            </a:r>
            <a:endParaRPr/>
          </a:p>
        </p:txBody>
      </p:sp>
      <p:sp>
        <p:nvSpPr>
          <p:cNvPr id="88" name="Google Shape;88;p13"/>
          <p:cNvSpPr txBox="1"/>
          <p:nvPr/>
        </p:nvSpPr>
        <p:spPr>
          <a:xfrm>
            <a:off x="1274775" y="6517900"/>
            <a:ext cx="15544800" cy="338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2200" u="none" cap="none" strike="noStrike">
                <a:solidFill>
                  <a:srgbClr val="888888"/>
                </a:solidFill>
                <a:latin typeface="Inter"/>
                <a:ea typeface="Inter"/>
                <a:cs typeface="Inter"/>
                <a:sym typeface="Inter"/>
              </a:rPr>
              <a:t>Si no lo defines antes del lanzamiento, todo te llega a ti.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3" name="Shape 93"/>
        <p:cNvGrpSpPr/>
        <p:nvPr/>
      </p:nvGrpSpPr>
      <p:grpSpPr>
        <a:xfrm>
          <a:off x="0" y="0"/>
          <a:ext cx="0" cy="0"/>
          <a:chOff x="0" y="0"/>
          <a:chExt cx="0" cy="0"/>
        </a:xfrm>
      </p:grpSpPr>
      <p:sp>
        <p:nvSpPr>
          <p:cNvPr id="94" name="Google Shape;94;p14"/>
          <p:cNvSpPr/>
          <p:nvPr/>
        </p:nvSpPr>
        <p:spPr>
          <a:xfrm>
            <a:off x="0" y="0"/>
            <a:ext cx="18288000" cy="228600"/>
          </a:xfrm>
          <a:prstGeom prst="rect">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4"/>
          <p:cNvSpPr txBox="1"/>
          <p:nvPr/>
        </p:nvSpPr>
        <p:spPr>
          <a:xfrm>
            <a:off x="1371600" y="762000"/>
            <a:ext cx="3810000" cy="2772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i="0" lang="en-US" sz="1800">
                <a:solidFill>
                  <a:srgbClr val="059669"/>
                </a:solidFill>
                <a:latin typeface="Inter"/>
                <a:ea typeface="Inter"/>
                <a:cs typeface="Inter"/>
                <a:sym typeface="Inter"/>
              </a:rPr>
              <a:t>LA TRAMPA</a:t>
            </a:r>
            <a:endParaRPr b="1" i="0" sz="1800">
              <a:solidFill>
                <a:srgbClr val="059669"/>
              </a:solidFill>
              <a:latin typeface="Inter"/>
              <a:ea typeface="Inter"/>
              <a:cs typeface="Inter"/>
              <a:sym typeface="Inter"/>
            </a:endParaRPr>
          </a:p>
        </p:txBody>
      </p:sp>
      <p:sp>
        <p:nvSpPr>
          <p:cNvPr id="96" name="Google Shape;96;p14"/>
          <p:cNvSpPr txBox="1"/>
          <p:nvPr/>
        </p:nvSpPr>
        <p:spPr>
          <a:xfrm>
            <a:off x="1371600" y="1333500"/>
            <a:ext cx="9525000" cy="2233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4420">
                <a:solidFill>
                  <a:srgbClr val="0A0915"/>
                </a:solidFill>
                <a:latin typeface="Inter"/>
                <a:ea typeface="Inter"/>
                <a:cs typeface="Inter"/>
                <a:sym typeface="Inter"/>
              </a:rPr>
              <a:t>Tú no puedes ser soporte</a:t>
            </a:r>
            <a:endParaRPr b="1" i="0" sz="4420">
              <a:solidFill>
                <a:srgbClr val="0A0915"/>
              </a:solidFill>
              <a:latin typeface="Inter"/>
              <a:ea typeface="Inter"/>
              <a:cs typeface="Inter"/>
              <a:sym typeface="Inter"/>
            </a:endParaRPr>
          </a:p>
          <a:p>
            <a:pPr indent="0" lvl="0" marL="0" rtl="0" algn="l">
              <a:spcBef>
                <a:spcPts val="750"/>
              </a:spcBef>
              <a:spcAft>
                <a:spcPts val="0"/>
              </a:spcAft>
              <a:buNone/>
            </a:pPr>
            <a:r>
              <a:rPr b="1" i="0" lang="en-US" sz="4420">
                <a:solidFill>
                  <a:srgbClr val="0A0915"/>
                </a:solidFill>
                <a:latin typeface="Inter"/>
                <a:ea typeface="Inter"/>
                <a:cs typeface="Inter"/>
                <a:sym typeface="Inter"/>
              </a:rPr>
              <a:t>de primera línea de un</a:t>
            </a:r>
            <a:endParaRPr b="1" i="0" sz="4420">
              <a:solidFill>
                <a:srgbClr val="0A0915"/>
              </a:solidFill>
              <a:latin typeface="Inter"/>
              <a:ea typeface="Inter"/>
              <a:cs typeface="Inter"/>
              <a:sym typeface="Inter"/>
            </a:endParaRPr>
          </a:p>
          <a:p>
            <a:pPr indent="0" lvl="0" marL="0" rtl="0" algn="l">
              <a:spcBef>
                <a:spcPts val="750"/>
              </a:spcBef>
              <a:spcAft>
                <a:spcPts val="0"/>
              </a:spcAft>
              <a:buNone/>
            </a:pPr>
            <a:r>
              <a:rPr b="1" i="0" lang="en-US" sz="4420">
                <a:solidFill>
                  <a:srgbClr val="0A0915"/>
                </a:solidFill>
                <a:latin typeface="Inter"/>
                <a:ea typeface="Inter"/>
                <a:cs typeface="Inter"/>
                <a:sym typeface="Inter"/>
              </a:rPr>
              <a:t>gobierno entero</a:t>
            </a:r>
            <a:endParaRPr b="1" i="0" sz="4420">
              <a:solidFill>
                <a:srgbClr val="0A0915"/>
              </a:solidFill>
              <a:latin typeface="Inter"/>
              <a:ea typeface="Inter"/>
              <a:cs typeface="Inter"/>
              <a:sym typeface="Inter"/>
            </a:endParaRPr>
          </a:p>
        </p:txBody>
      </p:sp>
      <p:sp>
        <p:nvSpPr>
          <p:cNvPr id="97" name="Google Shape;97;p14"/>
          <p:cNvSpPr/>
          <p:nvPr/>
        </p:nvSpPr>
        <p:spPr>
          <a:xfrm>
            <a:off x="1371600" y="4000500"/>
            <a:ext cx="15544800" cy="4000500"/>
          </a:xfrm>
          <a:prstGeom prst="roundRect">
            <a:avLst>
              <a:gd fmla="val 9523" name="adj"/>
            </a:avLst>
          </a:prstGeom>
          <a:solidFill>
            <a:srgbClr val="F9FAFB"/>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98" name="Google Shape;98;p14"/>
          <p:cNvGrpSpPr/>
          <p:nvPr/>
        </p:nvGrpSpPr>
        <p:grpSpPr>
          <a:xfrm>
            <a:off x="1828800" y="4457700"/>
            <a:ext cx="762000" cy="849630"/>
            <a:chOff x="1828800" y="4457700"/>
            <a:chExt cx="762000" cy="849630"/>
          </a:xfrm>
        </p:grpSpPr>
        <p:sp>
          <p:nvSpPr>
            <p:cNvPr id="99" name="Google Shape;99;p14"/>
            <p:cNvSpPr/>
            <p:nvPr/>
          </p:nvSpPr>
          <p:spPr>
            <a:xfrm>
              <a:off x="1828800" y="4457700"/>
              <a:ext cx="7620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 name="Google Shape;100;p14"/>
            <p:cNvSpPr txBox="1"/>
            <p:nvPr/>
          </p:nvSpPr>
          <p:spPr>
            <a:xfrm>
              <a:off x="1828800" y="4545330"/>
              <a:ext cx="7620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4650">
                  <a:solidFill>
                    <a:srgbClr val="EF4444"/>
                  </a:solidFill>
                  <a:latin typeface="Material Icons"/>
                  <a:ea typeface="Material Icons"/>
                  <a:cs typeface="Material Icons"/>
                  <a:sym typeface="Material Icons"/>
                </a:rPr>
                <a:t></a:t>
              </a:r>
              <a:endParaRPr sz="4650">
                <a:solidFill>
                  <a:srgbClr val="EF4444"/>
                </a:solidFill>
                <a:latin typeface="Material Icons"/>
                <a:ea typeface="Material Icons"/>
                <a:cs typeface="Material Icons"/>
                <a:sym typeface="Material Icons"/>
              </a:endParaRPr>
            </a:p>
          </p:txBody>
        </p:sp>
      </p:grpSp>
      <p:sp>
        <p:nvSpPr>
          <p:cNvPr id="101" name="Google Shape;101;p14"/>
          <p:cNvSpPr txBox="1"/>
          <p:nvPr/>
        </p:nvSpPr>
        <p:spPr>
          <a:xfrm>
            <a:off x="2857500" y="4457700"/>
            <a:ext cx="13335000" cy="2674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i="0" lang="en-US" sz="2600">
                <a:solidFill>
                  <a:srgbClr val="1F2937"/>
                </a:solidFill>
                <a:latin typeface="Inter Medium"/>
                <a:ea typeface="Inter Medium"/>
                <a:cs typeface="Inter Medium"/>
                <a:sym typeface="Inter Medium"/>
              </a:rPr>
              <a:t>Sin modelo, te llega literalmente todo:</a:t>
            </a:r>
            <a:endParaRPr b="0" i="0" sz="2600">
              <a:solidFill>
                <a:srgbClr val="1F2937"/>
              </a:solidFill>
              <a:latin typeface="Inter Medium"/>
              <a:ea typeface="Inter Medium"/>
              <a:cs typeface="Inter Medium"/>
              <a:sym typeface="Inter Medium"/>
            </a:endParaRPr>
          </a:p>
          <a:p>
            <a:pPr indent="0" lvl="0" marL="0" rtl="0" algn="l">
              <a:spcBef>
                <a:spcPts val="1875"/>
              </a:spcBef>
              <a:spcAft>
                <a:spcPts val="0"/>
              </a:spcAft>
              <a:buNone/>
            </a:pPr>
            <a:r>
              <a:rPr b="0" i="0" lang="en-US" sz="2600">
                <a:solidFill>
                  <a:srgbClr val="6B7280"/>
                </a:solidFill>
                <a:latin typeface="Inter"/>
                <a:ea typeface="Inter"/>
                <a:cs typeface="Inter"/>
                <a:sym typeface="Inter"/>
              </a:rPr>
              <a:t>• La duda del ciudadano</a:t>
            </a:r>
            <a:endParaRPr b="0" i="0" sz="2600">
              <a:solidFill>
                <a:srgbClr val="1F2937"/>
              </a:solidFill>
              <a:latin typeface="Inter Medium"/>
              <a:ea typeface="Inter Medium"/>
              <a:cs typeface="Inter Medium"/>
              <a:sym typeface="Inter Medium"/>
            </a:endParaRPr>
          </a:p>
          <a:p>
            <a:pPr indent="0" lvl="0" marL="0" rtl="0" algn="l">
              <a:spcBef>
                <a:spcPts val="1125"/>
              </a:spcBef>
              <a:spcAft>
                <a:spcPts val="0"/>
              </a:spcAft>
              <a:buNone/>
            </a:pPr>
            <a:r>
              <a:rPr b="0" i="0" lang="en-US" sz="2600">
                <a:solidFill>
                  <a:srgbClr val="6B7280"/>
                </a:solidFill>
                <a:latin typeface="Inter"/>
                <a:ea typeface="Inter"/>
                <a:cs typeface="Inter"/>
                <a:sym typeface="Inter"/>
              </a:rPr>
              <a:t>• El bug técnico</a:t>
            </a:r>
            <a:endParaRPr b="0" i="0" sz="2600">
              <a:solidFill>
                <a:srgbClr val="1F2937"/>
              </a:solidFill>
              <a:latin typeface="Inter Medium"/>
              <a:ea typeface="Inter Medium"/>
              <a:cs typeface="Inter Medium"/>
              <a:sym typeface="Inter Medium"/>
            </a:endParaRPr>
          </a:p>
          <a:p>
            <a:pPr indent="0" lvl="0" marL="0" rtl="0" algn="l">
              <a:spcBef>
                <a:spcPts val="1125"/>
              </a:spcBef>
              <a:spcAft>
                <a:spcPts val="0"/>
              </a:spcAft>
              <a:buNone/>
            </a:pPr>
            <a:r>
              <a:rPr b="0" i="0" lang="en-US" sz="2600">
                <a:solidFill>
                  <a:srgbClr val="6B7280"/>
                </a:solidFill>
                <a:latin typeface="Inter"/>
                <a:ea typeface="Inter"/>
                <a:cs typeface="Inter"/>
                <a:sym typeface="Inter"/>
              </a:rPr>
              <a:t>• La pregunta política</a:t>
            </a:r>
            <a:endParaRPr b="0" i="0" sz="2600">
              <a:solidFill>
                <a:srgbClr val="1F2937"/>
              </a:solidFill>
              <a:latin typeface="Inter Medium"/>
              <a:ea typeface="Inter Medium"/>
              <a:cs typeface="Inter Medium"/>
              <a:sym typeface="Inter Medium"/>
            </a:endParaRPr>
          </a:p>
          <a:p>
            <a:pPr indent="0" lvl="0" marL="0" rtl="0" algn="l">
              <a:spcBef>
                <a:spcPts val="1125"/>
              </a:spcBef>
              <a:spcAft>
                <a:spcPts val="0"/>
              </a:spcAft>
              <a:buNone/>
            </a:pPr>
            <a:r>
              <a:rPr b="0" i="0" lang="en-US" sz="2600">
                <a:solidFill>
                  <a:srgbClr val="6B7280"/>
                </a:solidFill>
                <a:latin typeface="Inter"/>
                <a:ea typeface="Inter"/>
                <a:cs typeface="Inter"/>
                <a:sym typeface="Inter"/>
              </a:rPr>
              <a:t>• La solicitud de cambio</a:t>
            </a:r>
            <a:endParaRPr b="0" i="0" sz="2600">
              <a:solidFill>
                <a:srgbClr val="1F2937"/>
              </a:solidFill>
              <a:latin typeface="Inter Medium"/>
              <a:ea typeface="Inter Medium"/>
              <a:cs typeface="Inter Medium"/>
              <a:sym typeface="Inter Medium"/>
            </a:endParaRPr>
          </a:p>
        </p:txBody>
      </p:sp>
      <p:sp>
        <p:nvSpPr>
          <p:cNvPr id="102" name="Google Shape;102;p14"/>
          <p:cNvSpPr/>
          <p:nvPr/>
        </p:nvSpPr>
        <p:spPr>
          <a:xfrm>
            <a:off x="1371600" y="3745650"/>
            <a:ext cx="762000" cy="762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5"/>
          <p:cNvSpPr/>
          <p:nvPr/>
        </p:nvSpPr>
        <p:spPr>
          <a:xfrm>
            <a:off x="0" y="0"/>
            <a:ext cx="18288000" cy="228600"/>
          </a:xfrm>
          <a:prstGeom prst="rect">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09" name="Google Shape;109;p15"/>
          <p:cNvGrpSpPr/>
          <p:nvPr/>
        </p:nvGrpSpPr>
        <p:grpSpPr>
          <a:xfrm>
            <a:off x="1371600" y="762000"/>
            <a:ext cx="15544800" cy="1600200"/>
            <a:chOff x="1371600" y="762000"/>
            <a:chExt cx="15544800" cy="1600200"/>
          </a:xfrm>
        </p:grpSpPr>
        <p:sp>
          <p:nvSpPr>
            <p:cNvPr id="110" name="Google Shape;110;p15"/>
            <p:cNvSpPr txBox="1"/>
            <p:nvPr/>
          </p:nvSpPr>
          <p:spPr>
            <a:xfrm>
              <a:off x="1371600" y="762000"/>
              <a:ext cx="155448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4340">
                  <a:solidFill>
                    <a:srgbClr val="0A0915"/>
                  </a:solidFill>
                  <a:latin typeface="Inter"/>
                  <a:ea typeface="Inter"/>
                  <a:cs typeface="Inter"/>
                  <a:sym typeface="Inter"/>
                </a:rPr>
                <a:t>Tres niveles.</a:t>
              </a:r>
              <a:endParaRPr b="1" sz="4340">
                <a:solidFill>
                  <a:srgbClr val="0A0915"/>
                </a:solidFill>
                <a:latin typeface="Inter"/>
                <a:ea typeface="Inter"/>
                <a:cs typeface="Inter"/>
                <a:sym typeface="Inter"/>
              </a:endParaRPr>
            </a:p>
            <a:p>
              <a:pPr indent="0" lvl="0" marL="0" rtl="0" algn="l">
                <a:spcBef>
                  <a:spcPts val="0"/>
                </a:spcBef>
                <a:spcAft>
                  <a:spcPts val="0"/>
                </a:spcAft>
                <a:buNone/>
              </a:pPr>
              <a:r>
                <a:rPr b="1" lang="en-US" sz="4340">
                  <a:solidFill>
                    <a:srgbClr val="059669"/>
                  </a:solidFill>
                  <a:latin typeface="Inter"/>
                  <a:ea typeface="Inter"/>
                  <a:cs typeface="Inter"/>
                  <a:sym typeface="Inter"/>
                </a:rPr>
                <a:t>Una sola lógica</a:t>
              </a:r>
              <a:endParaRPr b="1" sz="4340">
                <a:solidFill>
                  <a:srgbClr val="059669"/>
                </a:solidFill>
                <a:latin typeface="Inter"/>
                <a:ea typeface="Inter"/>
                <a:cs typeface="Inter"/>
                <a:sym typeface="Inter"/>
              </a:endParaRPr>
            </a:p>
          </p:txBody>
        </p:sp>
        <p:sp>
          <p:nvSpPr>
            <p:cNvPr id="111" name="Google Shape;111;p15"/>
            <p:cNvSpPr/>
            <p:nvPr/>
          </p:nvSpPr>
          <p:spPr>
            <a:xfrm>
              <a:off x="1371600" y="2286000"/>
              <a:ext cx="762000" cy="762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12" name="Google Shape;112;p15"/>
          <p:cNvGrpSpPr/>
          <p:nvPr/>
        </p:nvGrpSpPr>
        <p:grpSpPr>
          <a:xfrm>
            <a:off x="1371600" y="3048000"/>
            <a:ext cx="4762500" cy="4000500"/>
            <a:chOff x="1371600" y="3048000"/>
            <a:chExt cx="4762500" cy="4000500"/>
          </a:xfrm>
        </p:grpSpPr>
        <p:sp>
          <p:nvSpPr>
            <p:cNvPr id="113" name="Google Shape;113;p15"/>
            <p:cNvSpPr/>
            <p:nvPr/>
          </p:nvSpPr>
          <p:spPr>
            <a:xfrm>
              <a:off x="1371600" y="3048000"/>
              <a:ext cx="4762500" cy="4000500"/>
            </a:xfrm>
            <a:prstGeom prst="roundRect">
              <a:avLst>
                <a:gd fmla="val 7619" name="adj"/>
              </a:avLst>
            </a:prstGeom>
            <a:solidFill>
              <a:srgbClr val="F9FAFB"/>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 name="Google Shape;114;p15"/>
            <p:cNvSpPr/>
            <p:nvPr/>
          </p:nvSpPr>
          <p:spPr>
            <a:xfrm>
              <a:off x="1371600" y="3048000"/>
              <a:ext cx="4762500" cy="1143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 name="Google Shape;115;p15"/>
            <p:cNvSpPr txBox="1"/>
            <p:nvPr/>
          </p:nvSpPr>
          <p:spPr>
            <a:xfrm>
              <a:off x="1752600" y="3429000"/>
              <a:ext cx="4000500" cy="323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800">
                  <a:solidFill>
                    <a:srgbClr val="059669"/>
                  </a:solidFill>
                  <a:latin typeface="Inter"/>
                  <a:ea typeface="Inter"/>
                  <a:cs typeface="Inter"/>
                  <a:sym typeface="Inter"/>
                </a:rPr>
                <a:t>Nivel 1 — Gobierno</a:t>
              </a:r>
              <a:endParaRPr b="1" sz="2800">
                <a:solidFill>
                  <a:srgbClr val="059669"/>
                </a:solidFill>
                <a:latin typeface="Inter"/>
                <a:ea typeface="Inter"/>
                <a:cs typeface="Inter"/>
                <a:sym typeface="Inter"/>
              </a:endParaRPr>
            </a:p>
            <a:p>
              <a:pPr indent="0" lvl="0" marL="0" rtl="0" algn="l">
                <a:spcBef>
                  <a:spcPts val="1800"/>
                </a:spcBef>
                <a:spcAft>
                  <a:spcPts val="0"/>
                </a:spcAft>
                <a:buNone/>
              </a:pPr>
              <a:r>
                <a:rPr lang="en-US" sz="2400">
                  <a:solidFill>
                    <a:srgbClr val="EF4444"/>
                  </a:solidFill>
                  <a:latin typeface="Material Icons"/>
                  <a:ea typeface="Material Icons"/>
                  <a:cs typeface="Material Icons"/>
                  <a:sym typeface="Material Icons"/>
                </a:rPr>
                <a:t></a:t>
              </a:r>
              <a:endParaRPr sz="2400">
                <a:solidFill>
                  <a:srgbClr val="EF4444"/>
                </a:solidFill>
                <a:latin typeface="Material Icons"/>
                <a:ea typeface="Material Icons"/>
                <a:cs typeface="Material Icons"/>
                <a:sym typeface="Material Icons"/>
              </a:endParaRPr>
            </a:p>
            <a:p>
              <a:pPr indent="0" lvl="0" marL="0" rtl="0" algn="l">
                <a:spcBef>
                  <a:spcPts val="1200"/>
                </a:spcBef>
                <a:spcAft>
                  <a:spcPts val="0"/>
                </a:spcAft>
                <a:buNone/>
              </a:pPr>
              <a:r>
                <a:rPr b="0" lang="en-US" sz="1800">
                  <a:solidFill>
                    <a:srgbClr val="4B5563"/>
                  </a:solidFill>
                  <a:latin typeface="Inter"/>
                  <a:ea typeface="Inter"/>
                  <a:cs typeface="Inter"/>
                  <a:sym typeface="Inter"/>
                </a:rPr>
                <a:t>Atienden ciudadanos.</a:t>
              </a:r>
              <a:endParaRPr b="0" sz="1800">
                <a:solidFill>
                  <a:srgbClr val="4B5563"/>
                </a:solidFill>
                <a:latin typeface="Inter"/>
                <a:ea typeface="Inter"/>
                <a:cs typeface="Inter"/>
                <a:sym typeface="Inter"/>
              </a:endParaRPr>
            </a:p>
            <a:p>
              <a:pPr indent="0" lvl="0" marL="0" rtl="0" algn="l">
                <a:spcBef>
                  <a:spcPts val="600"/>
                </a:spcBef>
                <a:spcAft>
                  <a:spcPts val="0"/>
                </a:spcAft>
                <a:buNone/>
              </a:pPr>
              <a:r>
                <a:rPr b="0" lang="en-US" sz="1800">
                  <a:solidFill>
                    <a:srgbClr val="4B5563"/>
                  </a:solidFill>
                  <a:latin typeface="Inter"/>
                  <a:ea typeface="Inter"/>
                  <a:cs typeface="Inter"/>
                  <a:sym typeface="Inter"/>
                </a:rPr>
                <a:t>Resuelven dudas básicas.</a:t>
              </a:r>
              <a:endParaRPr b="0" sz="1800">
                <a:solidFill>
                  <a:srgbClr val="4B5563"/>
                </a:solidFill>
                <a:latin typeface="Inter"/>
                <a:ea typeface="Inter"/>
                <a:cs typeface="Inter"/>
                <a:sym typeface="Inter"/>
              </a:endParaRPr>
            </a:p>
            <a:p>
              <a:pPr indent="0" lvl="0" marL="0" rtl="0" algn="l">
                <a:spcBef>
                  <a:spcPts val="600"/>
                </a:spcBef>
                <a:spcAft>
                  <a:spcPts val="0"/>
                </a:spcAft>
                <a:buNone/>
              </a:pPr>
              <a:r>
                <a:rPr b="0" lang="en-US" sz="1800">
                  <a:solidFill>
                    <a:srgbClr val="4B5563"/>
                  </a:solidFill>
                  <a:latin typeface="Inter"/>
                  <a:ea typeface="Inter"/>
                  <a:cs typeface="Inter"/>
                  <a:sym typeface="Inter"/>
                </a:rPr>
                <a:t>Gestionan expedientes.</a:t>
              </a:r>
              <a:endParaRPr b="0" sz="1800">
                <a:solidFill>
                  <a:srgbClr val="4B5563"/>
                </a:solidFill>
                <a:latin typeface="Inter"/>
                <a:ea typeface="Inter"/>
                <a:cs typeface="Inter"/>
                <a:sym typeface="Inter"/>
              </a:endParaRPr>
            </a:p>
          </p:txBody>
        </p:sp>
      </p:grpSp>
      <p:grpSp>
        <p:nvGrpSpPr>
          <p:cNvPr id="116" name="Google Shape;116;p15"/>
          <p:cNvGrpSpPr/>
          <p:nvPr/>
        </p:nvGrpSpPr>
        <p:grpSpPr>
          <a:xfrm>
            <a:off x="6762750" y="3048000"/>
            <a:ext cx="4762500" cy="4000500"/>
            <a:chOff x="6762750" y="3048000"/>
            <a:chExt cx="4762500" cy="4000500"/>
          </a:xfrm>
        </p:grpSpPr>
        <p:sp>
          <p:nvSpPr>
            <p:cNvPr id="117" name="Google Shape;117;p15"/>
            <p:cNvSpPr/>
            <p:nvPr/>
          </p:nvSpPr>
          <p:spPr>
            <a:xfrm>
              <a:off x="6762750" y="3048000"/>
              <a:ext cx="4762500" cy="4000500"/>
            </a:xfrm>
            <a:prstGeom prst="roundRect">
              <a:avLst>
                <a:gd fmla="val 7619" name="adj"/>
              </a:avLst>
            </a:prstGeom>
            <a:solidFill>
              <a:srgbClr val="F9FAFB"/>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 name="Google Shape;118;p15"/>
            <p:cNvSpPr/>
            <p:nvPr/>
          </p:nvSpPr>
          <p:spPr>
            <a:xfrm>
              <a:off x="6762750" y="3048000"/>
              <a:ext cx="4762500" cy="1143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15"/>
            <p:cNvSpPr txBox="1"/>
            <p:nvPr/>
          </p:nvSpPr>
          <p:spPr>
            <a:xfrm>
              <a:off x="7143750" y="3429000"/>
              <a:ext cx="4000500" cy="323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800">
                  <a:solidFill>
                    <a:srgbClr val="059669"/>
                  </a:solidFill>
                  <a:latin typeface="Inter"/>
                  <a:ea typeface="Inter"/>
                  <a:cs typeface="Inter"/>
                  <a:sym typeface="Inter"/>
                </a:rPr>
                <a:t>Nivel 2 — Tú (partner)</a:t>
              </a:r>
              <a:endParaRPr b="1" sz="2800">
                <a:solidFill>
                  <a:srgbClr val="059669"/>
                </a:solidFill>
                <a:latin typeface="Inter"/>
                <a:ea typeface="Inter"/>
                <a:cs typeface="Inter"/>
                <a:sym typeface="Inter"/>
              </a:endParaRPr>
            </a:p>
            <a:p>
              <a:pPr indent="0" lvl="0" marL="0" rtl="0" algn="l">
                <a:spcBef>
                  <a:spcPts val="1800"/>
                </a:spcBef>
                <a:spcAft>
                  <a:spcPts val="0"/>
                </a:spcAft>
                <a:buNone/>
              </a:pPr>
              <a:r>
                <a:rPr lang="en-US" sz="2400">
                  <a:solidFill>
                    <a:srgbClr val="3B82F6"/>
                  </a:solidFill>
                  <a:latin typeface="Material Icons"/>
                  <a:ea typeface="Material Icons"/>
                  <a:cs typeface="Material Icons"/>
                  <a:sym typeface="Material Icons"/>
                </a:rPr>
                <a:t></a:t>
              </a:r>
              <a:endParaRPr sz="2400">
                <a:solidFill>
                  <a:srgbClr val="3B82F6"/>
                </a:solidFill>
                <a:latin typeface="Material Icons"/>
                <a:ea typeface="Material Icons"/>
                <a:cs typeface="Material Icons"/>
                <a:sym typeface="Material Icons"/>
              </a:endParaRPr>
            </a:p>
            <a:p>
              <a:pPr indent="0" lvl="0" marL="0" rtl="0" algn="l">
                <a:spcBef>
                  <a:spcPts val="1200"/>
                </a:spcBef>
                <a:spcAft>
                  <a:spcPts val="0"/>
                </a:spcAft>
                <a:buNone/>
              </a:pPr>
              <a:r>
                <a:rPr b="0" lang="en-US" sz="1800">
                  <a:solidFill>
                    <a:srgbClr val="4B5563"/>
                  </a:solidFill>
                  <a:latin typeface="Inter"/>
                  <a:ea typeface="Inter"/>
                  <a:cs typeface="Inter"/>
                  <a:sym typeface="Inter"/>
                </a:rPr>
                <a:t>Casos que el Nivel 1 escala.</a:t>
              </a:r>
              <a:endParaRPr b="0" sz="1800">
                <a:solidFill>
                  <a:srgbClr val="4B5563"/>
                </a:solidFill>
                <a:latin typeface="Inter"/>
                <a:ea typeface="Inter"/>
                <a:cs typeface="Inter"/>
                <a:sym typeface="Inter"/>
              </a:endParaRPr>
            </a:p>
            <a:p>
              <a:pPr indent="0" lvl="0" marL="0" rtl="0" algn="l">
                <a:spcBef>
                  <a:spcPts val="600"/>
                </a:spcBef>
                <a:spcAft>
                  <a:spcPts val="0"/>
                </a:spcAft>
                <a:buNone/>
              </a:pPr>
              <a:r>
                <a:rPr b="0" lang="en-US" sz="1800">
                  <a:solidFill>
                    <a:srgbClr val="4B5563"/>
                  </a:solidFill>
                  <a:latin typeface="Inter"/>
                  <a:ea typeface="Inter"/>
                  <a:cs typeface="Inter"/>
                  <a:sym typeface="Inter"/>
                </a:rPr>
                <a:t>Configuración.</a:t>
              </a:r>
              <a:endParaRPr b="0" sz="1800">
                <a:solidFill>
                  <a:srgbClr val="4B5563"/>
                </a:solidFill>
                <a:latin typeface="Inter"/>
                <a:ea typeface="Inter"/>
                <a:cs typeface="Inter"/>
                <a:sym typeface="Inter"/>
              </a:endParaRPr>
            </a:p>
            <a:p>
              <a:pPr indent="0" lvl="0" marL="0" rtl="0" algn="l">
                <a:spcBef>
                  <a:spcPts val="600"/>
                </a:spcBef>
                <a:spcAft>
                  <a:spcPts val="0"/>
                </a:spcAft>
                <a:buNone/>
              </a:pPr>
              <a:r>
                <a:rPr b="0" lang="en-US" sz="1800">
                  <a:solidFill>
                    <a:srgbClr val="4B5563"/>
                  </a:solidFill>
                  <a:latin typeface="Inter"/>
                  <a:ea typeface="Inter"/>
                  <a:cs typeface="Inter"/>
                  <a:sym typeface="Inter"/>
                </a:rPr>
                <a:t>Capacitaciones de refuerzo.</a:t>
              </a:r>
              <a:endParaRPr b="0" sz="1800">
                <a:solidFill>
                  <a:srgbClr val="4B5563"/>
                </a:solidFill>
                <a:latin typeface="Inter"/>
                <a:ea typeface="Inter"/>
                <a:cs typeface="Inter"/>
                <a:sym typeface="Inter"/>
              </a:endParaRPr>
            </a:p>
          </p:txBody>
        </p:sp>
      </p:grpSp>
      <p:grpSp>
        <p:nvGrpSpPr>
          <p:cNvPr id="120" name="Google Shape;120;p15"/>
          <p:cNvGrpSpPr/>
          <p:nvPr/>
        </p:nvGrpSpPr>
        <p:grpSpPr>
          <a:xfrm>
            <a:off x="12153900" y="3048000"/>
            <a:ext cx="4762500" cy="4000500"/>
            <a:chOff x="12153900" y="3048000"/>
            <a:chExt cx="4762500" cy="4000500"/>
          </a:xfrm>
        </p:grpSpPr>
        <p:sp>
          <p:nvSpPr>
            <p:cNvPr id="121" name="Google Shape;121;p15"/>
            <p:cNvSpPr/>
            <p:nvPr/>
          </p:nvSpPr>
          <p:spPr>
            <a:xfrm>
              <a:off x="12153900" y="3048000"/>
              <a:ext cx="4762500" cy="4000500"/>
            </a:xfrm>
            <a:prstGeom prst="roundRect">
              <a:avLst>
                <a:gd fmla="val 7619" name="adj"/>
              </a:avLst>
            </a:prstGeom>
            <a:solidFill>
              <a:srgbClr val="F9FAFB"/>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 name="Google Shape;122;p15"/>
            <p:cNvSpPr/>
            <p:nvPr/>
          </p:nvSpPr>
          <p:spPr>
            <a:xfrm>
              <a:off x="12153900" y="3048000"/>
              <a:ext cx="4762500" cy="1143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 name="Google Shape;123;p15"/>
            <p:cNvSpPr txBox="1"/>
            <p:nvPr/>
          </p:nvSpPr>
          <p:spPr>
            <a:xfrm>
              <a:off x="12534900" y="3429000"/>
              <a:ext cx="4000500" cy="323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800">
                  <a:solidFill>
                    <a:srgbClr val="059669"/>
                  </a:solidFill>
                  <a:latin typeface="Inter"/>
                  <a:ea typeface="Inter"/>
                  <a:cs typeface="Inter"/>
                  <a:sym typeface="Inter"/>
                </a:rPr>
                <a:t>Nivel 3 — Sovra</a:t>
              </a:r>
              <a:endParaRPr b="1" sz="2800">
                <a:solidFill>
                  <a:srgbClr val="059669"/>
                </a:solidFill>
                <a:latin typeface="Inter"/>
                <a:ea typeface="Inter"/>
                <a:cs typeface="Inter"/>
                <a:sym typeface="Inter"/>
              </a:endParaRPr>
            </a:p>
            <a:p>
              <a:pPr indent="0" lvl="0" marL="0" rtl="0" algn="l">
                <a:spcBef>
                  <a:spcPts val="1800"/>
                </a:spcBef>
                <a:spcAft>
                  <a:spcPts val="0"/>
                </a:spcAft>
                <a:buNone/>
              </a:pPr>
              <a:r>
                <a:rPr lang="en-US" sz="2400">
                  <a:solidFill>
                    <a:srgbClr val="10B981"/>
                  </a:solidFill>
                  <a:latin typeface="Material Icons"/>
                  <a:ea typeface="Material Icons"/>
                  <a:cs typeface="Material Icons"/>
                  <a:sym typeface="Material Icons"/>
                </a:rPr>
                <a:t></a:t>
              </a:r>
              <a:endParaRPr sz="2400">
                <a:solidFill>
                  <a:srgbClr val="10B981"/>
                </a:solidFill>
                <a:latin typeface="Material Icons"/>
                <a:ea typeface="Material Icons"/>
                <a:cs typeface="Material Icons"/>
                <a:sym typeface="Material Icons"/>
              </a:endParaRPr>
            </a:p>
            <a:p>
              <a:pPr indent="0" lvl="0" marL="0" rtl="0" algn="l">
                <a:spcBef>
                  <a:spcPts val="1200"/>
                </a:spcBef>
                <a:spcAft>
                  <a:spcPts val="0"/>
                </a:spcAft>
                <a:buNone/>
              </a:pPr>
              <a:r>
                <a:rPr b="0" lang="en-US" sz="1800">
                  <a:solidFill>
                    <a:srgbClr val="4B5563"/>
                  </a:solidFill>
                  <a:latin typeface="Inter"/>
                  <a:ea typeface="Inter"/>
                  <a:cs typeface="Inter"/>
                  <a:sym typeface="Inter"/>
                </a:rPr>
                <a:t>Bugs de plataforma.</a:t>
              </a:r>
              <a:endParaRPr b="0" sz="1800">
                <a:solidFill>
                  <a:srgbClr val="4B5563"/>
                </a:solidFill>
                <a:latin typeface="Inter"/>
                <a:ea typeface="Inter"/>
                <a:cs typeface="Inter"/>
                <a:sym typeface="Inter"/>
              </a:endParaRPr>
            </a:p>
            <a:p>
              <a:pPr indent="0" lvl="0" marL="0" rtl="0" algn="l">
                <a:spcBef>
                  <a:spcPts val="600"/>
                </a:spcBef>
                <a:spcAft>
                  <a:spcPts val="0"/>
                </a:spcAft>
                <a:buNone/>
              </a:pPr>
              <a:r>
                <a:rPr b="0" lang="en-US" sz="1800">
                  <a:solidFill>
                    <a:srgbClr val="4B5563"/>
                  </a:solidFill>
                  <a:latin typeface="Inter"/>
                  <a:ea typeface="Inter"/>
                  <a:cs typeface="Inter"/>
                  <a:sym typeface="Inter"/>
                </a:rPr>
                <a:t>Infraestructura.</a:t>
              </a:r>
              <a:endParaRPr b="0" sz="1800">
                <a:solidFill>
                  <a:srgbClr val="4B5563"/>
                </a:solidFill>
                <a:latin typeface="Inter"/>
                <a:ea typeface="Inter"/>
                <a:cs typeface="Inter"/>
                <a:sym typeface="Inter"/>
              </a:endParaRPr>
            </a:p>
            <a:p>
              <a:pPr indent="0" lvl="0" marL="0" rtl="0" algn="l">
                <a:spcBef>
                  <a:spcPts val="600"/>
                </a:spcBef>
                <a:spcAft>
                  <a:spcPts val="0"/>
                </a:spcAft>
                <a:buNone/>
              </a:pPr>
              <a:r>
                <a:rPr b="0" lang="en-US" sz="1800">
                  <a:solidFill>
                    <a:srgbClr val="4B5563"/>
                  </a:solidFill>
                  <a:latin typeface="Inter"/>
                  <a:ea typeface="Inter"/>
                  <a:cs typeface="Inter"/>
                  <a:sym typeface="Inter"/>
                </a:rPr>
                <a:t>Integraciones que fallan.</a:t>
              </a:r>
              <a:endParaRPr b="0" sz="1800">
                <a:solidFill>
                  <a:srgbClr val="4B5563"/>
                </a:solidFill>
                <a:latin typeface="Inter"/>
                <a:ea typeface="Inter"/>
                <a:cs typeface="Inter"/>
                <a:sym typeface="Inter"/>
              </a:endParaRPr>
            </a:p>
          </p:txBody>
        </p:sp>
      </p:grpSp>
      <p:grpSp>
        <p:nvGrpSpPr>
          <p:cNvPr id="124" name="Google Shape;124;p15"/>
          <p:cNvGrpSpPr/>
          <p:nvPr/>
        </p:nvGrpSpPr>
        <p:grpSpPr>
          <a:xfrm>
            <a:off x="1371600" y="7810500"/>
            <a:ext cx="15544800" cy="1143000"/>
            <a:chOff x="1371600" y="7810500"/>
            <a:chExt cx="15544800" cy="1143000"/>
          </a:xfrm>
        </p:grpSpPr>
        <p:sp>
          <p:nvSpPr>
            <p:cNvPr id="125" name="Google Shape;125;p15"/>
            <p:cNvSpPr/>
            <p:nvPr/>
          </p:nvSpPr>
          <p:spPr>
            <a:xfrm>
              <a:off x="1371600" y="7810500"/>
              <a:ext cx="15544800" cy="1143000"/>
            </a:xfrm>
            <a:prstGeom prst="roundRect">
              <a:avLst>
                <a:gd fmla="val 16666" name="adj"/>
              </a:avLst>
            </a:prstGeom>
            <a:solidFill>
              <a:srgbClr val="059669">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 name="Google Shape;126;p15"/>
            <p:cNvSpPr txBox="1"/>
            <p:nvPr/>
          </p:nvSpPr>
          <p:spPr>
            <a:xfrm>
              <a:off x="1752600" y="8001000"/>
              <a:ext cx="147828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2000">
                  <a:solidFill>
                    <a:srgbClr val="6B7280"/>
                  </a:solidFill>
                  <a:latin typeface="Inter"/>
                  <a:ea typeface="Inter"/>
                  <a:cs typeface="Inter"/>
                  <a:sym typeface="Inter"/>
                </a:rPr>
                <a:t>Cada nivel tiene responsabilidades claras para garantizar un soporte eficiente y escalable.</a:t>
              </a:r>
              <a:endParaRPr b="0" sz="2000">
                <a:solidFill>
                  <a:srgbClr val="6B7280"/>
                </a:solidFill>
                <a:latin typeface="Inter"/>
                <a:ea typeface="Inter"/>
                <a:cs typeface="Inter"/>
                <a:sym typeface="Inte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6"/>
          <p:cNvSpPr/>
          <p:nvPr/>
        </p:nvSpPr>
        <p:spPr>
          <a:xfrm>
            <a:off x="0" y="0"/>
            <a:ext cx="18288000" cy="228600"/>
          </a:xfrm>
          <a:prstGeom prst="rect">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 name="Google Shape;133;p16"/>
          <p:cNvSpPr/>
          <p:nvPr/>
        </p:nvSpPr>
        <p:spPr>
          <a:xfrm>
            <a:off x="1371600" y="2952750"/>
            <a:ext cx="762000" cy="762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 name="Google Shape;134;p16"/>
          <p:cNvSpPr txBox="1"/>
          <p:nvPr/>
        </p:nvSpPr>
        <p:spPr>
          <a:xfrm>
            <a:off x="1371600" y="952500"/>
            <a:ext cx="15544800" cy="8313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5400">
                <a:solidFill>
                  <a:srgbClr val="0A0915"/>
                </a:solidFill>
                <a:latin typeface="Inter"/>
                <a:ea typeface="Inter"/>
                <a:cs typeface="Inter"/>
                <a:sym typeface="Inter"/>
              </a:rPr>
              <a:t>La reunión de una hora</a:t>
            </a:r>
            <a:endParaRPr b="1" sz="5400">
              <a:solidFill>
                <a:srgbClr val="0A0915"/>
              </a:solidFill>
              <a:latin typeface="Inter"/>
              <a:ea typeface="Inter"/>
              <a:cs typeface="Inter"/>
              <a:sym typeface="Inter"/>
            </a:endParaRPr>
          </a:p>
        </p:txBody>
      </p:sp>
      <p:grpSp>
        <p:nvGrpSpPr>
          <p:cNvPr id="135" name="Google Shape;135;p16"/>
          <p:cNvGrpSpPr/>
          <p:nvPr/>
        </p:nvGrpSpPr>
        <p:grpSpPr>
          <a:xfrm>
            <a:off x="1371600" y="3429000"/>
            <a:ext cx="15544800" cy="5524500"/>
            <a:chOff x="1371600" y="3429000"/>
            <a:chExt cx="15544800" cy="5524500"/>
          </a:xfrm>
        </p:grpSpPr>
        <p:sp>
          <p:nvSpPr>
            <p:cNvPr id="136" name="Google Shape;136;p16"/>
            <p:cNvSpPr/>
            <p:nvPr/>
          </p:nvSpPr>
          <p:spPr>
            <a:xfrm>
              <a:off x="1371600" y="3429000"/>
              <a:ext cx="15544800" cy="5524500"/>
            </a:xfrm>
            <a:prstGeom prst="roundRect">
              <a:avLst>
                <a:gd fmla="val 5517" name="adj"/>
              </a:avLst>
            </a:prstGeom>
            <a:solidFill>
              <a:srgbClr val="F9FAFB"/>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7" name="Google Shape;137;p16"/>
            <p:cNvSpPr txBox="1"/>
            <p:nvPr/>
          </p:nvSpPr>
          <p:spPr>
            <a:xfrm>
              <a:off x="1752600" y="3810000"/>
              <a:ext cx="14782800" cy="476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000">
                  <a:solidFill>
                    <a:srgbClr val="059669"/>
                  </a:solidFill>
                  <a:latin typeface="Inter"/>
                  <a:ea typeface="Inter"/>
                  <a:cs typeface="Inter"/>
                  <a:sym typeface="Inter"/>
                </a:rPr>
                <a:t>Participantes Clave</a:t>
              </a:r>
              <a:endParaRPr b="1" sz="2000">
                <a:solidFill>
                  <a:srgbClr val="059669"/>
                </a:solidFill>
                <a:latin typeface="Inter"/>
                <a:ea typeface="Inter"/>
                <a:cs typeface="Inter"/>
                <a:sym typeface="Inter"/>
              </a:endParaRPr>
            </a:p>
            <a:p>
              <a:pPr indent="0" lvl="0" marL="0" rtl="0" algn="l">
                <a:spcBef>
                  <a:spcPts val="750"/>
                </a:spcBef>
                <a:spcAft>
                  <a:spcPts val="0"/>
                </a:spcAft>
                <a:buNone/>
              </a:pPr>
              <a:r>
                <a:rPr b="0" lang="en-US" sz="2400">
                  <a:solidFill>
                    <a:srgbClr val="1F2937"/>
                  </a:solidFill>
                  <a:latin typeface="Inter Medium"/>
                  <a:ea typeface="Inter Medium"/>
                  <a:cs typeface="Inter Medium"/>
                  <a:sym typeface="Inter Medium"/>
                </a:rPr>
                <a:t>Asisten cuatro: coordinador, dueño del proyecto, equipo de Nivel 1, tú.</a:t>
              </a:r>
              <a:endParaRPr b="0" sz="2400">
                <a:solidFill>
                  <a:srgbClr val="1F2937"/>
                </a:solidFill>
                <a:latin typeface="Inter Medium"/>
                <a:ea typeface="Inter Medium"/>
                <a:cs typeface="Inter Medium"/>
                <a:sym typeface="Inter Medium"/>
              </a:endParaRPr>
            </a:p>
            <a:p>
              <a:pPr indent="0" lvl="0" marL="0" rtl="0" algn="l">
                <a:spcBef>
                  <a:spcPts val="2250"/>
                </a:spcBef>
                <a:spcAft>
                  <a:spcPts val="0"/>
                </a:spcAft>
                <a:buNone/>
              </a:pPr>
              <a:r>
                <a:rPr lang="en-US" sz="2800">
                  <a:solidFill>
                    <a:srgbClr val="059669"/>
                  </a:solidFill>
                  <a:latin typeface="Material Icons"/>
                  <a:ea typeface="Material Icons"/>
                  <a:cs typeface="Material Icons"/>
                  <a:sym typeface="Material Icons"/>
                </a:rPr>
                <a:t></a:t>
              </a:r>
              <a:r>
                <a:rPr lang="en-US">
                  <a:latin typeface="Inter"/>
                  <a:ea typeface="Inter"/>
                  <a:cs typeface="Inter"/>
                  <a:sym typeface="Inter"/>
                </a:rPr>
                <a:t> </a:t>
              </a:r>
              <a:r>
                <a:rPr b="0" lang="en-US" sz="2200">
                  <a:solidFill>
                    <a:srgbClr val="4B5563"/>
                  </a:solidFill>
                  <a:latin typeface="Inter"/>
                  <a:ea typeface="Inter"/>
                  <a:cs typeface="Inter"/>
                  <a:sym typeface="Inter"/>
                </a:rPr>
                <a:t>Si falta el equipo de Nivel 1 con nombres concretos, </a:t>
              </a:r>
              <a:r>
                <a:rPr b="1" lang="en-US" sz="2200">
                  <a:solidFill>
                    <a:srgbClr val="EF4444"/>
                  </a:solidFill>
                  <a:latin typeface="Inter"/>
                  <a:ea typeface="Inter"/>
                  <a:cs typeface="Inter"/>
                  <a:sym typeface="Inter"/>
                </a:rPr>
                <a:t>no haces la reunión</a:t>
              </a:r>
              <a:r>
                <a:rPr b="0" lang="en-US" sz="2200">
                  <a:solidFill>
                    <a:srgbClr val="4B5563"/>
                  </a:solidFill>
                  <a:latin typeface="Inter"/>
                  <a:ea typeface="Inter"/>
                  <a:cs typeface="Inter"/>
                  <a:sym typeface="Inter"/>
                </a:rPr>
                <a:t>. La reagendas.</a:t>
              </a:r>
              <a:endParaRPr>
                <a:latin typeface="Inter"/>
                <a:ea typeface="Inter"/>
                <a:cs typeface="Inter"/>
                <a:sym typeface="Inter"/>
              </a:endParaRPr>
            </a:p>
            <a:p>
              <a:pPr indent="0" lvl="0" marL="0" rtl="0" algn="l">
                <a:spcBef>
                  <a:spcPts val="1800"/>
                </a:spcBef>
                <a:spcAft>
                  <a:spcPts val="0"/>
                </a:spcAft>
                <a:buNone/>
              </a:pPr>
              <a:r>
                <a:rPr lang="en-US" sz="2800">
                  <a:solidFill>
                    <a:srgbClr val="059669"/>
                  </a:solidFill>
                  <a:latin typeface="Material Icons"/>
                  <a:ea typeface="Material Icons"/>
                  <a:cs typeface="Material Icons"/>
                  <a:sym typeface="Material Icons"/>
                </a:rPr>
                <a:t></a:t>
              </a:r>
              <a:r>
                <a:rPr lang="en-US">
                  <a:latin typeface="Inter"/>
                  <a:ea typeface="Inter"/>
                  <a:cs typeface="Inter"/>
                  <a:sym typeface="Inter"/>
                </a:rPr>
                <a:t> </a:t>
              </a:r>
              <a:r>
                <a:rPr b="0" lang="en-US" sz="2200">
                  <a:solidFill>
                    <a:srgbClr val="4B5563"/>
                  </a:solidFill>
                  <a:latin typeface="Inter"/>
                  <a:ea typeface="Inter"/>
                  <a:cs typeface="Inter"/>
                  <a:sym typeface="Inter"/>
                </a:rPr>
                <a:t>Presentas los tres niveles y qué resuelve cada uno.</a:t>
              </a:r>
              <a:endParaRPr>
                <a:latin typeface="Inter"/>
                <a:ea typeface="Inter"/>
                <a:cs typeface="Inter"/>
                <a:sym typeface="Inter"/>
              </a:endParaRPr>
            </a:p>
            <a:p>
              <a:pPr indent="0" lvl="0" marL="0" rtl="0" algn="l">
                <a:spcBef>
                  <a:spcPts val="1800"/>
                </a:spcBef>
                <a:spcAft>
                  <a:spcPts val="0"/>
                </a:spcAft>
                <a:buNone/>
              </a:pPr>
              <a:r>
                <a:rPr lang="en-US" sz="2800">
                  <a:solidFill>
                    <a:srgbClr val="059669"/>
                  </a:solidFill>
                  <a:latin typeface="Material Icons"/>
                  <a:ea typeface="Material Icons"/>
                  <a:cs typeface="Material Icons"/>
                  <a:sym typeface="Material Icons"/>
                </a:rPr>
                <a:t></a:t>
              </a:r>
              <a:r>
                <a:rPr lang="en-US">
                  <a:latin typeface="Inter"/>
                  <a:ea typeface="Inter"/>
                  <a:cs typeface="Inter"/>
                  <a:sym typeface="Inter"/>
                </a:rPr>
                <a:t> </a:t>
              </a:r>
              <a:r>
                <a:rPr b="0" lang="en-US" sz="2200">
                  <a:solidFill>
                    <a:srgbClr val="4B5563"/>
                  </a:solidFill>
                  <a:latin typeface="Inter"/>
                  <a:ea typeface="Inter"/>
                  <a:cs typeface="Inter"/>
                  <a:sym typeface="Inter"/>
                </a:rPr>
                <a:t>Repasas SLAs por severidad — el documento completo está en el Kit.</a:t>
              </a:r>
              <a:endParaRPr>
                <a:latin typeface="Inter"/>
                <a:ea typeface="Inter"/>
                <a:cs typeface="Inter"/>
                <a:sym typeface="Inter"/>
              </a:endParaRPr>
            </a:p>
            <a:p>
              <a:pPr indent="0" lvl="0" marL="0" rtl="0" algn="l">
                <a:spcBef>
                  <a:spcPts val="1800"/>
                </a:spcBef>
                <a:spcAft>
                  <a:spcPts val="0"/>
                </a:spcAft>
                <a:buNone/>
              </a:pPr>
              <a:r>
                <a:rPr lang="en-US" sz="2800">
                  <a:solidFill>
                    <a:srgbClr val="059669"/>
                  </a:solidFill>
                  <a:latin typeface="Material Icons"/>
                  <a:ea typeface="Material Icons"/>
                  <a:cs typeface="Material Icons"/>
                  <a:sym typeface="Material Icons"/>
                </a:rPr>
                <a:t></a:t>
              </a:r>
              <a:r>
                <a:rPr lang="en-US">
                  <a:latin typeface="Inter"/>
                  <a:ea typeface="Inter"/>
                  <a:cs typeface="Inter"/>
                  <a:sym typeface="Inter"/>
                </a:rPr>
                <a:t> </a:t>
              </a:r>
              <a:r>
                <a:rPr b="0" lang="en-US" sz="2200">
                  <a:solidFill>
                    <a:srgbClr val="4B5563"/>
                  </a:solidFill>
                  <a:latin typeface="Inter"/>
                  <a:ea typeface="Inter"/>
                  <a:cs typeface="Inter"/>
                  <a:sym typeface="Inter"/>
                </a:rPr>
                <a:t>Defines qué canal se usa para qué nivel, sin ambigüedad.</a:t>
              </a:r>
              <a:endParaRPr>
                <a:latin typeface="Inter"/>
                <a:ea typeface="Inter"/>
                <a:cs typeface="Inter"/>
                <a:sym typeface="Inter"/>
              </a:endParaRPr>
            </a:p>
            <a:p>
              <a:pPr indent="0" lvl="0" marL="0" rtl="0" algn="l">
                <a:spcBef>
                  <a:spcPts val="1800"/>
                </a:spcBef>
                <a:spcAft>
                  <a:spcPts val="0"/>
                </a:spcAft>
                <a:buNone/>
              </a:pPr>
              <a:r>
                <a:rPr lang="en-US" sz="2800">
                  <a:solidFill>
                    <a:srgbClr val="059669"/>
                  </a:solidFill>
                  <a:latin typeface="Material Icons"/>
                  <a:ea typeface="Material Icons"/>
                  <a:cs typeface="Material Icons"/>
                  <a:sym typeface="Material Icons"/>
                </a:rPr>
                <a:t></a:t>
              </a:r>
              <a:r>
                <a:rPr lang="en-US">
                  <a:latin typeface="Inter"/>
                  <a:ea typeface="Inter"/>
                  <a:cs typeface="Inter"/>
                  <a:sym typeface="Inter"/>
                </a:rPr>
                <a:t> </a:t>
              </a:r>
              <a:r>
                <a:rPr b="0" lang="en-US" sz="2200">
                  <a:solidFill>
                    <a:srgbClr val="4B5563"/>
                  </a:solidFill>
                  <a:latin typeface="Inter"/>
                  <a:ea typeface="Inter"/>
                  <a:cs typeface="Inter"/>
                  <a:sym typeface="Inter"/>
                </a:rPr>
                <a:t>Caminas la escalación con un ejemplo concreto y armas el directorio con nombres.</a:t>
              </a:r>
              <a:endParaRPr>
                <a:latin typeface="Inter"/>
                <a:ea typeface="Inter"/>
                <a:cs typeface="Inter"/>
                <a:sym typeface="Inte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p17"/>
          <p:cNvPicPr preferRelativeResize="0"/>
          <p:nvPr/>
        </p:nvPicPr>
        <p:blipFill rotWithShape="1">
          <a:blip r:embed="rId3">
            <a:alphaModFix/>
          </a:blip>
          <a:srcRect b="0" l="0" r="0" t="0"/>
          <a:stretch/>
        </p:blipFill>
        <p:spPr>
          <a:xfrm>
            <a:off x="0" y="0"/>
            <a:ext cx="9144000" cy="228600"/>
          </a:xfrm>
          <a:prstGeom prst="rect">
            <a:avLst/>
          </a:prstGeom>
          <a:noFill/>
          <a:ln>
            <a:noFill/>
          </a:ln>
        </p:spPr>
      </p:pic>
      <p:sp>
        <p:nvSpPr>
          <p:cNvPr id="144" name="Google Shape;144;p17"/>
          <p:cNvSpPr/>
          <p:nvPr/>
        </p:nvSpPr>
        <p:spPr>
          <a:xfrm>
            <a:off x="1371600" y="2571750"/>
            <a:ext cx="762000" cy="762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17"/>
          <p:cNvSpPr txBox="1"/>
          <p:nvPr/>
        </p:nvSpPr>
        <p:spPr>
          <a:xfrm>
            <a:off x="1371600" y="952500"/>
            <a:ext cx="15544800" cy="8313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5400">
                <a:solidFill>
                  <a:srgbClr val="0A0915"/>
                </a:solidFill>
                <a:latin typeface="Inter"/>
                <a:ea typeface="Inter"/>
                <a:cs typeface="Inter"/>
                <a:sym typeface="Inter"/>
              </a:rPr>
              <a:t>Entregables de la reunión</a:t>
            </a:r>
            <a:endParaRPr b="1" sz="5400">
              <a:solidFill>
                <a:srgbClr val="0A0915"/>
              </a:solidFill>
              <a:latin typeface="Inter"/>
              <a:ea typeface="Inter"/>
              <a:cs typeface="Inter"/>
              <a:sym typeface="Inter"/>
            </a:endParaRPr>
          </a:p>
        </p:txBody>
      </p:sp>
      <p:grpSp>
        <p:nvGrpSpPr>
          <p:cNvPr id="146" name="Google Shape;146;p17"/>
          <p:cNvGrpSpPr/>
          <p:nvPr/>
        </p:nvGrpSpPr>
        <p:grpSpPr>
          <a:xfrm>
            <a:off x="1371600" y="3238500"/>
            <a:ext cx="15544800" cy="4857750"/>
            <a:chOff x="1371600" y="3238500"/>
            <a:chExt cx="15544800" cy="4857750"/>
          </a:xfrm>
        </p:grpSpPr>
        <p:sp>
          <p:nvSpPr>
            <p:cNvPr id="147" name="Google Shape;147;p17"/>
            <p:cNvSpPr/>
            <p:nvPr/>
          </p:nvSpPr>
          <p:spPr>
            <a:xfrm>
              <a:off x="1371600" y="3238500"/>
              <a:ext cx="7620000" cy="2286000"/>
            </a:xfrm>
            <a:prstGeom prst="roundRect">
              <a:avLst>
                <a:gd fmla="val 10000" name="adj"/>
              </a:avLst>
            </a:prstGeom>
            <a:solidFill>
              <a:srgbClr val="F9FAFB"/>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 name="Google Shape;148;p17"/>
            <p:cNvSpPr txBox="1"/>
            <p:nvPr/>
          </p:nvSpPr>
          <p:spPr>
            <a:xfrm>
              <a:off x="1752600" y="3476625"/>
              <a:ext cx="6858000" cy="180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200">
                  <a:solidFill>
                    <a:srgbClr val="059669"/>
                  </a:solidFill>
                  <a:latin typeface="Material Icons"/>
                  <a:ea typeface="Material Icons"/>
                  <a:cs typeface="Material Icons"/>
                  <a:sym typeface="Material Icons"/>
                </a:rPr>
                <a:t></a:t>
              </a:r>
              <a:r>
                <a:rPr b="1" lang="en-US" sz="2800">
                  <a:solidFill>
                    <a:srgbClr val="059669"/>
                  </a:solidFill>
                  <a:latin typeface="Inter"/>
                  <a:ea typeface="Inter"/>
                  <a:cs typeface="Inter"/>
                  <a:sym typeface="Inter"/>
                </a:rPr>
                <a:t> Modelo Formal</a:t>
              </a:r>
              <a:endParaRPr b="1" sz="2800">
                <a:solidFill>
                  <a:srgbClr val="059669"/>
                </a:solidFill>
                <a:latin typeface="Inter"/>
                <a:ea typeface="Inter"/>
                <a:cs typeface="Inter"/>
                <a:sym typeface="Inter"/>
              </a:endParaRPr>
            </a:p>
            <a:p>
              <a:pPr indent="0" lvl="0" marL="0" rtl="0" algn="l">
                <a:spcBef>
                  <a:spcPts val="1125"/>
                </a:spcBef>
                <a:spcAft>
                  <a:spcPts val="0"/>
                </a:spcAft>
                <a:buNone/>
              </a:pPr>
              <a:r>
                <a:rPr b="0" lang="en-US" sz="2200">
                  <a:solidFill>
                    <a:srgbClr val="4B5563"/>
                  </a:solidFill>
                  <a:latin typeface="Inter"/>
                  <a:ea typeface="Inter"/>
                  <a:cs typeface="Inter"/>
                  <a:sym typeface="Inter"/>
                </a:rPr>
                <a:t>Modelo de soporte firmado o aceptado — no solo presentado.</a:t>
              </a:r>
              <a:endParaRPr b="0" sz="2200">
                <a:solidFill>
                  <a:srgbClr val="4B5563"/>
                </a:solidFill>
                <a:latin typeface="Inter"/>
                <a:ea typeface="Inter"/>
                <a:cs typeface="Inter"/>
                <a:sym typeface="Inter"/>
              </a:endParaRPr>
            </a:p>
          </p:txBody>
        </p:sp>
        <p:sp>
          <p:nvSpPr>
            <p:cNvPr id="149" name="Google Shape;149;p17"/>
            <p:cNvSpPr/>
            <p:nvPr/>
          </p:nvSpPr>
          <p:spPr>
            <a:xfrm>
              <a:off x="9296400" y="3238500"/>
              <a:ext cx="7620000" cy="2286000"/>
            </a:xfrm>
            <a:prstGeom prst="roundRect">
              <a:avLst>
                <a:gd fmla="val 10000" name="adj"/>
              </a:avLst>
            </a:prstGeom>
            <a:solidFill>
              <a:srgbClr val="F9FAFB"/>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 name="Google Shape;150;p17"/>
            <p:cNvSpPr txBox="1"/>
            <p:nvPr/>
          </p:nvSpPr>
          <p:spPr>
            <a:xfrm>
              <a:off x="9677400" y="3476625"/>
              <a:ext cx="6858000" cy="180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200">
                  <a:solidFill>
                    <a:srgbClr val="059669"/>
                  </a:solidFill>
                  <a:latin typeface="Material Icons"/>
                  <a:ea typeface="Material Icons"/>
                  <a:cs typeface="Material Icons"/>
                  <a:sym typeface="Material Icons"/>
                </a:rPr>
                <a:t></a:t>
              </a:r>
              <a:r>
                <a:rPr b="1" lang="en-US" sz="2800">
                  <a:solidFill>
                    <a:srgbClr val="059669"/>
                  </a:solidFill>
                  <a:latin typeface="Inter"/>
                  <a:ea typeface="Inter"/>
                  <a:cs typeface="Inter"/>
                  <a:sym typeface="Inter"/>
                </a:rPr>
                <a:t> Directorio</a:t>
              </a:r>
              <a:endParaRPr b="1" sz="2800">
                <a:solidFill>
                  <a:srgbClr val="059669"/>
                </a:solidFill>
                <a:latin typeface="Inter"/>
                <a:ea typeface="Inter"/>
                <a:cs typeface="Inter"/>
                <a:sym typeface="Inter"/>
              </a:endParaRPr>
            </a:p>
            <a:p>
              <a:pPr indent="0" lvl="0" marL="0" rtl="0" algn="l">
                <a:spcBef>
                  <a:spcPts val="1125"/>
                </a:spcBef>
                <a:spcAft>
                  <a:spcPts val="0"/>
                </a:spcAft>
                <a:buNone/>
              </a:pPr>
              <a:r>
                <a:rPr b="0" lang="en-US" sz="2200">
                  <a:solidFill>
                    <a:srgbClr val="4B5563"/>
                  </a:solidFill>
                  <a:latin typeface="Inter"/>
                  <a:ea typeface="Inter"/>
                  <a:cs typeface="Inter"/>
                  <a:sym typeface="Inter"/>
                </a:rPr>
                <a:t>Directorio de contactos completo y operativo.</a:t>
              </a:r>
              <a:endParaRPr b="0" sz="2200">
                <a:solidFill>
                  <a:srgbClr val="4B5563"/>
                </a:solidFill>
                <a:latin typeface="Inter"/>
                <a:ea typeface="Inter"/>
                <a:cs typeface="Inter"/>
                <a:sym typeface="Inter"/>
              </a:endParaRPr>
            </a:p>
          </p:txBody>
        </p:sp>
        <p:sp>
          <p:nvSpPr>
            <p:cNvPr id="151" name="Google Shape;151;p17"/>
            <p:cNvSpPr/>
            <p:nvPr/>
          </p:nvSpPr>
          <p:spPr>
            <a:xfrm>
              <a:off x="1371600" y="5810250"/>
              <a:ext cx="7620000" cy="2286000"/>
            </a:xfrm>
            <a:prstGeom prst="roundRect">
              <a:avLst>
                <a:gd fmla="val 10000" name="adj"/>
              </a:avLst>
            </a:prstGeom>
            <a:solidFill>
              <a:srgbClr val="F9FAFB"/>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2" name="Google Shape;152;p17"/>
            <p:cNvSpPr txBox="1"/>
            <p:nvPr/>
          </p:nvSpPr>
          <p:spPr>
            <a:xfrm>
              <a:off x="1752600" y="6048375"/>
              <a:ext cx="6858000" cy="180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200">
                  <a:solidFill>
                    <a:srgbClr val="059669"/>
                  </a:solidFill>
                  <a:latin typeface="Material Icons"/>
                  <a:ea typeface="Material Icons"/>
                  <a:cs typeface="Material Icons"/>
                  <a:sym typeface="Material Icons"/>
                </a:rPr>
                <a:t></a:t>
              </a:r>
              <a:r>
                <a:rPr b="1" lang="en-US" sz="2800">
                  <a:solidFill>
                    <a:srgbClr val="059669"/>
                  </a:solidFill>
                  <a:latin typeface="Inter"/>
                  <a:ea typeface="Inter"/>
                  <a:cs typeface="Inter"/>
                  <a:sym typeface="Inter"/>
                </a:rPr>
                <a:t> Equipo Nivel 1</a:t>
              </a:r>
              <a:endParaRPr b="1" sz="2800">
                <a:solidFill>
                  <a:srgbClr val="059669"/>
                </a:solidFill>
                <a:latin typeface="Inter"/>
                <a:ea typeface="Inter"/>
                <a:cs typeface="Inter"/>
                <a:sym typeface="Inter"/>
              </a:endParaRPr>
            </a:p>
            <a:p>
              <a:pPr indent="0" lvl="0" marL="0" rtl="0" algn="l">
                <a:spcBef>
                  <a:spcPts val="1125"/>
                </a:spcBef>
                <a:spcAft>
                  <a:spcPts val="0"/>
                </a:spcAft>
                <a:buNone/>
              </a:pPr>
              <a:r>
                <a:rPr b="0" lang="en-US" sz="2200">
                  <a:solidFill>
                    <a:srgbClr val="4B5563"/>
                  </a:solidFill>
                  <a:latin typeface="Inter"/>
                  <a:ea typeface="Inter"/>
                  <a:cs typeface="Inter"/>
                  <a:sym typeface="Inter"/>
                </a:rPr>
                <a:t>Equipo de Nivel 1 plenamente identificado con nombres.</a:t>
              </a:r>
              <a:endParaRPr b="0" sz="2200">
                <a:solidFill>
                  <a:srgbClr val="4B5563"/>
                </a:solidFill>
                <a:latin typeface="Inter"/>
                <a:ea typeface="Inter"/>
                <a:cs typeface="Inter"/>
                <a:sym typeface="Inter"/>
              </a:endParaRPr>
            </a:p>
          </p:txBody>
        </p:sp>
        <p:sp>
          <p:nvSpPr>
            <p:cNvPr id="153" name="Google Shape;153;p17"/>
            <p:cNvSpPr/>
            <p:nvPr/>
          </p:nvSpPr>
          <p:spPr>
            <a:xfrm>
              <a:off x="9296400" y="5810250"/>
              <a:ext cx="7620000" cy="2286000"/>
            </a:xfrm>
            <a:prstGeom prst="roundRect">
              <a:avLst>
                <a:gd fmla="val 10000" name="adj"/>
              </a:avLst>
            </a:prstGeom>
            <a:solidFill>
              <a:srgbClr val="F9FAFB"/>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4" name="Google Shape;154;p17"/>
            <p:cNvSpPr txBox="1"/>
            <p:nvPr/>
          </p:nvSpPr>
          <p:spPr>
            <a:xfrm>
              <a:off x="9677400" y="6048375"/>
              <a:ext cx="6858000" cy="180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200">
                  <a:solidFill>
                    <a:srgbClr val="059669"/>
                  </a:solidFill>
                  <a:latin typeface="Material Icons"/>
                  <a:ea typeface="Material Icons"/>
                  <a:cs typeface="Material Icons"/>
                  <a:sym typeface="Material Icons"/>
                </a:rPr>
                <a:t></a:t>
              </a:r>
              <a:r>
                <a:rPr b="1" lang="en-US" sz="2800">
                  <a:solidFill>
                    <a:srgbClr val="059669"/>
                  </a:solidFill>
                  <a:latin typeface="Inter"/>
                  <a:ea typeface="Inter"/>
                  <a:cs typeface="Inter"/>
                  <a:sym typeface="Inter"/>
                </a:rPr>
                <a:t> SLAs Dominados</a:t>
              </a:r>
              <a:endParaRPr b="1" sz="2800">
                <a:solidFill>
                  <a:srgbClr val="059669"/>
                </a:solidFill>
                <a:latin typeface="Inter"/>
                <a:ea typeface="Inter"/>
                <a:cs typeface="Inter"/>
                <a:sym typeface="Inter"/>
              </a:endParaRPr>
            </a:p>
            <a:p>
              <a:pPr indent="0" lvl="0" marL="0" rtl="0" algn="l">
                <a:spcBef>
                  <a:spcPts val="1125"/>
                </a:spcBef>
                <a:spcAft>
                  <a:spcPts val="0"/>
                </a:spcAft>
                <a:buNone/>
              </a:pPr>
              <a:r>
                <a:rPr b="0" lang="en-US" sz="2200">
                  <a:solidFill>
                    <a:srgbClr val="4B5563"/>
                  </a:solidFill>
                  <a:latin typeface="Inter"/>
                  <a:ea typeface="Inter"/>
                  <a:cs typeface="Inter"/>
                  <a:sym typeface="Inter"/>
                </a:rPr>
                <a:t>Entendidos: el gobierno los explica sin mirar el documento.</a:t>
              </a:r>
              <a:endParaRPr b="0" sz="2200">
                <a:solidFill>
                  <a:srgbClr val="4B5563"/>
                </a:solidFill>
                <a:latin typeface="Inter"/>
                <a:ea typeface="Inter"/>
                <a:cs typeface="Inter"/>
                <a:sym typeface="Inte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8"/>
          <p:cNvSpPr/>
          <p:nvPr/>
        </p:nvSpPr>
        <p:spPr>
          <a:xfrm>
            <a:off x="0" y="0"/>
            <a:ext cx="18288000" cy="10287000"/>
          </a:xfrm>
          <a:prstGeom prst="rect">
            <a:avLst/>
          </a:prstGeom>
          <a:solidFill>
            <a:srgbClr val="05966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1" name="Google Shape;161;p18"/>
          <p:cNvSpPr txBox="1"/>
          <p:nvPr/>
        </p:nvSpPr>
        <p:spPr>
          <a:xfrm>
            <a:off x="1371600" y="3200400"/>
            <a:ext cx="15544800" cy="6465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n-US" sz="4200" u="none" cap="none" strike="noStrike">
                <a:solidFill>
                  <a:srgbClr val="FFFFFF"/>
                </a:solidFill>
                <a:latin typeface="Inter"/>
                <a:ea typeface="Inter"/>
                <a:cs typeface="Inter"/>
                <a:sym typeface="Inter"/>
              </a:rPr>
              <a:t>El modelo de soporte no es un PDF</a:t>
            </a:r>
            <a:endParaRPr/>
          </a:p>
        </p:txBody>
      </p:sp>
      <p:sp>
        <p:nvSpPr>
          <p:cNvPr id="162" name="Google Shape;162;p18"/>
          <p:cNvSpPr txBox="1"/>
          <p:nvPr/>
        </p:nvSpPr>
        <p:spPr>
          <a:xfrm>
            <a:off x="1371600" y="4000505"/>
            <a:ext cx="15544800" cy="25212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7800" u="none" cap="none" strike="noStrike">
                <a:solidFill>
                  <a:srgbClr val="FFFFFF"/>
                </a:solidFill>
                <a:latin typeface="Inter"/>
                <a:ea typeface="Inter"/>
                <a:cs typeface="Inter"/>
                <a:sym typeface="Inter"/>
              </a:rPr>
              <a:t>Es un acuerdo entre tres equipos</a:t>
            </a:r>
            <a:endParaRPr/>
          </a:p>
        </p:txBody>
      </p:sp>
      <p:sp>
        <p:nvSpPr>
          <p:cNvPr id="163" name="Google Shape;163;p18"/>
          <p:cNvSpPr txBox="1"/>
          <p:nvPr/>
        </p:nvSpPr>
        <p:spPr>
          <a:xfrm>
            <a:off x="1371600" y="6675300"/>
            <a:ext cx="15544800" cy="4617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n-US" sz="3000" u="none" cap="none" strike="noStrike">
                <a:solidFill>
                  <a:srgbClr val="FFFFFF"/>
                </a:solidFill>
                <a:latin typeface="Inter"/>
                <a:ea typeface="Inter"/>
                <a:cs typeface="Inter"/>
                <a:sym typeface="Inter"/>
              </a:rPr>
              <a:t>con nombres y responsabilidades claras.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