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17.2s · 43 palabras]</a:t>
            </a:r>
          </a:p>
          <a:p/>
          <a:p>
            <a:r>
              <a:t>Si no defines el modelo de soporte antes del lanzamiento, todo te llega a ti. Literalmente todo: la duda del ciudadano, el bug, la pregunta política, la solicitud de cambio. Y tú no puedes ser soporte de primera línea de un gobierno entero.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22.8s · 57 palabras]</a:t>
            </a:r>
          </a:p>
          <a:p/>
          <a:p>
            <a:r>
              <a:t>Por eso hay una reunión específica, de una hora, donde se socializa el modelo de soporte. Asisten cuatro personas: el coordinador del lado del gobierno, el dueño del proyecto, el equipo de Nivel 1 del gobierno, y tú como líder partner. Si falta el equipo de Nivel 1 con nombres concretos, no haces la reunión. La reagendas.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19.6s · 49 palabras]</a:t>
            </a:r>
          </a:p>
          <a:p/>
          <a:p>
            <a:r>
              <a:t>El modelo tiene tres niveles. Nivel 1 es el gobierno: atienden ciudadanos, resuelven dudas básicas, gestionan expedientes. Nivel 2 eres tú como partner: resuelves casos que el Nivel 1 escala, problemas de configuración, capacitaciones de refuerzo. Nivel 3 es Sovra: bugs de plataforma, problemas de infraestructura, integraciones que fallan.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26.4s · 66 palabras]</a:t>
            </a:r>
          </a:p>
          <a:p/>
          <a:p>
            <a:r>
              <a:t>La agenda recorre cinco temas. Presentar los tres niveles y dejar claro qué resuelve cada uno. Repasar los SLAs por severidad, con el documento completo que viene en el Kit como referencia. Definir qué canal se usa para qué nivel, sin ambigüedad. Caminar el proceso de escalación paso a paso, con un ejemplo concreto. Y armar el directorio de contactos con nombres, no con roles abstractos.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21.2s · 53 palabras]</a:t>
            </a:r>
          </a:p>
          <a:p/>
          <a:p>
            <a:r>
              <a:t>Los entregables son cuatro. El modelo de soporte firmado o aceptado por el gobierno, no solo presentado. El directorio de contactos completo. El equipo de Nivel 1 del gobierno identificado con nombres. Y los SLAs entendidos por todos, lo cual significa que alguien del gobierno pueda explicártelos a ti sin mirar el documento.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7.6s · 19 palabras]</a:t>
            </a:r>
          </a:p>
          <a:p/>
          <a:p>
            <a:r>
              <a:t>El modelo de soporte no es un PDF, es un acuerdo entre tres equipos con nombres y responsabilidades claras.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59669"/>
                </a:solidFill>
                <a:latin typeface="Figtree"/>
              </a:rPr>
              <a:t>FASE D</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Socializar el modelo</a:t>
            </a:r>
          </a:p>
          <a:p>
            <a:pPr algn="l">
              <a:lnSpc>
                <a:spcPct val="110000"/>
              </a:lnSpc>
            </a:pPr>
            <a:r>
              <a:rPr sz="8000" b="1" i="0">
                <a:solidFill>
                  <a:srgbClr val="0A0915"/>
                </a:solidFill>
                <a:latin typeface="Plus Jakarta Sans"/>
              </a:rPr>
              <a:t>de soporte de tres niveles.</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Si no lo defines antes del lanzamiento, todo te llega a ti.</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59669"/>
                </a:solidFill>
                <a:latin typeface="Figtree"/>
              </a:rPr>
              <a:t>La trampa</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Tú no puedes ser soporte</a:t>
            </a:r>
          </a:p>
          <a:p>
            <a:pPr algn="ctr">
              <a:lnSpc>
                <a:spcPct val="115000"/>
              </a:lnSpc>
            </a:pPr>
            <a:r>
              <a:rPr sz="5600" b="1" i="0">
                <a:solidFill>
                  <a:srgbClr val="0A0915"/>
                </a:solidFill>
                <a:latin typeface="Plus Jakarta Sans"/>
              </a:rPr>
              <a:t>de primera línea de un gobierno entero.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Sin modelo, te llega literalmente todo: la duda del ciudadano, el bug, la pregunta política, la solicitud de cambio.</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097280"/>
            <a:ext cx="15544800" cy="1371600"/>
          </a:xfrm>
          <a:prstGeom prst="rect">
            <a:avLst/>
          </a:prstGeom>
          <a:noFill/>
        </p:spPr>
        <p:txBody>
          <a:bodyPr wrap="square" anchor="t" lIns="0" rIns="0" tIns="0" bIns="0">
            <a:spAutoFit/>
          </a:bodyPr>
          <a:lstStyle/>
          <a:p>
            <a:pPr algn="ctr">
              <a:lnSpc>
                <a:spcPct val="115000"/>
              </a:lnSpc>
            </a:pPr>
            <a:r>
              <a:rPr sz="4400" b="1" i="0">
                <a:solidFill>
                  <a:srgbClr val="0A0915"/>
                </a:solidFill>
                <a:latin typeface="Plus Jakarta Sans"/>
              </a:rPr>
              <a:t>Tres niveles.</a:t>
            </a:r>
          </a:p>
          <a:p>
            <a:pPr algn="ctr">
              <a:lnSpc>
                <a:spcPct val="115000"/>
              </a:lnSpc>
            </a:pPr>
            <a:r>
              <a:rPr sz="4400" b="1" i="0">
                <a:solidFill>
                  <a:srgbClr val="0A0915"/>
                </a:solidFill>
                <a:latin typeface="Plus Jakarta Sans"/>
              </a:rPr>
              <a:t>Una sola lógica.</a:t>
            </a:r>
          </a:p>
        </p:txBody>
      </p:sp>
      <p:sp>
        <p:nvSpPr>
          <p:cNvPr id="3" name="Rounded Rectangle 2"/>
          <p:cNvSpPr/>
          <p:nvPr/>
        </p:nvSpPr>
        <p:spPr>
          <a:xfrm>
            <a:off x="11430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3000" y="4572000"/>
            <a:ext cx="5029200" cy="1371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5120640"/>
            <a:ext cx="4297680" cy="1097280"/>
          </a:xfrm>
          <a:prstGeom prst="rect">
            <a:avLst/>
          </a:prstGeom>
          <a:noFill/>
        </p:spPr>
        <p:txBody>
          <a:bodyPr wrap="square" anchor="t" lIns="0" rIns="0" tIns="0" bIns="0">
            <a:spAutoFit/>
          </a:bodyPr>
          <a:lstStyle/>
          <a:p>
            <a:pPr algn="l">
              <a:lnSpc>
                <a:spcPct val="115000"/>
              </a:lnSpc>
            </a:pPr>
            <a:r>
              <a:rPr sz="3000" b="1" i="0">
                <a:solidFill>
                  <a:srgbClr val="059669"/>
                </a:solidFill>
                <a:latin typeface="Plus Jakarta Sans"/>
              </a:rPr>
              <a:t>Nivel 1 — Gobierno</a:t>
            </a:r>
          </a:p>
        </p:txBody>
      </p:sp>
      <p:sp>
        <p:nvSpPr>
          <p:cNvPr id="6" name="TextBox 5"/>
          <p:cNvSpPr txBox="1"/>
          <p:nvPr/>
        </p:nvSpPr>
        <p:spPr>
          <a:xfrm>
            <a:off x="15087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Atienden ciudadanos. Resuelven dudas básicas. Gestionan expedientes.</a:t>
            </a:r>
          </a:p>
        </p:txBody>
      </p:sp>
      <p:sp>
        <p:nvSpPr>
          <p:cNvPr id="7" name="Rounded Rectangle 6"/>
          <p:cNvSpPr/>
          <p:nvPr/>
        </p:nvSpPr>
        <p:spPr>
          <a:xfrm>
            <a:off x="66294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629400" y="4572000"/>
            <a:ext cx="5029200" cy="1371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5120640"/>
            <a:ext cx="4297680" cy="1097280"/>
          </a:xfrm>
          <a:prstGeom prst="rect">
            <a:avLst/>
          </a:prstGeom>
          <a:noFill/>
        </p:spPr>
        <p:txBody>
          <a:bodyPr wrap="square" anchor="t" lIns="0" rIns="0" tIns="0" bIns="0">
            <a:spAutoFit/>
          </a:bodyPr>
          <a:lstStyle/>
          <a:p>
            <a:pPr algn="l">
              <a:lnSpc>
                <a:spcPct val="115000"/>
              </a:lnSpc>
            </a:pPr>
            <a:r>
              <a:rPr sz="3000" b="1" i="0">
                <a:solidFill>
                  <a:srgbClr val="059669"/>
                </a:solidFill>
                <a:latin typeface="Plus Jakarta Sans"/>
              </a:rPr>
              <a:t>Nivel 2 — Tú (partner)</a:t>
            </a:r>
          </a:p>
        </p:txBody>
      </p:sp>
      <p:sp>
        <p:nvSpPr>
          <p:cNvPr id="10" name="TextBox 9"/>
          <p:cNvSpPr txBox="1"/>
          <p:nvPr/>
        </p:nvSpPr>
        <p:spPr>
          <a:xfrm>
            <a:off x="69951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Casos que el Nivel 1 escala. Configuración. Capacitaciones de refuerzo.</a:t>
            </a:r>
          </a:p>
        </p:txBody>
      </p:sp>
      <p:sp>
        <p:nvSpPr>
          <p:cNvPr id="11" name="Rounded Rectangle 10"/>
          <p:cNvSpPr/>
          <p:nvPr/>
        </p:nvSpPr>
        <p:spPr>
          <a:xfrm>
            <a:off x="12115800" y="4572000"/>
            <a:ext cx="5029200" cy="4572000"/>
          </a:xfrm>
          <a:prstGeom prst="roundRect">
            <a:avLst/>
          </a:prstGeom>
          <a:solidFill>
            <a:srgbClr val="FFFFFF"/>
          </a:solidFill>
          <a:ln w="190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115800" y="4572000"/>
            <a:ext cx="5029200" cy="13716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81560" y="5120640"/>
            <a:ext cx="4297680" cy="1097280"/>
          </a:xfrm>
          <a:prstGeom prst="rect">
            <a:avLst/>
          </a:prstGeom>
          <a:noFill/>
        </p:spPr>
        <p:txBody>
          <a:bodyPr wrap="square" anchor="t" lIns="0" rIns="0" tIns="0" bIns="0">
            <a:spAutoFit/>
          </a:bodyPr>
          <a:lstStyle/>
          <a:p>
            <a:pPr algn="l">
              <a:lnSpc>
                <a:spcPct val="115000"/>
              </a:lnSpc>
            </a:pPr>
            <a:r>
              <a:rPr sz="3000" b="1" i="0">
                <a:solidFill>
                  <a:srgbClr val="059669"/>
                </a:solidFill>
                <a:latin typeface="Plus Jakarta Sans"/>
              </a:rPr>
              <a:t>Nivel 3 — Sovra</a:t>
            </a:r>
          </a:p>
        </p:txBody>
      </p:sp>
      <p:sp>
        <p:nvSpPr>
          <p:cNvPr id="14" name="TextBox 13"/>
          <p:cNvSpPr txBox="1"/>
          <p:nvPr/>
        </p:nvSpPr>
        <p:spPr>
          <a:xfrm>
            <a:off x="12481560" y="6309360"/>
            <a:ext cx="4297680" cy="2743200"/>
          </a:xfrm>
          <a:prstGeom prst="rect">
            <a:avLst/>
          </a:prstGeom>
          <a:noFill/>
        </p:spPr>
        <p:txBody>
          <a:bodyPr wrap="square" anchor="t" lIns="0" rIns="0" tIns="0" bIns="0">
            <a:spAutoFit/>
          </a:bodyPr>
          <a:lstStyle/>
          <a:p>
            <a:pPr algn="l">
              <a:lnSpc>
                <a:spcPct val="140000"/>
              </a:lnSpc>
            </a:pPr>
            <a:r>
              <a:rPr sz="1800" b="0" i="0">
                <a:solidFill>
                  <a:srgbClr val="0A0915"/>
                </a:solidFill>
                <a:latin typeface="Figtree"/>
              </a:rPr>
              <a:t>Bugs de plataforma. Infraestructura. Integraciones que fallan.</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La reunión</a:t>
            </a:r>
          </a:p>
          <a:p>
            <a:pPr algn="l">
              <a:lnSpc>
                <a:spcPct val="115000"/>
              </a:lnSpc>
            </a:pPr>
            <a:r>
              <a:rPr sz="4200" b="1" i="0">
                <a:solidFill>
                  <a:srgbClr val="0A0915"/>
                </a:solidFill>
                <a:latin typeface="Plus Jakarta Sans"/>
              </a:rPr>
              <a:t>de una hora.</a:t>
            </a:r>
          </a:p>
        </p:txBody>
      </p:sp>
      <p:sp>
        <p:nvSpPr>
          <p:cNvPr id="3" name="Rounded Rectangle 2"/>
          <p:cNvSpPr/>
          <p:nvPr/>
        </p:nvSpPr>
        <p:spPr>
          <a:xfrm>
            <a:off x="1371600" y="388620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Asisten cuatro: coordinador, dueño del proyecto, equipo de Nivel 1, tú.</a:t>
            </a:r>
          </a:p>
        </p:txBody>
      </p:sp>
      <p:sp>
        <p:nvSpPr>
          <p:cNvPr id="5" name="Rounded Rectangle 4"/>
          <p:cNvSpPr/>
          <p:nvPr/>
        </p:nvSpPr>
        <p:spPr>
          <a:xfrm>
            <a:off x="1371600" y="470916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Si falta el equipo de Nivel 1 con nombres concretos, no haces la reunión. La reagendas.</a:t>
            </a:r>
          </a:p>
        </p:txBody>
      </p:sp>
      <p:sp>
        <p:nvSpPr>
          <p:cNvPr id="7" name="Rounded Rectangle 6"/>
          <p:cNvSpPr/>
          <p:nvPr/>
        </p:nvSpPr>
        <p:spPr>
          <a:xfrm>
            <a:off x="1371600" y="553212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Presentas los tres niveles y qué resuelve cada uno.</a:t>
            </a:r>
          </a:p>
        </p:txBody>
      </p:sp>
      <p:sp>
        <p:nvSpPr>
          <p:cNvPr id="9" name="Rounded Rectangle 8"/>
          <p:cNvSpPr/>
          <p:nvPr/>
        </p:nvSpPr>
        <p:spPr>
          <a:xfrm>
            <a:off x="1371600" y="635508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Repasas SLAs por severidad — el documento completo está en el Kit.</a:t>
            </a:r>
          </a:p>
        </p:txBody>
      </p:sp>
      <p:sp>
        <p:nvSpPr>
          <p:cNvPr id="11" name="Rounded Rectangle 10"/>
          <p:cNvSpPr/>
          <p:nvPr/>
        </p:nvSpPr>
        <p:spPr>
          <a:xfrm>
            <a:off x="1371600" y="717804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0" y="694944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Defines qué canal se usa para qué nivel, sin ambigüedad.</a:t>
            </a:r>
          </a:p>
        </p:txBody>
      </p:sp>
      <p:sp>
        <p:nvSpPr>
          <p:cNvPr id="13" name="Rounded Rectangle 12"/>
          <p:cNvSpPr/>
          <p:nvPr/>
        </p:nvSpPr>
        <p:spPr>
          <a:xfrm>
            <a:off x="1371600" y="800100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0" y="77724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Caminas la escalación con un ejemplo concreto y armas el directorio con nombres.</a:t>
            </a:r>
          </a:p>
        </p:txBody>
      </p:sp>
      <p:sp>
        <p:nvSpPr>
          <p:cNvPr id="15" name="TextBox 1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Entregables</a:t>
            </a:r>
          </a:p>
          <a:p>
            <a:pPr algn="l">
              <a:lnSpc>
                <a:spcPct val="115000"/>
              </a:lnSpc>
            </a:pPr>
            <a:r>
              <a:rPr sz="4200" b="1" i="0">
                <a:solidFill>
                  <a:srgbClr val="0A0915"/>
                </a:solidFill>
                <a:latin typeface="Plus Jakarta Sans"/>
              </a:rPr>
              <a:t>de la reunión.</a:t>
            </a:r>
          </a:p>
        </p:txBody>
      </p:sp>
      <p:sp>
        <p:nvSpPr>
          <p:cNvPr id="3" name="Rounded Rectangle 2"/>
          <p:cNvSpPr/>
          <p:nvPr/>
        </p:nvSpPr>
        <p:spPr>
          <a:xfrm>
            <a:off x="1371600" y="388620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Modelo de soporte firmado o aceptado — no solo presentado.</a:t>
            </a:r>
          </a:p>
        </p:txBody>
      </p:sp>
      <p:sp>
        <p:nvSpPr>
          <p:cNvPr id="5" name="Rounded Rectangle 4"/>
          <p:cNvSpPr/>
          <p:nvPr/>
        </p:nvSpPr>
        <p:spPr>
          <a:xfrm>
            <a:off x="1371600" y="470916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Directorio de contactos completo.</a:t>
            </a:r>
          </a:p>
        </p:txBody>
      </p:sp>
      <p:sp>
        <p:nvSpPr>
          <p:cNvPr id="7" name="Rounded Rectangle 6"/>
          <p:cNvSpPr/>
          <p:nvPr/>
        </p:nvSpPr>
        <p:spPr>
          <a:xfrm>
            <a:off x="1371600" y="553212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Equipo de Nivel 1 identificado con nombres.</a:t>
            </a:r>
          </a:p>
        </p:txBody>
      </p:sp>
      <p:sp>
        <p:nvSpPr>
          <p:cNvPr id="9" name="Rounded Rectangle 8"/>
          <p:cNvSpPr/>
          <p:nvPr/>
        </p:nvSpPr>
        <p:spPr>
          <a:xfrm>
            <a:off x="1371600" y="635508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SLAs entendidos: alguien del gobierno los explica sin mirar el documento.</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El modelo de soporte no es un PDF.</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Es un acuerdo entre tres equipos</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con nombres y responsabilidades claras.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