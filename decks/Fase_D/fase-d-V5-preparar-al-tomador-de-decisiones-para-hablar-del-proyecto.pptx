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Inter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regular.fntdata"/><Relationship Id="rId10" Type="http://schemas.openxmlformats.org/officeDocument/2006/relationships/slide" Target="slides/slide5.xml"/><Relationship Id="rId13" Type="http://schemas.openxmlformats.org/officeDocument/2006/relationships/font" Target="fonts/Inter-italic.fntdata"/><Relationship Id="rId12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19.2s · 48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sesión ejecutiva es una hora máximo. Asisten el dueño del proyecto del gobierno, el equipo de comunicación del gobierno, y tú como facilitador. El objetivo es uno solo: que el tomador de decisiones pueda hablar del proyecto con confianza ante prensa, ante sus superiores y ante ciudadanos.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15.6s · 39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video importa porque, si esa persona habla bien, el proyecto se posiciona como un logro de gestión. Si habla mal o duda, el proyecto se vuelve atacable. Y nadie habla bien improvisando un tema técnico que apenas conoce.</a:t>
            </a:r>
            <a:endParaRPr/>
          </a:p>
        </p:txBody>
      </p:sp>
      <p:sp>
        <p:nvSpPr>
          <p:cNvPr id="92" name="Google Shape;9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41.6s · 104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agenda tiene cuatro partes. Primero, traducir el valor de la plataforma a lenguaje político: no se trata de modelamos los trámites en el módulo de etapas, se trata de los vecinos resuelven en cinco minutos lo que antes les tomaba un día. Segundo, elegir tres a cinco métricas clave que el dueño del proyecto va a repetir en cada conversación pública. Tercero, anticipar las preguntas difíciles: ¿qué pasa con la gente sin internet?, ¿esto reemplaza empleados?, ¿quién es dueño de los datos? Y cuarto, practicar el pitch de dos minutos, en voz alta, en la sala. No se asume que sabe: se ensaya.</a:t>
            </a:r>
            <a:endParaRPr/>
          </a:p>
        </p:txBody>
      </p:sp>
      <p:sp>
        <p:nvSpPr>
          <p:cNvPr id="109" name="Google Shape;10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15.2s · 38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entregables son talking points documentados en una sola página, métricas clave seleccionadas y memorizadas, y el dueño del proyecto listo para comunicar. Y listo significa que pueda recitar el pitch sin notas al final de la hora.</a:t>
            </a:r>
            <a:endParaRPr/>
          </a:p>
        </p:txBody>
      </p:sp>
      <p:sp>
        <p:nvSpPr>
          <p:cNvPr id="128" name="Google Shape;12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[Duración estimada: 11.6s · 29 palabras]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 el dueño del proyecto no puede explicar el valor en dos minutos, el lanzamiento se va a leer como un proyecto técnico, no como una mejora de gestión.</a:t>
            </a:r>
            <a:endParaRPr/>
          </a:p>
        </p:txBody>
      </p:sp>
      <p:sp>
        <p:nvSpPr>
          <p:cNvPr id="149" name="Google Shape;14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371600" y="3200400"/>
            <a:ext cx="1554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FASE D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71600" y="3840480"/>
            <a:ext cx="15544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Preparar al tomador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de decisiones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71600" y="6517900"/>
            <a:ext cx="1554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Que pueda hablar del proyecto con confianza ante prensa, superiores y ciudadanos.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371600" y="762000"/>
            <a:ext cx="155448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¿Por qué importa esta hora?</a:t>
            </a:r>
            <a:endParaRPr b="1" sz="48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96" name="Google Shape;96;p14"/>
          <p:cNvGrpSpPr/>
          <p:nvPr/>
        </p:nvGrpSpPr>
        <p:grpSpPr>
          <a:xfrm>
            <a:off x="1905000" y="3048000"/>
            <a:ext cx="6667500" cy="4762500"/>
            <a:chOff x="1905000" y="3048000"/>
            <a:chExt cx="6667500" cy="4762500"/>
          </a:xfrm>
        </p:grpSpPr>
        <p:sp>
          <p:nvSpPr>
            <p:cNvPr id="97" name="Google Shape;97;p14"/>
            <p:cNvSpPr/>
            <p:nvPr/>
          </p:nvSpPr>
          <p:spPr>
            <a:xfrm>
              <a:off x="1905000" y="3048000"/>
              <a:ext cx="6667500" cy="4762500"/>
            </a:xfrm>
            <a:prstGeom prst="roundRect">
              <a:avLst>
                <a:gd fmla="val 8000" name="adj"/>
              </a:avLst>
            </a:prstGeom>
            <a:solidFill>
              <a:srgbClr val="F8F9FA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2476500" y="3707130"/>
              <a:ext cx="76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65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</a:t>
              </a:r>
              <a:endParaRPr sz="465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9" name="Google Shape;99;p14"/>
            <p:cNvSpPr txBox="1"/>
            <p:nvPr/>
          </p:nvSpPr>
          <p:spPr>
            <a:xfrm>
              <a:off x="2476500" y="4572000"/>
              <a:ext cx="5524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Si habla bien</a:t>
              </a:r>
              <a:endParaRPr b="1" sz="24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2476500" y="5334000"/>
              <a:ext cx="55245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El proyecto se posiciona como un </a:t>
              </a:r>
              <a:r>
                <a:rPr b="1" lang="en-US" sz="3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logro de gestión.</a:t>
              </a:r>
              <a:endParaRPr b="0" sz="3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1" name="Google Shape;101;p14"/>
          <p:cNvGrpSpPr/>
          <p:nvPr/>
        </p:nvGrpSpPr>
        <p:grpSpPr>
          <a:xfrm>
            <a:off x="9715500" y="3048000"/>
            <a:ext cx="6667500" cy="4762500"/>
            <a:chOff x="9715500" y="3048000"/>
            <a:chExt cx="6667500" cy="4762500"/>
          </a:xfrm>
        </p:grpSpPr>
        <p:sp>
          <p:nvSpPr>
            <p:cNvPr id="102" name="Google Shape;102;p14"/>
            <p:cNvSpPr/>
            <p:nvPr/>
          </p:nvSpPr>
          <p:spPr>
            <a:xfrm>
              <a:off x="9715500" y="3048000"/>
              <a:ext cx="6667500" cy="4762500"/>
            </a:xfrm>
            <a:prstGeom prst="roundRect">
              <a:avLst>
                <a:gd fmla="val 8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10287000" y="3707130"/>
              <a:ext cx="76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65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</a:t>
              </a:r>
              <a:endParaRPr sz="465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10287000" y="4572000"/>
              <a:ext cx="5524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Si habla mal o duda</a:t>
              </a:r>
              <a:endParaRPr b="1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10287000" y="5334000"/>
              <a:ext cx="55245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3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El proyecto se vuelve </a:t>
              </a:r>
              <a:r>
                <a:rPr b="1" lang="en-US" sz="3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atacable.</a:t>
              </a:r>
              <a:endParaRPr b="0" sz="3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rPr>
                <a:t>Nadie habla bien improvisando.</a:t>
              </a:r>
              <a:endParaRPr b="0" sz="24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1371600" y="762000"/>
            <a:ext cx="15544800" cy="8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La agenda tiene cuatro partes</a:t>
            </a:r>
            <a:endParaRPr b="1" i="0" sz="52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3" name="Google Shape;113;p15"/>
          <p:cNvGrpSpPr/>
          <p:nvPr/>
        </p:nvGrpSpPr>
        <p:grpSpPr>
          <a:xfrm>
            <a:off x="1371600" y="2857500"/>
            <a:ext cx="7429500" cy="2286000"/>
            <a:chOff x="1371600" y="2857500"/>
            <a:chExt cx="7429500" cy="2286000"/>
          </a:xfrm>
        </p:grpSpPr>
        <p:sp>
          <p:nvSpPr>
            <p:cNvPr id="114" name="Google Shape;114;p15"/>
            <p:cNvSpPr/>
            <p:nvPr/>
          </p:nvSpPr>
          <p:spPr>
            <a:xfrm>
              <a:off x="1371600" y="2857500"/>
              <a:ext cx="7429500" cy="2286000"/>
            </a:xfrm>
            <a:prstGeom prst="roundRect">
              <a:avLst>
                <a:gd fmla="val 8333" name="adj"/>
              </a:avLst>
            </a:prstGeom>
            <a:solidFill>
              <a:srgbClr val="F8F9FA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1752600" y="2857500"/>
              <a:ext cx="6667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01. LENGUAJE POLÍTICO</a:t>
              </a:r>
              <a:endParaRPr b="1" sz="14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Traducir el valor — no "módulo de etapas", sí </a:t>
              </a:r>
              <a:r>
                <a:rPr b="1" lang="en-US" sz="2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"cinco minutos en lugar de un día".</a:t>
              </a:r>
              <a:endParaRPr b="0" sz="2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6" name="Google Shape;116;p15"/>
          <p:cNvGrpSpPr/>
          <p:nvPr/>
        </p:nvGrpSpPr>
        <p:grpSpPr>
          <a:xfrm>
            <a:off x="9486900" y="2857500"/>
            <a:ext cx="7429500" cy="2286000"/>
            <a:chOff x="9486900" y="2857500"/>
            <a:chExt cx="7429500" cy="2286000"/>
          </a:xfrm>
        </p:grpSpPr>
        <p:sp>
          <p:nvSpPr>
            <p:cNvPr id="117" name="Google Shape;117;p15"/>
            <p:cNvSpPr/>
            <p:nvPr/>
          </p:nvSpPr>
          <p:spPr>
            <a:xfrm>
              <a:off x="9486900" y="2857500"/>
              <a:ext cx="7429500" cy="2286000"/>
            </a:xfrm>
            <a:prstGeom prst="roundRect">
              <a:avLst>
                <a:gd fmla="val 8333" name="adj"/>
              </a:avLst>
            </a:prstGeom>
            <a:solidFill>
              <a:srgbClr val="F8F9FA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5"/>
            <p:cNvSpPr txBox="1"/>
            <p:nvPr/>
          </p:nvSpPr>
          <p:spPr>
            <a:xfrm>
              <a:off x="9867900" y="2857500"/>
              <a:ext cx="6667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02. MÉTRICAS CLAVE</a:t>
              </a:r>
              <a:endParaRPr b="1" sz="14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Elegir </a:t>
              </a:r>
              <a:r>
                <a:rPr b="1" lang="en-US" sz="2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3 a 5 indicadores</a:t>
              </a:r>
              <a:r>
                <a:rPr b="0" lang="en-US" sz="2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 que el dueño repetirá en cada conversación pública.</a:t>
              </a:r>
              <a:endParaRPr b="0" sz="2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9" name="Google Shape;119;p15"/>
          <p:cNvGrpSpPr/>
          <p:nvPr/>
        </p:nvGrpSpPr>
        <p:grpSpPr>
          <a:xfrm>
            <a:off x="1371600" y="5524500"/>
            <a:ext cx="7429500" cy="2286000"/>
            <a:chOff x="1371600" y="5524500"/>
            <a:chExt cx="7429500" cy="2286000"/>
          </a:xfrm>
        </p:grpSpPr>
        <p:sp>
          <p:nvSpPr>
            <p:cNvPr id="120" name="Google Shape;120;p15"/>
            <p:cNvSpPr/>
            <p:nvPr/>
          </p:nvSpPr>
          <p:spPr>
            <a:xfrm>
              <a:off x="1371600" y="5524500"/>
              <a:ext cx="7429500" cy="2286000"/>
            </a:xfrm>
            <a:prstGeom prst="roundRect">
              <a:avLst>
                <a:gd fmla="val 8333" name="adj"/>
              </a:avLst>
            </a:prstGeom>
            <a:solidFill>
              <a:srgbClr val="F8F9FA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5"/>
            <p:cNvSpPr txBox="1"/>
            <p:nvPr/>
          </p:nvSpPr>
          <p:spPr>
            <a:xfrm>
              <a:off x="1752600" y="5524500"/>
              <a:ext cx="6667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03. ANTICIPACIÓN</a:t>
              </a:r>
              <a:endParaRPr b="1" sz="14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Preparar </a:t>
              </a:r>
              <a:r>
                <a:rPr b="1" lang="en-US" sz="2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preguntas difíciles</a:t>
              </a:r>
              <a:r>
                <a:rPr b="0" lang="en-US" sz="22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: conectividad, reemplazo de empleos y soberanía de datos.</a:t>
              </a:r>
              <a:endParaRPr b="0" sz="2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2" name="Google Shape;122;p15"/>
          <p:cNvGrpSpPr/>
          <p:nvPr/>
        </p:nvGrpSpPr>
        <p:grpSpPr>
          <a:xfrm>
            <a:off x="9486900" y="5524500"/>
            <a:ext cx="7429500" cy="2286000"/>
            <a:chOff x="9486900" y="5524500"/>
            <a:chExt cx="7429500" cy="2286000"/>
          </a:xfrm>
        </p:grpSpPr>
        <p:sp>
          <p:nvSpPr>
            <p:cNvPr id="123" name="Google Shape;123;p15"/>
            <p:cNvSpPr/>
            <p:nvPr/>
          </p:nvSpPr>
          <p:spPr>
            <a:xfrm>
              <a:off x="9486900" y="5524500"/>
              <a:ext cx="7429500" cy="2286000"/>
            </a:xfrm>
            <a:prstGeom prst="roundRect">
              <a:avLst>
                <a:gd fmla="val 8333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5"/>
            <p:cNvSpPr txBox="1"/>
            <p:nvPr/>
          </p:nvSpPr>
          <p:spPr>
            <a:xfrm>
              <a:off x="9867900" y="5524500"/>
              <a:ext cx="6667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04. EL ENSAYO</a:t>
              </a:r>
              <a:endParaRPr b="1" sz="1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2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Practicar el </a:t>
              </a:r>
              <a:r>
                <a:rPr b="1" lang="en-US" sz="2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pitch de dos minutos</a:t>
              </a:r>
              <a:r>
                <a:rPr b="0" lang="en-US" sz="22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en voz alta. No se asume: se entrena.</a:t>
              </a:r>
              <a:endParaRPr b="0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0"/>
            <a:ext cx="18288000" cy="228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371600" y="762000"/>
            <a:ext cx="155448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rPr>
              <a:t>Cómo cierras la sesión</a:t>
            </a:r>
            <a:endParaRPr b="1" sz="2000">
              <a:solidFill>
                <a:srgbClr val="0596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1371600" y="1428750"/>
            <a:ext cx="15544800" cy="8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rPr>
              <a:t>"Listo" significa recitar el pitch sin notas</a:t>
            </a:r>
            <a:endParaRPr b="1" sz="5200">
              <a:solidFill>
                <a:srgbClr val="0A091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33" name="Google Shape;133;p16"/>
          <p:cNvGrpSpPr/>
          <p:nvPr/>
        </p:nvGrpSpPr>
        <p:grpSpPr>
          <a:xfrm>
            <a:off x="1371600" y="3619500"/>
            <a:ext cx="4762500" cy="4000500"/>
            <a:chOff x="1371600" y="3619500"/>
            <a:chExt cx="4762500" cy="4000500"/>
          </a:xfrm>
        </p:grpSpPr>
        <p:sp>
          <p:nvSpPr>
            <p:cNvPr id="134" name="Google Shape;134;p16"/>
            <p:cNvSpPr/>
            <p:nvPr/>
          </p:nvSpPr>
          <p:spPr>
            <a:xfrm>
              <a:off x="1371600" y="3619500"/>
              <a:ext cx="4762500" cy="4000500"/>
            </a:xfrm>
            <a:prstGeom prst="roundRect">
              <a:avLst>
                <a:gd fmla="val 9523" name="adj"/>
              </a:avLst>
            </a:prstGeom>
            <a:solidFill>
              <a:srgbClr val="F8F9FA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1752600" y="4070604"/>
              <a:ext cx="400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</a:t>
              </a:r>
              <a:endParaRPr sz="4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1752600" y="4953000"/>
              <a:ext cx="4000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Talking Points</a:t>
              </a:r>
              <a:endParaRPr b="1" sz="24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En una sola página para máxima claridad.</a:t>
              </a:r>
              <a:endParaRPr b="0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7" name="Google Shape;137;p16"/>
          <p:cNvGrpSpPr/>
          <p:nvPr/>
        </p:nvGrpSpPr>
        <p:grpSpPr>
          <a:xfrm>
            <a:off x="6762750" y="3619500"/>
            <a:ext cx="4762500" cy="4000500"/>
            <a:chOff x="6762750" y="3619500"/>
            <a:chExt cx="4762500" cy="4000500"/>
          </a:xfrm>
        </p:grpSpPr>
        <p:sp>
          <p:nvSpPr>
            <p:cNvPr id="138" name="Google Shape;138;p16"/>
            <p:cNvSpPr/>
            <p:nvPr/>
          </p:nvSpPr>
          <p:spPr>
            <a:xfrm>
              <a:off x="6762750" y="3619500"/>
              <a:ext cx="4762500" cy="4000500"/>
            </a:xfrm>
            <a:prstGeom prst="roundRect">
              <a:avLst>
                <a:gd fmla="val 9523" name="adj"/>
              </a:avLst>
            </a:prstGeom>
            <a:solidFill>
              <a:srgbClr val="F8F9FA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6"/>
            <p:cNvSpPr txBox="1"/>
            <p:nvPr/>
          </p:nvSpPr>
          <p:spPr>
            <a:xfrm>
              <a:off x="7143750" y="4070604"/>
              <a:ext cx="400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</a:t>
              </a:r>
              <a:endParaRPr sz="4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0" name="Google Shape;140;p16"/>
            <p:cNvSpPr txBox="1"/>
            <p:nvPr/>
          </p:nvSpPr>
          <p:spPr>
            <a:xfrm>
              <a:off x="7143750" y="4953000"/>
              <a:ext cx="4000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59669"/>
                  </a:solidFill>
                  <a:latin typeface="Inter"/>
                  <a:ea typeface="Inter"/>
                  <a:cs typeface="Inter"/>
                  <a:sym typeface="Inter"/>
                </a:rPr>
                <a:t>Métricas Clave</a:t>
              </a:r>
              <a:endParaRPr b="1" sz="2400">
                <a:solidFill>
                  <a:srgbClr val="0596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0A0915"/>
                  </a:solidFill>
                  <a:latin typeface="Inter"/>
                  <a:ea typeface="Inter"/>
                  <a:cs typeface="Inter"/>
                  <a:sym typeface="Inter"/>
                </a:rPr>
                <a:t>Memorizadas para transmitir seguridad total.</a:t>
              </a:r>
              <a:endParaRPr b="0" sz="2400">
                <a:solidFill>
                  <a:srgbClr val="0A091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1" name="Google Shape;141;p16"/>
          <p:cNvGrpSpPr/>
          <p:nvPr/>
        </p:nvGrpSpPr>
        <p:grpSpPr>
          <a:xfrm>
            <a:off x="12153900" y="3619500"/>
            <a:ext cx="4762500" cy="4000500"/>
            <a:chOff x="12153900" y="3619500"/>
            <a:chExt cx="4762500" cy="4000500"/>
          </a:xfrm>
        </p:grpSpPr>
        <p:sp>
          <p:nvSpPr>
            <p:cNvPr id="142" name="Google Shape;142;p16"/>
            <p:cNvSpPr/>
            <p:nvPr/>
          </p:nvSpPr>
          <p:spPr>
            <a:xfrm>
              <a:off x="12153900" y="3619500"/>
              <a:ext cx="4762500" cy="4000500"/>
            </a:xfrm>
            <a:prstGeom prst="roundRect">
              <a:avLst>
                <a:gd fmla="val 9523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6"/>
            <p:cNvSpPr txBox="1"/>
            <p:nvPr/>
          </p:nvSpPr>
          <p:spPr>
            <a:xfrm>
              <a:off x="12534900" y="4070604"/>
              <a:ext cx="4000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8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</a:t>
              </a:r>
              <a:endParaRPr sz="48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4" name="Google Shape;144;p16"/>
            <p:cNvSpPr txBox="1"/>
            <p:nvPr/>
          </p:nvSpPr>
          <p:spPr>
            <a:xfrm>
              <a:off x="12534900" y="4953000"/>
              <a:ext cx="4000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Dueño del Proyecto</a:t>
              </a:r>
              <a:endParaRPr b="1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Listo para comunicar impacto real al final de la hora.</a:t>
              </a:r>
              <a:endParaRPr b="0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45" name="Google Shape;145;p16"/>
          <p:cNvSpPr txBox="1"/>
          <p:nvPr/>
        </p:nvSpPr>
        <p:spPr>
          <a:xfrm>
            <a:off x="1371600" y="8572500"/>
            <a:ext cx="1554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rPr>
              <a:t>El objetivo no es solo terminar, es salir preparados para la acción.</a:t>
            </a:r>
            <a:endParaRPr sz="1800">
              <a:solidFill>
                <a:srgbClr val="88888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1371600" y="3200400"/>
            <a:ext cx="1554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 el dueño del proyecto no puede explicar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371600" y="4754880"/>
            <a:ext cx="15544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 valor en dos minutos,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371600" y="7315200"/>
            <a:ext cx="15544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el lanzamiento se va a leer como técnico, no como gestión.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