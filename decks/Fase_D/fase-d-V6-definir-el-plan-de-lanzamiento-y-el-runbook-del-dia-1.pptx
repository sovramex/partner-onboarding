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18.0s · 45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cuarta reunión de Fase D es de preparación de comunicación y lanzamiento. Dura entre una y dos horas y asisten el equipo de comunicación del gobierno, el coordinador y tú como líder partner. Acá se decide cuándo, cómo y con qué materiales se lanza.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8.4s · 21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 entre una y dos horas y asisten el equipo de comunicación del gobierno, el coordinador y tú como líder partner.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29.2s · 73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agenda cubre cinco puntos. Confirmar fecha de lanzamiento, no estimar. Definir el plan de comunicación con canales internos del gobierno y canales externos hacia los ciudadanos. Tener listos los materiales: guía del ciudadano para usar el trámite, FAQ con las dudas más comunes, piezas para redes sociales y prensa. Escribir el runbook de lanzamiento, que es el documento clave de esta reunión. Y decidir si el lanzamiento es big bang o gradual.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32.0s · 80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runbook merece atención aparte. Es el documento de qué hacer si X falla en el día 1. Si el sistema se cae, ¿quién decide bajar el anuncio público? Si un trámite empieza a rechazar a todos por error, ¿quién se contacta con quién y en cuánto tiempo? Si la prensa pregunta por un caso negativo viralizado, ¿quién responde y qué dice? El runbook no anticipa todo, pero anticipa los escenarios obvios y deja roles claros para los no obvios.</a:t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14.0s · 35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entregables de esta reunión son cuatro. Fecha de lanzamiento confirmada, sin alrededor de. Plan de comunicación documentado. Materiales de comunicación efectivamente listos, no en redacción. Y el runbook de lanzamiento escrito, no acordado verbalmente.</a:t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8.4s · 21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runbook es el seguro del día 1. No lo escribes para usarlo, lo escribes para no necesitar improvisar bajo presión.</a:t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FASE 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Plan de lanzamiento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y runbook del día 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Acá se decide cuándo, cómo y con qué materiales se lanza.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22860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Setup</a:t>
            </a:r>
            <a:endParaRPr b="1" sz="20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371600" y="2952750"/>
            <a:ext cx="155448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cuarta reunión de Fase D</a:t>
            </a:r>
            <a:endParaRPr b="1" sz="56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371600" y="4572000"/>
            <a:ext cx="4572000" cy="2667000"/>
            <a:chOff x="1371600" y="4572000"/>
            <a:chExt cx="4572000" cy="2667000"/>
          </a:xfrm>
        </p:grpSpPr>
        <p:sp>
          <p:nvSpPr>
            <p:cNvPr id="98" name="Google Shape;98;p14"/>
            <p:cNvSpPr/>
            <p:nvPr/>
          </p:nvSpPr>
          <p:spPr>
            <a:xfrm>
              <a:off x="1371600" y="4572000"/>
              <a:ext cx="4572000" cy="26670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371600" y="457200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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Duración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Entre una y dos horas de sesión intensiva.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6229350" y="4572000"/>
            <a:ext cx="10687200" cy="2667000"/>
            <a:chOff x="6229350" y="4572000"/>
            <a:chExt cx="10687200" cy="2667000"/>
          </a:xfrm>
        </p:grpSpPr>
        <p:sp>
          <p:nvSpPr>
            <p:cNvPr id="101" name="Google Shape;101;p14"/>
            <p:cNvSpPr/>
            <p:nvPr/>
          </p:nvSpPr>
          <p:spPr>
            <a:xfrm>
              <a:off x="6229350" y="4572000"/>
              <a:ext cx="10687200" cy="26670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6229350" y="4572000"/>
              <a:ext cx="10687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2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372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Participantes Clave</a:t>
              </a:r>
              <a:endParaRPr b="1" sz="155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24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Comunicación del gobierno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4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El coordinador del proyecto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4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-US" sz="12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Tú, en tu rol de líder partner</a:t>
              </a:r>
              <a:endParaRPr b="0" sz="12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371600" y="762000"/>
            <a:ext cx="155448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Cinco puntos de la agenda</a:t>
            </a:r>
            <a:endParaRPr b="1" i="0" sz="5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1371600" y="2286000"/>
            <a:ext cx="15544800" cy="1201420"/>
            <a:chOff x="1371600" y="2286000"/>
            <a:chExt cx="15544800" cy="1201420"/>
          </a:xfrm>
        </p:grpSpPr>
        <p:sp>
          <p:nvSpPr>
            <p:cNvPr id="111" name="Google Shape;111;p15"/>
            <p:cNvSpPr/>
            <p:nvPr/>
          </p:nvSpPr>
          <p:spPr>
            <a:xfrm>
              <a:off x="1371600" y="2286000"/>
              <a:ext cx="155448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371600" y="23444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</a:t>
              </a:r>
              <a:endParaRPr sz="4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2514600" y="2286000"/>
              <a:ext cx="1409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Confirmar fecha de lanzamiento.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No estimar.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1371600" y="3619500"/>
            <a:ext cx="15544800" cy="1201420"/>
            <a:chOff x="1371600" y="3619500"/>
            <a:chExt cx="15544800" cy="1201420"/>
          </a:xfrm>
        </p:grpSpPr>
        <p:sp>
          <p:nvSpPr>
            <p:cNvPr id="115" name="Google Shape;115;p15"/>
            <p:cNvSpPr/>
            <p:nvPr/>
          </p:nvSpPr>
          <p:spPr>
            <a:xfrm>
              <a:off x="1371600" y="3619500"/>
              <a:ext cx="155448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371600" y="36779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</a:t>
              </a:r>
              <a:endParaRPr sz="4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2514600" y="3619500"/>
              <a:ext cx="1409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Definir plan de comunicación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— canales internos del gobierno y externos hacia ciudadanos.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1371600" y="4953000"/>
            <a:ext cx="15544800" cy="1201420"/>
            <a:chOff x="1371600" y="4953000"/>
            <a:chExt cx="15544800" cy="1201420"/>
          </a:xfrm>
        </p:grpSpPr>
        <p:sp>
          <p:nvSpPr>
            <p:cNvPr id="119" name="Google Shape;119;p15"/>
            <p:cNvSpPr/>
            <p:nvPr/>
          </p:nvSpPr>
          <p:spPr>
            <a:xfrm>
              <a:off x="1371600" y="4953000"/>
              <a:ext cx="155448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371600" y="50114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</a:t>
              </a:r>
              <a:endParaRPr sz="4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2514600" y="4953000"/>
              <a:ext cx="1409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Tener listos los materiales: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guía del ciudadano, FAQ, piezas para redes y prensa.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371600" y="6286500"/>
            <a:ext cx="15544800" cy="1201420"/>
            <a:chOff x="1371600" y="6286500"/>
            <a:chExt cx="15544800" cy="1201420"/>
          </a:xfrm>
        </p:grpSpPr>
        <p:sp>
          <p:nvSpPr>
            <p:cNvPr id="123" name="Google Shape;123;p15"/>
            <p:cNvSpPr/>
            <p:nvPr/>
          </p:nvSpPr>
          <p:spPr>
            <a:xfrm>
              <a:off x="1371600" y="6286500"/>
              <a:ext cx="155448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371600" y="63449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</a:t>
              </a:r>
              <a:endParaRPr sz="4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2514600" y="6286500"/>
              <a:ext cx="1409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Escribir el runbook de lanzamiento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— el documento clave de la reunión.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371600" y="7620000"/>
            <a:ext cx="15544800" cy="1201420"/>
            <a:chOff x="1371600" y="7620000"/>
            <a:chExt cx="15544800" cy="1201420"/>
          </a:xfrm>
        </p:grpSpPr>
        <p:sp>
          <p:nvSpPr>
            <p:cNvPr id="127" name="Google Shape;127;p15"/>
            <p:cNvSpPr/>
            <p:nvPr/>
          </p:nvSpPr>
          <p:spPr>
            <a:xfrm>
              <a:off x="1371600" y="7620000"/>
              <a:ext cx="15544800" cy="1143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1371600" y="7678420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</a:t>
              </a:r>
              <a:endParaRPr sz="4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2514600" y="7620000"/>
              <a:ext cx="1409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Decidir el tipo de lanzamiento: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big bang o gradual.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371600" y="13335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El runbook</a:t>
            </a:r>
            <a:endParaRPr b="1" sz="20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371600" y="1714500"/>
            <a:ext cx="15544800" cy="133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4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El documento de</a:t>
            </a:r>
            <a:endParaRPr b="1" sz="434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4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"qué hacer si X falla"</a:t>
            </a:r>
            <a:endParaRPr b="1" sz="434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1371600" y="4191000"/>
            <a:ext cx="15544800" cy="4000500"/>
            <a:chOff x="1371600" y="4191000"/>
            <a:chExt cx="15544800" cy="4000500"/>
          </a:xfrm>
        </p:grpSpPr>
        <p:sp>
          <p:nvSpPr>
            <p:cNvPr id="139" name="Google Shape;139;p16"/>
            <p:cNvSpPr/>
            <p:nvPr/>
          </p:nvSpPr>
          <p:spPr>
            <a:xfrm>
              <a:off x="1371600" y="4191000"/>
              <a:ext cx="4953000" cy="40005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17526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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Falla de Sistema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¿Si el sistema se cae, quién decide bajar el anuncio público?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6667500" y="4191000"/>
              <a:ext cx="4953000" cy="40005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70485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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Error en Trámite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¿Si un trámite rechaza a todos por error, quién contacta a quién y en cuánto tiempo?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1963400" y="4191000"/>
              <a:ext cx="4953000" cy="40005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12344400" y="4572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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Crisis de Prensa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¿Si la prensa pregunta por un caso viralizado, quién responde y qué dice?</a:t>
              </a:r>
              <a:endParaRPr b="0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371600" y="762000"/>
            <a:ext cx="155448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Entregables de la reunión</a:t>
            </a:r>
            <a:endParaRPr b="1" sz="54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" name="Google Shape;152;p17"/>
          <p:cNvGrpSpPr/>
          <p:nvPr/>
        </p:nvGrpSpPr>
        <p:grpSpPr>
          <a:xfrm>
            <a:off x="1371600" y="2476500"/>
            <a:ext cx="15544800" cy="1403604"/>
            <a:chOff x="1371600" y="2476500"/>
            <a:chExt cx="15544800" cy="1403604"/>
          </a:xfrm>
        </p:grpSpPr>
        <p:sp>
          <p:nvSpPr>
            <p:cNvPr id="153" name="Google Shape;153;p17"/>
            <p:cNvSpPr/>
            <p:nvPr/>
          </p:nvSpPr>
          <p:spPr>
            <a:xfrm>
              <a:off x="1371600" y="2476500"/>
              <a:ext cx="155448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1371600" y="2546604"/>
              <a:ext cx="152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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2895600" y="2476500"/>
              <a:ext cx="1371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Fecha de lanzamiento confirmada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, sin "alrededor de".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1371600" y="4000500"/>
            <a:ext cx="15544800" cy="1403604"/>
            <a:chOff x="1371600" y="4000500"/>
            <a:chExt cx="15544800" cy="1403604"/>
          </a:xfrm>
        </p:grpSpPr>
        <p:sp>
          <p:nvSpPr>
            <p:cNvPr id="157" name="Google Shape;157;p17"/>
            <p:cNvSpPr/>
            <p:nvPr/>
          </p:nvSpPr>
          <p:spPr>
            <a:xfrm>
              <a:off x="1371600" y="4000500"/>
              <a:ext cx="155448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1371600" y="4070604"/>
              <a:ext cx="152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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2895600" y="4000500"/>
              <a:ext cx="1371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Plan de comunicación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documentado.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1371600" y="5524500"/>
            <a:ext cx="15544800" cy="1403604"/>
            <a:chOff x="1371600" y="5524500"/>
            <a:chExt cx="15544800" cy="1403604"/>
          </a:xfrm>
        </p:grpSpPr>
        <p:sp>
          <p:nvSpPr>
            <p:cNvPr id="161" name="Google Shape;161;p17"/>
            <p:cNvSpPr/>
            <p:nvPr/>
          </p:nvSpPr>
          <p:spPr>
            <a:xfrm>
              <a:off x="1371600" y="5524500"/>
              <a:ext cx="155448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371600" y="5594604"/>
              <a:ext cx="152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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2895600" y="5524500"/>
              <a:ext cx="1371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Materiales listos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, no en redacción.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371600" y="7048500"/>
            <a:ext cx="15544800" cy="1403604"/>
            <a:chOff x="1371600" y="7048500"/>
            <a:chExt cx="15544800" cy="1403604"/>
          </a:xfrm>
        </p:grpSpPr>
        <p:sp>
          <p:nvSpPr>
            <p:cNvPr id="165" name="Google Shape;165;p17"/>
            <p:cNvSpPr/>
            <p:nvPr/>
          </p:nvSpPr>
          <p:spPr>
            <a:xfrm>
              <a:off x="1371600" y="7048500"/>
              <a:ext cx="15544800" cy="1333500"/>
            </a:xfrm>
            <a:prstGeom prst="roundRect">
              <a:avLst>
                <a:gd fmla="val 857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371600" y="7118604"/>
              <a:ext cx="1524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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2895600" y="7048500"/>
              <a:ext cx="1371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Runbook de lanzamiento escrito</a:t>
              </a: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, no acordado verbalmente.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371600" y="320040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runbook es el seguro del día 1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371600" y="4754880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lo escribes para usarlo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 escribes para no improvisar bajo presión.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